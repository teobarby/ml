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08" r:id="rId2"/>
    <p:sldMasterId id="2147483722" r:id="rId3"/>
    <p:sldMasterId id="2147483735" r:id="rId4"/>
  </p:sldMasterIdLst>
  <p:notesMasterIdLst>
    <p:notesMasterId r:id="rId30"/>
  </p:notesMasterIdLst>
  <p:sldIdLst>
    <p:sldId id="256" r:id="rId5"/>
    <p:sldId id="257" r:id="rId6"/>
    <p:sldId id="258" r:id="rId7"/>
    <p:sldId id="259" r:id="rId8"/>
    <p:sldId id="262" r:id="rId9"/>
    <p:sldId id="260" r:id="rId10"/>
    <p:sldId id="261" r:id="rId11"/>
    <p:sldId id="264" r:id="rId12"/>
    <p:sldId id="265" r:id="rId13"/>
    <p:sldId id="263" r:id="rId14"/>
    <p:sldId id="266" r:id="rId15"/>
    <p:sldId id="267" r:id="rId16"/>
    <p:sldId id="268" r:id="rId17"/>
    <p:sldId id="269" r:id="rId18"/>
    <p:sldId id="276" r:id="rId19"/>
    <p:sldId id="270" r:id="rId20"/>
    <p:sldId id="271" r:id="rId21"/>
    <p:sldId id="272" r:id="rId22"/>
    <p:sldId id="273" r:id="rId23"/>
    <p:sldId id="274" r:id="rId24"/>
    <p:sldId id="275" r:id="rId25"/>
    <p:sldId id="277" r:id="rId26"/>
    <p:sldId id="281" r:id="rId27"/>
    <p:sldId id="280" r:id="rId28"/>
    <p:sldId id="279" r:id="rId29"/>
  </p:sldIdLst>
  <p:sldSz cx="9144000" cy="5143500" type="screen16x9"/>
  <p:notesSz cx="6858000" cy="91440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CC00"/>
    <a:srgbClr val="993366"/>
    <a:srgbClr val="CCFF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56" autoAdjust="0"/>
    <p:restoredTop sz="99822" autoAdjust="0"/>
  </p:normalViewPr>
  <p:slideViewPr>
    <p:cSldViewPr>
      <p:cViewPr varScale="1">
        <p:scale>
          <a:sx n="85" d="100"/>
          <a:sy n="85" d="100"/>
        </p:scale>
        <p:origin x="626" y="31"/>
      </p:cViewPr>
      <p:guideLst>
        <p:guide orient="horz" pos="2484"/>
        <p:guide pos="2880"/>
      </p:guideLst>
    </p:cSldViewPr>
  </p:slideViewPr>
  <p:outlineViewPr>
    <p:cViewPr>
      <p:scale>
        <a:sx n="33" d="100"/>
        <a:sy n="33" d="100"/>
      </p:scale>
      <p:origin x="0" y="1440"/>
    </p:cViewPr>
  </p:outlineViewPr>
  <p:notesTextViewPr>
    <p:cViewPr>
      <p:scale>
        <a:sx n="1" d="1"/>
        <a:sy n="1" d="1"/>
      </p:scale>
      <p:origin x="0" y="0"/>
    </p:cViewPr>
  </p:notesTextViewPr>
  <p:sorterViewPr>
    <p:cViewPr>
      <p:scale>
        <a:sx n="100" d="100"/>
        <a:sy n="100" d="100"/>
      </p:scale>
      <p:origin x="0" y="6557"/>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08008F-8C0F-4F63-86DC-E7B67385E4BD}" type="datetimeFigureOut">
              <a:rPr lang="en-US" smtClean="0"/>
              <a:pPr/>
              <a:t>3/4/2022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F38DAD-5F37-4EA5-A798-26ED1E453939}" type="slidenum">
              <a:rPr lang="en-US" smtClean="0"/>
              <a:pPr/>
              <a:t>‹#›</a:t>
            </a:fld>
            <a:endParaRPr lang="en-US"/>
          </a:p>
        </p:txBody>
      </p:sp>
    </p:spTree>
    <p:extLst>
      <p:ext uri="{BB962C8B-B14F-4D97-AF65-F5344CB8AC3E}">
        <p14:creationId xmlns:p14="http://schemas.microsoft.com/office/powerpoint/2010/main" val="240361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defTabSz="966788" eaLnBrk="0" hangingPunct="0">
              <a:defRPr sz="2400" b="1">
                <a:solidFill>
                  <a:schemeClr val="tx1"/>
                </a:solidFill>
                <a:latin typeface="Times New Roman" panose="02020603050405020304" pitchFamily="18" charset="0"/>
                <a:ea typeface="MS PGothic"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MS PGothic"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MS PGothic"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MS PGothic"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pPr eaLnBrk="1" hangingPunct="1"/>
            <a:fld id="{013F5B65-8304-41AB-B17C-DA78E695AC48}" type="slidenum">
              <a:rPr lang="en-GB" altLang="it-IT" sz="1300" b="0"/>
              <a:pPr eaLnBrk="1" hangingPunct="1"/>
              <a:t>1</a:t>
            </a:fld>
            <a:endParaRPr lang="en-GB" altLang="it-IT" sz="1300" b="0"/>
          </a:p>
        </p:txBody>
      </p:sp>
      <p:sp>
        <p:nvSpPr>
          <p:cNvPr id="20480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04803" name="Rectangle 3"/>
          <p:cNvSpPr>
            <a:spLocks noGrp="1" noChangeArrowheads="1"/>
          </p:cNvSpPr>
          <p:nvPr>
            <p:ph type="body" idx="1"/>
          </p:nvPr>
        </p:nvSpPr>
        <p:spPr/>
        <p:txBody>
          <a:bodyPr/>
          <a:lstStyle/>
          <a:p>
            <a:pPr eaLnBrk="1" hangingPunct="1">
              <a:defRPr/>
            </a:pPr>
            <a:endParaRPr lang="en-US">
              <a:ea typeface="ＭＳ Ｐゴシック" charset="0"/>
              <a:cs typeface="+mn-cs"/>
            </a:endParaRPr>
          </a:p>
        </p:txBody>
      </p:sp>
    </p:spTree>
    <p:extLst>
      <p:ext uri="{BB962C8B-B14F-4D97-AF65-F5344CB8AC3E}">
        <p14:creationId xmlns:p14="http://schemas.microsoft.com/office/powerpoint/2010/main" val="1025734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07742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91603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4856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1175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3"/>
            <a:ext cx="2133600" cy="273844"/>
          </a:xfrm>
          <a:prstGeom prst="rect">
            <a:avLst/>
          </a:prstGeom>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64199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4767263"/>
            <a:ext cx="2133600" cy="273844"/>
          </a:xfrm>
          <a:prstGeom prst="rect">
            <a:avLst/>
          </a:prstGeom>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09329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3"/>
            <a:ext cx="2133600" cy="273844"/>
          </a:xfrm>
          <a:prstGeom prst="rect">
            <a:avLst/>
          </a:prstGeom>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9333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36583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54415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46306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093069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857250"/>
          </a:xfrm>
        </p:spPr>
        <p:txBody>
          <a:bodyPr/>
          <a:lstStyle/>
          <a:p>
            <a:r>
              <a:rPr lang="en-US"/>
              <a:t>Click to edit Master title style</a:t>
            </a:r>
            <a:endParaRPr lang="it-IT"/>
          </a:p>
        </p:txBody>
      </p:sp>
      <p:sp>
        <p:nvSpPr>
          <p:cNvPr id="3" name="Table Placeholder 2"/>
          <p:cNvSpPr>
            <a:spLocks noGrp="1"/>
          </p:cNvSpPr>
          <p:nvPr>
            <p:ph type="tbl" idx="1"/>
          </p:nvPr>
        </p:nvSpPr>
        <p:spPr>
          <a:xfrm>
            <a:off x="685800" y="1485900"/>
            <a:ext cx="7772400" cy="3086100"/>
          </a:xfrm>
        </p:spPr>
        <p:txBody>
          <a:bodyPr/>
          <a:lstStyle/>
          <a:p>
            <a:endParaRPr lang="it-IT"/>
          </a:p>
        </p:txBody>
      </p:sp>
      <p:sp>
        <p:nvSpPr>
          <p:cNvPr id="4" name="Date Placeholder 3"/>
          <p:cNvSpPr>
            <a:spLocks noGrp="1"/>
          </p:cNvSpPr>
          <p:nvPr>
            <p:ph type="dt" sz="half" idx="10"/>
          </p:nvPr>
        </p:nvSpPr>
        <p:spPr>
          <a:xfrm>
            <a:off x="685800" y="4686300"/>
            <a:ext cx="1905000" cy="342900"/>
          </a:xfrm>
          <a:prstGeom prst="rect">
            <a:avLst/>
          </a:prstGeom>
        </p:spPr>
        <p:txBody>
          <a:bodyPr/>
          <a:lstStyle>
            <a:lvl1pPr>
              <a:defRPr/>
            </a:lvl1pPr>
          </a:lstStyle>
          <a:p>
            <a:endParaRPr lang="en-GB" altLang="it-IT"/>
          </a:p>
        </p:txBody>
      </p:sp>
      <p:sp>
        <p:nvSpPr>
          <p:cNvPr id="5" name="Footer Placeholder 4"/>
          <p:cNvSpPr>
            <a:spLocks noGrp="1"/>
          </p:cNvSpPr>
          <p:nvPr>
            <p:ph type="ftr" sz="quarter" idx="11"/>
          </p:nvPr>
        </p:nvSpPr>
        <p:spPr>
          <a:xfrm>
            <a:off x="3124200" y="4686300"/>
            <a:ext cx="2895600" cy="342900"/>
          </a:xfrm>
        </p:spPr>
        <p:txBody>
          <a:bodyPr/>
          <a:lstStyle>
            <a:lvl1pPr>
              <a:defRPr/>
            </a:lvl1pPr>
          </a:lstStyle>
          <a:p>
            <a:endParaRPr lang="en-GB" altLang="it-IT"/>
          </a:p>
        </p:txBody>
      </p:sp>
      <p:sp>
        <p:nvSpPr>
          <p:cNvPr id="6" name="Slide Number Placeholder 5"/>
          <p:cNvSpPr>
            <a:spLocks noGrp="1"/>
          </p:cNvSpPr>
          <p:nvPr>
            <p:ph type="sldNum" sz="quarter" idx="12"/>
          </p:nvPr>
        </p:nvSpPr>
        <p:spPr>
          <a:xfrm>
            <a:off x="6553200" y="4686300"/>
            <a:ext cx="1905000" cy="342900"/>
          </a:xfrm>
        </p:spPr>
        <p:txBody>
          <a:bodyPr/>
          <a:lstStyle>
            <a:lvl1pPr>
              <a:defRPr/>
            </a:lvl1pPr>
          </a:lstStyle>
          <a:p>
            <a:fld id="{2A3CFD2A-AA1F-467F-95A0-4E460DE4F3EF}" type="slidenum">
              <a:rPr lang="en-GB" altLang="it-IT"/>
              <a:pPr/>
              <a:t>‹#›</a:t>
            </a:fld>
            <a:endParaRPr lang="en-GB" altLang="it-IT"/>
          </a:p>
        </p:txBody>
      </p:sp>
    </p:spTree>
    <p:extLst>
      <p:ext uri="{BB962C8B-B14F-4D97-AF65-F5344CB8AC3E}">
        <p14:creationId xmlns:p14="http://schemas.microsoft.com/office/powerpoint/2010/main" val="947736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44651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7704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864410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65731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61311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446155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183198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964515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041441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672460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960806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840196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5616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661860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33317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93836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367611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16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17523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484239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370839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639593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200151"/>
            <a:ext cx="8229600" cy="33944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205614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861804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252903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3365788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779063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824269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9970825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023869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801339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64267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613833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38044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2167633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747"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
        <p:nvSpPr>
          <p:cNvPr id="12" name="TextBox 11"/>
          <p:cNvSpPr txBox="1"/>
          <p:nvPr userDrawn="1"/>
        </p:nvSpPr>
        <p:spPr>
          <a:xfrm>
            <a:off x="9372599" y="666750"/>
            <a:ext cx="1293496" cy="523220"/>
          </a:xfrm>
          <a:prstGeom prst="rect">
            <a:avLst/>
          </a:prstGeom>
          <a:noFill/>
        </p:spPr>
        <p:txBody>
          <a:bodyPr wrap="none" rtlCol="0">
            <a:spAutoFit/>
          </a:bodyPr>
          <a:lstStyle/>
          <a:p>
            <a:r>
              <a:rPr lang="en-US" sz="1400" dirty="0">
                <a:solidFill>
                  <a:prstClr val="black"/>
                </a:solidFill>
              </a:rPr>
              <a:t>Template</a:t>
            </a:r>
          </a:p>
          <a:p>
            <a:r>
              <a:rPr lang="en-US" sz="1400" dirty="0">
                <a:solidFill>
                  <a:prstClr val="black"/>
                </a:solidFill>
              </a:rPr>
              <a:t>vertLeftWhite2</a:t>
            </a:r>
          </a:p>
        </p:txBody>
      </p:sp>
      <p:pic>
        <p:nvPicPr>
          <p:cNvPr id="13"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3291840"/>
            <a:ext cx="254471" cy="256032"/>
          </a:xfrm>
          <a:prstGeom prst="rect">
            <a:avLst/>
          </a:prstGeom>
          <a:noFill/>
          <a:extLst>
            <a:ext uri="{909E8E84-426E-40dd-AFC4-6F175D3DCCD1}">
              <a14:hiddenFill xmlns="" xmlns:a14="http://schemas.microsoft.com/office/drawing/2010/main">
                <a:solidFill>
                  <a:srgbClr val="FFFFFF"/>
                </a:solidFill>
              </a14:hiddenFill>
            </a:ext>
          </a:extLst>
        </p:spPr>
      </p:pic>
      <p:pic>
        <p:nvPicPr>
          <p:cNvPr id="14"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2834640"/>
            <a:ext cx="254471" cy="256032"/>
          </a:xfrm>
          <a:prstGeom prst="rect">
            <a:avLst/>
          </a:prstGeom>
          <a:noFill/>
          <a:extLst>
            <a:ext uri="{909E8E84-426E-40dd-AFC4-6F175D3DCCD1}">
              <a14:hiddenFill xmlns="" xmlns:a14="http://schemas.microsoft.com/office/drawing/2010/main">
                <a:solidFill>
                  <a:srgbClr val="FFFFFF"/>
                </a:solidFill>
              </a14:hiddenFill>
            </a:ext>
          </a:extLst>
        </p:spPr>
      </p:pic>
      <p:pic>
        <p:nvPicPr>
          <p:cNvPr id="15"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3749040"/>
            <a:ext cx="254471" cy="256032"/>
          </a:xfrm>
          <a:prstGeom prst="rect">
            <a:avLst/>
          </a:prstGeom>
          <a:noFill/>
          <a:extLst>
            <a:ext uri="{909E8E84-426E-40dd-AFC4-6F175D3DCCD1}">
              <a14:hiddenFill xmlns="" xmlns:a14="http://schemas.microsoft.com/office/drawing/2010/main">
                <a:solidFill>
                  <a:srgbClr val="FFFFFF"/>
                </a:solidFill>
              </a14:hiddenFill>
            </a:ext>
          </a:extLst>
        </p:spPr>
      </p:pic>
      <p:pic>
        <p:nvPicPr>
          <p:cNvPr id="16"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4206240"/>
            <a:ext cx="254471" cy="25603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54148564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
        <p:nvSpPr>
          <p:cNvPr id="12" name="TextBox 11"/>
          <p:cNvSpPr txBox="1"/>
          <p:nvPr userDrawn="1"/>
        </p:nvSpPr>
        <p:spPr>
          <a:xfrm>
            <a:off x="9372599" y="666750"/>
            <a:ext cx="1370568" cy="1600438"/>
          </a:xfrm>
          <a:prstGeom prst="rect">
            <a:avLst/>
          </a:prstGeom>
          <a:noFill/>
        </p:spPr>
        <p:txBody>
          <a:bodyPr wrap="none" rtlCol="0">
            <a:spAutoFit/>
          </a:bodyPr>
          <a:lstStyle/>
          <a:p>
            <a:r>
              <a:rPr lang="en-US" sz="1400" dirty="0">
                <a:solidFill>
                  <a:prstClr val="black"/>
                </a:solidFill>
              </a:rPr>
              <a:t>Template</a:t>
            </a:r>
          </a:p>
          <a:p>
            <a:r>
              <a:rPr lang="en-US" sz="1400" dirty="0">
                <a:solidFill>
                  <a:prstClr val="black"/>
                </a:solidFill>
              </a:rPr>
              <a:t>block2x2White1</a:t>
            </a:r>
          </a:p>
          <a:p>
            <a:endParaRPr lang="en-US" sz="1400" dirty="0">
              <a:solidFill>
                <a:prstClr val="black"/>
              </a:solidFill>
            </a:endParaRPr>
          </a:p>
          <a:p>
            <a:r>
              <a:rPr lang="en-US" sz="1400" dirty="0">
                <a:solidFill>
                  <a:prstClr val="black"/>
                </a:solidFill>
              </a:rPr>
              <a:t>Ordering of</a:t>
            </a:r>
            <a:r>
              <a:rPr lang="en-US" sz="1400" baseline="0" dirty="0">
                <a:solidFill>
                  <a:prstClr val="black"/>
                </a:solidFill>
              </a:rPr>
              <a:t> </a:t>
            </a:r>
          </a:p>
          <a:p>
            <a:r>
              <a:rPr lang="en-US" sz="1400" baseline="0" dirty="0">
                <a:solidFill>
                  <a:prstClr val="black"/>
                </a:solidFill>
              </a:rPr>
              <a:t>buttons is</a:t>
            </a:r>
            <a:r>
              <a:rPr lang="en-US" sz="1400" dirty="0">
                <a:solidFill>
                  <a:prstClr val="black"/>
                </a:solidFill>
              </a:rPr>
              <a:t>:</a:t>
            </a:r>
          </a:p>
          <a:p>
            <a:r>
              <a:rPr lang="en-US" sz="1400" dirty="0">
                <a:solidFill>
                  <a:prstClr val="black"/>
                </a:solidFill>
              </a:rPr>
              <a:t>13</a:t>
            </a:r>
          </a:p>
          <a:p>
            <a:r>
              <a:rPr lang="en-US" sz="1400" dirty="0">
                <a:solidFill>
                  <a:prstClr val="black"/>
                </a:solidFill>
              </a:rPr>
              <a:t>24</a:t>
            </a:r>
          </a:p>
        </p:txBody>
      </p:sp>
      <p:pic>
        <p:nvPicPr>
          <p:cNvPr id="13" name="Picture 3" descr="C:\Users\Tarun Singh\Desktop\whiteRadio.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914400" y="3931920"/>
            <a:ext cx="254471" cy="256032"/>
          </a:xfrm>
          <a:prstGeom prst="rect">
            <a:avLst/>
          </a:prstGeom>
          <a:noFill/>
          <a:extLst>
            <a:ext uri="{909E8E84-426E-40dd-AFC4-6F175D3DCCD1}">
              <a14:hiddenFill xmlns="" xmlns:a14="http://schemas.microsoft.com/office/drawing/2010/main">
                <a:solidFill>
                  <a:srgbClr val="FFFFFF"/>
                </a:solidFill>
              </a14:hiddenFill>
            </a:ext>
          </a:extLst>
        </p:spPr>
      </p:pic>
      <p:pic>
        <p:nvPicPr>
          <p:cNvPr id="14" name="Picture 3" descr="C:\Users\Tarun Singh\Desktop\whiteRadio.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914400" y="2011680"/>
            <a:ext cx="254471" cy="256032"/>
          </a:xfrm>
          <a:prstGeom prst="rect">
            <a:avLst/>
          </a:prstGeom>
          <a:noFill/>
          <a:extLst>
            <a:ext uri="{909E8E84-426E-40dd-AFC4-6F175D3DCCD1}">
              <a14:hiddenFill xmlns="" xmlns:a14="http://schemas.microsoft.com/office/drawing/2010/main">
                <a:solidFill>
                  <a:srgbClr val="FFFFFF"/>
                </a:solidFill>
              </a14:hiddenFill>
            </a:ext>
          </a:extLst>
        </p:spPr>
      </p:pic>
      <p:pic>
        <p:nvPicPr>
          <p:cNvPr id="15" name="Picture 3" descr="C:\Users\Tarun Singh\Desktop\whiteRadio.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572000" y="2011680"/>
            <a:ext cx="254471" cy="256032"/>
          </a:xfrm>
          <a:prstGeom prst="rect">
            <a:avLst/>
          </a:prstGeom>
          <a:noFill/>
          <a:extLst>
            <a:ext uri="{909E8E84-426E-40dd-AFC4-6F175D3DCCD1}">
              <a14:hiddenFill xmlns="" xmlns:a14="http://schemas.microsoft.com/office/drawing/2010/main">
                <a:solidFill>
                  <a:srgbClr val="FFFFFF"/>
                </a:solidFill>
              </a14:hiddenFill>
            </a:ext>
          </a:extLst>
        </p:spPr>
      </p:pic>
      <p:pic>
        <p:nvPicPr>
          <p:cNvPr id="16" name="Picture 3" descr="C:\Users\Tarun Singh\Desktop\whiteRadio.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572000" y="3931920"/>
            <a:ext cx="254471" cy="25603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1823040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pPr/>
              <a:t>3/4/2022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9513965"/>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20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0.png"/><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image" Target="../media/image20.png"/><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180.png"/><Relationship Id="rId11" Type="http://schemas.openxmlformats.org/officeDocument/2006/relationships/image" Target="../media/image23.png"/><Relationship Id="rId5" Type="http://schemas.openxmlformats.org/officeDocument/2006/relationships/image" Target="../media/image170.png"/><Relationship Id="rId15" Type="http://schemas.openxmlformats.org/officeDocument/2006/relationships/image" Target="../media/image27.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0.pn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ctrTitle"/>
          </p:nvPr>
        </p:nvSpPr>
        <p:spPr>
          <a:xfrm>
            <a:off x="1885950" y="1663303"/>
            <a:ext cx="5829300" cy="622697"/>
          </a:xfr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89803"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normAutofit fontScale="90000"/>
          </a:bodyPr>
          <a:lstStyle/>
          <a:p>
            <a:pPr eaLnBrk="1" hangingPunct="1">
              <a:defRPr/>
            </a:pPr>
            <a:r>
              <a:rPr lang="en-US" dirty="0">
                <a:ea typeface="+mj-ea"/>
              </a:rPr>
              <a:t>Ensemble learning </a:t>
            </a:r>
            <a:endParaRPr lang="en-GB" dirty="0">
              <a:ea typeface="+mj-ea"/>
            </a:endParaRPr>
          </a:p>
        </p:txBody>
      </p:sp>
      <p:sp>
        <p:nvSpPr>
          <p:cNvPr id="2" name="Subtitle 1"/>
          <p:cNvSpPr>
            <a:spLocks noGrp="1"/>
          </p:cNvSpPr>
          <p:nvPr>
            <p:ph type="subTitle" idx="1"/>
          </p:nvPr>
        </p:nvSpPr>
        <p:spPr/>
        <p:txBody>
          <a:bodyPr/>
          <a:lstStyle/>
          <a:p>
            <a:r>
              <a:rPr lang="en-GB" dirty="0"/>
              <a:t>``The wisdom of the crowd’’</a:t>
            </a:r>
            <a:endParaRPr lang="it-IT" dirty="0"/>
          </a:p>
        </p:txBody>
      </p:sp>
    </p:spTree>
    <p:extLst>
      <p:ext uri="{BB962C8B-B14F-4D97-AF65-F5344CB8AC3E}">
        <p14:creationId xmlns:p14="http://schemas.microsoft.com/office/powerpoint/2010/main" val="2368533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Weak and Strong Learnability</a:t>
            </a:r>
            <a:endParaRPr lang="it-IT"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GB" sz="2400" i="1" dirty="0"/>
                  <a:t>Weak learner</a:t>
                </a:r>
                <a:r>
                  <a:rPr lang="en-GB" sz="2400" dirty="0"/>
                  <a:t>: a learner (classifier, predictor, …) that performs just better than random guessing (error&lt;50%)</a:t>
                </a:r>
              </a:p>
              <a:p>
                <a:r>
                  <a:rPr lang="en-GB" sz="2400" i="1" dirty="0"/>
                  <a:t>Strong learner</a:t>
                </a:r>
                <a:r>
                  <a:rPr lang="en-GB" sz="2400" dirty="0"/>
                  <a:t>: a learner whose error can be arbitrary driven close to </a:t>
                </a:r>
                <a14:m>
                  <m:oMath xmlns:m="http://schemas.openxmlformats.org/officeDocument/2006/math">
                    <m:r>
                      <a:rPr lang="en-GB" sz="2400" i="1" smtClean="0">
                        <a:latin typeface="Cambria Math" panose="02040503050406030204" pitchFamily="18" charset="0"/>
                        <a:ea typeface="Cambria Math" panose="02040503050406030204" pitchFamily="18" charset="0"/>
                      </a:rPr>
                      <m:t>𝜖</m:t>
                    </m:r>
                    <m:r>
                      <a:rPr lang="en-GB" sz="2400" i="1" smtClean="0">
                        <a:latin typeface="Cambria Math" panose="02040503050406030204" pitchFamily="18" charset="0"/>
                        <a:ea typeface="Cambria Math" panose="02040503050406030204" pitchFamily="18" charset="0"/>
                      </a:rPr>
                      <m:t>∈(0,</m:t>
                    </m:r>
                    <m:f>
                      <m:fPr>
                        <m:type m:val="skw"/>
                        <m:ctrlPr>
                          <a:rPr lang="en-GB" sz="2400" b="0" i="1" smtClean="0">
                            <a:latin typeface="Cambria Math" panose="02040503050406030204" pitchFamily="18" charset="0"/>
                            <a:ea typeface="Cambria Math" panose="02040503050406030204" pitchFamily="18" charset="0"/>
                          </a:rPr>
                        </m:ctrlPr>
                      </m:fPr>
                      <m:num>
                        <m:r>
                          <a:rPr lang="en-GB" sz="2400" b="0" i="1" smtClean="0">
                            <a:latin typeface="Cambria Math" panose="02040503050406030204" pitchFamily="18" charset="0"/>
                            <a:ea typeface="Cambria Math" panose="02040503050406030204" pitchFamily="18" charset="0"/>
                          </a:rPr>
                          <m:t>1</m:t>
                        </m:r>
                      </m:num>
                      <m:den>
                        <m:r>
                          <a:rPr lang="en-GB" sz="2400" b="0" i="1" smtClean="0">
                            <a:latin typeface="Cambria Math" panose="02040503050406030204" pitchFamily="18" charset="0"/>
                            <a:ea typeface="Cambria Math" panose="02040503050406030204" pitchFamily="18" charset="0"/>
                          </a:rPr>
                          <m:t>2</m:t>
                        </m:r>
                      </m:den>
                    </m:f>
                    <m:r>
                      <a:rPr lang="en-GB" sz="2400" b="0" i="1" smtClean="0">
                        <a:latin typeface="Cambria Math" panose="02040503050406030204" pitchFamily="18" charset="0"/>
                        <a:ea typeface="Cambria Math" panose="02040503050406030204" pitchFamily="18" charset="0"/>
                      </a:rPr>
                      <m:t>)</m:t>
                    </m:r>
                  </m:oMath>
                </a14:m>
                <a:endParaRPr lang="it-IT" sz="2400" dirty="0"/>
              </a:p>
              <a:p>
                <a:r>
                  <a:rPr lang="en-GB" sz="2400" dirty="0"/>
                  <a:t>Details are given by the </a:t>
                </a:r>
                <a:r>
                  <a:rPr lang="en-GB" sz="2400" u="sng" dirty="0"/>
                  <a:t>PAC Learning Theory </a:t>
                </a:r>
                <a:r>
                  <a:rPr lang="en-GB" sz="2400" dirty="0"/>
                  <a:t>(Probably Approximately Correct)</a:t>
                </a:r>
              </a:p>
              <a:p>
                <a:r>
                  <a:rPr lang="en-GB" sz="2400" b="1" dirty="0"/>
                  <a:t>Question</a:t>
                </a:r>
                <a:r>
                  <a:rPr lang="en-GB" sz="2400" dirty="0"/>
                  <a:t>: is it possible to get a strong learner from a set of weak learners? </a:t>
                </a:r>
                <a:r>
                  <a:rPr lang="en-GB" sz="2400" b="1" dirty="0"/>
                  <a:t>Answer</a:t>
                </a:r>
                <a:r>
                  <a:rPr lang="en-GB" sz="2400" dirty="0"/>
                  <a:t>: Ensemble learning</a:t>
                </a:r>
                <a:endParaRPr lang="it-IT"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63" t="-1436" r="-741"/>
                </a:stretch>
              </a:blipFill>
            </p:spPr>
            <p:txBody>
              <a:bodyPr/>
              <a:lstStyle/>
              <a:p>
                <a:r>
                  <a:rPr lang="it-IT">
                    <a:noFill/>
                  </a:rPr>
                  <a:t> </a:t>
                </a:r>
              </a:p>
            </p:txBody>
          </p:sp>
        </mc:Fallback>
      </mc:AlternateContent>
    </p:spTree>
    <p:extLst>
      <p:ext uri="{BB962C8B-B14F-4D97-AF65-F5344CB8AC3E}">
        <p14:creationId xmlns:p14="http://schemas.microsoft.com/office/powerpoint/2010/main" val="2046223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3350"/>
            <a:ext cx="8229600" cy="857250"/>
          </a:xfrm>
        </p:spPr>
        <p:txBody>
          <a:bodyPr/>
          <a:lstStyle/>
          <a:p>
            <a:r>
              <a:rPr lang="en-GB" dirty="0"/>
              <a:t>Types of ensemble learning</a:t>
            </a:r>
            <a:endParaRPr lang="it-IT" dirty="0"/>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GB" dirty="0"/>
              <a:t>Combining the results of different learning algorithms</a:t>
            </a:r>
          </a:p>
          <a:p>
            <a:pPr lvl="1"/>
            <a:r>
              <a:rPr lang="en-GB" b="1" dirty="0"/>
              <a:t>Stacking</a:t>
            </a:r>
            <a:r>
              <a:rPr lang="en-GB" dirty="0"/>
              <a:t> (Stacked Generalization)</a:t>
            </a:r>
          </a:p>
          <a:p>
            <a:pPr lvl="1"/>
            <a:r>
              <a:rPr lang="en-GB" b="1" dirty="0"/>
              <a:t>Voting</a:t>
            </a:r>
          </a:p>
          <a:p>
            <a:pPr marL="514350" indent="-514350">
              <a:buFont typeface="+mj-lt"/>
              <a:buAutoNum type="arabicPeriod"/>
            </a:pPr>
            <a:r>
              <a:rPr lang="en-GB" dirty="0"/>
              <a:t>Combining the results of the same learning algorithm on different data</a:t>
            </a:r>
          </a:p>
          <a:p>
            <a:pPr lvl="1"/>
            <a:r>
              <a:rPr lang="en-GB" b="1" dirty="0"/>
              <a:t>Bagging </a:t>
            </a:r>
            <a:r>
              <a:rPr lang="en-GB" dirty="0"/>
              <a:t>(</a:t>
            </a:r>
            <a:r>
              <a:rPr lang="en-GB" b="1" dirty="0"/>
              <a:t>B</a:t>
            </a:r>
            <a:r>
              <a:rPr lang="en-GB" dirty="0"/>
              <a:t>ootstrap </a:t>
            </a:r>
            <a:r>
              <a:rPr lang="en-GB" b="1" dirty="0"/>
              <a:t>Agg</a:t>
            </a:r>
            <a:r>
              <a:rPr lang="en-GB" dirty="0"/>
              <a:t>regat</a:t>
            </a:r>
            <a:r>
              <a:rPr lang="en-GB" b="1" dirty="0"/>
              <a:t>ing</a:t>
            </a:r>
            <a:r>
              <a:rPr lang="en-GB" dirty="0"/>
              <a:t>)</a:t>
            </a:r>
          </a:p>
          <a:p>
            <a:pPr lvl="1"/>
            <a:r>
              <a:rPr lang="en-GB" b="1" dirty="0"/>
              <a:t>Boosting</a:t>
            </a:r>
          </a:p>
        </p:txBody>
      </p:sp>
    </p:spTree>
    <p:extLst>
      <p:ext uri="{BB962C8B-B14F-4D97-AF65-F5344CB8AC3E}">
        <p14:creationId xmlns:p14="http://schemas.microsoft.com/office/powerpoint/2010/main" val="3535139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915" y="-19050"/>
            <a:ext cx="8229600" cy="857250"/>
          </a:xfrm>
        </p:spPr>
        <p:txBody>
          <a:bodyPr/>
          <a:lstStyle/>
          <a:p>
            <a:r>
              <a:rPr lang="en-GB" dirty="0"/>
              <a:t>Why?</a:t>
            </a:r>
            <a:endParaRPr lang="it-IT" dirty="0"/>
          </a:p>
        </p:txBody>
      </p:sp>
      <p:sp>
        <p:nvSpPr>
          <p:cNvPr id="3" name="Content Placeholder 2"/>
          <p:cNvSpPr>
            <a:spLocks noGrp="1"/>
          </p:cNvSpPr>
          <p:nvPr>
            <p:ph idx="1"/>
          </p:nvPr>
        </p:nvSpPr>
        <p:spPr/>
        <p:txBody>
          <a:bodyPr>
            <a:normAutofit fontScale="92500" lnSpcReduction="10000"/>
          </a:bodyPr>
          <a:lstStyle/>
          <a:p>
            <a:r>
              <a:rPr lang="en-GB" sz="2400" dirty="0"/>
              <a:t>Suppose you have 1000 binary weak classifiers with 51% accuracy and you predict the class with majority vote.</a:t>
            </a:r>
          </a:p>
          <a:p>
            <a:r>
              <a:rPr lang="en-GB" sz="2400" dirty="0"/>
              <a:t>It is like having a biased coin (say 0.51 probability of H and 0.49 of T) and tossing it 1000 times.</a:t>
            </a:r>
          </a:p>
          <a:p>
            <a:r>
              <a:rPr lang="en-GB" sz="2400" dirty="0"/>
              <a:t>If you do the math the </a:t>
            </a:r>
            <a:r>
              <a:rPr lang="en-GB" sz="2400" dirty="0" err="1"/>
              <a:t>prob</a:t>
            </a:r>
            <a:r>
              <a:rPr lang="en-GB" sz="2400" dirty="0"/>
              <a:t> of having a majority of H is 75%.</a:t>
            </a:r>
          </a:p>
          <a:p>
            <a:r>
              <a:rPr lang="en-GB" sz="2400" dirty="0"/>
              <a:t>Thus you have increased the accuracy from 51% (weak learner) to 75%</a:t>
            </a:r>
          </a:p>
          <a:p>
            <a:r>
              <a:rPr lang="en-GB" sz="2400" dirty="0"/>
              <a:t>The more you toss the coin (the more base learners you have), the larger is this probability (by the law of large numbers this process converge to 51% H with probability 1)</a:t>
            </a:r>
            <a:endParaRPr lang="it-IT" sz="2400" dirty="0"/>
          </a:p>
        </p:txBody>
      </p:sp>
      <p:pic>
        <p:nvPicPr>
          <p:cNvPr id="4" name="Picture 3"/>
          <p:cNvPicPr>
            <a:picLocks noChangeAspect="1"/>
          </p:cNvPicPr>
          <p:nvPr/>
        </p:nvPicPr>
        <p:blipFill>
          <a:blip r:embed="rId2"/>
          <a:stretch>
            <a:fillRect/>
          </a:stretch>
        </p:blipFill>
        <p:spPr>
          <a:xfrm>
            <a:off x="0" y="634604"/>
            <a:ext cx="9144000" cy="3928859"/>
          </a:xfrm>
          <a:prstGeom prst="rect">
            <a:avLst/>
          </a:prstGeom>
        </p:spPr>
      </p:pic>
    </p:spTree>
    <p:extLst>
      <p:ext uri="{BB962C8B-B14F-4D97-AF65-F5344CB8AC3E}">
        <p14:creationId xmlns:p14="http://schemas.microsoft.com/office/powerpoint/2010/main" val="1780535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Uncorrelated predictions</a:t>
            </a:r>
            <a:endParaRPr lang="it-IT" dirty="0"/>
          </a:p>
        </p:txBody>
      </p:sp>
      <p:sp>
        <p:nvSpPr>
          <p:cNvPr id="3" name="Content Placeholder 2"/>
          <p:cNvSpPr>
            <a:spLocks noGrp="1"/>
          </p:cNvSpPr>
          <p:nvPr>
            <p:ph idx="1"/>
          </p:nvPr>
        </p:nvSpPr>
        <p:spPr/>
        <p:txBody>
          <a:bodyPr>
            <a:normAutofit fontScale="92500" lnSpcReduction="10000"/>
          </a:bodyPr>
          <a:lstStyle/>
          <a:p>
            <a:r>
              <a:rPr lang="en-GB" dirty="0"/>
              <a:t>Previous observation holds since coin tosses are independent (uncorrelated)</a:t>
            </a:r>
          </a:p>
          <a:p>
            <a:r>
              <a:rPr lang="en-GB" dirty="0"/>
              <a:t>If you repeat the same algorithm on the same data, you get highly correlated predictions</a:t>
            </a:r>
          </a:p>
          <a:p>
            <a:r>
              <a:rPr lang="en-GB" dirty="0"/>
              <a:t>Two choices to break correlation</a:t>
            </a:r>
          </a:p>
          <a:p>
            <a:pPr lvl="1"/>
            <a:r>
              <a:rPr lang="en-GB" dirty="0"/>
              <a:t>Different algorithms</a:t>
            </a:r>
          </a:p>
          <a:p>
            <a:pPr lvl="1"/>
            <a:r>
              <a:rPr lang="en-GB" dirty="0"/>
              <a:t>Different data</a:t>
            </a:r>
            <a:endParaRPr lang="it-IT" dirty="0"/>
          </a:p>
        </p:txBody>
      </p:sp>
    </p:spTree>
    <p:extLst>
      <p:ext uri="{BB962C8B-B14F-4D97-AF65-F5344CB8AC3E}">
        <p14:creationId xmlns:p14="http://schemas.microsoft.com/office/powerpoint/2010/main" val="609818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085674"/>
            <a:ext cx="7287642" cy="3867690"/>
          </a:xfrm>
          <a:prstGeom prst="rect">
            <a:avLst/>
          </a:prstGeom>
        </p:spPr>
      </p:pic>
      <p:sp>
        <p:nvSpPr>
          <p:cNvPr id="5" name="Title 4"/>
          <p:cNvSpPr>
            <a:spLocks noGrp="1"/>
          </p:cNvSpPr>
          <p:nvPr>
            <p:ph type="title"/>
          </p:nvPr>
        </p:nvSpPr>
        <p:spPr/>
        <p:txBody>
          <a:bodyPr>
            <a:normAutofit/>
          </a:bodyPr>
          <a:lstStyle/>
          <a:p>
            <a:r>
              <a:rPr lang="en-GB" sz="3600" dirty="0"/>
              <a:t>Multiple algorithms, same data</a:t>
            </a:r>
            <a:endParaRPr lang="it-IT" sz="3600" dirty="0"/>
          </a:p>
        </p:txBody>
      </p:sp>
      <p:sp>
        <p:nvSpPr>
          <p:cNvPr id="2" name="Rectangle 1">
            <a:extLst>
              <a:ext uri="{FF2B5EF4-FFF2-40B4-BE49-F238E27FC236}">
                <a16:creationId xmlns:a16="http://schemas.microsoft.com/office/drawing/2014/main" id="{141BEA8F-CE9B-4402-9E68-94342DAC0CE9}"/>
              </a:ext>
            </a:extLst>
          </p:cNvPr>
          <p:cNvSpPr/>
          <p:nvPr/>
        </p:nvSpPr>
        <p:spPr>
          <a:xfrm>
            <a:off x="4343400" y="971550"/>
            <a:ext cx="2057400" cy="857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Multi Layer Perceptron</a:t>
            </a:r>
          </a:p>
        </p:txBody>
      </p:sp>
    </p:spTree>
    <p:extLst>
      <p:ext uri="{BB962C8B-B14F-4D97-AF65-F5344CB8AC3E}">
        <p14:creationId xmlns:p14="http://schemas.microsoft.com/office/powerpoint/2010/main" val="2079512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7150"/>
            <a:ext cx="8229600" cy="857250"/>
          </a:xfrm>
        </p:spPr>
        <p:txBody>
          <a:bodyPr/>
          <a:lstStyle/>
          <a:p>
            <a:r>
              <a:rPr lang="en-GB" dirty="0"/>
              <a:t>Voting</a:t>
            </a:r>
            <a:endParaRPr lang="it-IT" dirty="0"/>
          </a:p>
        </p:txBody>
      </p:sp>
      <p:pic>
        <p:nvPicPr>
          <p:cNvPr id="3" name="Picture 2"/>
          <p:cNvPicPr>
            <a:picLocks noChangeAspect="1"/>
          </p:cNvPicPr>
          <p:nvPr/>
        </p:nvPicPr>
        <p:blipFill>
          <a:blip r:embed="rId2"/>
          <a:stretch>
            <a:fillRect/>
          </a:stretch>
        </p:blipFill>
        <p:spPr>
          <a:xfrm>
            <a:off x="838200" y="1067853"/>
            <a:ext cx="7467600" cy="4089511"/>
          </a:xfrm>
          <a:prstGeom prst="rect">
            <a:avLst/>
          </a:prstGeom>
        </p:spPr>
      </p:pic>
    </p:spTree>
    <p:extLst>
      <p:ext uri="{BB962C8B-B14F-4D97-AF65-F5344CB8AC3E}">
        <p14:creationId xmlns:p14="http://schemas.microsoft.com/office/powerpoint/2010/main" val="2548006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Hard vs Soft Voting</a:t>
            </a:r>
            <a:endParaRPr lang="it-IT"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GB" sz="2400" dirty="0"/>
                  <a:t>The previous scheme is called </a:t>
                </a:r>
                <a:r>
                  <a:rPr lang="en-GB" sz="2400" b="1" dirty="0"/>
                  <a:t>Hard Voting </a:t>
                </a:r>
                <a:r>
                  <a:rPr lang="en-GB" sz="2400" dirty="0"/>
                  <a:t>(most frequent class)</a:t>
                </a:r>
              </a:p>
              <a:p>
                <a:r>
                  <a:rPr lang="en-GB" sz="2400" dirty="0"/>
                  <a:t>If classifiers output probabilities we can average such probabilities and to output a new probability distribution (and then to select the most probable class). This is </a:t>
                </a:r>
                <a:r>
                  <a:rPr lang="en-GB" sz="2400" b="1" dirty="0"/>
                  <a:t>Soft Voting</a:t>
                </a:r>
              </a:p>
              <a:p>
                <a:r>
                  <a:rPr lang="en-GB" sz="2400" dirty="0"/>
                  <a:t>In general each classifier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𝐶</m:t>
                        </m:r>
                      </m:e>
                      <m:sub>
                        <m:r>
                          <a:rPr lang="en-GB" sz="2400" b="0" i="1" smtClean="0">
                            <a:latin typeface="Cambria Math" panose="02040503050406030204" pitchFamily="18" charset="0"/>
                          </a:rPr>
                          <m:t>𝑗</m:t>
                        </m:r>
                      </m:sub>
                    </m:sSub>
                    <m:r>
                      <a:rPr lang="en-GB" sz="2400" b="0" i="1" smtClean="0">
                        <a:latin typeface="Cambria Math" panose="02040503050406030204" pitchFamily="18" charset="0"/>
                      </a:rPr>
                      <m:t> </m:t>
                    </m:r>
                  </m:oMath>
                </a14:m>
                <a:r>
                  <a:rPr lang="en-GB" sz="2400" dirty="0"/>
                  <a:t>may have a weight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𝑤</m:t>
                        </m:r>
                      </m:e>
                      <m:sub>
                        <m:r>
                          <a:rPr lang="en-GB" sz="2400" b="0" i="1" smtClean="0">
                            <a:latin typeface="Cambria Math" panose="02040503050406030204" pitchFamily="18" charset="0"/>
                          </a:rPr>
                          <m:t>𝑗</m:t>
                        </m:r>
                      </m:sub>
                    </m:sSub>
                  </m:oMath>
                </a14:m>
                <a:r>
                  <a:rPr lang="it-IT" sz="2400" dirty="0"/>
                  <a:t> and if </a:t>
                </a:r>
                <a14:m>
                  <m:oMath xmlns:m="http://schemas.openxmlformats.org/officeDocument/2006/math">
                    <m:sSub>
                      <m:sSubPr>
                        <m:ctrlPr>
                          <a:rPr lang="it-IT" sz="2400" i="1" smtClean="0">
                            <a:latin typeface="Cambria Math" panose="02040503050406030204" pitchFamily="18" charset="0"/>
                          </a:rPr>
                        </m:ctrlPr>
                      </m:sSubPr>
                      <m:e>
                        <m:r>
                          <a:rPr lang="en-GB" sz="2400" b="0" i="1" smtClean="0">
                            <a:latin typeface="Cambria Math" panose="02040503050406030204" pitchFamily="18" charset="0"/>
                          </a:rPr>
                          <m:t>𝑝</m:t>
                        </m:r>
                      </m:e>
                      <m:sub>
                        <m:r>
                          <a:rPr lang="en-GB" sz="2400" b="0" i="1" smtClean="0">
                            <a:latin typeface="Cambria Math" panose="02040503050406030204" pitchFamily="18" charset="0"/>
                          </a:rPr>
                          <m:t>𝑖𝑗</m:t>
                        </m:r>
                      </m:sub>
                    </m:sSub>
                  </m:oMath>
                </a14:m>
                <a:r>
                  <a:rPr lang="it-IT" sz="2400" dirty="0"/>
                  <a:t> is the probability of class </a:t>
                </a:r>
                <a:r>
                  <a:rPr lang="it-IT" sz="2400" i="1" dirty="0">
                    <a:latin typeface="Times New Roman" panose="02020603050405020304" pitchFamily="18" charset="0"/>
                    <a:cs typeface="Times New Roman" panose="02020603050405020304" pitchFamily="18" charset="0"/>
                  </a:rPr>
                  <a:t>i</a:t>
                </a:r>
                <a:r>
                  <a:rPr lang="it-IT" sz="2400" dirty="0"/>
                  <a:t> predicted by classifier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𝐶</m:t>
                        </m:r>
                      </m:e>
                      <m:sub>
                        <m:r>
                          <a:rPr lang="en-GB" sz="2400" b="0" i="1" smtClean="0">
                            <a:latin typeface="Cambria Math" panose="02040503050406030204" pitchFamily="18" charset="0"/>
                          </a:rPr>
                          <m:t>𝑗</m:t>
                        </m:r>
                      </m:sub>
                    </m:sSub>
                  </m:oMath>
                </a14:m>
                <a:r>
                  <a:rPr lang="it-IT" sz="2400" dirty="0"/>
                  <a:t> then the output class is </a:t>
                </a:r>
                <a14:m>
                  <m:oMath xmlns:m="http://schemas.openxmlformats.org/officeDocument/2006/math">
                    <m:acc>
                      <m:accPr>
                        <m:chr m:val="̂"/>
                        <m:ctrlPr>
                          <a:rPr lang="it-IT" sz="2400" i="1" smtClean="0">
                            <a:latin typeface="Cambria Math" panose="02040503050406030204" pitchFamily="18" charset="0"/>
                          </a:rPr>
                        </m:ctrlPr>
                      </m:accPr>
                      <m:e>
                        <m:r>
                          <a:rPr lang="en-GB" sz="2400" b="0" i="1" smtClean="0">
                            <a:latin typeface="Cambria Math" panose="02040503050406030204" pitchFamily="18" charset="0"/>
                          </a:rPr>
                          <m:t>𝑦</m:t>
                        </m:r>
                      </m:e>
                    </m:acc>
                    <m:r>
                      <a:rPr lang="en-GB" sz="2400" b="0" i="1" smtClean="0">
                        <a:latin typeface="Cambria Math" panose="02040503050406030204" pitchFamily="18" charset="0"/>
                      </a:rPr>
                      <m:t>=</m:t>
                    </m:r>
                    <m:func>
                      <m:funcPr>
                        <m:ctrlPr>
                          <a:rPr lang="en-GB" sz="2400" b="0" i="1" smtClean="0">
                            <a:latin typeface="Cambria Math" panose="02040503050406030204" pitchFamily="18" charset="0"/>
                          </a:rPr>
                        </m:ctrlPr>
                      </m:funcPr>
                      <m:fName>
                        <m:r>
                          <m:rPr>
                            <m:sty m:val="p"/>
                          </m:rPr>
                          <a:rPr lang="en-GB" sz="2400" b="0" i="0" smtClean="0">
                            <a:latin typeface="Cambria Math" panose="02040503050406030204" pitchFamily="18" charset="0"/>
                          </a:rPr>
                          <m:t>arg</m:t>
                        </m:r>
                      </m:fName>
                      <m:e>
                        <m:func>
                          <m:funcPr>
                            <m:ctrlPr>
                              <a:rPr lang="en-GB" sz="2400" b="0" i="1" smtClean="0">
                                <a:latin typeface="Cambria Math" panose="02040503050406030204" pitchFamily="18" charset="0"/>
                              </a:rPr>
                            </m:ctrlPr>
                          </m:funcPr>
                          <m:fName>
                            <m:limLow>
                              <m:limLowPr>
                                <m:ctrlPr>
                                  <a:rPr lang="en-GB" sz="2400" b="0" i="1" smtClean="0">
                                    <a:latin typeface="Cambria Math" panose="02040503050406030204" pitchFamily="18" charset="0"/>
                                  </a:rPr>
                                </m:ctrlPr>
                              </m:limLowPr>
                              <m:e>
                                <m:r>
                                  <m:rPr>
                                    <m:sty m:val="p"/>
                                  </m:rPr>
                                  <a:rPr lang="en-GB" sz="2400" b="0" i="0" smtClean="0">
                                    <a:latin typeface="Cambria Math" panose="02040503050406030204" pitchFamily="18" charset="0"/>
                                  </a:rPr>
                                  <m:t>max</m:t>
                                </m:r>
                              </m:e>
                              <m:lim>
                                <m:r>
                                  <a:rPr lang="en-GB" sz="2400" b="0" i="1" smtClean="0">
                                    <a:latin typeface="Cambria Math" panose="02040503050406030204" pitchFamily="18" charset="0"/>
                                  </a:rPr>
                                  <m:t>𝑖</m:t>
                                </m:r>
                              </m:lim>
                            </m:limLow>
                          </m:fName>
                          <m:e>
                            <m:nary>
                              <m:naryPr>
                                <m:chr m:val="∑"/>
                                <m:supHide m:val="on"/>
                                <m:ctrlPr>
                                  <a:rPr lang="en-GB" sz="2400" b="0" i="1" smtClean="0">
                                    <a:latin typeface="Cambria Math" panose="02040503050406030204" pitchFamily="18" charset="0"/>
                                  </a:rPr>
                                </m:ctrlPr>
                              </m:naryPr>
                              <m:sub>
                                <m:r>
                                  <m:rPr>
                                    <m:brk m:alnAt="7"/>
                                  </m:rPr>
                                  <a:rPr lang="en-GB" sz="2400" b="0" i="1" smtClean="0">
                                    <a:latin typeface="Cambria Math" panose="02040503050406030204" pitchFamily="18" charset="0"/>
                                  </a:rPr>
                                  <m:t>𝑗</m:t>
                                </m:r>
                              </m:sub>
                              <m:sup/>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𝑤</m:t>
                                    </m:r>
                                  </m:e>
                                  <m:sub>
                                    <m:r>
                                      <a:rPr lang="en-GB" sz="2400" b="0" i="1" smtClean="0">
                                        <a:latin typeface="Cambria Math" panose="02040503050406030204" pitchFamily="18" charset="0"/>
                                      </a:rPr>
                                      <m:t>𝑗</m:t>
                                    </m:r>
                                  </m:sub>
                                </m:sSub>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𝑝</m:t>
                                    </m:r>
                                  </m:e>
                                  <m:sub>
                                    <m:r>
                                      <a:rPr lang="en-GB" sz="2400" b="0" i="1" smtClean="0">
                                        <a:latin typeface="Cambria Math" panose="02040503050406030204" pitchFamily="18" charset="0"/>
                                      </a:rPr>
                                      <m:t>𝑖𝑗</m:t>
                                    </m:r>
                                  </m:sub>
                                </m:sSub>
                              </m:e>
                            </m:nary>
                          </m:e>
                        </m:func>
                      </m:e>
                    </m:func>
                  </m:oMath>
                </a14:m>
                <a:r>
                  <a:rPr lang="it-IT" sz="2400" dirty="0"/>
                  <a:t> and </a:t>
                </a:r>
                <a14:m>
                  <m:oMath xmlns:m="http://schemas.openxmlformats.org/officeDocument/2006/math">
                    <m:sSub>
                      <m:sSubPr>
                        <m:ctrlPr>
                          <a:rPr lang="it-IT" sz="2400" i="1" smtClean="0">
                            <a:latin typeface="Cambria Math" panose="02040503050406030204" pitchFamily="18" charset="0"/>
                          </a:rPr>
                        </m:ctrlPr>
                      </m:sSubPr>
                      <m:e>
                        <m:r>
                          <a:rPr lang="en-GB" sz="2400" b="0" i="1" smtClean="0">
                            <a:latin typeface="Cambria Math" panose="02040503050406030204" pitchFamily="18" charset="0"/>
                          </a:rPr>
                          <m:t>𝑝</m:t>
                        </m:r>
                      </m:e>
                      <m:sub>
                        <m:acc>
                          <m:accPr>
                            <m:chr m:val="̂"/>
                            <m:ctrlPr>
                              <a:rPr lang="it-IT" sz="2400" i="1" smtClean="0">
                                <a:latin typeface="Cambria Math" panose="02040503050406030204" pitchFamily="18" charset="0"/>
                              </a:rPr>
                            </m:ctrlPr>
                          </m:accPr>
                          <m:e>
                            <m:r>
                              <a:rPr lang="en-GB" sz="2400" b="0" i="1" smtClean="0">
                                <a:latin typeface="Cambria Math" panose="02040503050406030204" pitchFamily="18" charset="0"/>
                              </a:rPr>
                              <m:t>𝑦</m:t>
                            </m:r>
                          </m:e>
                        </m:acc>
                      </m:sub>
                    </m:sSub>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nary>
                          <m:naryPr>
                            <m:chr m:val="∑"/>
                            <m:supHide m:val="on"/>
                            <m:ctrlPr>
                              <a:rPr lang="en-GB" sz="2400" i="1">
                                <a:latin typeface="Cambria Math" panose="02040503050406030204" pitchFamily="18" charset="0"/>
                              </a:rPr>
                            </m:ctrlPr>
                          </m:naryPr>
                          <m:sub>
                            <m:r>
                              <m:rPr>
                                <m:brk m:alnAt="7"/>
                              </m:rPr>
                              <a:rPr lang="en-GB" sz="2400" i="1">
                                <a:latin typeface="Cambria Math" panose="02040503050406030204" pitchFamily="18" charset="0"/>
                              </a:rPr>
                              <m:t>𝑗</m:t>
                            </m:r>
                          </m:sub>
                          <m:sup/>
                          <m:e>
                            <m:sSub>
                              <m:sSubPr>
                                <m:ctrlPr>
                                  <a:rPr lang="en-GB" sz="2400" i="1">
                                    <a:latin typeface="Cambria Math" panose="02040503050406030204" pitchFamily="18" charset="0"/>
                                  </a:rPr>
                                </m:ctrlPr>
                              </m:sSubPr>
                              <m:e>
                                <m:r>
                                  <a:rPr lang="en-GB" sz="2400" i="1">
                                    <a:latin typeface="Cambria Math" panose="02040503050406030204" pitchFamily="18" charset="0"/>
                                  </a:rPr>
                                  <m:t>𝑤</m:t>
                                </m:r>
                              </m:e>
                              <m:sub>
                                <m:r>
                                  <a:rPr lang="en-GB" sz="2400" i="1">
                                    <a:latin typeface="Cambria Math" panose="02040503050406030204" pitchFamily="18" charset="0"/>
                                  </a:rPr>
                                  <m:t>𝑗</m:t>
                                </m:r>
                              </m:sub>
                            </m:sSub>
                            <m:sSub>
                              <m:sSubPr>
                                <m:ctrlPr>
                                  <a:rPr lang="en-GB" sz="2400" i="1">
                                    <a:latin typeface="Cambria Math" panose="02040503050406030204" pitchFamily="18" charset="0"/>
                                  </a:rPr>
                                </m:ctrlPr>
                              </m:sSubPr>
                              <m:e>
                                <m:r>
                                  <a:rPr lang="en-GB" sz="2400" i="1">
                                    <a:latin typeface="Cambria Math" panose="02040503050406030204" pitchFamily="18" charset="0"/>
                                  </a:rPr>
                                  <m:t>𝑝</m:t>
                                </m:r>
                              </m:e>
                              <m:sub>
                                <m:r>
                                  <a:rPr lang="en-GB" sz="2400" i="1">
                                    <a:latin typeface="Cambria Math" panose="02040503050406030204" pitchFamily="18" charset="0"/>
                                  </a:rPr>
                                  <m:t>𝑖𝑗</m:t>
                                </m:r>
                              </m:sub>
                            </m:sSub>
                          </m:e>
                        </m:nary>
                      </m:num>
                      <m:den>
                        <m:nary>
                          <m:naryPr>
                            <m:chr m:val="∑"/>
                            <m:supHide m:val="on"/>
                            <m:ctrlPr>
                              <a:rPr lang="en-GB" sz="2400" i="1">
                                <a:latin typeface="Cambria Math" panose="02040503050406030204" pitchFamily="18" charset="0"/>
                              </a:rPr>
                            </m:ctrlPr>
                          </m:naryPr>
                          <m:sub>
                            <m:r>
                              <m:rPr>
                                <m:brk m:alnAt="7"/>
                              </m:rPr>
                              <a:rPr lang="en-GB" sz="2400" i="1">
                                <a:latin typeface="Cambria Math" panose="02040503050406030204" pitchFamily="18" charset="0"/>
                              </a:rPr>
                              <m:t>𝑗</m:t>
                            </m:r>
                          </m:sub>
                          <m:sup/>
                          <m:e>
                            <m:sSub>
                              <m:sSubPr>
                                <m:ctrlPr>
                                  <a:rPr lang="en-GB" sz="2400" i="1">
                                    <a:latin typeface="Cambria Math" panose="02040503050406030204" pitchFamily="18" charset="0"/>
                                  </a:rPr>
                                </m:ctrlPr>
                              </m:sSubPr>
                              <m:e>
                                <m:r>
                                  <a:rPr lang="en-GB" sz="2400" i="1">
                                    <a:latin typeface="Cambria Math" panose="02040503050406030204" pitchFamily="18" charset="0"/>
                                  </a:rPr>
                                  <m:t>𝑤</m:t>
                                </m:r>
                              </m:e>
                              <m:sub>
                                <m:r>
                                  <a:rPr lang="en-GB" sz="2400" i="1">
                                    <a:latin typeface="Cambria Math" panose="02040503050406030204" pitchFamily="18" charset="0"/>
                                  </a:rPr>
                                  <m:t>𝑗</m:t>
                                </m:r>
                              </m:sub>
                            </m:sSub>
                          </m:e>
                        </m:nary>
                      </m:den>
                    </m:f>
                  </m:oMath>
                </a14:m>
                <a:endParaRPr lang="it-IT"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63" t="-2513" r="-1481"/>
                </a:stretch>
              </a:blipFill>
            </p:spPr>
            <p:txBody>
              <a:bodyPr/>
              <a:lstStyle/>
              <a:p>
                <a:r>
                  <a:rPr lang="it-IT">
                    <a:noFill/>
                  </a:rPr>
                  <a:t> </a:t>
                </a:r>
              </a:p>
            </p:txBody>
          </p:sp>
        </mc:Fallback>
      </mc:AlternateContent>
    </p:spTree>
    <p:extLst>
      <p:ext uri="{BB962C8B-B14F-4D97-AF65-F5344CB8AC3E}">
        <p14:creationId xmlns:p14="http://schemas.microsoft.com/office/powerpoint/2010/main" val="835493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3886200" y="514350"/>
            <a:ext cx="5022957" cy="4476750"/>
          </a:xfrm>
          <a:prstGeom prst="rect">
            <a:avLst/>
          </a:prstGeom>
        </p:spPr>
      </p:pic>
      <p:sp>
        <p:nvSpPr>
          <p:cNvPr id="7" name="TextBox 6"/>
          <p:cNvSpPr txBox="1"/>
          <p:nvPr/>
        </p:nvSpPr>
        <p:spPr>
          <a:xfrm>
            <a:off x="228600" y="590550"/>
            <a:ext cx="4512133" cy="1200329"/>
          </a:xfrm>
          <a:prstGeom prst="rect">
            <a:avLst/>
          </a:prstGeom>
          <a:noFill/>
        </p:spPr>
        <p:txBody>
          <a:bodyPr wrap="none" rtlCol="0">
            <a:spAutoFit/>
          </a:bodyPr>
          <a:lstStyle/>
          <a:p>
            <a:r>
              <a:rPr lang="en-GB" dirty="0"/>
              <a:t>The idea can be generalized to specific</a:t>
            </a:r>
          </a:p>
          <a:p>
            <a:r>
              <a:rPr lang="en-GB" dirty="0"/>
              <a:t>aggregations: e.g., in regression we can</a:t>
            </a:r>
          </a:p>
          <a:p>
            <a:r>
              <a:rPr lang="en-GB" dirty="0"/>
              <a:t>introduce a ``blender’’ computing the average</a:t>
            </a:r>
          </a:p>
          <a:p>
            <a:r>
              <a:rPr lang="en-GB" dirty="0"/>
              <a:t>of input predictions</a:t>
            </a:r>
            <a:endParaRPr lang="it-IT" dirty="0"/>
          </a:p>
        </p:txBody>
      </p:sp>
      <mc:AlternateContent xmlns:mc="http://schemas.openxmlformats.org/markup-compatibility/2006" xmlns:a14="http://schemas.microsoft.com/office/drawing/2010/main">
        <mc:Choice Requires="a14">
          <p:sp>
            <p:nvSpPr>
              <p:cNvPr id="8" name="TextBox 7"/>
              <p:cNvSpPr txBox="1"/>
              <p:nvPr/>
            </p:nvSpPr>
            <p:spPr>
              <a:xfrm>
                <a:off x="5562600" y="590550"/>
                <a:ext cx="357470" cy="276999"/>
              </a:xfrm>
              <a:prstGeom prst="rect">
                <a:avLst/>
              </a:prstGeom>
              <a:solidFill>
                <a:schemeClr val="bg1">
                  <a:lumMod val="95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2.9</m:t>
                      </m:r>
                    </m:oMath>
                  </m:oMathPara>
                </a14:m>
                <a:endParaRPr lang="it-IT" dirty="0"/>
              </a:p>
            </p:txBody>
          </p:sp>
        </mc:Choice>
        <mc:Fallback xmlns="">
          <p:sp>
            <p:nvSpPr>
              <p:cNvPr id="8" name="TextBox 7"/>
              <p:cNvSpPr txBox="1">
                <a:spLocks noRot="1" noChangeAspect="1" noMove="1" noResize="1" noEditPoints="1" noAdjustHandles="1" noChangeArrowheads="1" noChangeShapeType="1" noTextEdit="1"/>
              </p:cNvSpPr>
              <p:nvPr/>
            </p:nvSpPr>
            <p:spPr>
              <a:xfrm>
                <a:off x="5562600" y="590550"/>
                <a:ext cx="357470" cy="276999"/>
              </a:xfrm>
              <a:prstGeom prst="rect">
                <a:avLst/>
              </a:prstGeom>
              <a:blipFill rotWithShape="0">
                <a:blip r:embed="rId3"/>
                <a:stretch>
                  <a:fillRect l="-15517" r="-17241" b="-6667"/>
                </a:stretch>
              </a:blipFill>
            </p:spPr>
            <p:txBody>
              <a:bodyPr/>
              <a:lstStyle/>
              <a:p>
                <a:r>
                  <a:rPr lang="it-IT">
                    <a:noFill/>
                  </a:rPr>
                  <a:t> </a:t>
                </a:r>
              </a:p>
            </p:txBody>
          </p:sp>
        </mc:Fallback>
      </mc:AlternateContent>
      <p:sp>
        <p:nvSpPr>
          <p:cNvPr id="9" name="TextBox 8"/>
          <p:cNvSpPr txBox="1"/>
          <p:nvPr/>
        </p:nvSpPr>
        <p:spPr>
          <a:xfrm>
            <a:off x="228600" y="2647950"/>
            <a:ext cx="3111686" cy="923330"/>
          </a:xfrm>
          <a:prstGeom prst="rect">
            <a:avLst/>
          </a:prstGeom>
          <a:noFill/>
        </p:spPr>
        <p:txBody>
          <a:bodyPr wrap="none" rtlCol="0">
            <a:spAutoFit/>
          </a:bodyPr>
          <a:lstStyle/>
          <a:p>
            <a:r>
              <a:rPr lang="en-GB" dirty="0"/>
              <a:t>The blender can be even a new</a:t>
            </a:r>
          </a:p>
          <a:p>
            <a:r>
              <a:rPr lang="en-GB" dirty="0"/>
              <a:t>learning algorithm leading to</a:t>
            </a:r>
          </a:p>
          <a:p>
            <a:r>
              <a:rPr lang="en-GB" b="1" dirty="0"/>
              <a:t>Stacking</a:t>
            </a:r>
            <a:endParaRPr lang="it-IT" b="1" dirty="0"/>
          </a:p>
        </p:txBody>
      </p:sp>
    </p:spTree>
    <p:extLst>
      <p:ext uri="{BB962C8B-B14F-4D97-AF65-F5344CB8AC3E}">
        <p14:creationId xmlns:p14="http://schemas.microsoft.com/office/powerpoint/2010/main" val="349369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0"/>
            <a:ext cx="8229600" cy="857250"/>
          </a:xfrm>
        </p:spPr>
        <p:txBody>
          <a:bodyPr/>
          <a:lstStyle/>
          <a:p>
            <a:r>
              <a:rPr lang="en-GB" dirty="0"/>
              <a:t>Stacking</a:t>
            </a:r>
            <a:endParaRPr lang="it-IT"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704850"/>
            <a:ext cx="5219700" cy="4438650"/>
          </a:xfrm>
          <a:prstGeom prst="rect">
            <a:avLst/>
          </a:prstGeom>
        </p:spPr>
      </p:pic>
      <p:sp>
        <p:nvSpPr>
          <p:cNvPr id="4" name="TextBox 3"/>
          <p:cNvSpPr txBox="1"/>
          <p:nvPr/>
        </p:nvSpPr>
        <p:spPr>
          <a:xfrm>
            <a:off x="5029200" y="3105150"/>
            <a:ext cx="3884781" cy="646331"/>
          </a:xfrm>
          <a:prstGeom prst="rect">
            <a:avLst/>
          </a:prstGeom>
          <a:noFill/>
        </p:spPr>
        <p:txBody>
          <a:bodyPr wrap="none" rtlCol="0">
            <a:spAutoFit/>
          </a:bodyPr>
          <a:lstStyle/>
          <a:p>
            <a:pPr marL="342900" indent="-342900">
              <a:buFont typeface="+mj-lt"/>
              <a:buAutoNum type="arabicPeriod"/>
            </a:pPr>
            <a:r>
              <a:rPr lang="en-GB" dirty="0">
                <a:solidFill>
                  <a:srgbClr val="FF0000"/>
                </a:solidFill>
              </a:rPr>
              <a:t>How to train the meta classifier</a:t>
            </a:r>
          </a:p>
          <a:p>
            <a:pPr marL="342900" indent="-342900">
              <a:buFont typeface="+mj-lt"/>
              <a:buAutoNum type="arabicPeriod"/>
            </a:pPr>
            <a:r>
              <a:rPr lang="en-GB" dirty="0">
                <a:solidFill>
                  <a:srgbClr val="FF0000"/>
                </a:solidFill>
              </a:rPr>
              <a:t>How the meta training set looks like</a:t>
            </a:r>
            <a:endParaRPr lang="it-IT" dirty="0">
              <a:solidFill>
                <a:srgbClr val="FF0000"/>
              </a:solidFill>
            </a:endParaRPr>
          </a:p>
        </p:txBody>
      </p:sp>
    </p:spTree>
    <p:extLst>
      <p:ext uri="{BB962C8B-B14F-4D97-AF65-F5344CB8AC3E}">
        <p14:creationId xmlns:p14="http://schemas.microsoft.com/office/powerpoint/2010/main" val="227189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2400" y="742950"/>
            <a:ext cx="5576472" cy="3714750"/>
          </a:xfrm>
          <a:prstGeom prst="rect">
            <a:avLst/>
          </a:prstGeom>
        </p:spPr>
      </p:pic>
      <p:sp>
        <p:nvSpPr>
          <p:cNvPr id="4" name="TextBox 3"/>
          <p:cNvSpPr txBox="1"/>
          <p:nvPr/>
        </p:nvSpPr>
        <p:spPr>
          <a:xfrm>
            <a:off x="5984632" y="1504950"/>
            <a:ext cx="3159368" cy="2031325"/>
          </a:xfrm>
          <a:prstGeom prst="rect">
            <a:avLst/>
          </a:prstGeom>
          <a:noFill/>
        </p:spPr>
        <p:txBody>
          <a:bodyPr wrap="square" rtlCol="0">
            <a:spAutoFit/>
          </a:bodyPr>
          <a:lstStyle/>
          <a:p>
            <a:r>
              <a:rPr lang="en-GB" dirty="0"/>
              <a:t>Training using held-out set:</a:t>
            </a:r>
          </a:p>
          <a:p>
            <a:pPr marL="342900" indent="-342900">
              <a:buFont typeface="+mj-lt"/>
              <a:buAutoNum type="arabicPeriod"/>
            </a:pPr>
            <a:r>
              <a:rPr lang="en-GB" dirty="0"/>
              <a:t>split the dataset in 2 parts</a:t>
            </a:r>
          </a:p>
          <a:p>
            <a:pPr marL="342900" indent="-342900">
              <a:buFont typeface="+mj-lt"/>
              <a:buAutoNum type="arabicPeriod"/>
            </a:pPr>
            <a:r>
              <a:rPr lang="en-GB" dirty="0"/>
              <a:t>use the first part to train base learners</a:t>
            </a:r>
          </a:p>
          <a:p>
            <a:pPr marL="342900" indent="-342900">
              <a:buFont typeface="+mj-lt"/>
              <a:buAutoNum type="arabicPeriod"/>
            </a:pPr>
            <a:r>
              <a:rPr lang="en-GB" dirty="0"/>
              <a:t>Use the second part to build a new training set for the meta-learner</a:t>
            </a:r>
            <a:endParaRPr lang="it-IT" dirty="0"/>
          </a:p>
        </p:txBody>
      </p:sp>
    </p:spTree>
    <p:extLst>
      <p:ext uri="{BB962C8B-B14F-4D97-AF65-F5344CB8AC3E}">
        <p14:creationId xmlns:p14="http://schemas.microsoft.com/office/powerpoint/2010/main" val="466683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0"/>
            <a:ext cx="5121095" cy="5143500"/>
          </a:xfrm>
          <a:prstGeom prst="rect">
            <a:avLst/>
          </a:prstGeom>
        </p:spPr>
      </p:pic>
      <p:sp>
        <p:nvSpPr>
          <p:cNvPr id="4" name="TextBox 3"/>
          <p:cNvSpPr txBox="1"/>
          <p:nvPr/>
        </p:nvSpPr>
        <p:spPr>
          <a:xfrm>
            <a:off x="3200400" y="133350"/>
            <a:ext cx="1529393" cy="338554"/>
          </a:xfrm>
          <a:prstGeom prst="rect">
            <a:avLst/>
          </a:prstGeom>
          <a:noFill/>
        </p:spPr>
        <p:txBody>
          <a:bodyPr wrap="none" rtlCol="0">
            <a:spAutoFit/>
          </a:bodyPr>
          <a:lstStyle/>
          <a:p>
            <a:r>
              <a:rPr lang="en-GB" sz="1600" b="1" dirty="0"/>
              <a:t>or meta-learner</a:t>
            </a:r>
            <a:endParaRPr lang="it-IT" sz="1600" b="1" dirty="0"/>
          </a:p>
        </p:txBody>
      </p:sp>
      <p:graphicFrame>
        <p:nvGraphicFramePr>
          <p:cNvPr id="5" name="Table 4"/>
          <p:cNvGraphicFramePr>
            <a:graphicFrameLocks noGrp="1"/>
          </p:cNvGraphicFramePr>
          <p:nvPr>
            <p:extLst>
              <p:ext uri="{D42A27DB-BD31-4B8C-83A1-F6EECF244321}">
                <p14:modId xmlns:p14="http://schemas.microsoft.com/office/powerpoint/2010/main" val="1494093048"/>
              </p:ext>
            </p:extLst>
          </p:nvPr>
        </p:nvGraphicFramePr>
        <p:xfrm>
          <a:off x="5867400" y="2952750"/>
          <a:ext cx="3171550" cy="1219200"/>
        </p:xfrm>
        <a:graphic>
          <a:graphicData uri="http://schemas.openxmlformats.org/drawingml/2006/table">
            <a:tbl>
              <a:tblPr firstRow="1" bandRow="1">
                <a:tableStyleId>{5C22544A-7EE6-4342-B048-85BDC9FD1C3A}</a:tableStyleId>
              </a:tblPr>
              <a:tblGrid>
                <a:gridCol w="634310">
                  <a:extLst>
                    <a:ext uri="{9D8B030D-6E8A-4147-A177-3AD203B41FA5}">
                      <a16:colId xmlns:a16="http://schemas.microsoft.com/office/drawing/2014/main" val="20000"/>
                    </a:ext>
                  </a:extLst>
                </a:gridCol>
                <a:gridCol w="634310">
                  <a:extLst>
                    <a:ext uri="{9D8B030D-6E8A-4147-A177-3AD203B41FA5}">
                      <a16:colId xmlns:a16="http://schemas.microsoft.com/office/drawing/2014/main" val="20001"/>
                    </a:ext>
                  </a:extLst>
                </a:gridCol>
                <a:gridCol w="634310">
                  <a:extLst>
                    <a:ext uri="{9D8B030D-6E8A-4147-A177-3AD203B41FA5}">
                      <a16:colId xmlns:a16="http://schemas.microsoft.com/office/drawing/2014/main" val="20002"/>
                    </a:ext>
                  </a:extLst>
                </a:gridCol>
                <a:gridCol w="634310">
                  <a:extLst>
                    <a:ext uri="{9D8B030D-6E8A-4147-A177-3AD203B41FA5}">
                      <a16:colId xmlns:a16="http://schemas.microsoft.com/office/drawing/2014/main" val="20003"/>
                    </a:ext>
                  </a:extLst>
                </a:gridCol>
                <a:gridCol w="634310">
                  <a:extLst>
                    <a:ext uri="{9D8B030D-6E8A-4147-A177-3AD203B41FA5}">
                      <a16:colId xmlns:a16="http://schemas.microsoft.com/office/drawing/2014/main" val="20004"/>
                    </a:ext>
                  </a:extLst>
                </a:gridCol>
              </a:tblGrid>
              <a:tr h="304800">
                <a:tc>
                  <a:txBody>
                    <a:bodyPr/>
                    <a:lstStyle/>
                    <a:p>
                      <a:r>
                        <a:rPr lang="en-GB" sz="1400" dirty="0"/>
                        <a:t>C1</a:t>
                      </a:r>
                      <a:endParaRPr lang="it-IT" sz="1400" dirty="0"/>
                    </a:p>
                  </a:txBody>
                  <a:tcPr/>
                </a:tc>
                <a:tc>
                  <a:txBody>
                    <a:bodyPr/>
                    <a:lstStyle/>
                    <a:p>
                      <a:r>
                        <a:rPr lang="en-GB" sz="1400" dirty="0"/>
                        <a:t>C2</a:t>
                      </a:r>
                      <a:endParaRPr lang="it-IT" sz="1400" dirty="0"/>
                    </a:p>
                  </a:txBody>
                  <a:tcPr/>
                </a:tc>
                <a:tc>
                  <a:txBody>
                    <a:bodyPr/>
                    <a:lstStyle/>
                    <a:p>
                      <a:r>
                        <a:rPr lang="en-GB" sz="1400" dirty="0"/>
                        <a:t>…</a:t>
                      </a:r>
                      <a:endParaRPr lang="it-IT" sz="1400" dirty="0"/>
                    </a:p>
                  </a:txBody>
                  <a:tcPr/>
                </a:tc>
                <a:tc>
                  <a:txBody>
                    <a:bodyPr/>
                    <a:lstStyle/>
                    <a:p>
                      <a:r>
                        <a:rPr lang="en-GB" sz="1400" dirty="0" err="1"/>
                        <a:t>Ck</a:t>
                      </a:r>
                      <a:endParaRPr lang="it-IT" sz="1400" dirty="0"/>
                    </a:p>
                  </a:txBody>
                  <a:tcPr/>
                </a:tc>
                <a:tc>
                  <a:txBody>
                    <a:bodyPr/>
                    <a:lstStyle/>
                    <a:p>
                      <a:r>
                        <a:rPr lang="en-GB" sz="1400" dirty="0"/>
                        <a:t>Class</a:t>
                      </a:r>
                      <a:endParaRPr lang="it-IT" sz="1400" dirty="0"/>
                    </a:p>
                  </a:txBody>
                  <a:tcPr/>
                </a:tc>
                <a:extLst>
                  <a:ext uri="{0D108BD9-81ED-4DB2-BD59-A6C34878D82A}">
                    <a16:rowId xmlns:a16="http://schemas.microsoft.com/office/drawing/2014/main" val="10000"/>
                  </a:ext>
                </a:extLst>
              </a:tr>
              <a:tr h="304800">
                <a:tc>
                  <a:txBody>
                    <a:bodyPr/>
                    <a:lstStyle/>
                    <a:p>
                      <a:r>
                        <a:rPr lang="en-GB" sz="1200" dirty="0"/>
                        <a:t>Pred</a:t>
                      </a:r>
                      <a:r>
                        <a:rPr lang="en-GB" sz="1200" baseline="-25000" dirty="0"/>
                        <a:t>11</a:t>
                      </a:r>
                      <a:endParaRPr lang="it-IT" sz="1200" baseline="-25000" dirty="0"/>
                    </a:p>
                  </a:txBody>
                  <a:tcPr/>
                </a:tc>
                <a:tc>
                  <a:txBody>
                    <a:bodyPr/>
                    <a:lstStyle/>
                    <a:p>
                      <a:pPr marL="0" algn="l" defTabSz="914400" rtl="0" eaLnBrk="1" latinLnBrk="0" hangingPunct="1"/>
                      <a:r>
                        <a:rPr lang="en-GB" sz="1200" dirty="0"/>
                        <a:t>Pred</a:t>
                      </a:r>
                      <a:r>
                        <a:rPr lang="en-GB" sz="1200" kern="1200" baseline="-25000" dirty="0">
                          <a:solidFill>
                            <a:schemeClr val="dk1"/>
                          </a:solidFill>
                          <a:latin typeface="+mn-lt"/>
                          <a:ea typeface="+mn-ea"/>
                          <a:cs typeface="+mn-cs"/>
                        </a:rPr>
                        <a:t>21</a:t>
                      </a:r>
                      <a:endParaRPr lang="it-IT" sz="1200" kern="1200" baseline="-25000" dirty="0">
                        <a:solidFill>
                          <a:schemeClr val="dk1"/>
                        </a:solidFill>
                        <a:latin typeface="+mn-lt"/>
                        <a:ea typeface="+mn-ea"/>
                        <a:cs typeface="+mn-cs"/>
                      </a:endParaRPr>
                    </a:p>
                  </a:txBody>
                  <a:tcPr/>
                </a:tc>
                <a:tc>
                  <a:txBody>
                    <a:bodyPr/>
                    <a:lstStyle/>
                    <a:p>
                      <a:r>
                        <a:rPr lang="en-GB" sz="1200" dirty="0"/>
                        <a:t>…</a:t>
                      </a:r>
                      <a:endParaRPr lang="it-IT" sz="1200" dirty="0"/>
                    </a:p>
                  </a:txBody>
                  <a:tcPr/>
                </a:tc>
                <a:tc>
                  <a:txBody>
                    <a:bodyPr/>
                    <a:lstStyle/>
                    <a:p>
                      <a:pPr marL="0" algn="l" defTabSz="914400" rtl="0" eaLnBrk="1" latinLnBrk="0" hangingPunct="1"/>
                      <a:r>
                        <a:rPr lang="en-GB" sz="1200" dirty="0"/>
                        <a:t>Pred</a:t>
                      </a:r>
                      <a:r>
                        <a:rPr lang="en-GB" sz="1200" kern="1200" baseline="-25000" dirty="0">
                          <a:solidFill>
                            <a:schemeClr val="dk1"/>
                          </a:solidFill>
                          <a:latin typeface="+mn-lt"/>
                          <a:ea typeface="+mn-ea"/>
                          <a:cs typeface="+mn-cs"/>
                        </a:rPr>
                        <a:t>k1</a:t>
                      </a:r>
                      <a:endParaRPr lang="it-IT" sz="1200" kern="1200" baseline="-25000" dirty="0">
                        <a:solidFill>
                          <a:schemeClr val="dk1"/>
                        </a:solidFill>
                        <a:latin typeface="+mn-lt"/>
                        <a:ea typeface="+mn-ea"/>
                        <a:cs typeface="+mn-cs"/>
                      </a:endParaRPr>
                    </a:p>
                  </a:txBody>
                  <a:tcPr/>
                </a:tc>
                <a:tc>
                  <a:txBody>
                    <a:bodyPr/>
                    <a:lstStyle/>
                    <a:p>
                      <a:pPr marL="0" algn="l" defTabSz="914400" rtl="0" eaLnBrk="1" latinLnBrk="0" hangingPunct="1"/>
                      <a:r>
                        <a:rPr lang="en-GB" sz="1200" dirty="0"/>
                        <a:t>Class</a:t>
                      </a:r>
                      <a:r>
                        <a:rPr lang="en-GB" sz="1200" kern="1200" baseline="-25000" dirty="0">
                          <a:solidFill>
                            <a:schemeClr val="dk1"/>
                          </a:solidFill>
                          <a:latin typeface="+mn-lt"/>
                          <a:ea typeface="+mn-ea"/>
                          <a:cs typeface="+mn-cs"/>
                        </a:rPr>
                        <a:t>1</a:t>
                      </a:r>
                      <a:endParaRPr lang="it-IT" sz="1200" kern="1200" baseline="-25000" dirty="0">
                        <a:solidFill>
                          <a:schemeClr val="dk1"/>
                        </a:solidFill>
                        <a:latin typeface="+mn-lt"/>
                        <a:ea typeface="+mn-ea"/>
                        <a:cs typeface="+mn-cs"/>
                      </a:endParaRPr>
                    </a:p>
                  </a:txBody>
                  <a:tcPr/>
                </a:tc>
                <a:extLst>
                  <a:ext uri="{0D108BD9-81ED-4DB2-BD59-A6C34878D82A}">
                    <a16:rowId xmlns:a16="http://schemas.microsoft.com/office/drawing/2014/main" val="10001"/>
                  </a:ext>
                </a:extLst>
              </a:tr>
              <a:tr h="304800">
                <a:tc>
                  <a:txBody>
                    <a:bodyPr/>
                    <a:lstStyle/>
                    <a:p>
                      <a:r>
                        <a:rPr lang="en-GB" sz="1200" dirty="0"/>
                        <a:t>…</a:t>
                      </a:r>
                      <a:endParaRPr lang="it-IT" sz="1200" dirty="0"/>
                    </a:p>
                  </a:txBody>
                  <a:tcPr/>
                </a:tc>
                <a:tc>
                  <a:txBody>
                    <a:bodyPr/>
                    <a:lstStyle/>
                    <a:p>
                      <a:endParaRPr lang="it-IT" sz="1200"/>
                    </a:p>
                  </a:txBody>
                  <a:tcPr/>
                </a:tc>
                <a:tc>
                  <a:txBody>
                    <a:bodyPr/>
                    <a:lstStyle/>
                    <a:p>
                      <a:endParaRPr lang="it-IT" sz="1200"/>
                    </a:p>
                  </a:txBody>
                  <a:tcPr/>
                </a:tc>
                <a:tc>
                  <a:txBody>
                    <a:bodyPr/>
                    <a:lstStyle/>
                    <a:p>
                      <a:endParaRPr lang="it-IT" sz="1200" dirty="0"/>
                    </a:p>
                  </a:txBody>
                  <a:tcPr/>
                </a:tc>
                <a:tc>
                  <a:txBody>
                    <a:bodyPr/>
                    <a:lstStyle/>
                    <a:p>
                      <a:endParaRPr lang="it-IT" sz="1200" dirty="0"/>
                    </a:p>
                  </a:txBody>
                  <a:tcPr/>
                </a:tc>
                <a:extLst>
                  <a:ext uri="{0D108BD9-81ED-4DB2-BD59-A6C34878D82A}">
                    <a16:rowId xmlns:a16="http://schemas.microsoft.com/office/drawing/2014/main" val="10002"/>
                  </a:ext>
                </a:extLst>
              </a:tr>
              <a:tr h="304800">
                <a:tc>
                  <a:txBody>
                    <a:bodyPr/>
                    <a:lstStyle/>
                    <a:p>
                      <a:pPr marL="0" algn="l" defTabSz="914400" rtl="0" eaLnBrk="1" latinLnBrk="0" hangingPunct="1"/>
                      <a:r>
                        <a:rPr lang="en-GB" sz="1200" dirty="0"/>
                        <a:t>Pred</a:t>
                      </a:r>
                      <a:r>
                        <a:rPr lang="en-GB" sz="1200" kern="1200" baseline="-25000" dirty="0">
                          <a:solidFill>
                            <a:schemeClr val="dk1"/>
                          </a:solidFill>
                          <a:latin typeface="+mn-lt"/>
                          <a:ea typeface="+mn-ea"/>
                          <a:cs typeface="+mn-cs"/>
                        </a:rPr>
                        <a:t>1m</a:t>
                      </a:r>
                      <a:endParaRPr lang="it-IT" sz="1200" kern="1200" baseline="-25000" dirty="0">
                        <a:solidFill>
                          <a:schemeClr val="dk1"/>
                        </a:solidFill>
                        <a:latin typeface="+mn-lt"/>
                        <a:ea typeface="+mn-ea"/>
                        <a:cs typeface="+mn-cs"/>
                      </a:endParaRPr>
                    </a:p>
                  </a:txBody>
                  <a:tcPr/>
                </a:tc>
                <a:tc>
                  <a:txBody>
                    <a:bodyPr/>
                    <a:lstStyle/>
                    <a:p>
                      <a:pPr marL="0" algn="l" defTabSz="914400" rtl="0" eaLnBrk="1" latinLnBrk="0" hangingPunct="1"/>
                      <a:r>
                        <a:rPr lang="en-GB" sz="1200" dirty="0"/>
                        <a:t>Pred</a:t>
                      </a:r>
                      <a:r>
                        <a:rPr lang="en-GB" sz="1200" kern="1200" baseline="-25000" dirty="0">
                          <a:solidFill>
                            <a:schemeClr val="dk1"/>
                          </a:solidFill>
                          <a:latin typeface="+mn-lt"/>
                          <a:ea typeface="+mn-ea"/>
                          <a:cs typeface="+mn-cs"/>
                        </a:rPr>
                        <a:t>2m</a:t>
                      </a:r>
                      <a:endParaRPr lang="it-IT" sz="1200" kern="1200" baseline="-25000" dirty="0">
                        <a:solidFill>
                          <a:schemeClr val="dk1"/>
                        </a:solidFill>
                        <a:latin typeface="+mn-lt"/>
                        <a:ea typeface="+mn-ea"/>
                        <a:cs typeface="+mn-cs"/>
                      </a:endParaRPr>
                    </a:p>
                  </a:txBody>
                  <a:tcPr/>
                </a:tc>
                <a:tc>
                  <a:txBody>
                    <a:bodyPr/>
                    <a:lstStyle/>
                    <a:p>
                      <a:r>
                        <a:rPr lang="en-GB" sz="1200" dirty="0"/>
                        <a:t>…</a:t>
                      </a:r>
                      <a:endParaRPr lang="it-IT" sz="1200" dirty="0"/>
                    </a:p>
                  </a:txBody>
                  <a:tcPr/>
                </a:tc>
                <a:tc>
                  <a:txBody>
                    <a:bodyPr/>
                    <a:lstStyle/>
                    <a:p>
                      <a:pPr marL="0" algn="l" defTabSz="914400" rtl="0" eaLnBrk="1" latinLnBrk="0" hangingPunct="1"/>
                      <a:r>
                        <a:rPr lang="en-GB" sz="1200" dirty="0" err="1"/>
                        <a:t>Pred</a:t>
                      </a:r>
                      <a:r>
                        <a:rPr lang="en-GB" sz="1200" kern="1200" baseline="-25000" dirty="0" err="1">
                          <a:solidFill>
                            <a:schemeClr val="dk1"/>
                          </a:solidFill>
                          <a:latin typeface="+mn-lt"/>
                          <a:ea typeface="+mn-ea"/>
                          <a:cs typeface="+mn-cs"/>
                        </a:rPr>
                        <a:t>km</a:t>
                      </a:r>
                      <a:endParaRPr lang="it-IT" sz="1200" kern="1200" baseline="-25000" dirty="0">
                        <a:solidFill>
                          <a:schemeClr val="dk1"/>
                        </a:solidFill>
                        <a:latin typeface="+mn-lt"/>
                        <a:ea typeface="+mn-ea"/>
                        <a:cs typeface="+mn-cs"/>
                      </a:endParaRPr>
                    </a:p>
                  </a:txBody>
                  <a:tcPr/>
                </a:tc>
                <a:tc>
                  <a:txBody>
                    <a:bodyPr/>
                    <a:lstStyle/>
                    <a:p>
                      <a:pPr marL="0" algn="l" defTabSz="914400" rtl="0" eaLnBrk="1" latinLnBrk="0" hangingPunct="1"/>
                      <a:r>
                        <a:rPr lang="en-GB" sz="1200" dirty="0" err="1"/>
                        <a:t>Class</a:t>
                      </a:r>
                      <a:r>
                        <a:rPr lang="en-GB" sz="1200" kern="1200" baseline="-25000" dirty="0" err="1">
                          <a:solidFill>
                            <a:schemeClr val="dk1"/>
                          </a:solidFill>
                          <a:latin typeface="+mn-lt"/>
                          <a:ea typeface="+mn-ea"/>
                          <a:cs typeface="+mn-cs"/>
                        </a:rPr>
                        <a:t>m</a:t>
                      </a:r>
                      <a:endParaRPr lang="it-IT" sz="1200" kern="1200" baseline="-25000" dirty="0">
                        <a:solidFill>
                          <a:schemeClr val="dk1"/>
                        </a:solidFill>
                        <a:latin typeface="+mn-lt"/>
                        <a:ea typeface="+mn-ea"/>
                        <a:cs typeface="+mn-cs"/>
                      </a:endParaRPr>
                    </a:p>
                  </a:txBody>
                  <a:tcPr/>
                </a:tc>
                <a:extLst>
                  <a:ext uri="{0D108BD9-81ED-4DB2-BD59-A6C34878D82A}">
                    <a16:rowId xmlns:a16="http://schemas.microsoft.com/office/drawing/2014/main" val="10003"/>
                  </a:ext>
                </a:extLst>
              </a:tr>
            </a:tbl>
          </a:graphicData>
        </a:graphic>
      </p:graphicFrame>
      <p:sp>
        <p:nvSpPr>
          <p:cNvPr id="6" name="TextBox 5"/>
          <p:cNvSpPr txBox="1"/>
          <p:nvPr/>
        </p:nvSpPr>
        <p:spPr>
          <a:xfrm>
            <a:off x="5121095" y="3285351"/>
            <a:ext cx="759760" cy="276999"/>
          </a:xfrm>
          <a:prstGeom prst="rect">
            <a:avLst/>
          </a:prstGeom>
          <a:noFill/>
        </p:spPr>
        <p:txBody>
          <a:bodyPr wrap="none" rtlCol="0">
            <a:spAutoFit/>
          </a:bodyPr>
          <a:lstStyle/>
          <a:p>
            <a:r>
              <a:rPr lang="en-GB" sz="1200" dirty="0"/>
              <a:t>Instance</a:t>
            </a:r>
            <a:r>
              <a:rPr lang="en-GB" sz="1200" baseline="-25000" dirty="0"/>
              <a:t>1</a:t>
            </a:r>
            <a:endParaRPr lang="it-IT" sz="1200" baseline="-25000" dirty="0"/>
          </a:p>
        </p:txBody>
      </p:sp>
      <p:sp>
        <p:nvSpPr>
          <p:cNvPr id="7" name="TextBox 6"/>
          <p:cNvSpPr txBox="1"/>
          <p:nvPr/>
        </p:nvSpPr>
        <p:spPr>
          <a:xfrm>
            <a:off x="5121095" y="3894951"/>
            <a:ext cx="790216" cy="276999"/>
          </a:xfrm>
          <a:prstGeom prst="rect">
            <a:avLst/>
          </a:prstGeom>
          <a:noFill/>
        </p:spPr>
        <p:txBody>
          <a:bodyPr wrap="none" rtlCol="0">
            <a:spAutoFit/>
          </a:bodyPr>
          <a:lstStyle/>
          <a:p>
            <a:r>
              <a:rPr lang="en-GB" sz="1200" dirty="0" err="1"/>
              <a:t>Instance</a:t>
            </a:r>
            <a:r>
              <a:rPr lang="en-GB" sz="1200" baseline="-25000" dirty="0" err="1"/>
              <a:t>m</a:t>
            </a:r>
            <a:endParaRPr lang="it-IT" sz="1200" baseline="-25000" dirty="0"/>
          </a:p>
        </p:txBody>
      </p:sp>
      <p:sp>
        <p:nvSpPr>
          <p:cNvPr id="8" name="TextBox 7"/>
          <p:cNvSpPr txBox="1"/>
          <p:nvPr/>
        </p:nvSpPr>
        <p:spPr>
          <a:xfrm>
            <a:off x="6477000" y="2223318"/>
            <a:ext cx="1809854" cy="369332"/>
          </a:xfrm>
          <a:prstGeom prst="rect">
            <a:avLst/>
          </a:prstGeom>
          <a:noFill/>
        </p:spPr>
        <p:txBody>
          <a:bodyPr wrap="none" rtlCol="0">
            <a:spAutoFit/>
          </a:bodyPr>
          <a:lstStyle/>
          <a:p>
            <a:r>
              <a:rPr lang="en-GB" dirty="0"/>
              <a:t>Meta Training set</a:t>
            </a:r>
            <a:endParaRPr lang="it-IT" dirty="0"/>
          </a:p>
        </p:txBody>
      </p:sp>
    </p:spTree>
    <p:extLst>
      <p:ext uri="{BB962C8B-B14F-4D97-AF65-F5344CB8AC3E}">
        <p14:creationId xmlns:p14="http://schemas.microsoft.com/office/powerpoint/2010/main" val="2342388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5165"/>
            <a:ext cx="8229600" cy="857250"/>
          </a:xfrm>
        </p:spPr>
        <p:txBody>
          <a:bodyPr>
            <a:normAutofit/>
          </a:bodyPr>
          <a:lstStyle/>
          <a:p>
            <a:r>
              <a:rPr lang="en-GB" sz="3600" dirty="0"/>
              <a:t>Same algorithm, multiple data</a:t>
            </a:r>
            <a:endParaRPr lang="it-IT" sz="3600" dirty="0"/>
          </a:p>
        </p:txBody>
      </p:sp>
      <p:pic>
        <p:nvPicPr>
          <p:cNvPr id="3" name="Picture 2"/>
          <p:cNvPicPr>
            <a:picLocks noChangeAspect="1"/>
          </p:cNvPicPr>
          <p:nvPr/>
        </p:nvPicPr>
        <p:blipFill>
          <a:blip r:embed="rId2"/>
          <a:stretch>
            <a:fillRect/>
          </a:stretch>
        </p:blipFill>
        <p:spPr>
          <a:xfrm>
            <a:off x="634137" y="1014429"/>
            <a:ext cx="7875726" cy="4128516"/>
          </a:xfrm>
          <a:prstGeom prst="rect">
            <a:avLst/>
          </a:prstGeom>
        </p:spPr>
      </p:pic>
      <p:sp>
        <p:nvSpPr>
          <p:cNvPr id="4" name="TextBox 3"/>
          <p:cNvSpPr txBox="1"/>
          <p:nvPr/>
        </p:nvSpPr>
        <p:spPr>
          <a:xfrm>
            <a:off x="7543800" y="2647950"/>
            <a:ext cx="619080" cy="369332"/>
          </a:xfrm>
          <a:prstGeom prst="rect">
            <a:avLst/>
          </a:prstGeom>
          <a:noFill/>
        </p:spPr>
        <p:txBody>
          <a:bodyPr wrap="none" rtlCol="0">
            <a:spAutoFit/>
          </a:bodyPr>
          <a:lstStyle/>
          <a:p>
            <a:r>
              <a:rPr lang="en-GB" dirty="0"/>
              <a:t>Bags</a:t>
            </a:r>
            <a:endParaRPr lang="it-IT" dirty="0"/>
          </a:p>
        </p:txBody>
      </p:sp>
      <p:cxnSp>
        <p:nvCxnSpPr>
          <p:cNvPr id="6" name="Straight Arrow Connector 5"/>
          <p:cNvCxnSpPr/>
          <p:nvPr/>
        </p:nvCxnSpPr>
        <p:spPr>
          <a:xfrm flipH="1">
            <a:off x="7086600" y="2876550"/>
            <a:ext cx="457200" cy="24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9851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Bagging</a:t>
            </a:r>
            <a:endParaRPr lang="it-IT" sz="3600" dirty="0"/>
          </a:p>
        </p:txBody>
      </p:sp>
      <p:sp>
        <p:nvSpPr>
          <p:cNvPr id="3" name="Content Placeholder 2"/>
          <p:cNvSpPr>
            <a:spLocks noGrp="1"/>
          </p:cNvSpPr>
          <p:nvPr>
            <p:ph idx="1"/>
          </p:nvPr>
        </p:nvSpPr>
        <p:spPr>
          <a:xfrm>
            <a:off x="457200" y="1200151"/>
            <a:ext cx="8229600" cy="3809999"/>
          </a:xfrm>
        </p:spPr>
        <p:txBody>
          <a:bodyPr>
            <a:normAutofit fontScale="77500" lnSpcReduction="20000"/>
          </a:bodyPr>
          <a:lstStyle/>
          <a:p>
            <a:r>
              <a:rPr lang="en-GB" sz="2800" b="1" dirty="0"/>
              <a:t>Bagging=</a:t>
            </a:r>
            <a:r>
              <a:rPr lang="en-GB" sz="2800" b="1" dirty="0" err="1"/>
              <a:t>Boostrap</a:t>
            </a:r>
            <a:r>
              <a:rPr lang="en-GB" sz="2800" b="1" dirty="0"/>
              <a:t> Aggregation</a:t>
            </a:r>
          </a:p>
          <a:p>
            <a:pPr lvl="1"/>
            <a:r>
              <a:rPr lang="en-GB" sz="2400" dirty="0"/>
              <a:t>Sampling for each ``bag’’ is performed with replacement</a:t>
            </a:r>
          </a:p>
          <a:p>
            <a:pPr lvl="1"/>
            <a:r>
              <a:rPr lang="en-GB" sz="2400" dirty="0"/>
              <a:t>An instance may appear several times in a ``bag’’</a:t>
            </a:r>
          </a:p>
          <a:p>
            <a:pPr lvl="1"/>
            <a:r>
              <a:rPr lang="en-GB" sz="2400" dirty="0"/>
              <a:t>Some instances may not be present in a bag</a:t>
            </a:r>
          </a:p>
          <a:p>
            <a:r>
              <a:rPr lang="en-GB" sz="2800" b="1" dirty="0"/>
              <a:t>Pasting</a:t>
            </a:r>
          </a:p>
          <a:p>
            <a:pPr lvl="1"/>
            <a:r>
              <a:rPr lang="en-GB" sz="2400" dirty="0"/>
              <a:t>As bagging but sampling without replacement </a:t>
            </a:r>
          </a:p>
          <a:p>
            <a:pPr lvl="1"/>
            <a:r>
              <a:rPr lang="en-GB" sz="2400" dirty="0"/>
              <a:t>No duplicated instances in a single bag</a:t>
            </a:r>
          </a:p>
          <a:p>
            <a:r>
              <a:rPr lang="en-GB" sz="2800" dirty="0"/>
              <a:t>Once the learning algorithm has been trained several times on different bags, predictions can be aggregated for the final output</a:t>
            </a:r>
          </a:p>
          <a:p>
            <a:pPr lvl="1"/>
            <a:r>
              <a:rPr lang="en-GB" sz="2400" dirty="0"/>
              <a:t>Mode (most frequent class) or average probability for classification</a:t>
            </a:r>
          </a:p>
          <a:p>
            <a:pPr lvl="1"/>
            <a:r>
              <a:rPr lang="en-GB" sz="2400" dirty="0"/>
              <a:t>Average value for regression</a:t>
            </a:r>
            <a:endParaRPr lang="it-IT" sz="2400" dirty="0"/>
          </a:p>
        </p:txBody>
      </p:sp>
    </p:spTree>
    <p:extLst>
      <p:ext uri="{BB962C8B-B14F-4D97-AF65-F5344CB8AC3E}">
        <p14:creationId xmlns:p14="http://schemas.microsoft.com/office/powerpoint/2010/main" val="447966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85800" y="457200"/>
            <a:ext cx="8077200" cy="857250"/>
          </a:xfrm>
        </p:spPr>
        <p:txBody>
          <a:bodyPr>
            <a:normAutofit fontScale="90000"/>
          </a:bodyPr>
          <a:lstStyle/>
          <a:p>
            <a:r>
              <a:rPr lang="en-US" altLang="it-IT" dirty="0"/>
              <a:t>Sampling with replacement: example</a:t>
            </a:r>
            <a:endParaRPr lang="en-US" altLang="it-IT" sz="2100" dirty="0"/>
          </a:p>
        </p:txBody>
      </p:sp>
      <p:graphicFrame>
        <p:nvGraphicFramePr>
          <p:cNvPr id="11267" name="Group 3"/>
          <p:cNvGraphicFramePr>
            <a:graphicFrameLocks noGrp="1"/>
          </p:cNvGraphicFramePr>
          <p:nvPr>
            <p:ph type="tbl" idx="1"/>
            <p:extLst>
              <p:ext uri="{D42A27DB-BD31-4B8C-83A1-F6EECF244321}">
                <p14:modId xmlns:p14="http://schemas.microsoft.com/office/powerpoint/2010/main" val="2368299460"/>
              </p:ext>
            </p:extLst>
          </p:nvPr>
        </p:nvGraphicFramePr>
        <p:xfrm>
          <a:off x="1657350" y="1485900"/>
          <a:ext cx="5829300" cy="3086102"/>
        </p:xfrm>
        <a:graphic>
          <a:graphicData uri="http://schemas.openxmlformats.org/drawingml/2006/table">
            <a:tbl>
              <a:tblPr/>
              <a:tblGrid>
                <a:gridCol w="2400300">
                  <a:extLst>
                    <a:ext uri="{9D8B030D-6E8A-4147-A177-3AD203B41FA5}">
                      <a16:colId xmlns:a16="http://schemas.microsoft.com/office/drawing/2014/main" val="20000"/>
                    </a:ext>
                  </a:extLst>
                </a:gridCol>
                <a:gridCol w="40005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0005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00050">
                  <a:extLst>
                    <a:ext uri="{9D8B030D-6E8A-4147-A177-3AD203B41FA5}">
                      <a16:colId xmlns:a16="http://schemas.microsoft.com/office/drawing/2014/main" val="20006"/>
                    </a:ext>
                  </a:extLst>
                </a:gridCol>
                <a:gridCol w="40005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tblGrid>
              <a:tr h="616744">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dirty="0">
                          <a:ln>
                            <a:noFill/>
                          </a:ln>
                          <a:solidFill>
                            <a:schemeClr val="tx1"/>
                          </a:solidFill>
                          <a:effectLst/>
                          <a:latin typeface="Times New Roman" panose="02020603050405020304" pitchFamily="18" charset="0"/>
                        </a:rPr>
                        <a:t>Dataset </a:t>
                      </a:r>
                      <a:r>
                        <a:rPr kumimoji="0" lang="en-US" altLang="it-IT" sz="2100" b="0" i="1" u="none" strike="noStrike" cap="none" normalizeH="0" baseline="0" dirty="0">
                          <a:ln>
                            <a:noFill/>
                          </a:ln>
                          <a:solidFill>
                            <a:schemeClr val="tx1"/>
                          </a:solidFill>
                          <a:effectLst/>
                          <a:latin typeface="Times New Roman" panose="02020603050405020304" pitchFamily="18" charset="0"/>
                        </a:rPr>
                        <a:t>D</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2</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3</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4</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5</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6</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7</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8</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793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1" u="none" strike="noStrike" cap="none" normalizeH="0" baseline="0">
                          <a:ln>
                            <a:noFill/>
                          </a:ln>
                          <a:solidFill>
                            <a:schemeClr val="tx1"/>
                          </a:solidFill>
                          <a:effectLst/>
                          <a:latin typeface="Times New Roman" panose="02020603050405020304" pitchFamily="18" charset="0"/>
                        </a:rPr>
                        <a:t>D</a:t>
                      </a:r>
                      <a:r>
                        <a:rPr kumimoji="0" lang="en-US" altLang="it-IT" sz="2100" b="0" i="1" u="none" strike="noStrike" cap="none" normalizeH="0" baseline="-25000">
                          <a:ln>
                            <a:noFill/>
                          </a:ln>
                          <a:solidFill>
                            <a:schemeClr val="tx1"/>
                          </a:solidFill>
                          <a:effectLst/>
                          <a:latin typeface="Times New Roman" panose="02020603050405020304" pitchFamily="18" charset="0"/>
                        </a:rPr>
                        <a:t>1</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2</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1" i="0" u="none" strike="noStrike" cap="none" normalizeH="0" baseline="0">
                          <a:ln>
                            <a:noFill/>
                          </a:ln>
                          <a:solidFill>
                            <a:schemeClr val="tx1"/>
                          </a:solidFill>
                          <a:effectLst/>
                          <a:latin typeface="Times New Roman" panose="02020603050405020304" pitchFamily="18" charset="0"/>
                        </a:rPr>
                        <a:t>7</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8</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1" i="0" u="none" strike="noStrike" cap="none" normalizeH="0" baseline="0">
                          <a:ln>
                            <a:noFill/>
                          </a:ln>
                          <a:solidFill>
                            <a:schemeClr val="tx1"/>
                          </a:solidFill>
                          <a:effectLst/>
                          <a:latin typeface="Times New Roman" panose="02020603050405020304" pitchFamily="18" charset="0"/>
                        </a:rPr>
                        <a:t>3</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1" i="0" u="none" strike="noStrike" cap="none" normalizeH="0" baseline="0">
                          <a:ln>
                            <a:noFill/>
                          </a:ln>
                          <a:solidFill>
                            <a:schemeClr val="tx1"/>
                          </a:solidFill>
                          <a:effectLst/>
                          <a:latin typeface="Times New Roman" panose="02020603050405020304" pitchFamily="18" charset="0"/>
                        </a:rPr>
                        <a:t>7</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6</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1" i="0" u="none" strike="noStrike" cap="none" normalizeH="0" baseline="0">
                          <a:ln>
                            <a:noFill/>
                          </a:ln>
                          <a:solidFill>
                            <a:schemeClr val="tx1"/>
                          </a:solidFill>
                          <a:effectLst/>
                          <a:latin typeface="Times New Roman" panose="02020603050405020304" pitchFamily="18" charset="0"/>
                        </a:rPr>
                        <a:t>3</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1</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6744">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1" u="none" strike="noStrike" cap="none" normalizeH="0" baseline="0">
                          <a:ln>
                            <a:noFill/>
                          </a:ln>
                          <a:solidFill>
                            <a:schemeClr val="tx1"/>
                          </a:solidFill>
                          <a:effectLst/>
                          <a:latin typeface="Times New Roman" panose="02020603050405020304" pitchFamily="18" charset="0"/>
                        </a:rPr>
                        <a:t>D</a:t>
                      </a:r>
                      <a:r>
                        <a:rPr kumimoji="0" lang="en-US" altLang="it-IT" sz="2100" b="0" i="1" u="none" strike="noStrike" cap="none" normalizeH="0" baseline="-25000">
                          <a:ln>
                            <a:noFill/>
                          </a:ln>
                          <a:solidFill>
                            <a:schemeClr val="tx1"/>
                          </a:solidFill>
                          <a:effectLst/>
                          <a:latin typeface="Times New Roman" panose="02020603050405020304" pitchFamily="18" charset="0"/>
                        </a:rPr>
                        <a:t>2</a:t>
                      </a:r>
                      <a:endParaRPr kumimoji="0" lang="en-US" altLang="it-IT" sz="2100" b="0" i="0" u="none" strike="noStrike" cap="none" normalizeH="0" baseline="0">
                        <a:ln>
                          <a:noFill/>
                        </a:ln>
                        <a:solidFill>
                          <a:schemeClr val="tx1"/>
                        </a:solidFill>
                        <a:effectLst/>
                        <a:latin typeface="Times New Roman" panose="02020603050405020304" pitchFamily="18" charset="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1" i="0" u="none" strike="noStrike" cap="none" normalizeH="0" baseline="0">
                          <a:ln>
                            <a:noFill/>
                          </a:ln>
                          <a:solidFill>
                            <a:schemeClr val="tx1"/>
                          </a:solidFill>
                          <a:effectLst/>
                          <a:latin typeface="Times New Roman" panose="02020603050405020304" pitchFamily="18" charset="0"/>
                        </a:rPr>
                        <a:t>7</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8</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5</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6</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4</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2</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1" i="0" u="none" strike="noStrike" cap="none" normalizeH="0" baseline="0">
                          <a:ln>
                            <a:noFill/>
                          </a:ln>
                          <a:solidFill>
                            <a:schemeClr val="tx1"/>
                          </a:solidFill>
                          <a:effectLst/>
                          <a:latin typeface="Times New Roman" panose="02020603050405020304" pitchFamily="18" charset="0"/>
                        </a:rPr>
                        <a:t>7</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1</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793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1" u="none" strike="noStrike" cap="none" normalizeH="0" baseline="0">
                          <a:ln>
                            <a:noFill/>
                          </a:ln>
                          <a:solidFill>
                            <a:schemeClr val="tx1"/>
                          </a:solidFill>
                          <a:effectLst/>
                          <a:latin typeface="Times New Roman" panose="02020603050405020304" pitchFamily="18" charset="0"/>
                        </a:rPr>
                        <a:t>D</a:t>
                      </a:r>
                      <a:r>
                        <a:rPr kumimoji="0" lang="en-US" altLang="it-IT" sz="2100" b="0" i="1" u="none" strike="noStrike" cap="none" normalizeH="0" baseline="-25000">
                          <a:ln>
                            <a:noFill/>
                          </a:ln>
                          <a:solidFill>
                            <a:schemeClr val="tx1"/>
                          </a:solidFill>
                          <a:effectLst/>
                          <a:latin typeface="Times New Roman" panose="02020603050405020304" pitchFamily="18" charset="0"/>
                        </a:rPr>
                        <a:t>3</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3</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1" i="0" u="none" strike="noStrike" cap="none" normalizeH="0" baseline="0">
                          <a:ln>
                            <a:noFill/>
                          </a:ln>
                          <a:solidFill>
                            <a:schemeClr val="tx1"/>
                          </a:solidFill>
                          <a:effectLst/>
                          <a:latin typeface="Times New Roman" panose="02020603050405020304" pitchFamily="18" charset="0"/>
                        </a:rPr>
                        <a:t>6</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1" i="0" u="none" strike="noStrike" cap="none" normalizeH="0" baseline="0">
                          <a:ln>
                            <a:noFill/>
                          </a:ln>
                          <a:solidFill>
                            <a:schemeClr val="tx1"/>
                          </a:solidFill>
                          <a:effectLst/>
                          <a:latin typeface="Times New Roman" panose="02020603050405020304" pitchFamily="18" charset="0"/>
                        </a:rPr>
                        <a:t>2</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7</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5</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1" i="0" u="none" strike="noStrike" cap="none" normalizeH="0" baseline="0">
                          <a:ln>
                            <a:noFill/>
                          </a:ln>
                          <a:solidFill>
                            <a:schemeClr val="tx1"/>
                          </a:solidFill>
                          <a:effectLst/>
                          <a:latin typeface="Times New Roman" panose="02020603050405020304" pitchFamily="18" charset="0"/>
                        </a:rPr>
                        <a:t>6</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1" i="0" u="none" strike="noStrike" cap="none" normalizeH="0" baseline="0">
                          <a:ln>
                            <a:noFill/>
                          </a:ln>
                          <a:solidFill>
                            <a:schemeClr val="tx1"/>
                          </a:solidFill>
                          <a:effectLst/>
                          <a:latin typeface="Times New Roman" panose="02020603050405020304" pitchFamily="18" charset="0"/>
                        </a:rPr>
                        <a:t>2</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1" i="0" u="none" strike="noStrike" cap="none" normalizeH="0" baseline="0">
                          <a:ln>
                            <a:noFill/>
                          </a:ln>
                          <a:solidFill>
                            <a:schemeClr val="tx1"/>
                          </a:solidFill>
                          <a:effectLst/>
                          <a:latin typeface="Times New Roman" panose="02020603050405020304" pitchFamily="18" charset="0"/>
                        </a:rPr>
                        <a:t>2</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16744">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1" u="none" strike="noStrike" cap="none" normalizeH="0" baseline="0">
                          <a:ln>
                            <a:noFill/>
                          </a:ln>
                          <a:solidFill>
                            <a:schemeClr val="tx1"/>
                          </a:solidFill>
                          <a:effectLst/>
                          <a:latin typeface="Times New Roman" panose="02020603050405020304" pitchFamily="18" charset="0"/>
                        </a:rPr>
                        <a:t>D</a:t>
                      </a:r>
                      <a:r>
                        <a:rPr kumimoji="0" lang="en-US" altLang="it-IT" sz="2100" b="0" i="1" u="none" strike="noStrike" cap="none" normalizeH="0" baseline="-25000">
                          <a:ln>
                            <a:noFill/>
                          </a:ln>
                          <a:solidFill>
                            <a:schemeClr val="tx1"/>
                          </a:solidFill>
                          <a:effectLst/>
                          <a:latin typeface="Times New Roman" panose="02020603050405020304" pitchFamily="18" charset="0"/>
                        </a:rPr>
                        <a:t>4</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1" i="0" u="none" strike="noStrike" cap="none" normalizeH="0" baseline="0">
                          <a:ln>
                            <a:noFill/>
                          </a:ln>
                          <a:solidFill>
                            <a:schemeClr val="tx1"/>
                          </a:solidFill>
                          <a:effectLst/>
                          <a:latin typeface="Times New Roman" panose="02020603050405020304" pitchFamily="18" charset="0"/>
                        </a:rPr>
                        <a:t>4</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5</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1" i="0" u="none" strike="noStrike" cap="none" normalizeH="0" baseline="0">
                          <a:ln>
                            <a:noFill/>
                          </a:ln>
                          <a:solidFill>
                            <a:schemeClr val="tx1"/>
                          </a:solidFill>
                          <a:effectLst/>
                          <a:latin typeface="Times New Roman" panose="02020603050405020304" pitchFamily="18" charset="0"/>
                        </a:rPr>
                        <a:t>4</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6</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1" i="0" u="none" strike="noStrike" cap="none" normalizeH="0" baseline="0">
                          <a:ln>
                            <a:noFill/>
                          </a:ln>
                          <a:solidFill>
                            <a:schemeClr val="tx1"/>
                          </a:solidFill>
                          <a:effectLst/>
                          <a:latin typeface="Times New Roman" panose="02020603050405020304" pitchFamily="18" charset="0"/>
                        </a:rPr>
                        <a:t>4</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3</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it-IT" sz="2100" b="0" i="0" u="none" strike="noStrike" cap="none" normalizeH="0" baseline="0">
                          <a:ln>
                            <a:noFill/>
                          </a:ln>
                          <a:solidFill>
                            <a:schemeClr val="tx1"/>
                          </a:solidFill>
                          <a:effectLst/>
                          <a:latin typeface="Times New Roman" panose="02020603050405020304" pitchFamily="18" charset="0"/>
                        </a:rPr>
                        <a:t>8</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13018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285750"/>
            <a:ext cx="9144000" cy="3488215"/>
          </a:xfrm>
          <a:prstGeom prst="rect">
            <a:avLst/>
          </a:prstGeom>
        </p:spPr>
      </p:pic>
      <p:sp>
        <p:nvSpPr>
          <p:cNvPr id="7" name="Rectangle 6"/>
          <p:cNvSpPr/>
          <p:nvPr/>
        </p:nvSpPr>
        <p:spPr>
          <a:xfrm>
            <a:off x="2057400" y="3486150"/>
            <a:ext cx="762000" cy="287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TextBox 7"/>
          <p:cNvSpPr txBox="1"/>
          <p:nvPr/>
        </p:nvSpPr>
        <p:spPr>
          <a:xfrm>
            <a:off x="2057400" y="4019550"/>
            <a:ext cx="4847096" cy="369332"/>
          </a:xfrm>
          <a:prstGeom prst="rect">
            <a:avLst/>
          </a:prstGeom>
          <a:noFill/>
        </p:spPr>
        <p:txBody>
          <a:bodyPr wrap="none" rtlCol="0">
            <a:spAutoFit/>
          </a:bodyPr>
          <a:lstStyle/>
          <a:p>
            <a:r>
              <a:rPr lang="en-GB" dirty="0"/>
              <a:t>Bagged version is more likely to generalize better!</a:t>
            </a:r>
            <a:endParaRPr lang="it-IT" dirty="0"/>
          </a:p>
        </p:txBody>
      </p:sp>
      <p:sp>
        <p:nvSpPr>
          <p:cNvPr id="9" name="TextBox 8"/>
          <p:cNvSpPr txBox="1"/>
          <p:nvPr/>
        </p:nvSpPr>
        <p:spPr>
          <a:xfrm>
            <a:off x="859539" y="4634467"/>
            <a:ext cx="7242817" cy="369332"/>
          </a:xfrm>
          <a:prstGeom prst="rect">
            <a:avLst/>
          </a:prstGeom>
          <a:noFill/>
        </p:spPr>
        <p:txBody>
          <a:bodyPr wrap="none" rtlCol="0">
            <a:spAutoFit/>
          </a:bodyPr>
          <a:lstStyle/>
          <a:p>
            <a:r>
              <a:rPr lang="en-GB" dirty="0"/>
              <a:t>Bagging has more bias and less variance than pasting (it is usually preferred)</a:t>
            </a:r>
            <a:endParaRPr lang="it-IT" dirty="0"/>
          </a:p>
        </p:txBody>
      </p:sp>
    </p:spTree>
    <p:extLst>
      <p:ext uri="{BB962C8B-B14F-4D97-AF65-F5344CB8AC3E}">
        <p14:creationId xmlns:p14="http://schemas.microsoft.com/office/powerpoint/2010/main" val="870336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Out-of-bag evaluation</a:t>
            </a:r>
            <a:endParaRPr lang="it-IT" sz="36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352550"/>
                <a:ext cx="8382000" cy="3394472"/>
              </a:xfrm>
            </p:spPr>
            <p:txBody>
              <a:bodyPr>
                <a:normAutofit fontScale="85000" lnSpcReduction="20000"/>
              </a:bodyPr>
              <a:lstStyle/>
              <a:p>
                <a:r>
                  <a:rPr lang="en-GB" sz="2400" dirty="0"/>
                  <a:t>Some instances may never be sampled at all (out-of-bag instances or </a:t>
                </a:r>
                <a:r>
                  <a:rPr lang="en-GB" sz="2400" i="1" dirty="0" err="1"/>
                  <a:t>oob</a:t>
                </a:r>
                <a:r>
                  <a:rPr lang="en-GB" sz="2400" dirty="0"/>
                  <a:t>)</a:t>
                </a:r>
              </a:p>
              <a:p>
                <a:r>
                  <a:rPr lang="en-GB" sz="2400" dirty="0"/>
                  <a:t>If you sample with replacement from a set of </a:t>
                </a:r>
                <a:r>
                  <a:rPr lang="en-GB" sz="2400" i="1" dirty="0">
                    <a:latin typeface="Times New Roman" panose="02020603050405020304" pitchFamily="18" charset="0"/>
                    <a:cs typeface="Times New Roman" panose="02020603050405020304" pitchFamily="18" charset="0"/>
                  </a:rPr>
                  <a:t>m</a:t>
                </a:r>
                <a:r>
                  <a:rPr lang="en-GB" sz="2400" dirty="0"/>
                  <a:t> instances, combinatorics tells us that </a:t>
                </a:r>
                <a:r>
                  <a:rPr lang="en-GB" sz="2400" dirty="0">
                    <a:latin typeface="Times New Roman" panose="02020603050405020304" pitchFamily="18" charset="0"/>
                    <a:cs typeface="Times New Roman" panose="02020603050405020304" pitchFamily="18" charset="0"/>
                  </a:rPr>
                  <a:t>~37% </a:t>
                </a:r>
                <a:r>
                  <a:rPr lang="en-GB" sz="2400" dirty="0"/>
                  <a:t>of instances are never sampled on average</a:t>
                </a:r>
              </a:p>
              <a:p>
                <a:r>
                  <a:rPr lang="en-GB" sz="2400" dirty="0"/>
                  <a:t>Probability of not being selected in any sample of the </a:t>
                </a:r>
                <a:r>
                  <a:rPr lang="en-GB" sz="2400" i="1" dirty="0">
                    <a:latin typeface="Times New Roman" panose="02020603050405020304" pitchFamily="18" charset="0"/>
                    <a:cs typeface="Times New Roman" panose="02020603050405020304" pitchFamily="18" charset="0"/>
                  </a:rPr>
                  <a:t>m</a:t>
                </a:r>
                <a:r>
                  <a:rPr lang="en-GB" sz="2400" dirty="0"/>
                  <a:t> samples is </a:t>
                </a:r>
                <a14:m>
                  <m:oMath xmlns:m="http://schemas.openxmlformats.org/officeDocument/2006/math">
                    <m:sSup>
                      <m:sSupPr>
                        <m:ctrlPr>
                          <a:rPr lang="en-GB" sz="2400" i="1" smtClean="0">
                            <a:latin typeface="Cambria Math" panose="02040503050406030204" pitchFamily="18" charset="0"/>
                          </a:rPr>
                        </m:ctrlPr>
                      </m:sSupPr>
                      <m:e>
                        <m:r>
                          <a:rPr lang="en-GB" sz="2400" b="0" i="1" smtClean="0">
                            <a:latin typeface="Cambria Math" panose="02040503050406030204" pitchFamily="18" charset="0"/>
                          </a:rPr>
                          <m:t>(1−</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m:t>
                            </m:r>
                          </m:num>
                          <m:den>
                            <m:r>
                              <a:rPr lang="en-GB" sz="2400" b="0" i="1" smtClean="0">
                                <a:latin typeface="Cambria Math" panose="02040503050406030204" pitchFamily="18" charset="0"/>
                              </a:rPr>
                              <m:t>𝑚</m:t>
                            </m:r>
                          </m:den>
                        </m:f>
                        <m:r>
                          <a:rPr lang="en-GB" sz="2400" b="0" i="1" smtClean="0">
                            <a:latin typeface="Cambria Math" panose="02040503050406030204" pitchFamily="18" charset="0"/>
                          </a:rPr>
                          <m:t>)</m:t>
                        </m:r>
                      </m:e>
                      <m:sup>
                        <m:r>
                          <a:rPr lang="en-GB" sz="2400" b="0" i="1" smtClean="0">
                            <a:latin typeface="Cambria Math" panose="02040503050406030204" pitchFamily="18" charset="0"/>
                          </a:rPr>
                          <m:t>𝑚</m:t>
                        </m:r>
                      </m:sup>
                    </m:sSup>
                  </m:oMath>
                </a14:m>
                <a:r>
                  <a:rPr lang="it-IT" sz="2400" dirty="0"/>
                  <a:t> and </a:t>
                </a:r>
                <a14:m>
                  <m:oMath xmlns:m="http://schemas.openxmlformats.org/officeDocument/2006/math">
                    <m:func>
                      <m:funcPr>
                        <m:ctrlPr>
                          <a:rPr lang="it-IT" sz="2400" i="1" smtClean="0">
                            <a:latin typeface="Cambria Math" panose="02040503050406030204" pitchFamily="18" charset="0"/>
                          </a:rPr>
                        </m:ctrlPr>
                      </m:funcPr>
                      <m:fName>
                        <m:limLow>
                          <m:limLowPr>
                            <m:ctrlPr>
                              <a:rPr lang="it-IT" sz="2400" i="1" smtClean="0">
                                <a:latin typeface="Cambria Math" panose="02040503050406030204" pitchFamily="18" charset="0"/>
                              </a:rPr>
                            </m:ctrlPr>
                          </m:limLowPr>
                          <m:e>
                            <m:r>
                              <m:rPr>
                                <m:sty m:val="p"/>
                              </m:rPr>
                              <a:rPr lang="it-IT" sz="2400" i="0" smtClean="0">
                                <a:latin typeface="Cambria Math" panose="02040503050406030204" pitchFamily="18" charset="0"/>
                              </a:rPr>
                              <m:t>lim</m:t>
                            </m:r>
                          </m:e>
                          <m:lim>
                            <m:r>
                              <a:rPr lang="en-GB" sz="2400" b="0" i="1" smtClean="0">
                                <a:latin typeface="Cambria Math" panose="02040503050406030204" pitchFamily="18" charset="0"/>
                              </a:rPr>
                              <m:t>𝑚</m:t>
                            </m:r>
                            <m:r>
                              <a:rPr lang="it-IT" sz="2400" i="1" smtClean="0">
                                <a:latin typeface="Cambria Math" panose="02040503050406030204" pitchFamily="18" charset="0"/>
                              </a:rPr>
                              <m:t>→∞</m:t>
                            </m:r>
                          </m:lim>
                        </m:limLow>
                      </m:fName>
                      <m:e>
                        <m:sSup>
                          <m:sSupPr>
                            <m:ctrlPr>
                              <a:rPr lang="it-IT" sz="2400" i="1" smtClean="0">
                                <a:latin typeface="Cambria Math" panose="02040503050406030204" pitchFamily="18" charset="0"/>
                              </a:rPr>
                            </m:ctrlPr>
                          </m:sSupPr>
                          <m:e>
                            <m:d>
                              <m:dPr>
                                <m:ctrlPr>
                                  <a:rPr lang="it-IT" sz="2400" i="1" smtClean="0">
                                    <a:latin typeface="Cambria Math" panose="02040503050406030204" pitchFamily="18" charset="0"/>
                                  </a:rPr>
                                </m:ctrlPr>
                              </m:dPr>
                              <m:e>
                                <m:r>
                                  <a:rPr lang="it-IT" sz="2400" i="1" smtClean="0">
                                    <a:latin typeface="Cambria Math" panose="02040503050406030204" pitchFamily="18" charset="0"/>
                                  </a:rPr>
                                  <m:t>1</m:t>
                                </m:r>
                                <m:r>
                                  <a:rPr lang="en-GB" sz="2400" b="0" i="1" smtClean="0">
                                    <a:latin typeface="Cambria Math" panose="02040503050406030204" pitchFamily="18" charset="0"/>
                                  </a:rPr>
                                  <m:t>−</m:t>
                                </m:r>
                                <m:f>
                                  <m:fPr>
                                    <m:ctrlPr>
                                      <a:rPr lang="it-IT" sz="2400" i="1" smtClean="0">
                                        <a:latin typeface="Cambria Math" panose="02040503050406030204" pitchFamily="18" charset="0"/>
                                      </a:rPr>
                                    </m:ctrlPr>
                                  </m:fPr>
                                  <m:num>
                                    <m:r>
                                      <a:rPr lang="it-IT" sz="2400" i="1" smtClean="0">
                                        <a:latin typeface="Cambria Math" panose="02040503050406030204" pitchFamily="18" charset="0"/>
                                      </a:rPr>
                                      <m:t>1</m:t>
                                    </m:r>
                                  </m:num>
                                  <m:den>
                                    <m:r>
                                      <a:rPr lang="en-GB" sz="2400" b="0" i="1" smtClean="0">
                                        <a:latin typeface="Cambria Math" panose="02040503050406030204" pitchFamily="18" charset="0"/>
                                      </a:rPr>
                                      <m:t>𝑚</m:t>
                                    </m:r>
                                  </m:den>
                                </m:f>
                              </m:e>
                            </m:d>
                          </m:e>
                          <m:sup>
                            <m:r>
                              <a:rPr lang="en-GB" sz="2400" b="0" i="1" smtClean="0">
                                <a:latin typeface="Cambria Math" panose="02040503050406030204" pitchFamily="18" charset="0"/>
                              </a:rPr>
                              <m:t>𝑚</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𝑒</m:t>
                            </m:r>
                          </m:e>
                          <m:sup>
                            <m:r>
                              <a:rPr lang="en-GB" sz="2400" b="0" i="1" smtClean="0">
                                <a:latin typeface="Cambria Math" panose="02040503050406030204" pitchFamily="18" charset="0"/>
                              </a:rPr>
                              <m:t>−1</m:t>
                            </m:r>
                          </m:sup>
                        </m:sSup>
                        <m:r>
                          <a:rPr lang="en-GB" sz="2400" b="0" i="1" smtClean="0">
                            <a:latin typeface="Cambria Math" panose="02040503050406030204" pitchFamily="18" charset="0"/>
                            <a:ea typeface="Cambria Math" panose="02040503050406030204" pitchFamily="18" charset="0"/>
                          </a:rPr>
                          <m:t>≈0.37</m:t>
                        </m:r>
                      </m:e>
                    </m:func>
                  </m:oMath>
                </a14:m>
                <a:endParaRPr lang="it-IT" sz="2400" dirty="0"/>
              </a:p>
              <a:p>
                <a:r>
                  <a:rPr lang="en-GB" sz="2400" dirty="0"/>
                  <a:t>Thus each bag has about </a:t>
                </a:r>
                <a:r>
                  <a:rPr lang="en-GB" sz="2400" dirty="0">
                    <a:latin typeface="Times New Roman" panose="02020603050405020304" pitchFamily="18" charset="0"/>
                    <a:cs typeface="Times New Roman" panose="02020603050405020304" pitchFamily="18" charset="0"/>
                  </a:rPr>
                  <a:t>37%</a:t>
                </a:r>
                <a:r>
                  <a:rPr lang="en-GB" sz="2400" dirty="0"/>
                  <a:t> of out-of-bag instances (in general different for each bag)</a:t>
                </a:r>
              </a:p>
              <a:p>
                <a:r>
                  <a:rPr lang="en-GB" sz="2400" dirty="0"/>
                  <a:t>A predictor (i.e. the algorithm trained with a specific bag) can then be evaluated on </a:t>
                </a:r>
                <a:r>
                  <a:rPr lang="en-GB" sz="2400" i="1" dirty="0" err="1"/>
                  <a:t>oob</a:t>
                </a:r>
                <a:r>
                  <a:rPr lang="en-GB" sz="2400" i="1" dirty="0"/>
                  <a:t> </a:t>
                </a:r>
                <a:r>
                  <a:rPr lang="en-GB" sz="2400" dirty="0"/>
                  <a:t>without the use of cross-validation</a:t>
                </a:r>
              </a:p>
              <a:p>
                <a:r>
                  <a:rPr lang="en-GB" sz="2400" dirty="0"/>
                  <a:t>The ensemble can also be evaluated by averaging out </a:t>
                </a:r>
                <a:r>
                  <a:rPr lang="en-GB" sz="2400" dirty="0" err="1"/>
                  <a:t>oob</a:t>
                </a:r>
                <a:r>
                  <a:rPr lang="en-GB" sz="2400" dirty="0"/>
                  <a:t> evaluations of each predictor</a:t>
                </a:r>
                <a:endParaRPr lang="it-IT"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352550"/>
                <a:ext cx="8382000" cy="3394472"/>
              </a:xfrm>
              <a:blipFill rotWithShape="0">
                <a:blip r:embed="rId2"/>
                <a:stretch>
                  <a:fillRect l="-655" t="-2693"/>
                </a:stretch>
              </a:blipFill>
            </p:spPr>
            <p:txBody>
              <a:bodyPr/>
              <a:lstStyle/>
              <a:p>
                <a:r>
                  <a:rPr lang="it-IT">
                    <a:noFill/>
                  </a:rPr>
                  <a:t> </a:t>
                </a:r>
              </a:p>
            </p:txBody>
          </p:sp>
        </mc:Fallback>
      </mc:AlternateContent>
    </p:spTree>
    <p:extLst>
      <p:ext uri="{BB962C8B-B14F-4D97-AF65-F5344CB8AC3E}">
        <p14:creationId xmlns:p14="http://schemas.microsoft.com/office/powerpoint/2010/main" val="2094483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Random Forest</a:t>
            </a:r>
            <a:endParaRPr lang="it-IT" dirty="0"/>
          </a:p>
        </p:txBody>
      </p:sp>
      <p:sp>
        <p:nvSpPr>
          <p:cNvPr id="3" name="Content Placeholder 2"/>
          <p:cNvSpPr>
            <a:spLocks noGrp="1"/>
          </p:cNvSpPr>
          <p:nvPr>
            <p:ph idx="1"/>
          </p:nvPr>
        </p:nvSpPr>
        <p:spPr/>
        <p:txBody>
          <a:bodyPr>
            <a:normAutofit fontScale="85000" lnSpcReduction="20000"/>
          </a:bodyPr>
          <a:lstStyle/>
          <a:p>
            <a:r>
              <a:rPr lang="en-GB" dirty="0"/>
              <a:t>A special case of bagging using Decision Tree</a:t>
            </a:r>
          </a:p>
          <a:p>
            <a:r>
              <a:rPr lang="en-GB" dirty="0"/>
              <a:t>In addition it splits the nodes by using the evaluation on a random subset of the features at each step (instead of searching for the best feature on all those available)</a:t>
            </a:r>
          </a:p>
          <a:p>
            <a:r>
              <a:rPr lang="en-GB" dirty="0"/>
              <a:t>If you also use a random threshold for the selected feature you got an </a:t>
            </a:r>
            <a:r>
              <a:rPr lang="en-GB" b="1" dirty="0"/>
              <a:t>Extra-Tree</a:t>
            </a:r>
            <a:r>
              <a:rPr lang="en-GB" dirty="0"/>
              <a:t> (Extremely Randomized Tree)</a:t>
            </a:r>
          </a:p>
          <a:p>
            <a:r>
              <a:rPr lang="en-GB" dirty="0">
                <a:solidFill>
                  <a:srgbClr val="FF0000"/>
                </a:solidFill>
              </a:rPr>
              <a:t>RF is one of the most powerful supervised algorithm</a:t>
            </a:r>
            <a:endParaRPr lang="it-IT" dirty="0">
              <a:solidFill>
                <a:srgbClr val="FF0000"/>
              </a:solidFill>
            </a:endParaRPr>
          </a:p>
        </p:txBody>
      </p:sp>
    </p:spTree>
    <p:extLst>
      <p:ext uri="{BB962C8B-B14F-4D97-AF65-F5344CB8AC3E}">
        <p14:creationId xmlns:p14="http://schemas.microsoft.com/office/powerpoint/2010/main" val="1005184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Boosting</a:t>
            </a:r>
            <a:endParaRPr lang="it-IT" dirty="0"/>
          </a:p>
        </p:txBody>
      </p:sp>
      <p:sp>
        <p:nvSpPr>
          <p:cNvPr id="3" name="Content Placeholder 2"/>
          <p:cNvSpPr>
            <a:spLocks noGrp="1"/>
          </p:cNvSpPr>
          <p:nvPr>
            <p:ph idx="1"/>
          </p:nvPr>
        </p:nvSpPr>
        <p:spPr/>
        <p:txBody>
          <a:bodyPr>
            <a:normAutofit fontScale="92500" lnSpcReduction="20000"/>
          </a:bodyPr>
          <a:lstStyle/>
          <a:p>
            <a:r>
              <a:rPr lang="en-GB" dirty="0"/>
              <a:t>Idea: train the same algorithm with different data sequentially, by taking into account errors at the previous step</a:t>
            </a:r>
          </a:p>
          <a:p>
            <a:r>
              <a:rPr lang="en-GB" dirty="0"/>
              <a:t>Most popular boosting method: </a:t>
            </a:r>
            <a:r>
              <a:rPr lang="en-GB" dirty="0" err="1">
                <a:solidFill>
                  <a:srgbClr val="FF0000"/>
                </a:solidFill>
              </a:rPr>
              <a:t>AdaBoost</a:t>
            </a:r>
            <a:r>
              <a:rPr lang="en-GB" dirty="0">
                <a:solidFill>
                  <a:srgbClr val="FF0000"/>
                </a:solidFill>
              </a:rPr>
              <a:t> </a:t>
            </a:r>
            <a:r>
              <a:rPr lang="en-GB" dirty="0"/>
              <a:t>(Adaptive Boosting)</a:t>
            </a:r>
            <a:endParaRPr lang="it-IT" dirty="0"/>
          </a:p>
          <a:p>
            <a:r>
              <a:rPr lang="en-GB" dirty="0"/>
              <a:t>Weights (or number of occurrences) of instances that have been misclassified at the previous step are increased at the current step</a:t>
            </a:r>
          </a:p>
        </p:txBody>
      </p:sp>
    </p:spTree>
    <p:extLst>
      <p:ext uri="{BB962C8B-B14F-4D97-AF65-F5344CB8AC3E}">
        <p14:creationId xmlns:p14="http://schemas.microsoft.com/office/powerpoint/2010/main" val="595957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57311" y="0"/>
            <a:ext cx="8229378" cy="5143500"/>
          </a:xfrm>
          <a:prstGeom prst="rect">
            <a:avLst/>
          </a:prstGeom>
        </p:spPr>
      </p:pic>
      <p:sp>
        <p:nvSpPr>
          <p:cNvPr id="6" name="Rectangle 5"/>
          <p:cNvSpPr/>
          <p:nvPr/>
        </p:nvSpPr>
        <p:spPr>
          <a:xfrm>
            <a:off x="2286000" y="4933950"/>
            <a:ext cx="762000" cy="209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9924746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Weight and Predictions</a:t>
            </a:r>
            <a:endParaRPr lang="it-IT" dirty="0"/>
          </a:p>
        </p:txBody>
      </p:sp>
      <p:sp>
        <p:nvSpPr>
          <p:cNvPr id="3" name="Content Placeholder 2"/>
          <p:cNvSpPr>
            <a:spLocks noGrp="1"/>
          </p:cNvSpPr>
          <p:nvPr>
            <p:ph idx="1"/>
          </p:nvPr>
        </p:nvSpPr>
        <p:spPr/>
        <p:txBody>
          <a:bodyPr>
            <a:normAutofit fontScale="85000" lnSpcReduction="20000"/>
          </a:bodyPr>
          <a:lstStyle/>
          <a:p>
            <a:r>
              <a:rPr lang="en-GB" dirty="0"/>
              <a:t>Instance weights</a:t>
            </a:r>
          </a:p>
          <a:p>
            <a:pPr lvl="1"/>
            <a:r>
              <a:rPr lang="en-GB" dirty="0"/>
              <a:t>Correspond to replicating instances (if integer value) e.g. </a:t>
            </a:r>
            <a:r>
              <a:rPr lang="en-GB" i="1" dirty="0">
                <a:latin typeface="Times New Roman" panose="02020603050405020304" pitchFamily="18" charset="0"/>
                <a:cs typeface="Times New Roman" panose="02020603050405020304" pitchFamily="18" charset="0"/>
              </a:rPr>
              <a:t>w=3.8</a:t>
            </a:r>
            <a:r>
              <a:rPr lang="en-GB"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sym typeface="Wingdings" panose="05000000000000000000" pitchFamily="2" charset="2"/>
              </a:rPr>
              <a:t> ~ 4 copies of </a:t>
            </a:r>
            <a:r>
              <a:rPr lang="en-GB" dirty="0">
                <a:sym typeface="Wingdings" panose="05000000000000000000" pitchFamily="2" charset="2"/>
              </a:rPr>
              <a:t>instance</a:t>
            </a:r>
          </a:p>
          <a:p>
            <a:pPr lvl="1"/>
            <a:r>
              <a:rPr lang="en-GB" dirty="0">
                <a:sym typeface="Wingdings" panose="05000000000000000000" pitchFamily="2" charset="2"/>
              </a:rPr>
              <a:t>Some algorithms can take weights directly into account (e.g. Naïve Bayes, weighted k-NN)</a:t>
            </a:r>
          </a:p>
          <a:p>
            <a:r>
              <a:rPr lang="en-GB" dirty="0">
                <a:sym typeface="Wingdings" panose="05000000000000000000" pitchFamily="2" charset="2"/>
              </a:rPr>
              <a:t> </a:t>
            </a:r>
            <a:r>
              <a:rPr lang="en-US" dirty="0">
                <a:sym typeface="Wingdings" panose="05000000000000000000" pitchFamily="2" charset="2"/>
              </a:rPr>
              <a:t>Once all predictors are trained, the ensemble makes predictions very much like bagging or pasting, except that predictors have different weights depending on their overall accuracy on the weighted training set.</a:t>
            </a:r>
            <a:endParaRPr lang="it-IT" dirty="0"/>
          </a:p>
        </p:txBody>
      </p:sp>
    </p:spTree>
    <p:extLst>
      <p:ext uri="{BB962C8B-B14F-4D97-AF65-F5344CB8AC3E}">
        <p14:creationId xmlns:p14="http://schemas.microsoft.com/office/powerpoint/2010/main" val="1483104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AdaBoost</a:t>
            </a:r>
            <a:r>
              <a:rPr lang="en-GB" dirty="0"/>
              <a:t> Algorithm</a:t>
            </a:r>
            <a:endParaRPr lang="it-IT"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00150"/>
                <a:ext cx="8229600" cy="3943350"/>
              </a:xfrm>
            </p:spPr>
            <p:txBody>
              <a:bodyPr>
                <a:normAutofit fontScale="92500" lnSpcReduction="10000"/>
              </a:bodyPr>
              <a:lstStyle/>
              <a:p>
                <a:r>
                  <a:rPr lang="en-GB" sz="2000" dirty="0">
                    <a:latin typeface="Times New Roman" panose="02020603050405020304" pitchFamily="18" charset="0"/>
                    <a:cs typeface="Times New Roman" panose="02020603050405020304" pitchFamily="18" charset="0"/>
                  </a:rPr>
                  <a:t>Initial weights: </a:t>
                </a:r>
                <a14:m>
                  <m:oMath xmlns:m="http://schemas.openxmlformats.org/officeDocument/2006/math">
                    <m:sSup>
                      <m:sSupPr>
                        <m:ctrlPr>
                          <a:rPr lang="en-GB" sz="2000" i="1" smtClean="0">
                            <a:latin typeface="Cambria Math" panose="02040503050406030204" pitchFamily="18" charset="0"/>
                            <a:cs typeface="Times New Roman" panose="02020603050405020304" pitchFamily="18" charset="0"/>
                          </a:rPr>
                        </m:ctrlPr>
                      </m:sSupPr>
                      <m:e>
                        <m:r>
                          <a:rPr lang="en-GB" sz="2000" b="0" i="1" smtClean="0">
                            <a:latin typeface="Cambria Math" panose="02040503050406030204" pitchFamily="18" charset="0"/>
                            <a:cs typeface="Times New Roman" panose="02020603050405020304" pitchFamily="18" charset="0"/>
                          </a:rPr>
                          <m:t>𝑤</m:t>
                        </m:r>
                      </m:e>
                      <m:sup>
                        <m:r>
                          <a:rPr lang="en-GB" sz="2000" b="0" i="1" smtClean="0">
                            <a:latin typeface="Cambria Math" panose="02040503050406030204" pitchFamily="18" charset="0"/>
                            <a:cs typeface="Times New Roman" panose="02020603050405020304" pitchFamily="18" charset="0"/>
                          </a:rPr>
                          <m:t>(</m:t>
                        </m:r>
                        <m:r>
                          <a:rPr lang="en-GB" sz="2000" b="0" i="1" smtClean="0">
                            <a:latin typeface="Cambria Math" panose="02040503050406030204" pitchFamily="18" charset="0"/>
                            <a:cs typeface="Times New Roman" panose="02020603050405020304" pitchFamily="18" charset="0"/>
                          </a:rPr>
                          <m:t>𝑖</m:t>
                        </m:r>
                        <m:r>
                          <a:rPr lang="en-GB" sz="2000" b="0" i="1" smtClean="0">
                            <a:latin typeface="Cambria Math" panose="02040503050406030204" pitchFamily="18" charset="0"/>
                            <a:cs typeface="Times New Roman" panose="02020603050405020304" pitchFamily="18" charset="0"/>
                          </a:rPr>
                          <m:t>)</m:t>
                        </m:r>
                      </m:sup>
                    </m:sSup>
                    <m:r>
                      <a:rPr lang="en-GB" sz="2000" b="0" i="1" smtClean="0">
                        <a:latin typeface="Cambria Math" panose="02040503050406030204" pitchFamily="18" charset="0"/>
                        <a:cs typeface="Times New Roman" panose="02020603050405020304" pitchFamily="18" charset="0"/>
                      </a:rPr>
                      <m:t>=</m:t>
                    </m:r>
                    <m:box>
                      <m:boxPr>
                        <m:ctrlPr>
                          <a:rPr lang="en-GB" sz="2000" b="0" i="1" smtClean="0">
                            <a:latin typeface="Cambria Math" panose="02040503050406030204" pitchFamily="18" charset="0"/>
                            <a:cs typeface="Times New Roman" panose="02020603050405020304" pitchFamily="18" charset="0"/>
                          </a:rPr>
                        </m:ctrlPr>
                      </m:boxPr>
                      <m:e>
                        <m:argPr>
                          <m:argSz m:val="-1"/>
                        </m:argPr>
                        <m:f>
                          <m:fPr>
                            <m:ctrlPr>
                              <a:rPr lang="en-GB" sz="2000" b="0" i="1" smtClean="0">
                                <a:latin typeface="Cambria Math" panose="02040503050406030204" pitchFamily="18" charset="0"/>
                                <a:cs typeface="Times New Roman" panose="02020603050405020304" pitchFamily="18" charset="0"/>
                              </a:rPr>
                            </m:ctrlPr>
                          </m:fPr>
                          <m:num>
                            <m:r>
                              <a:rPr lang="en-GB" sz="2000" b="0" i="1" smtClean="0">
                                <a:latin typeface="Cambria Math" panose="02040503050406030204" pitchFamily="18" charset="0"/>
                                <a:cs typeface="Times New Roman" panose="02020603050405020304" pitchFamily="18" charset="0"/>
                              </a:rPr>
                              <m:t>1</m:t>
                            </m:r>
                          </m:num>
                          <m:den>
                            <m:r>
                              <a:rPr lang="en-GB" sz="2000" b="0" i="1" smtClean="0">
                                <a:latin typeface="Cambria Math" panose="02040503050406030204" pitchFamily="18" charset="0"/>
                                <a:cs typeface="Times New Roman" panose="02020603050405020304" pitchFamily="18" charset="0"/>
                              </a:rPr>
                              <m:t>𝑚</m:t>
                            </m:r>
                          </m:den>
                        </m:f>
                        <m:r>
                          <a:rPr lang="en-GB" sz="2000" b="0" i="1" smtClean="0">
                            <a:latin typeface="Cambria Math" panose="02040503050406030204" pitchFamily="18" charset="0"/>
                            <a:cs typeface="Times New Roman" panose="02020603050405020304" pitchFamily="18" charset="0"/>
                          </a:rPr>
                          <m:t> (</m:t>
                        </m:r>
                        <m:r>
                          <a:rPr lang="en-GB" sz="2000" b="0" i="1" smtClean="0">
                            <a:latin typeface="Cambria Math" panose="02040503050406030204" pitchFamily="18" charset="0"/>
                            <a:cs typeface="Times New Roman" panose="02020603050405020304" pitchFamily="18" charset="0"/>
                          </a:rPr>
                          <m:t>𝑖</m:t>
                        </m:r>
                        <m:r>
                          <a:rPr lang="en-GB" sz="2000" b="0" i="1" smtClean="0">
                            <a:latin typeface="Cambria Math" panose="02040503050406030204" pitchFamily="18" charset="0"/>
                            <a:cs typeface="Times New Roman" panose="02020603050405020304" pitchFamily="18" charset="0"/>
                          </a:rPr>
                          <m:t>=</m:t>
                        </m:r>
                        <m:r>
                          <a:rPr lang="en-GB" sz="2000" b="0" i="1" smtClean="0">
                            <a:latin typeface="Cambria Math" panose="02040503050406030204" pitchFamily="18" charset="0"/>
                            <a:cs typeface="Times New Roman" panose="02020603050405020304" pitchFamily="18" charset="0"/>
                          </a:rPr>
                          <m:t>1</m:t>
                        </m:r>
                        <m:r>
                          <a:rPr lang="en-GB" sz="2000" b="0" i="1" smtClean="0">
                            <a:latin typeface="Cambria Math" panose="02040503050406030204" pitchFamily="18" charset="0"/>
                            <a:cs typeface="Times New Roman" panose="02020603050405020304" pitchFamily="18" charset="0"/>
                          </a:rPr>
                          <m:t>..</m:t>
                        </m:r>
                        <m:r>
                          <a:rPr lang="en-GB" sz="2000" b="0" i="1" smtClean="0">
                            <a:latin typeface="Cambria Math" panose="02040503050406030204" pitchFamily="18" charset="0"/>
                            <a:cs typeface="Times New Roman" panose="02020603050405020304" pitchFamily="18" charset="0"/>
                          </a:rPr>
                          <m:t>𝑚</m:t>
                        </m:r>
                        <m:r>
                          <a:rPr lang="en-GB" sz="2000" b="0" i="1" smtClean="0">
                            <a:latin typeface="Cambria Math" panose="02040503050406030204" pitchFamily="18" charset="0"/>
                            <a:cs typeface="Times New Roman" panose="02020603050405020304" pitchFamily="18" charset="0"/>
                          </a:rPr>
                          <m:t>)</m:t>
                        </m:r>
                      </m:e>
                    </m:box>
                  </m:oMath>
                </a14:m>
                <a:endParaRPr lang="it-IT"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for </a:t>
                </a:r>
                <a14:m>
                  <m:oMath xmlns:m="http://schemas.openxmlformats.org/officeDocument/2006/math">
                    <m:r>
                      <m:rPr>
                        <m:sty m:val="p"/>
                      </m:rPr>
                      <a:rPr lang="en-GB" sz="2000" b="0" i="0" smtClean="0">
                        <a:latin typeface="Cambria Math" panose="02040503050406030204" pitchFamily="18" charset="0"/>
                        <a:cs typeface="Times New Roman" panose="02020603050405020304" pitchFamily="18" charset="0"/>
                      </a:rPr>
                      <m:t>j</m:t>
                    </m:r>
                    <m:r>
                      <a:rPr lang="en-GB" sz="2000" b="0" i="1" smtClean="0">
                        <a:latin typeface="Cambria Math" panose="02040503050406030204" pitchFamily="18" charset="0"/>
                        <a:cs typeface="Times New Roman" panose="02020603050405020304" pitchFamily="18" charset="0"/>
                      </a:rPr>
                      <m:t>=</m:t>
                    </m:r>
                    <m:r>
                      <a:rPr lang="en-GB" sz="2000" b="0" i="1" smtClean="0">
                        <a:latin typeface="Cambria Math" panose="02040503050406030204" pitchFamily="18" charset="0"/>
                        <a:cs typeface="Times New Roman" panose="02020603050405020304" pitchFamily="18" charset="0"/>
                      </a:rPr>
                      <m:t>1</m:t>
                    </m:r>
                    <m:r>
                      <a:rPr lang="en-GB" sz="2000" b="0" i="1" smtClean="0">
                        <a:latin typeface="Cambria Math" panose="02040503050406030204" pitchFamily="18" charset="0"/>
                        <a:cs typeface="Times New Roman" panose="02020603050405020304" pitchFamily="18" charset="0"/>
                      </a:rPr>
                      <m:t> </m:t>
                    </m:r>
                    <m:r>
                      <m:rPr>
                        <m:nor/>
                      </m:rPr>
                      <a:rPr lang="en-GB" sz="2000" b="0" i="0" smtClean="0">
                        <a:latin typeface="Cambria Math" panose="02040503050406030204" pitchFamily="18" charset="0"/>
                        <a:cs typeface="Times New Roman" panose="02020603050405020304" pitchFamily="18" charset="0"/>
                      </a:rPr>
                      <m:t>to</m:t>
                    </m:r>
                    <m:r>
                      <a:rPr lang="en-GB" sz="2000" b="0" i="1" smtClean="0">
                        <a:latin typeface="Cambria Math" panose="02040503050406030204" pitchFamily="18" charset="0"/>
                        <a:cs typeface="Times New Roman" panose="02020603050405020304" pitchFamily="18" charset="0"/>
                      </a:rPr>
                      <m:t> </m:t>
                    </m:r>
                    <m:r>
                      <a:rPr lang="en-GB" sz="2000" b="0" i="1" smtClean="0">
                        <a:latin typeface="Cambria Math" panose="02040503050406030204" pitchFamily="18" charset="0"/>
                        <a:cs typeface="Times New Roman" panose="02020603050405020304" pitchFamily="18" charset="0"/>
                      </a:rPr>
                      <m:t>𝑇</m:t>
                    </m:r>
                  </m:oMath>
                </a14:m>
                <a:r>
                  <a:rPr lang="it-IT" sz="2000" dirty="0">
                    <a:latin typeface="Times New Roman" panose="02020603050405020304" pitchFamily="18" charset="0"/>
                    <a:cs typeface="Times New Roman" panose="02020603050405020304" pitchFamily="18" charset="0"/>
                  </a:rPr>
                  <a:t> (</a:t>
                </a:r>
                <a14:m>
                  <m:oMath xmlns:m="http://schemas.openxmlformats.org/officeDocument/2006/math">
                    <m:r>
                      <a:rPr lang="en-GB" sz="2000" i="1">
                        <a:latin typeface="Cambria Math" panose="02040503050406030204" pitchFamily="18" charset="0"/>
                        <a:cs typeface="Times New Roman" panose="02020603050405020304" pitchFamily="18" charset="0"/>
                      </a:rPr>
                      <m:t>𝑇</m:t>
                    </m:r>
                  </m:oMath>
                </a14:m>
                <a:r>
                  <a:rPr lang="it-IT" sz="2000" dirty="0">
                    <a:latin typeface="Times New Roman" panose="02020603050405020304" pitchFamily="18" charset="0"/>
                    <a:cs typeface="Times New Roman" panose="02020603050405020304" pitchFamily="18" charset="0"/>
                  </a:rPr>
                  <a:t> number of base learners)</a:t>
                </a:r>
              </a:p>
              <a:p>
                <a:pPr lvl="1"/>
                <a:r>
                  <a:rPr lang="en-GB" sz="1600" dirty="0">
                    <a:latin typeface="Times New Roman" panose="02020603050405020304" pitchFamily="18" charset="0"/>
                    <a:cs typeface="Times New Roman" panose="02020603050405020304" pitchFamily="18" charset="0"/>
                  </a:rPr>
                  <a:t>Train learner on weighted dataset</a:t>
                </a:r>
              </a:p>
              <a:p>
                <a:pPr lvl="1"/>
                <a14:m>
                  <m:oMath xmlns:m="http://schemas.openxmlformats.org/officeDocument/2006/math">
                    <m:sSub>
                      <m:sSubPr>
                        <m:ctrlPr>
                          <a:rPr lang="en-GB" sz="1600" i="1" smtClean="0">
                            <a:latin typeface="Cambria Math" panose="02040503050406030204" pitchFamily="18" charset="0"/>
                            <a:cs typeface="Times New Roman" panose="02020603050405020304" pitchFamily="18" charset="0"/>
                          </a:rPr>
                        </m:ctrlPr>
                      </m:sSubPr>
                      <m:e>
                        <m:r>
                          <a:rPr lang="en-GB" sz="1600" b="0" i="1" smtClean="0">
                            <a:latin typeface="Cambria Math" panose="02040503050406030204" pitchFamily="18" charset="0"/>
                            <a:cs typeface="Times New Roman" panose="02020603050405020304" pitchFamily="18" charset="0"/>
                          </a:rPr>
                          <m:t>𝑟</m:t>
                        </m:r>
                      </m:e>
                      <m:sub>
                        <m:r>
                          <a:rPr lang="en-GB" sz="1600" b="0" i="1" smtClean="0">
                            <a:latin typeface="Cambria Math" panose="02040503050406030204" pitchFamily="18" charset="0"/>
                            <a:cs typeface="Times New Roman" panose="02020603050405020304" pitchFamily="18" charset="0"/>
                          </a:rPr>
                          <m:t>𝑗</m:t>
                        </m:r>
                      </m:sub>
                    </m:sSub>
                    <m:r>
                      <a:rPr lang="en-GB" sz="1600" b="0" i="1" smtClean="0">
                        <a:latin typeface="Cambria Math" panose="02040503050406030204" pitchFamily="18" charset="0"/>
                        <a:cs typeface="Times New Roman" panose="02020603050405020304" pitchFamily="18" charset="0"/>
                      </a:rPr>
                      <m:t>=</m:t>
                    </m:r>
                    <m:f>
                      <m:fPr>
                        <m:ctrlPr>
                          <a:rPr lang="en-GB" sz="1600" b="0" i="1" smtClean="0">
                            <a:latin typeface="Cambria Math" panose="02040503050406030204" pitchFamily="18" charset="0"/>
                            <a:cs typeface="Times New Roman" panose="02020603050405020304" pitchFamily="18" charset="0"/>
                          </a:rPr>
                        </m:ctrlPr>
                      </m:fPr>
                      <m:num>
                        <m:nary>
                          <m:naryPr>
                            <m:chr m:val="∑"/>
                            <m:ctrlPr>
                              <a:rPr lang="en-GB" sz="1600" b="0" i="1" smtClean="0">
                                <a:latin typeface="Cambria Math" panose="02040503050406030204" pitchFamily="18" charset="0"/>
                                <a:cs typeface="Times New Roman" panose="02020603050405020304" pitchFamily="18" charset="0"/>
                              </a:rPr>
                            </m:ctrlPr>
                          </m:naryPr>
                          <m:sub>
                            <m:r>
                              <m:rPr>
                                <m:brk m:alnAt="23"/>
                              </m:rPr>
                              <a:rPr lang="en-GB" sz="1600" b="0" i="1" smtClean="0">
                                <a:latin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cs typeface="Times New Roman" panose="02020603050405020304" pitchFamily="18" charset="0"/>
                              </a:rPr>
                              <m:t>1</m:t>
                            </m:r>
                            <m:r>
                              <a:rPr lang="en-GB" sz="1600" b="0" i="1" smtClean="0">
                                <a:latin typeface="Cambria Math" panose="02040503050406030204" pitchFamily="18" charset="0"/>
                                <a:cs typeface="Times New Roman" panose="02020603050405020304" pitchFamily="18" charset="0"/>
                              </a:rPr>
                              <m:t>,</m:t>
                            </m:r>
                            <m:sSubSup>
                              <m:sSubSupPr>
                                <m:ctrlPr>
                                  <a:rPr lang="en-GB" sz="1600" i="1">
                                    <a:latin typeface="Cambria Math" panose="02040503050406030204" pitchFamily="18" charset="0"/>
                                    <a:cs typeface="Times New Roman" panose="02020603050405020304" pitchFamily="18" charset="0"/>
                                  </a:rPr>
                                </m:ctrlPr>
                              </m:sSubSupPr>
                              <m:e>
                                <m:acc>
                                  <m:accPr>
                                    <m:chr m:val="̂"/>
                                    <m:ctrlPr>
                                      <a:rPr lang="en-GB" sz="1600" i="1">
                                        <a:latin typeface="Cambria Math" panose="02040503050406030204" pitchFamily="18" charset="0"/>
                                        <a:cs typeface="Times New Roman" panose="02020603050405020304" pitchFamily="18" charset="0"/>
                                      </a:rPr>
                                    </m:ctrlPr>
                                  </m:accPr>
                                  <m:e>
                                    <m:r>
                                      <a:rPr lang="en-GB" sz="1600" i="1">
                                        <a:latin typeface="Cambria Math" panose="02040503050406030204" pitchFamily="18" charset="0"/>
                                        <a:cs typeface="Times New Roman" panose="02020603050405020304" pitchFamily="18" charset="0"/>
                                      </a:rPr>
                                      <m:t>𝑦</m:t>
                                    </m:r>
                                  </m:e>
                                </m:acc>
                              </m:e>
                              <m:sub>
                                <m:r>
                                  <a:rPr lang="en-GB" sz="1600" i="1">
                                    <a:latin typeface="Cambria Math" panose="02040503050406030204" pitchFamily="18" charset="0"/>
                                    <a:cs typeface="Times New Roman" panose="02020603050405020304" pitchFamily="18" charset="0"/>
                                  </a:rPr>
                                  <m:t>𝑗</m:t>
                                </m:r>
                              </m:sub>
                              <m:sup>
                                <m:r>
                                  <a:rPr lang="en-GB" sz="1600" i="1">
                                    <a:latin typeface="Cambria Math" panose="02040503050406030204" pitchFamily="18" charset="0"/>
                                    <a:cs typeface="Times New Roman" panose="02020603050405020304" pitchFamily="18" charset="0"/>
                                  </a:rPr>
                                  <m:t>(</m:t>
                                </m:r>
                                <m:r>
                                  <a:rPr lang="en-GB" sz="1600" i="1">
                                    <a:latin typeface="Cambria Math" panose="02040503050406030204" pitchFamily="18" charset="0"/>
                                    <a:cs typeface="Times New Roman" panose="02020603050405020304" pitchFamily="18" charset="0"/>
                                  </a:rPr>
                                  <m:t>𝑖</m:t>
                                </m:r>
                                <m:r>
                                  <a:rPr lang="en-GB" sz="1600" i="1">
                                    <a:latin typeface="Cambria Math" panose="02040503050406030204" pitchFamily="18" charset="0"/>
                                    <a:cs typeface="Times New Roman" panose="02020603050405020304" pitchFamily="18" charset="0"/>
                                  </a:rPr>
                                  <m:t>)</m:t>
                                </m:r>
                              </m:sup>
                            </m:sSubSup>
                            <m:r>
                              <a:rPr lang="en-GB" sz="1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1600" i="1">
                                    <a:latin typeface="Cambria Math" panose="02040503050406030204" pitchFamily="18" charset="0"/>
                                    <a:ea typeface="Cambria Math" panose="02040503050406030204" pitchFamily="18" charset="0"/>
                                    <a:cs typeface="Times New Roman" panose="02020603050405020304" pitchFamily="18" charset="0"/>
                                  </a:rPr>
                                </m:ctrlPr>
                              </m:sSupPr>
                              <m:e>
                                <m:r>
                                  <a:rPr lang="en-GB" sz="1600" i="1">
                                    <a:latin typeface="Cambria Math" panose="02040503050406030204" pitchFamily="18" charset="0"/>
                                    <a:ea typeface="Cambria Math" panose="02040503050406030204" pitchFamily="18" charset="0"/>
                                    <a:cs typeface="Times New Roman" panose="02020603050405020304" pitchFamily="18" charset="0"/>
                                  </a:rPr>
                                  <m:t>𝑦</m:t>
                                </m:r>
                              </m:e>
                              <m:sup>
                                <m:r>
                                  <a:rPr lang="en-GB" sz="1600" i="1">
                                    <a:latin typeface="Cambria Math" panose="02040503050406030204" pitchFamily="18" charset="0"/>
                                    <a:ea typeface="Cambria Math" panose="02040503050406030204" pitchFamily="18" charset="0"/>
                                    <a:cs typeface="Times New Roman" panose="02020603050405020304" pitchFamily="18" charset="0"/>
                                  </a:rPr>
                                  <m:t>(</m:t>
                                </m:r>
                                <m:r>
                                  <a:rPr lang="en-GB" sz="1600" i="1">
                                    <a:latin typeface="Cambria Math" panose="02040503050406030204" pitchFamily="18" charset="0"/>
                                    <a:ea typeface="Cambria Math" panose="02040503050406030204" pitchFamily="18" charset="0"/>
                                    <a:cs typeface="Times New Roman" panose="02020603050405020304" pitchFamily="18" charset="0"/>
                                  </a:rPr>
                                  <m:t>𝑖</m:t>
                                </m:r>
                                <m:r>
                                  <a:rPr lang="en-GB" sz="1600" i="1">
                                    <a:latin typeface="Cambria Math" panose="02040503050406030204" pitchFamily="18" charset="0"/>
                                    <a:ea typeface="Cambria Math" panose="02040503050406030204" pitchFamily="18" charset="0"/>
                                    <a:cs typeface="Times New Roman" panose="02020603050405020304" pitchFamily="18" charset="0"/>
                                  </a:rPr>
                                  <m:t>)</m:t>
                                </m:r>
                              </m:sup>
                            </m:sSup>
                          </m:sub>
                          <m:sup>
                            <m:r>
                              <a:rPr lang="en-GB" sz="1600" b="0" i="1" smtClean="0">
                                <a:latin typeface="Cambria Math" panose="02040503050406030204" pitchFamily="18" charset="0"/>
                                <a:cs typeface="Times New Roman" panose="02020603050405020304" pitchFamily="18" charset="0"/>
                              </a:rPr>
                              <m:t>𝑚</m:t>
                            </m:r>
                          </m:sup>
                          <m:e>
                            <m:sSup>
                              <m:sSupPr>
                                <m:ctrlPr>
                                  <a:rPr lang="en-GB" sz="1600" b="0" i="1" smtClean="0">
                                    <a:latin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cs typeface="Times New Roman" panose="02020603050405020304" pitchFamily="18" charset="0"/>
                                  </a:rPr>
                                  <m:t>𝑤</m:t>
                                </m:r>
                              </m:e>
                              <m:sup>
                                <m:r>
                                  <a:rPr lang="en-GB" sz="1600" b="0" i="1" smtClean="0">
                                    <a:latin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cs typeface="Times New Roman" panose="02020603050405020304" pitchFamily="18" charset="0"/>
                                  </a:rPr>
                                  <m:t>)</m:t>
                                </m:r>
                              </m:sup>
                            </m:sSup>
                          </m:e>
                        </m:nary>
                      </m:num>
                      <m:den>
                        <m:nary>
                          <m:naryPr>
                            <m:chr m:val="∑"/>
                            <m:ctrlPr>
                              <a:rPr lang="en-GB" sz="1600" b="0" i="1" smtClean="0">
                                <a:latin typeface="Cambria Math" panose="02040503050406030204" pitchFamily="18" charset="0"/>
                                <a:cs typeface="Times New Roman" panose="02020603050405020304" pitchFamily="18" charset="0"/>
                              </a:rPr>
                            </m:ctrlPr>
                          </m:naryPr>
                          <m:sub>
                            <m:r>
                              <m:rPr>
                                <m:brk m:alnAt="23"/>
                              </m:rPr>
                              <a:rPr lang="en-GB" sz="1600" b="0" i="1" smtClean="0">
                                <a:latin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cs typeface="Times New Roman" panose="02020603050405020304" pitchFamily="18" charset="0"/>
                              </a:rPr>
                              <m:t>1</m:t>
                            </m:r>
                          </m:sub>
                          <m:sup>
                            <m:r>
                              <a:rPr lang="en-GB" sz="1600" b="0" i="1" smtClean="0">
                                <a:latin typeface="Cambria Math" panose="02040503050406030204" pitchFamily="18" charset="0"/>
                                <a:cs typeface="Times New Roman" panose="02020603050405020304" pitchFamily="18" charset="0"/>
                              </a:rPr>
                              <m:t>𝑚</m:t>
                            </m:r>
                          </m:sup>
                          <m:e>
                            <m:sSup>
                              <m:sSupPr>
                                <m:ctrlPr>
                                  <a:rPr lang="en-GB" sz="1600" b="0" i="1" smtClean="0">
                                    <a:latin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cs typeface="Times New Roman" panose="02020603050405020304" pitchFamily="18" charset="0"/>
                                  </a:rPr>
                                  <m:t>𝑤</m:t>
                                </m:r>
                              </m:e>
                              <m:sup>
                                <m:r>
                                  <a:rPr lang="en-GB" sz="1600" b="0" i="1" smtClean="0">
                                    <a:latin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cs typeface="Times New Roman" panose="02020603050405020304" pitchFamily="18" charset="0"/>
                                  </a:rPr>
                                  <m:t>)</m:t>
                                </m:r>
                              </m:sup>
                            </m:sSup>
                          </m:e>
                        </m:nary>
                      </m:den>
                    </m:f>
                    <m:r>
                      <a:rPr lang="en-GB" sz="1600" b="0" i="1" smtClean="0">
                        <a:latin typeface="Cambria Math" panose="02040503050406030204" pitchFamily="18" charset="0"/>
                        <a:cs typeface="Times New Roman" panose="02020603050405020304" pitchFamily="18" charset="0"/>
                      </a:rPr>
                      <m:t> </m:t>
                    </m:r>
                  </m:oMath>
                </a14:m>
                <a:r>
                  <a:rPr lang="en-GB" sz="1600" dirty="0">
                    <a:latin typeface="Times New Roman" panose="02020603050405020304" pitchFamily="18" charset="0"/>
                    <a:cs typeface="Times New Roman" panose="02020603050405020304" pitchFamily="18" charset="0"/>
                  </a:rPr>
                  <a:t>  weighted error rate of the </a:t>
                </a:r>
                <a14:m>
                  <m:oMath xmlns:m="http://schemas.openxmlformats.org/officeDocument/2006/math">
                    <m:sSup>
                      <m:sSupPr>
                        <m:ctrlPr>
                          <a:rPr lang="en-GB" sz="1600" i="1" smtClean="0">
                            <a:latin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cs typeface="Times New Roman" panose="02020603050405020304" pitchFamily="18" charset="0"/>
                          </a:rPr>
                          <m:t>𝑗</m:t>
                        </m:r>
                      </m:e>
                      <m:sup>
                        <m:r>
                          <a:rPr lang="en-GB" sz="1600" b="0" i="1" smtClean="0">
                            <a:latin typeface="Cambria Math" panose="02040503050406030204" pitchFamily="18" charset="0"/>
                            <a:cs typeface="Times New Roman" panose="02020603050405020304" pitchFamily="18" charset="0"/>
                          </a:rPr>
                          <m:t>𝑡</m:t>
                        </m:r>
                        <m:r>
                          <a:rPr lang="en-GB" sz="1600" b="0" i="1" smtClean="0">
                            <a:latin typeface="Cambria Math" panose="02040503050406030204" pitchFamily="18" charset="0"/>
                            <a:cs typeface="Times New Roman" panose="02020603050405020304" pitchFamily="18" charset="0"/>
                          </a:rPr>
                          <m:t>h</m:t>
                        </m:r>
                      </m:sup>
                    </m:sSup>
                  </m:oMath>
                </a14:m>
                <a:r>
                  <a:rPr lang="en-GB" sz="1600" dirty="0">
                    <a:latin typeface="Times New Roman" panose="02020603050405020304" pitchFamily="18" charset="0"/>
                    <a:cs typeface="Times New Roman" panose="02020603050405020304" pitchFamily="18" charset="0"/>
                  </a:rPr>
                  <a:t> learner</a:t>
                </a:r>
              </a:p>
              <a:p>
                <a:pPr lvl="1"/>
                <a14:m>
                  <m:oMath xmlns:m="http://schemas.openxmlformats.org/officeDocument/2006/math">
                    <m:sSub>
                      <m:sSubPr>
                        <m:ctrlPr>
                          <a:rPr lang="en-GB" sz="1600" i="1" smtClean="0">
                            <a:latin typeface="Cambria Math" panose="02040503050406030204" pitchFamily="18" charset="0"/>
                            <a:cs typeface="Times New Roman" panose="02020603050405020304" pitchFamily="18" charset="0"/>
                          </a:rPr>
                        </m:ctrlPr>
                      </m:sSubPr>
                      <m:e>
                        <m:r>
                          <a:rPr lang="en-GB" sz="16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GB" sz="1600" b="0" i="1" smtClean="0">
                            <a:latin typeface="Cambria Math" panose="02040503050406030204" pitchFamily="18" charset="0"/>
                            <a:cs typeface="Times New Roman" panose="02020603050405020304" pitchFamily="18" charset="0"/>
                          </a:rPr>
                          <m:t>𝑗</m:t>
                        </m:r>
                      </m:sub>
                    </m:sSub>
                    <m:r>
                      <a:rPr lang="en-GB" sz="1600" b="0" i="1" smtClean="0">
                        <a:latin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𝜂</m:t>
                    </m:r>
                    <m:func>
                      <m:funcPr>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GB" sz="1600" b="0" i="0" smtClean="0">
                            <a:latin typeface="Cambria Math" panose="02040503050406030204" pitchFamily="18" charset="0"/>
                            <a:ea typeface="Cambria Math" panose="02040503050406030204" pitchFamily="18" charset="0"/>
                            <a:cs typeface="Times New Roman" panose="02020603050405020304" pitchFamily="18" charset="0"/>
                          </a:rPr>
                          <m:t>log</m:t>
                        </m:r>
                      </m:fName>
                      <m:e>
                        <m:f>
                          <m:fPr>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1600" b="0" i="1" smtClean="0">
                                <a:latin typeface="Cambria Math" panose="02040503050406030204" pitchFamily="18" charset="0"/>
                                <a:ea typeface="Cambria Math" panose="02040503050406030204" pitchFamily="18" charset="0"/>
                                <a:cs typeface="Times New Roman" panose="02020603050405020304" pitchFamily="18" charset="0"/>
                              </a:rPr>
                              <m:t>1</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𝑟</m:t>
                                </m:r>
                              </m:e>
                              <m:sub>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𝑗</m:t>
                                </m:r>
                              </m:sub>
                            </m:sSub>
                          </m:num>
                          <m:den>
                            <m:sSub>
                              <m:sSubPr>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𝑟</m:t>
                                </m:r>
                              </m:e>
                              <m:sub>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𝑗</m:t>
                                </m:r>
                              </m:sub>
                            </m:sSub>
                          </m:den>
                        </m:f>
                      </m:e>
                    </m:func>
                  </m:oMath>
                </a14:m>
                <a:r>
                  <a:rPr lang="en-GB" sz="1600" dirty="0">
                    <a:latin typeface="Times New Roman" panose="02020603050405020304" pitchFamily="18" charset="0"/>
                    <a:cs typeface="Times New Roman" panose="02020603050405020304" pitchFamily="18" charset="0"/>
                  </a:rPr>
                  <a:t>  learner weight (</a:t>
                </a:r>
                <a14:m>
                  <m:oMath xmlns:m="http://schemas.openxmlformats.org/officeDocument/2006/math">
                    <m:r>
                      <a:rPr lang="en-GB" sz="1600" i="1" smtClean="0">
                        <a:latin typeface="Cambria Math" panose="02040503050406030204" pitchFamily="18" charset="0"/>
                        <a:ea typeface="Cambria Math" panose="02040503050406030204" pitchFamily="18" charset="0"/>
                        <a:cs typeface="Times New Roman" panose="02020603050405020304" pitchFamily="18" charset="0"/>
                      </a:rPr>
                      <m:t>𝜂</m:t>
                    </m:r>
                  </m:oMath>
                </a14:m>
                <a:r>
                  <a:rPr lang="en-GB" sz="1600" dirty="0">
                    <a:latin typeface="Times New Roman" panose="02020603050405020304" pitchFamily="18" charset="0"/>
                    <a:cs typeface="Times New Roman" panose="02020603050405020304" pitchFamily="18" charset="0"/>
                  </a:rPr>
                  <a:t>  learning rate – original algorithm </a:t>
                </a:r>
                <a14:m>
                  <m:oMath xmlns:m="http://schemas.openxmlformats.org/officeDocument/2006/math">
                    <m:r>
                      <a:rPr lang="en-GB" sz="1600" i="1" smtClean="0">
                        <a:latin typeface="Cambria Math" panose="02040503050406030204" pitchFamily="18" charset="0"/>
                        <a:ea typeface="Cambria Math" panose="02040503050406030204" pitchFamily="18" charset="0"/>
                        <a:cs typeface="Times New Roman" panose="02020603050405020304" pitchFamily="18" charset="0"/>
                      </a:rPr>
                      <m:t>𝜂</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1600" b="0" i="1" smtClean="0">
                        <a:latin typeface="Cambria Math" panose="02040503050406030204" pitchFamily="18" charset="0"/>
                        <a:ea typeface="Cambria Math" panose="02040503050406030204" pitchFamily="18" charset="0"/>
                        <a:cs typeface="Times New Roman" panose="02020603050405020304" pitchFamily="18" charset="0"/>
                      </a:rPr>
                      <m:t>0</m:t>
                    </m:r>
                    <m:r>
                      <a:rPr lang="en-US"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1600" b="0" i="1" smtClean="0">
                        <a:latin typeface="Cambria Math" panose="02040503050406030204" pitchFamily="18" charset="0"/>
                        <a:ea typeface="Cambria Math" panose="02040503050406030204" pitchFamily="18" charset="0"/>
                        <a:cs typeface="Times New Roman" panose="02020603050405020304" pitchFamily="18" charset="0"/>
                      </a:rPr>
                      <m:t>5</m:t>
                    </m:r>
                  </m:oMath>
                </a14:m>
                <a:r>
                  <a:rPr lang="en-GB" sz="1600" dirty="0">
                    <a:latin typeface="Times New Roman" panose="02020603050405020304" pitchFamily="18" charset="0"/>
                    <a:cs typeface="Times New Roman" panose="02020603050405020304" pitchFamily="18" charset="0"/>
                  </a:rPr>
                  <a:t>)</a:t>
                </a:r>
              </a:p>
              <a:p>
                <a:pPr lvl="1"/>
                <a14:m>
                  <m:oMath xmlns:m="http://schemas.openxmlformats.org/officeDocument/2006/math">
                    <m:sSup>
                      <m:sSupPr>
                        <m:ctrlPr>
                          <a:rPr lang="en-GB" sz="1600" i="1" smtClean="0">
                            <a:latin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cs typeface="Times New Roman" panose="02020603050405020304" pitchFamily="18" charset="0"/>
                          </a:rPr>
                          <m:t>𝑤</m:t>
                        </m:r>
                      </m:e>
                      <m:sup>
                        <m:r>
                          <a:rPr lang="en-GB" sz="1600" b="0" i="1" smtClean="0">
                            <a:latin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cs typeface="Times New Roman" panose="02020603050405020304" pitchFamily="18" charset="0"/>
                          </a:rPr>
                          <m:t>)</m:t>
                        </m:r>
                      </m:sup>
                    </m:sSup>
                    <m:r>
                      <a:rPr lang="en-GB" sz="160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GB" sz="1600" i="1" smtClean="0">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2"/>
                                  <m:mcJc m:val="center"/>
                                </m:mcPr>
                              </m:mc>
                            </m:mcs>
                            <m:ctrlPr>
                              <a:rPr lang="en-GB" sz="1600" i="1" smtClean="0">
                                <a:latin typeface="Cambria Math" panose="02040503050406030204" pitchFamily="18" charset="0"/>
                                <a:ea typeface="Cambria Math" panose="02040503050406030204" pitchFamily="18" charset="0"/>
                                <a:cs typeface="Times New Roman" panose="02020603050405020304" pitchFamily="18" charset="0"/>
                              </a:rPr>
                            </m:ctrlPr>
                          </m:mPr>
                          <m:mr>
                            <m:e>
                              <m:sSup>
                                <m:sSupPr>
                                  <m:ctrlPr>
                                    <a:rPr lang="en-GB" sz="1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𝑤</m:t>
                                  </m:r>
                                </m:e>
                                <m:sup>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sup>
                              </m:sSup>
                            </m:e>
                            <m:e>
                              <m:r>
                                <m:rPr>
                                  <m:nor/>
                                </m:rPr>
                                <a:rPr lang="en-GB" sz="1600" b="0" i="0" smtClean="0">
                                  <a:latin typeface="Cambria Math" panose="02040503050406030204" pitchFamily="18" charset="0"/>
                                  <a:ea typeface="Cambria Math" panose="02040503050406030204" pitchFamily="18" charset="0"/>
                                  <a:cs typeface="Times New Roman" panose="02020603050405020304" pitchFamily="18" charset="0"/>
                                </a:rPr>
                                <m:t>if</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  </m:t>
                              </m:r>
                              <m:sSubSup>
                                <m:sSubSupPr>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sSubSupPr>
                                <m:e>
                                  <m:acc>
                                    <m:accPr>
                                      <m:chr m:val="̂"/>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𝑦</m:t>
                                      </m:r>
                                    </m:e>
                                  </m:acc>
                                </m:e>
                                <m:sub>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𝑗</m:t>
                                  </m:r>
                                </m:sub>
                                <m:sup>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sup>
                              </m:sSubSup>
                              <m:r>
                                <a:rPr lang="en-US" sz="16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𝑦</m:t>
                                  </m:r>
                                </m:e>
                                <m:sup>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sup>
                              </m:sSup>
                            </m:e>
                          </m:mr>
                          <m:mr>
                            <m:e>
                              <m:sSup>
                                <m:sSupPr>
                                  <m:ctrlPr>
                                    <a:rPr lang="en-GB" sz="1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𝑤</m:t>
                                  </m:r>
                                </m:e>
                                <m:sup>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en-GB" sz="1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𝑒</m:t>
                                  </m:r>
                                </m:e>
                                <m:sup>
                                  <m:sSubSup>
                                    <m:sSubSupPr>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𝑗</m:t>
                                      </m:r>
                                    </m:sub>
                                    <m:sup/>
                                  </m:sSubSup>
                                </m:sup>
                              </m:sSup>
                            </m:e>
                            <m:e>
                              <m:r>
                                <m:rPr>
                                  <m:nor/>
                                </m:rPr>
                                <a:rPr lang="en-GB" sz="1600" b="0" i="0" smtClean="0">
                                  <a:latin typeface="Cambria Math" panose="02040503050406030204" pitchFamily="18" charset="0"/>
                                  <a:ea typeface="Cambria Math" panose="02040503050406030204" pitchFamily="18" charset="0"/>
                                  <a:cs typeface="Times New Roman" panose="02020603050405020304" pitchFamily="18" charset="0"/>
                                </a:rPr>
                                <m:t>otherwise</m:t>
                              </m:r>
                            </m:e>
                          </m:mr>
                        </m:m>
                      </m:e>
                    </m:d>
                  </m:oMath>
                </a14:m>
                <a:r>
                  <a:rPr lang="en-GB" sz="1600" dirty="0">
                    <a:latin typeface="Times New Roman" panose="02020603050405020304" pitchFamily="18" charset="0"/>
                    <a:cs typeface="Times New Roman" panose="02020603050405020304" pitchFamily="18" charset="0"/>
                  </a:rPr>
                  <a:t>   weight update</a:t>
                </a:r>
              </a:p>
              <a:p>
                <a:pPr lvl="1"/>
                <a:r>
                  <a:rPr lang="en-GB" sz="1600" dirty="0">
                    <a:latin typeface="Times New Roman" panose="02020603050405020304" pitchFamily="18" charset="0"/>
                    <a:cs typeface="Times New Roman" panose="02020603050405020304" pitchFamily="18" charset="0"/>
                  </a:rPr>
                  <a:t>Normalize weights (divide them by </a:t>
                </a:r>
                <a14:m>
                  <m:oMath xmlns:m="http://schemas.openxmlformats.org/officeDocument/2006/math">
                    <m:nary>
                      <m:naryPr>
                        <m:chr m:val="∑"/>
                        <m:ctrlPr>
                          <a:rPr lang="en-GB" sz="1600" i="1" smtClean="0">
                            <a:latin typeface="Cambria Math" panose="02040503050406030204" pitchFamily="18" charset="0"/>
                            <a:cs typeface="Times New Roman" panose="02020603050405020304" pitchFamily="18" charset="0"/>
                          </a:rPr>
                        </m:ctrlPr>
                      </m:naryPr>
                      <m:sub>
                        <m:r>
                          <m:rPr>
                            <m:brk m:alnAt="23"/>
                          </m:rPr>
                          <a:rPr lang="en-GB" sz="1600" b="0" i="1" smtClean="0">
                            <a:latin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cs typeface="Times New Roman" panose="02020603050405020304" pitchFamily="18" charset="0"/>
                          </a:rPr>
                          <m:t>1</m:t>
                        </m:r>
                      </m:sub>
                      <m:sup>
                        <m:r>
                          <a:rPr lang="en-GB" sz="1600" b="0" i="1" smtClean="0">
                            <a:latin typeface="Cambria Math" panose="02040503050406030204" pitchFamily="18" charset="0"/>
                            <a:cs typeface="Times New Roman" panose="02020603050405020304" pitchFamily="18" charset="0"/>
                          </a:rPr>
                          <m:t>𝑚</m:t>
                        </m:r>
                      </m:sup>
                      <m:e>
                        <m:sSup>
                          <m:sSupPr>
                            <m:ctrlPr>
                              <a:rPr lang="en-GB" sz="1600" i="1" smtClean="0">
                                <a:latin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cs typeface="Times New Roman" panose="02020603050405020304" pitchFamily="18" charset="0"/>
                              </a:rPr>
                              <m:t>𝑤</m:t>
                            </m:r>
                          </m:e>
                          <m:sup>
                            <m:r>
                              <a:rPr lang="en-GB" sz="1600" b="0" i="1" smtClean="0">
                                <a:latin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cs typeface="Times New Roman" panose="02020603050405020304" pitchFamily="18" charset="0"/>
                              </a:rPr>
                              <m:t>)</m:t>
                            </m:r>
                          </m:sup>
                        </m:sSup>
                      </m:e>
                    </m:nary>
                  </m:oMath>
                </a14:m>
                <a:r>
                  <a:rPr lang="en-GB" sz="1600" dirty="0">
                    <a:latin typeface="Times New Roman" panose="02020603050405020304" pitchFamily="18" charset="0"/>
                    <a:cs typeface="Times New Roman" panose="02020603050405020304" pitchFamily="18" charset="0"/>
                  </a:rPr>
                  <a:t>)</a:t>
                </a:r>
              </a:p>
              <a:p>
                <a:pPr lvl="1"/>
                <a:endParaRPr lang="en-GB" sz="1600" dirty="0">
                  <a:latin typeface="Times New Roman" panose="02020603050405020304" pitchFamily="18" charset="0"/>
                  <a:cs typeface="Times New Roman" panose="02020603050405020304" pitchFamily="18" charset="0"/>
                </a:endParaRPr>
              </a:p>
              <a:p>
                <a14:m>
                  <m:oMath xmlns:m="http://schemas.openxmlformats.org/officeDocument/2006/math">
                    <m:acc>
                      <m:accPr>
                        <m:chr m:val="̂"/>
                        <m:ctrlPr>
                          <a:rPr lang="it-IT" sz="2000" b="1" i="1" smtClean="0">
                            <a:latin typeface="Cambria Math" panose="02040503050406030204" pitchFamily="18" charset="0"/>
                            <a:cs typeface="Times New Roman" panose="02020603050405020304" pitchFamily="18" charset="0"/>
                          </a:rPr>
                        </m:ctrlPr>
                      </m:accPr>
                      <m:e>
                        <m:r>
                          <a:rPr lang="en-GB" sz="2000" b="1" i="1" smtClean="0">
                            <a:latin typeface="Cambria Math" panose="02040503050406030204" pitchFamily="18" charset="0"/>
                            <a:cs typeface="Times New Roman" panose="02020603050405020304" pitchFamily="18" charset="0"/>
                          </a:rPr>
                          <m:t>𝒚</m:t>
                        </m:r>
                      </m:e>
                    </m:acc>
                    <m:d>
                      <m:dPr>
                        <m:ctrlPr>
                          <a:rPr lang="en-GB" sz="2000" b="1" i="1" smtClean="0">
                            <a:latin typeface="Cambria Math" panose="02040503050406030204" pitchFamily="18" charset="0"/>
                            <a:cs typeface="Times New Roman" panose="02020603050405020304" pitchFamily="18" charset="0"/>
                          </a:rPr>
                        </m:ctrlPr>
                      </m:dPr>
                      <m:e>
                        <m:r>
                          <a:rPr lang="en-GB" sz="2000" b="1" i="1" smtClean="0">
                            <a:latin typeface="Cambria Math" panose="02040503050406030204" pitchFamily="18" charset="0"/>
                            <a:cs typeface="Times New Roman" panose="02020603050405020304" pitchFamily="18" charset="0"/>
                          </a:rPr>
                          <m:t>𝒙</m:t>
                        </m:r>
                      </m:e>
                    </m:d>
                    <m:r>
                      <a:rPr lang="en-GB" sz="2000" b="1" i="1" smtClean="0">
                        <a:latin typeface="Cambria Math" panose="02040503050406030204" pitchFamily="18" charset="0"/>
                        <a:cs typeface="Times New Roman" panose="02020603050405020304" pitchFamily="18" charset="0"/>
                      </a:rPr>
                      <m:t>=</m:t>
                    </m:r>
                    <m:func>
                      <m:funcPr>
                        <m:ctrlPr>
                          <a:rPr lang="en-GB" sz="2000" b="1" i="1" smtClean="0">
                            <a:latin typeface="Cambria Math" panose="02040503050406030204" pitchFamily="18" charset="0"/>
                            <a:cs typeface="Times New Roman" panose="02020603050405020304" pitchFamily="18" charset="0"/>
                          </a:rPr>
                        </m:ctrlPr>
                      </m:funcPr>
                      <m:fName>
                        <m:limLow>
                          <m:limLowPr>
                            <m:ctrlPr>
                              <a:rPr lang="en-GB" sz="2000" b="1" i="1" smtClean="0">
                                <a:latin typeface="Cambria Math" panose="02040503050406030204" pitchFamily="18" charset="0"/>
                                <a:cs typeface="Times New Roman" panose="02020603050405020304" pitchFamily="18" charset="0"/>
                              </a:rPr>
                            </m:ctrlPr>
                          </m:limLowPr>
                          <m:e>
                            <m:r>
                              <m:rPr>
                                <m:sty m:val="p"/>
                              </m:rPr>
                              <a:rPr lang="en-GB" sz="2000" b="0" i="0" smtClean="0">
                                <a:latin typeface="Cambria Math" panose="02040503050406030204" pitchFamily="18" charset="0"/>
                                <a:cs typeface="Times New Roman" panose="02020603050405020304" pitchFamily="18" charset="0"/>
                              </a:rPr>
                              <m:t>argmax</m:t>
                            </m:r>
                          </m:e>
                          <m:lim>
                            <m:r>
                              <a:rPr lang="en-GB" sz="2000" b="1" i="1" smtClean="0">
                                <a:latin typeface="Cambria Math" panose="02040503050406030204" pitchFamily="18" charset="0"/>
                                <a:cs typeface="Times New Roman" panose="02020603050405020304" pitchFamily="18" charset="0"/>
                              </a:rPr>
                              <m:t>𝒌</m:t>
                            </m:r>
                          </m:lim>
                        </m:limLow>
                      </m:fName>
                      <m:e>
                        <m:nary>
                          <m:naryPr>
                            <m:chr m:val="∑"/>
                            <m:ctrlPr>
                              <a:rPr lang="en-GB" sz="2000" b="1" i="1" smtClean="0">
                                <a:latin typeface="Cambria Math" panose="02040503050406030204" pitchFamily="18" charset="0"/>
                                <a:cs typeface="Times New Roman" panose="02020603050405020304" pitchFamily="18" charset="0"/>
                              </a:rPr>
                            </m:ctrlPr>
                          </m:naryPr>
                          <m:sub>
                            <m:r>
                              <m:rPr>
                                <m:brk m:alnAt="23"/>
                              </m:rPr>
                              <a:rPr lang="en-GB" sz="2000" b="1" i="1" smtClean="0">
                                <a:latin typeface="Cambria Math" panose="02040503050406030204" pitchFamily="18" charset="0"/>
                                <a:cs typeface="Times New Roman" panose="02020603050405020304" pitchFamily="18" charset="0"/>
                              </a:rPr>
                              <m:t>𝒋</m:t>
                            </m:r>
                            <m:r>
                              <a:rPr lang="en-GB" sz="2000" b="1" i="1" smtClean="0">
                                <a:latin typeface="Cambria Math" panose="02040503050406030204" pitchFamily="18" charset="0"/>
                                <a:cs typeface="Times New Roman" panose="02020603050405020304" pitchFamily="18" charset="0"/>
                              </a:rPr>
                              <m:t>=</m:t>
                            </m:r>
                            <m:r>
                              <a:rPr lang="en-GB" sz="2000" b="1" i="1" smtClean="0">
                                <a:latin typeface="Cambria Math" panose="02040503050406030204" pitchFamily="18" charset="0"/>
                                <a:cs typeface="Times New Roman" panose="02020603050405020304" pitchFamily="18" charset="0"/>
                              </a:rPr>
                              <m:t>𝟏</m:t>
                            </m:r>
                            <m:r>
                              <a:rPr lang="en-GB" sz="2000" b="1" i="1" smtClean="0">
                                <a:latin typeface="Cambria Math" panose="02040503050406030204" pitchFamily="18" charset="0"/>
                                <a:cs typeface="Times New Roman" panose="02020603050405020304" pitchFamily="18" charset="0"/>
                              </a:rPr>
                              <m:t>, </m:t>
                            </m:r>
                            <m:sSub>
                              <m:sSubPr>
                                <m:ctrlPr>
                                  <a:rPr lang="en-GB" sz="2000" b="1" i="1" smtClean="0">
                                    <a:latin typeface="Cambria Math" panose="02040503050406030204" pitchFamily="18" charset="0"/>
                                    <a:cs typeface="Times New Roman" panose="02020603050405020304" pitchFamily="18" charset="0"/>
                                  </a:rPr>
                                </m:ctrlPr>
                              </m:sSubPr>
                              <m:e>
                                <m:acc>
                                  <m:accPr>
                                    <m:chr m:val="̂"/>
                                    <m:ctrlPr>
                                      <a:rPr lang="en-GB" sz="2000" b="1" i="1" smtClean="0">
                                        <a:latin typeface="Cambria Math" panose="02040503050406030204" pitchFamily="18" charset="0"/>
                                        <a:cs typeface="Times New Roman" panose="02020603050405020304" pitchFamily="18" charset="0"/>
                                      </a:rPr>
                                    </m:ctrlPr>
                                  </m:accPr>
                                  <m:e>
                                    <m:r>
                                      <a:rPr lang="en-GB" sz="2000" b="1" i="1" smtClean="0">
                                        <a:latin typeface="Cambria Math" panose="02040503050406030204" pitchFamily="18" charset="0"/>
                                        <a:cs typeface="Times New Roman" panose="02020603050405020304" pitchFamily="18" charset="0"/>
                                      </a:rPr>
                                      <m:t>𝒚</m:t>
                                    </m:r>
                                  </m:e>
                                </m:acc>
                              </m:e>
                              <m:sub>
                                <m:r>
                                  <a:rPr lang="en-GB" sz="2000" b="1" i="1" smtClean="0">
                                    <a:latin typeface="Cambria Math" panose="02040503050406030204" pitchFamily="18" charset="0"/>
                                    <a:cs typeface="Times New Roman" panose="02020603050405020304" pitchFamily="18" charset="0"/>
                                  </a:rPr>
                                  <m:t>𝒋</m:t>
                                </m:r>
                              </m:sub>
                            </m:sSub>
                            <m:d>
                              <m:dPr>
                                <m:ctrlPr>
                                  <a:rPr lang="en-GB" sz="2000" b="1" i="1" smtClean="0">
                                    <a:latin typeface="Cambria Math" panose="02040503050406030204" pitchFamily="18" charset="0"/>
                                    <a:cs typeface="Times New Roman" panose="02020603050405020304" pitchFamily="18" charset="0"/>
                                  </a:rPr>
                                </m:ctrlPr>
                              </m:dPr>
                              <m:e>
                                <m:r>
                                  <m:rPr>
                                    <m:brk m:alnAt="23"/>
                                  </m:rPr>
                                  <a:rPr lang="en-GB" sz="2000" b="1" i="1" smtClean="0">
                                    <a:latin typeface="Cambria Math" panose="02040503050406030204" pitchFamily="18" charset="0"/>
                                    <a:cs typeface="Times New Roman" panose="02020603050405020304" pitchFamily="18" charset="0"/>
                                  </a:rPr>
                                  <m:t>𝒙</m:t>
                                </m:r>
                              </m:e>
                            </m:d>
                            <m:r>
                              <m:rPr>
                                <m:brk m:alnAt="23"/>
                              </m:rPr>
                              <a:rPr lang="en-GB" sz="2000" b="1" i="1" smtClean="0">
                                <a:latin typeface="Cambria Math" panose="02040503050406030204" pitchFamily="18" charset="0"/>
                                <a:cs typeface="Times New Roman" panose="02020603050405020304" pitchFamily="18" charset="0"/>
                              </a:rPr>
                              <m:t>=</m:t>
                            </m:r>
                            <m:r>
                              <a:rPr lang="en-GB" sz="2000" b="1" i="1" smtClean="0">
                                <a:latin typeface="Cambria Math" panose="02040503050406030204" pitchFamily="18" charset="0"/>
                                <a:cs typeface="Times New Roman" panose="02020603050405020304" pitchFamily="18" charset="0"/>
                              </a:rPr>
                              <m:t>𝒌</m:t>
                            </m:r>
                          </m:sub>
                          <m:sup>
                            <m:r>
                              <a:rPr lang="en-GB" sz="2000" b="1" i="1" smtClean="0">
                                <a:latin typeface="Cambria Math" panose="02040503050406030204" pitchFamily="18" charset="0"/>
                                <a:cs typeface="Times New Roman" panose="02020603050405020304" pitchFamily="18" charset="0"/>
                              </a:rPr>
                              <m:t>𝑻</m:t>
                            </m:r>
                          </m:sup>
                          <m:e>
                            <m:sSub>
                              <m:sSubPr>
                                <m:ctrlPr>
                                  <a:rPr lang="en-GB" sz="2000" b="1" i="1" smtClean="0">
                                    <a:latin typeface="Cambria Math" panose="02040503050406030204" pitchFamily="18" charset="0"/>
                                    <a:cs typeface="Times New Roman" panose="02020603050405020304" pitchFamily="18" charset="0"/>
                                  </a:rPr>
                                </m:ctrlPr>
                              </m:sSubPr>
                              <m:e>
                                <m:r>
                                  <a:rPr lang="en-GB" sz="2000" b="1" i="1" smtClean="0">
                                    <a:latin typeface="Cambria Math" panose="02040503050406030204" pitchFamily="18" charset="0"/>
                                    <a:ea typeface="Cambria Math" panose="02040503050406030204" pitchFamily="18" charset="0"/>
                                    <a:cs typeface="Times New Roman" panose="02020603050405020304" pitchFamily="18" charset="0"/>
                                  </a:rPr>
                                  <m:t>𝜶</m:t>
                                </m:r>
                              </m:e>
                              <m:sub>
                                <m:r>
                                  <a:rPr lang="en-GB" sz="2000" b="1" i="1" smtClean="0">
                                    <a:latin typeface="Cambria Math" panose="02040503050406030204" pitchFamily="18" charset="0"/>
                                    <a:cs typeface="Times New Roman" panose="02020603050405020304" pitchFamily="18" charset="0"/>
                                  </a:rPr>
                                  <m:t>𝒋</m:t>
                                </m:r>
                              </m:sub>
                            </m:sSub>
                          </m:e>
                        </m:nary>
                      </m:e>
                    </m:func>
                  </m:oMath>
                </a14:m>
                <a:r>
                  <a:rPr lang="it-IT" sz="2000" b="1" dirty="0">
                    <a:latin typeface="Times New Roman" panose="02020603050405020304" pitchFamily="18" charset="0"/>
                    <a:cs typeface="Times New Roman" panose="02020603050405020304" pitchFamily="18" charset="0"/>
                  </a:rPr>
                  <a:t>     </a:t>
                </a:r>
                <a:r>
                  <a:rPr lang="it-IT" sz="2000" dirty="0">
                    <a:latin typeface="Times New Roman" panose="02020603050405020304" pitchFamily="18" charset="0"/>
                    <a:cs typeface="Times New Roman" panose="02020603050405020304" pitchFamily="18" charset="0"/>
                  </a:rPr>
                  <a:t>Final prediction (weighted majority vote)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00150"/>
                <a:ext cx="8229600" cy="3943350"/>
              </a:xfrm>
              <a:blipFill>
                <a:blip r:embed="rId2"/>
                <a:stretch>
                  <a:fillRect l="-519" t="-927" b="-1221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D3E6A719-F474-49DA-9E91-F1627051BB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48400" y="971550"/>
            <a:ext cx="2778411" cy="1709791"/>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7253641-BE72-4D92-A5B6-ED8D9415D607}"/>
                  </a:ext>
                </a:extLst>
              </p:cNvPr>
              <p:cNvSpPr txBox="1"/>
              <p:nvPr/>
            </p:nvSpPr>
            <p:spPr>
              <a:xfrm>
                <a:off x="7800624" y="1376607"/>
                <a:ext cx="923906" cy="2601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900" b="0" i="1" smtClean="0">
                              <a:latin typeface="Cambria Math" panose="02040503050406030204" pitchFamily="18" charset="0"/>
                            </a:rPr>
                          </m:ctrlPr>
                        </m:funcPr>
                        <m:fName>
                          <m:r>
                            <m:rPr>
                              <m:sty m:val="p"/>
                            </m:rPr>
                            <a:rPr lang="en-US" sz="900" b="0" i="0" smtClean="0">
                              <a:latin typeface="Cambria Math" panose="02040503050406030204" pitchFamily="18" charset="0"/>
                            </a:rPr>
                            <m:t>log</m:t>
                          </m:r>
                        </m:fName>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r>
                                <a:rPr lang="en-US" sz="900" b="0" i="1" smtClean="0">
                                  <a:latin typeface="Cambria Math" panose="02040503050406030204" pitchFamily="18" charset="0"/>
                                </a:rPr>
                                <m:t>−</m:t>
                              </m:r>
                              <m:r>
                                <a:rPr lang="en-US" sz="900" b="0" i="1" smtClean="0">
                                  <a:latin typeface="Cambria Math" panose="02040503050406030204" pitchFamily="18" charset="0"/>
                                </a:rPr>
                                <m:t>𝑥</m:t>
                              </m:r>
                            </m:num>
                            <m:den>
                              <m:r>
                                <a:rPr lang="en-US" sz="900" b="0" i="1" smtClean="0">
                                  <a:latin typeface="Cambria Math" panose="02040503050406030204" pitchFamily="18" charset="0"/>
                                </a:rPr>
                                <m:t>𝑥</m:t>
                              </m:r>
                            </m:den>
                          </m:f>
                        </m:e>
                      </m:func>
                    </m:oMath>
                  </m:oMathPara>
                </a14:m>
                <a:endParaRPr lang="en-US" dirty="0"/>
              </a:p>
            </p:txBody>
          </p:sp>
        </mc:Choice>
        <mc:Fallback xmlns="">
          <p:sp>
            <p:nvSpPr>
              <p:cNvPr id="6" name="TextBox 5">
                <a:extLst>
                  <a:ext uri="{FF2B5EF4-FFF2-40B4-BE49-F238E27FC236}">
                    <a16:creationId xmlns:a16="http://schemas.microsoft.com/office/drawing/2014/main" id="{87253641-BE72-4D92-A5B6-ED8D9415D607}"/>
                  </a:ext>
                </a:extLst>
              </p:cNvPr>
              <p:cNvSpPr txBox="1">
                <a:spLocks noRot="1" noChangeAspect="1" noMove="1" noResize="1" noEditPoints="1" noAdjustHandles="1" noChangeArrowheads="1" noChangeShapeType="1" noTextEdit="1"/>
              </p:cNvSpPr>
              <p:nvPr/>
            </p:nvSpPr>
            <p:spPr>
              <a:xfrm>
                <a:off x="7800624" y="1376607"/>
                <a:ext cx="923906" cy="260199"/>
              </a:xfrm>
              <a:prstGeom prst="rect">
                <a:avLst/>
              </a:prstGeom>
              <a:blipFill>
                <a:blip r:embed="rId4"/>
                <a:stretch>
                  <a:fillRect t="-2326" b="-11628"/>
                </a:stretch>
              </a:blipFill>
            </p:spPr>
            <p:txBody>
              <a:bodyPr/>
              <a:lstStyle/>
              <a:p>
                <a:r>
                  <a:rPr lang="en-US">
                    <a:noFill/>
                  </a:rPr>
                  <a:t> </a:t>
                </a:r>
              </a:p>
            </p:txBody>
          </p:sp>
        </mc:Fallback>
      </mc:AlternateContent>
    </p:spTree>
    <p:extLst>
      <p:ext uri="{BB962C8B-B14F-4D97-AF65-F5344CB8AC3E}">
        <p14:creationId xmlns:p14="http://schemas.microsoft.com/office/powerpoint/2010/main" val="3737014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AdaBoost Regression</a:t>
            </a:r>
            <a:endParaRPr lang="it-IT"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00150"/>
                <a:ext cx="8229600" cy="3943350"/>
              </a:xfrm>
            </p:spPr>
            <p:txBody>
              <a:bodyPr>
                <a:normAutofit fontScale="92500" lnSpcReduction="10000"/>
              </a:bodyPr>
              <a:lstStyle/>
              <a:p>
                <a:r>
                  <a:rPr lang="en-GB" sz="2000" dirty="0">
                    <a:latin typeface="Times New Roman" panose="02020603050405020304" pitchFamily="18" charset="0"/>
                    <a:cs typeface="Times New Roman" panose="02020603050405020304" pitchFamily="18" charset="0"/>
                  </a:rPr>
                  <a:t>Initial weights: </a:t>
                </a:r>
                <a14:m>
                  <m:oMath xmlns:m="http://schemas.openxmlformats.org/officeDocument/2006/math">
                    <m:sSup>
                      <m:sSupPr>
                        <m:ctrlPr>
                          <a:rPr lang="en-GB" sz="2000" i="1" smtClean="0">
                            <a:latin typeface="Cambria Math" panose="02040503050406030204" pitchFamily="18" charset="0"/>
                            <a:cs typeface="Times New Roman" panose="02020603050405020304" pitchFamily="18" charset="0"/>
                          </a:rPr>
                        </m:ctrlPr>
                      </m:sSupPr>
                      <m:e>
                        <m:r>
                          <a:rPr lang="en-GB" sz="2000" b="0" i="1" smtClean="0">
                            <a:latin typeface="Cambria Math" panose="02040503050406030204" pitchFamily="18" charset="0"/>
                            <a:cs typeface="Times New Roman" panose="02020603050405020304" pitchFamily="18" charset="0"/>
                          </a:rPr>
                          <m:t>𝑤</m:t>
                        </m:r>
                      </m:e>
                      <m:sup>
                        <m:r>
                          <a:rPr lang="en-GB" sz="2000" b="0" i="1" smtClean="0">
                            <a:latin typeface="Cambria Math" panose="02040503050406030204" pitchFamily="18" charset="0"/>
                            <a:cs typeface="Times New Roman" panose="02020603050405020304" pitchFamily="18" charset="0"/>
                          </a:rPr>
                          <m:t>(</m:t>
                        </m:r>
                        <m:r>
                          <a:rPr lang="en-GB" sz="2000" b="0" i="1" smtClean="0">
                            <a:latin typeface="Cambria Math" panose="02040503050406030204" pitchFamily="18" charset="0"/>
                            <a:cs typeface="Times New Roman" panose="02020603050405020304" pitchFamily="18" charset="0"/>
                          </a:rPr>
                          <m:t>𝑖</m:t>
                        </m:r>
                        <m:r>
                          <a:rPr lang="en-GB" sz="2000" b="0" i="1" smtClean="0">
                            <a:latin typeface="Cambria Math" panose="02040503050406030204" pitchFamily="18" charset="0"/>
                            <a:cs typeface="Times New Roman" panose="02020603050405020304" pitchFamily="18" charset="0"/>
                          </a:rPr>
                          <m:t>)</m:t>
                        </m:r>
                      </m:sup>
                    </m:sSup>
                    <m:r>
                      <a:rPr lang="en-GB" sz="2000" b="0" i="1" smtClean="0">
                        <a:latin typeface="Cambria Math" panose="02040503050406030204" pitchFamily="18" charset="0"/>
                        <a:cs typeface="Times New Roman" panose="02020603050405020304" pitchFamily="18" charset="0"/>
                      </a:rPr>
                      <m:t>=</m:t>
                    </m:r>
                    <m:box>
                      <m:boxPr>
                        <m:ctrlPr>
                          <a:rPr lang="en-GB" sz="2000" b="0" i="1" smtClean="0">
                            <a:latin typeface="Cambria Math" panose="02040503050406030204" pitchFamily="18" charset="0"/>
                            <a:cs typeface="Times New Roman" panose="02020603050405020304" pitchFamily="18" charset="0"/>
                          </a:rPr>
                        </m:ctrlPr>
                      </m:boxPr>
                      <m:e>
                        <m:argPr>
                          <m:argSz m:val="-1"/>
                        </m:argPr>
                        <m:f>
                          <m:fPr>
                            <m:ctrlPr>
                              <a:rPr lang="en-GB" sz="2000" b="0" i="1" smtClean="0">
                                <a:latin typeface="Cambria Math" panose="02040503050406030204" pitchFamily="18" charset="0"/>
                                <a:cs typeface="Times New Roman" panose="02020603050405020304" pitchFamily="18" charset="0"/>
                              </a:rPr>
                            </m:ctrlPr>
                          </m:fPr>
                          <m:num>
                            <m:r>
                              <a:rPr lang="en-GB" sz="2000" b="0" i="1" smtClean="0">
                                <a:latin typeface="Cambria Math" panose="02040503050406030204" pitchFamily="18" charset="0"/>
                                <a:cs typeface="Times New Roman" panose="02020603050405020304" pitchFamily="18" charset="0"/>
                              </a:rPr>
                              <m:t>1</m:t>
                            </m:r>
                          </m:num>
                          <m:den>
                            <m:r>
                              <a:rPr lang="en-GB" sz="2000" b="0" i="1" smtClean="0">
                                <a:latin typeface="Cambria Math" panose="02040503050406030204" pitchFamily="18" charset="0"/>
                                <a:cs typeface="Times New Roman" panose="02020603050405020304" pitchFamily="18" charset="0"/>
                              </a:rPr>
                              <m:t>𝑚</m:t>
                            </m:r>
                          </m:den>
                        </m:f>
                        <m:r>
                          <a:rPr lang="en-GB" sz="2000" b="0" i="1" smtClean="0">
                            <a:latin typeface="Cambria Math" panose="02040503050406030204" pitchFamily="18" charset="0"/>
                            <a:cs typeface="Times New Roman" panose="02020603050405020304" pitchFamily="18" charset="0"/>
                          </a:rPr>
                          <m:t> (</m:t>
                        </m:r>
                        <m:r>
                          <a:rPr lang="en-GB" sz="2000" b="0" i="1" smtClean="0">
                            <a:latin typeface="Cambria Math" panose="02040503050406030204" pitchFamily="18" charset="0"/>
                            <a:cs typeface="Times New Roman" panose="02020603050405020304" pitchFamily="18" charset="0"/>
                          </a:rPr>
                          <m:t>𝑖</m:t>
                        </m:r>
                        <m:r>
                          <a:rPr lang="en-GB" sz="2000" b="0" i="1" smtClean="0">
                            <a:latin typeface="Cambria Math" panose="02040503050406030204" pitchFamily="18" charset="0"/>
                            <a:cs typeface="Times New Roman" panose="02020603050405020304" pitchFamily="18" charset="0"/>
                          </a:rPr>
                          <m:t>=1..</m:t>
                        </m:r>
                        <m:r>
                          <a:rPr lang="en-GB" sz="2000" b="0" i="1" smtClean="0">
                            <a:latin typeface="Cambria Math" panose="02040503050406030204" pitchFamily="18" charset="0"/>
                            <a:cs typeface="Times New Roman" panose="02020603050405020304" pitchFamily="18" charset="0"/>
                          </a:rPr>
                          <m:t>𝑚</m:t>
                        </m:r>
                        <m:r>
                          <a:rPr lang="en-GB" sz="2000" b="0" i="1" smtClean="0">
                            <a:latin typeface="Cambria Math" panose="02040503050406030204" pitchFamily="18" charset="0"/>
                            <a:cs typeface="Times New Roman" panose="02020603050405020304" pitchFamily="18" charset="0"/>
                          </a:rPr>
                          <m:t>)</m:t>
                        </m:r>
                      </m:e>
                    </m:box>
                  </m:oMath>
                </a14:m>
                <a:endParaRPr lang="it-IT"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for </a:t>
                </a:r>
                <a14:m>
                  <m:oMath xmlns:m="http://schemas.openxmlformats.org/officeDocument/2006/math">
                    <m:r>
                      <m:rPr>
                        <m:sty m:val="p"/>
                      </m:rPr>
                      <a:rPr lang="en-GB" sz="2000" b="0" i="0" smtClean="0">
                        <a:latin typeface="Cambria Math" panose="02040503050406030204" pitchFamily="18" charset="0"/>
                        <a:cs typeface="Times New Roman" panose="02020603050405020304" pitchFamily="18" charset="0"/>
                      </a:rPr>
                      <m:t>j</m:t>
                    </m:r>
                    <m:r>
                      <a:rPr lang="en-GB" sz="2000" b="0" i="1" smtClean="0">
                        <a:latin typeface="Cambria Math" panose="02040503050406030204" pitchFamily="18" charset="0"/>
                        <a:cs typeface="Times New Roman" panose="02020603050405020304" pitchFamily="18" charset="0"/>
                      </a:rPr>
                      <m:t>=1 </m:t>
                    </m:r>
                    <m:r>
                      <m:rPr>
                        <m:nor/>
                      </m:rPr>
                      <a:rPr lang="en-GB" sz="2000" b="0" i="0" smtClean="0">
                        <a:latin typeface="Cambria Math" panose="02040503050406030204" pitchFamily="18" charset="0"/>
                        <a:cs typeface="Times New Roman" panose="02020603050405020304" pitchFamily="18" charset="0"/>
                      </a:rPr>
                      <m:t>to</m:t>
                    </m:r>
                    <m:r>
                      <a:rPr lang="en-GB" sz="2000" b="0" i="1" smtClean="0">
                        <a:latin typeface="Cambria Math" panose="02040503050406030204" pitchFamily="18" charset="0"/>
                        <a:cs typeface="Times New Roman" panose="02020603050405020304" pitchFamily="18" charset="0"/>
                      </a:rPr>
                      <m:t> </m:t>
                    </m:r>
                    <m:r>
                      <a:rPr lang="en-GB" sz="2000" b="0" i="1" smtClean="0">
                        <a:latin typeface="Cambria Math" panose="02040503050406030204" pitchFamily="18" charset="0"/>
                        <a:cs typeface="Times New Roman" panose="02020603050405020304" pitchFamily="18" charset="0"/>
                      </a:rPr>
                      <m:t>𝑇</m:t>
                    </m:r>
                  </m:oMath>
                </a14:m>
                <a:r>
                  <a:rPr lang="it-IT" sz="2000" dirty="0">
                    <a:latin typeface="Times New Roman" panose="02020603050405020304" pitchFamily="18" charset="0"/>
                    <a:cs typeface="Times New Roman" panose="02020603050405020304" pitchFamily="18" charset="0"/>
                  </a:rPr>
                  <a:t> (</a:t>
                </a:r>
                <a14:m>
                  <m:oMath xmlns:m="http://schemas.openxmlformats.org/officeDocument/2006/math">
                    <m:r>
                      <a:rPr lang="en-GB" sz="2000" i="1">
                        <a:latin typeface="Cambria Math" panose="02040503050406030204" pitchFamily="18" charset="0"/>
                        <a:cs typeface="Times New Roman" panose="02020603050405020304" pitchFamily="18" charset="0"/>
                      </a:rPr>
                      <m:t>𝑇</m:t>
                    </m:r>
                  </m:oMath>
                </a14:m>
                <a:r>
                  <a:rPr lang="it-IT" sz="2000" dirty="0">
                    <a:latin typeface="Times New Roman" panose="02020603050405020304" pitchFamily="18" charset="0"/>
                    <a:cs typeface="Times New Roman" panose="02020603050405020304" pitchFamily="18" charset="0"/>
                  </a:rPr>
                  <a:t> number of base learners)</a:t>
                </a:r>
              </a:p>
              <a:p>
                <a:pPr lvl="1"/>
                <a:r>
                  <a:rPr lang="en-GB" sz="1600" dirty="0">
                    <a:latin typeface="Times New Roman" panose="02020603050405020304" pitchFamily="18" charset="0"/>
                    <a:cs typeface="Times New Roman" panose="02020603050405020304" pitchFamily="18" charset="0"/>
                  </a:rPr>
                  <a:t>Train learner on weighted dataset</a:t>
                </a:r>
              </a:p>
              <a:p>
                <a:pPr lvl="1"/>
                <a14:m>
                  <m:oMath xmlns:m="http://schemas.openxmlformats.org/officeDocument/2006/math">
                    <m:sSub>
                      <m:sSubPr>
                        <m:ctrlPr>
                          <a:rPr lang="en-GB" sz="1600" i="1" smtClean="0">
                            <a:latin typeface="Cambria Math" panose="02040503050406030204" pitchFamily="18" charset="0"/>
                            <a:cs typeface="Times New Roman" panose="02020603050405020304" pitchFamily="18" charset="0"/>
                          </a:rPr>
                        </m:ctrlPr>
                      </m:sSubPr>
                      <m:e>
                        <m:r>
                          <a:rPr lang="en-GB" sz="1600" b="0" i="1" smtClean="0">
                            <a:latin typeface="Cambria Math" panose="02040503050406030204" pitchFamily="18" charset="0"/>
                            <a:cs typeface="Times New Roman" panose="02020603050405020304" pitchFamily="18" charset="0"/>
                          </a:rPr>
                          <m:t>𝑟</m:t>
                        </m:r>
                      </m:e>
                      <m:sub>
                        <m:r>
                          <a:rPr lang="en-GB" sz="1600" b="0" i="1" smtClean="0">
                            <a:latin typeface="Cambria Math" panose="02040503050406030204" pitchFamily="18" charset="0"/>
                            <a:cs typeface="Times New Roman" panose="02020603050405020304" pitchFamily="18" charset="0"/>
                          </a:rPr>
                          <m:t>𝑗</m:t>
                        </m:r>
                      </m:sub>
                    </m:sSub>
                    <m:r>
                      <a:rPr lang="en-GB" sz="1600" b="0" i="1" smtClean="0">
                        <a:latin typeface="Cambria Math" panose="02040503050406030204" pitchFamily="18" charset="0"/>
                        <a:cs typeface="Times New Roman" panose="02020603050405020304" pitchFamily="18" charset="0"/>
                      </a:rPr>
                      <m:t>=</m:t>
                    </m:r>
                    <m:f>
                      <m:fPr>
                        <m:ctrlPr>
                          <a:rPr lang="en-GB" sz="1600" b="0" i="1" smtClean="0">
                            <a:latin typeface="Cambria Math" panose="02040503050406030204" pitchFamily="18" charset="0"/>
                            <a:cs typeface="Times New Roman" panose="02020603050405020304" pitchFamily="18" charset="0"/>
                          </a:rPr>
                        </m:ctrlPr>
                      </m:fPr>
                      <m:num>
                        <m:nary>
                          <m:naryPr>
                            <m:chr m:val="∑"/>
                            <m:ctrlPr>
                              <a:rPr lang="en-GB" sz="1600" b="0" i="1" smtClean="0">
                                <a:latin typeface="Cambria Math" panose="02040503050406030204" pitchFamily="18" charset="0"/>
                                <a:cs typeface="Times New Roman" panose="02020603050405020304" pitchFamily="18" charset="0"/>
                              </a:rPr>
                            </m:ctrlPr>
                          </m:naryPr>
                          <m:sub>
                            <m:r>
                              <m:rPr>
                                <m:brk m:alnAt="23"/>
                              </m:rPr>
                              <a:rPr lang="en-GB" sz="1600" b="0" i="1" smtClean="0">
                                <a:latin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cs typeface="Times New Roman" panose="02020603050405020304" pitchFamily="18" charset="0"/>
                              </a:rPr>
                              <m:t>=1,</m:t>
                            </m:r>
                            <m:sSubSup>
                              <m:sSubSupPr>
                                <m:ctrlPr>
                                  <a:rPr lang="en-GB" sz="1600" i="1">
                                    <a:latin typeface="Cambria Math" panose="02040503050406030204" pitchFamily="18" charset="0"/>
                                    <a:cs typeface="Times New Roman" panose="02020603050405020304" pitchFamily="18" charset="0"/>
                                  </a:rPr>
                                </m:ctrlPr>
                              </m:sSubSupPr>
                              <m:e>
                                <m:acc>
                                  <m:accPr>
                                    <m:chr m:val="̂"/>
                                    <m:ctrlPr>
                                      <a:rPr lang="en-GB" sz="1600" i="1">
                                        <a:latin typeface="Cambria Math" panose="02040503050406030204" pitchFamily="18" charset="0"/>
                                        <a:cs typeface="Times New Roman" panose="02020603050405020304" pitchFamily="18" charset="0"/>
                                      </a:rPr>
                                    </m:ctrlPr>
                                  </m:accPr>
                                  <m:e>
                                    <m:r>
                                      <a:rPr lang="en-GB" sz="1600" i="1">
                                        <a:latin typeface="Cambria Math" panose="02040503050406030204" pitchFamily="18" charset="0"/>
                                        <a:cs typeface="Times New Roman" panose="02020603050405020304" pitchFamily="18" charset="0"/>
                                      </a:rPr>
                                      <m:t>𝑦</m:t>
                                    </m:r>
                                  </m:e>
                                </m:acc>
                              </m:e>
                              <m:sub>
                                <m:r>
                                  <a:rPr lang="en-GB" sz="1600" i="1">
                                    <a:latin typeface="Cambria Math" panose="02040503050406030204" pitchFamily="18" charset="0"/>
                                    <a:cs typeface="Times New Roman" panose="02020603050405020304" pitchFamily="18" charset="0"/>
                                  </a:rPr>
                                  <m:t>𝑗</m:t>
                                </m:r>
                              </m:sub>
                              <m:sup>
                                <m:r>
                                  <a:rPr lang="en-GB" sz="1600" i="1">
                                    <a:latin typeface="Cambria Math" panose="02040503050406030204" pitchFamily="18" charset="0"/>
                                    <a:cs typeface="Times New Roman" panose="02020603050405020304" pitchFamily="18" charset="0"/>
                                  </a:rPr>
                                  <m:t>(</m:t>
                                </m:r>
                                <m:r>
                                  <a:rPr lang="en-GB" sz="1600" i="1">
                                    <a:latin typeface="Cambria Math" panose="02040503050406030204" pitchFamily="18" charset="0"/>
                                    <a:cs typeface="Times New Roman" panose="02020603050405020304" pitchFamily="18" charset="0"/>
                                  </a:rPr>
                                  <m:t>𝑖</m:t>
                                </m:r>
                                <m:r>
                                  <a:rPr lang="en-GB" sz="1600" i="1">
                                    <a:latin typeface="Cambria Math" panose="02040503050406030204" pitchFamily="18" charset="0"/>
                                    <a:cs typeface="Times New Roman" panose="02020603050405020304" pitchFamily="18" charset="0"/>
                                  </a:rPr>
                                  <m:t>)</m:t>
                                </m:r>
                              </m:sup>
                            </m:sSubSup>
                            <m:r>
                              <a:rPr lang="en-GB" sz="1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1600" i="1">
                                    <a:latin typeface="Cambria Math" panose="02040503050406030204" pitchFamily="18" charset="0"/>
                                    <a:ea typeface="Cambria Math" panose="02040503050406030204" pitchFamily="18" charset="0"/>
                                    <a:cs typeface="Times New Roman" panose="02020603050405020304" pitchFamily="18" charset="0"/>
                                  </a:rPr>
                                </m:ctrlPr>
                              </m:sSupPr>
                              <m:e>
                                <m:r>
                                  <a:rPr lang="en-GB" sz="1600" i="1">
                                    <a:latin typeface="Cambria Math" panose="02040503050406030204" pitchFamily="18" charset="0"/>
                                    <a:ea typeface="Cambria Math" panose="02040503050406030204" pitchFamily="18" charset="0"/>
                                    <a:cs typeface="Times New Roman" panose="02020603050405020304" pitchFamily="18" charset="0"/>
                                  </a:rPr>
                                  <m:t>𝑦</m:t>
                                </m:r>
                              </m:e>
                              <m:sup>
                                <m:r>
                                  <a:rPr lang="en-GB" sz="1600" i="1">
                                    <a:latin typeface="Cambria Math" panose="02040503050406030204" pitchFamily="18" charset="0"/>
                                    <a:ea typeface="Cambria Math" panose="02040503050406030204" pitchFamily="18" charset="0"/>
                                    <a:cs typeface="Times New Roman" panose="02020603050405020304" pitchFamily="18" charset="0"/>
                                  </a:rPr>
                                  <m:t>(</m:t>
                                </m:r>
                                <m:r>
                                  <a:rPr lang="en-GB" sz="1600" i="1">
                                    <a:latin typeface="Cambria Math" panose="02040503050406030204" pitchFamily="18" charset="0"/>
                                    <a:ea typeface="Cambria Math" panose="02040503050406030204" pitchFamily="18" charset="0"/>
                                    <a:cs typeface="Times New Roman" panose="02020603050405020304" pitchFamily="18" charset="0"/>
                                  </a:rPr>
                                  <m:t>𝑖</m:t>
                                </m:r>
                                <m:r>
                                  <a:rPr lang="en-GB" sz="1600" i="1">
                                    <a:latin typeface="Cambria Math" panose="02040503050406030204" pitchFamily="18" charset="0"/>
                                    <a:ea typeface="Cambria Math" panose="02040503050406030204" pitchFamily="18" charset="0"/>
                                    <a:cs typeface="Times New Roman" panose="02020603050405020304" pitchFamily="18" charset="0"/>
                                  </a:rPr>
                                  <m:t>)</m:t>
                                </m:r>
                              </m:sup>
                            </m:sSup>
                          </m:sub>
                          <m:sup>
                            <m:r>
                              <a:rPr lang="en-GB" sz="1600" b="0" i="1" smtClean="0">
                                <a:latin typeface="Cambria Math" panose="02040503050406030204" pitchFamily="18" charset="0"/>
                                <a:cs typeface="Times New Roman" panose="02020603050405020304" pitchFamily="18" charset="0"/>
                              </a:rPr>
                              <m:t>𝑚</m:t>
                            </m:r>
                          </m:sup>
                          <m:e>
                            <m:sSup>
                              <m:sSupPr>
                                <m:ctrlPr>
                                  <a:rPr lang="en-GB" sz="1600" b="0" i="1" smtClean="0">
                                    <a:latin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cs typeface="Times New Roman" panose="02020603050405020304" pitchFamily="18" charset="0"/>
                                  </a:rPr>
                                  <m:t>𝑤</m:t>
                                </m:r>
                              </m:e>
                              <m:sup>
                                <m:r>
                                  <a:rPr lang="en-GB" sz="1600" b="0" i="1" smtClean="0">
                                    <a:latin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cs typeface="Times New Roman" panose="02020603050405020304" pitchFamily="18" charset="0"/>
                                  </a:rPr>
                                  <m:t>)</m:t>
                                </m:r>
                              </m:sup>
                            </m:sSup>
                          </m:e>
                        </m:nary>
                      </m:num>
                      <m:den>
                        <m:nary>
                          <m:naryPr>
                            <m:chr m:val="∑"/>
                            <m:ctrlPr>
                              <a:rPr lang="en-GB" sz="1600" b="0" i="1" smtClean="0">
                                <a:latin typeface="Cambria Math" panose="02040503050406030204" pitchFamily="18" charset="0"/>
                                <a:cs typeface="Times New Roman" panose="02020603050405020304" pitchFamily="18" charset="0"/>
                              </a:rPr>
                            </m:ctrlPr>
                          </m:naryPr>
                          <m:sub>
                            <m:r>
                              <m:rPr>
                                <m:brk m:alnAt="23"/>
                              </m:rPr>
                              <a:rPr lang="en-GB" sz="1600" b="0" i="1" smtClean="0">
                                <a:latin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cs typeface="Times New Roman" panose="02020603050405020304" pitchFamily="18" charset="0"/>
                              </a:rPr>
                              <m:t>=1</m:t>
                            </m:r>
                          </m:sub>
                          <m:sup>
                            <m:r>
                              <a:rPr lang="en-GB" sz="1600" b="0" i="1" smtClean="0">
                                <a:latin typeface="Cambria Math" panose="02040503050406030204" pitchFamily="18" charset="0"/>
                                <a:cs typeface="Times New Roman" panose="02020603050405020304" pitchFamily="18" charset="0"/>
                              </a:rPr>
                              <m:t>𝑚</m:t>
                            </m:r>
                          </m:sup>
                          <m:e>
                            <m:sSup>
                              <m:sSupPr>
                                <m:ctrlPr>
                                  <a:rPr lang="en-GB" sz="1600" b="0" i="1" smtClean="0">
                                    <a:latin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cs typeface="Times New Roman" panose="02020603050405020304" pitchFamily="18" charset="0"/>
                                  </a:rPr>
                                  <m:t>𝑤</m:t>
                                </m:r>
                              </m:e>
                              <m:sup>
                                <m:r>
                                  <a:rPr lang="en-GB" sz="1600" b="0" i="1" smtClean="0">
                                    <a:latin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cs typeface="Times New Roman" panose="02020603050405020304" pitchFamily="18" charset="0"/>
                                  </a:rPr>
                                  <m:t>)</m:t>
                                </m:r>
                              </m:sup>
                            </m:sSup>
                          </m:e>
                        </m:nary>
                      </m:den>
                    </m:f>
                    <m:r>
                      <a:rPr lang="en-GB" sz="1600" b="0" i="1" smtClean="0">
                        <a:latin typeface="Cambria Math" panose="02040503050406030204" pitchFamily="18" charset="0"/>
                        <a:cs typeface="Times New Roman" panose="02020603050405020304" pitchFamily="18" charset="0"/>
                      </a:rPr>
                      <m:t> </m:t>
                    </m:r>
                  </m:oMath>
                </a14:m>
                <a:r>
                  <a:rPr lang="en-GB" sz="1600" dirty="0">
                    <a:latin typeface="Times New Roman" panose="02020603050405020304" pitchFamily="18" charset="0"/>
                    <a:cs typeface="Times New Roman" panose="02020603050405020304" pitchFamily="18" charset="0"/>
                  </a:rPr>
                  <a:t>  weighted error rate of the </a:t>
                </a:r>
                <a14:m>
                  <m:oMath xmlns:m="http://schemas.openxmlformats.org/officeDocument/2006/math">
                    <m:sSup>
                      <m:sSupPr>
                        <m:ctrlPr>
                          <a:rPr lang="en-GB" sz="1600" i="1" smtClean="0">
                            <a:latin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cs typeface="Times New Roman" panose="02020603050405020304" pitchFamily="18" charset="0"/>
                          </a:rPr>
                          <m:t>𝑗</m:t>
                        </m:r>
                      </m:e>
                      <m:sup>
                        <m:r>
                          <a:rPr lang="en-GB" sz="1600" b="0" i="1" smtClean="0">
                            <a:latin typeface="Cambria Math" panose="02040503050406030204" pitchFamily="18" charset="0"/>
                            <a:cs typeface="Times New Roman" panose="02020603050405020304" pitchFamily="18" charset="0"/>
                          </a:rPr>
                          <m:t>𝑡h</m:t>
                        </m:r>
                      </m:sup>
                    </m:sSup>
                  </m:oMath>
                </a14:m>
                <a:r>
                  <a:rPr lang="en-GB" sz="1600" dirty="0">
                    <a:latin typeface="Times New Roman" panose="02020603050405020304" pitchFamily="18" charset="0"/>
                    <a:cs typeface="Times New Roman" panose="02020603050405020304" pitchFamily="18" charset="0"/>
                  </a:rPr>
                  <a:t> learner</a:t>
                </a:r>
              </a:p>
              <a:p>
                <a:pPr lvl="1"/>
                <a14:m>
                  <m:oMath xmlns:m="http://schemas.openxmlformats.org/officeDocument/2006/math">
                    <m:sSub>
                      <m:sSubPr>
                        <m:ctrlPr>
                          <a:rPr lang="en-GB" sz="1600" i="1" smtClean="0">
                            <a:latin typeface="Cambria Math" panose="02040503050406030204" pitchFamily="18" charset="0"/>
                            <a:cs typeface="Times New Roman" panose="02020603050405020304" pitchFamily="18" charset="0"/>
                          </a:rPr>
                        </m:ctrlPr>
                      </m:sSubPr>
                      <m:e>
                        <m:r>
                          <a:rPr lang="en-GB" sz="16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GB" sz="1600" b="0" i="1" smtClean="0">
                            <a:latin typeface="Cambria Math" panose="02040503050406030204" pitchFamily="18" charset="0"/>
                            <a:cs typeface="Times New Roman" panose="02020603050405020304" pitchFamily="18" charset="0"/>
                          </a:rPr>
                          <m:t>𝑗</m:t>
                        </m:r>
                      </m:sub>
                    </m:sSub>
                    <m:r>
                      <a:rPr lang="en-GB" sz="1600" b="0" i="1" smtClean="0">
                        <a:latin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𝜂</m:t>
                    </m:r>
                    <m:func>
                      <m:funcPr>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GB" sz="1600" b="0" i="0" smtClean="0">
                            <a:latin typeface="Cambria Math" panose="02040503050406030204" pitchFamily="18" charset="0"/>
                            <a:ea typeface="Cambria Math" panose="02040503050406030204" pitchFamily="18" charset="0"/>
                            <a:cs typeface="Times New Roman" panose="02020603050405020304" pitchFamily="18" charset="0"/>
                          </a:rPr>
                          <m:t>log</m:t>
                        </m:r>
                      </m:fName>
                      <m:e>
                        <m:f>
                          <m:fPr>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1600" b="0" i="1" smtClean="0">
                                <a:latin typeface="Cambria Math" panose="02040503050406030204" pitchFamily="18" charset="0"/>
                                <a:ea typeface="Cambria Math" panose="02040503050406030204" pitchFamily="18" charset="0"/>
                                <a:cs typeface="Times New Roman" panose="02020603050405020304" pitchFamily="18" charset="0"/>
                              </a:rPr>
                              <m:t>1−</m:t>
                            </m:r>
                            <m:sSub>
                              <m:sSubPr>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𝑟</m:t>
                                </m:r>
                              </m:e>
                              <m:sub>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𝑗</m:t>
                                </m:r>
                              </m:sub>
                            </m:sSub>
                          </m:num>
                          <m:den>
                            <m:sSub>
                              <m:sSubPr>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𝑟</m:t>
                                </m:r>
                              </m:e>
                              <m:sub>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𝑗</m:t>
                                </m:r>
                              </m:sub>
                            </m:sSub>
                          </m:den>
                        </m:f>
                      </m:e>
                    </m:func>
                  </m:oMath>
                </a14:m>
                <a:r>
                  <a:rPr lang="en-GB" sz="1600" dirty="0">
                    <a:latin typeface="Times New Roman" panose="02020603050405020304" pitchFamily="18" charset="0"/>
                    <a:cs typeface="Times New Roman" panose="02020603050405020304" pitchFamily="18" charset="0"/>
                  </a:rPr>
                  <a:t>  learner weight (</a:t>
                </a:r>
                <a14:m>
                  <m:oMath xmlns:m="http://schemas.openxmlformats.org/officeDocument/2006/math">
                    <m:r>
                      <a:rPr lang="en-GB" sz="1600" i="1" smtClean="0">
                        <a:latin typeface="Cambria Math" panose="02040503050406030204" pitchFamily="18" charset="0"/>
                        <a:ea typeface="Cambria Math" panose="02040503050406030204" pitchFamily="18" charset="0"/>
                        <a:cs typeface="Times New Roman" panose="02020603050405020304" pitchFamily="18" charset="0"/>
                      </a:rPr>
                      <m:t>𝜂</m:t>
                    </m:r>
                  </m:oMath>
                </a14:m>
                <a:r>
                  <a:rPr lang="en-GB" sz="1600" dirty="0">
                    <a:latin typeface="Times New Roman" panose="02020603050405020304" pitchFamily="18" charset="0"/>
                    <a:cs typeface="Times New Roman" panose="02020603050405020304" pitchFamily="18" charset="0"/>
                  </a:rPr>
                  <a:t>  learning rate – original algorithm </a:t>
                </a:r>
                <a14:m>
                  <m:oMath xmlns:m="http://schemas.openxmlformats.org/officeDocument/2006/math">
                    <m:r>
                      <a:rPr lang="en-GB" sz="1600" i="1" smtClean="0">
                        <a:latin typeface="Cambria Math" panose="02040503050406030204" pitchFamily="18" charset="0"/>
                        <a:ea typeface="Cambria Math" panose="02040503050406030204" pitchFamily="18" charset="0"/>
                        <a:cs typeface="Times New Roman" panose="02020603050405020304" pitchFamily="18" charset="0"/>
                      </a:rPr>
                      <m:t>𝜂</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1600" b="0" i="1" smtClean="0">
                        <a:latin typeface="Cambria Math" panose="02040503050406030204" pitchFamily="18" charset="0"/>
                        <a:ea typeface="Cambria Math" panose="02040503050406030204" pitchFamily="18" charset="0"/>
                        <a:cs typeface="Times New Roman" panose="02020603050405020304" pitchFamily="18" charset="0"/>
                      </a:rPr>
                      <m:t>0.5</m:t>
                    </m:r>
                  </m:oMath>
                </a14:m>
                <a:r>
                  <a:rPr lang="en-GB" sz="1600" dirty="0">
                    <a:latin typeface="Times New Roman" panose="02020603050405020304" pitchFamily="18" charset="0"/>
                    <a:cs typeface="Times New Roman" panose="02020603050405020304" pitchFamily="18" charset="0"/>
                  </a:rPr>
                  <a:t>)</a:t>
                </a:r>
              </a:p>
              <a:p>
                <a:pPr lvl="1"/>
                <a14:m>
                  <m:oMath xmlns:m="http://schemas.openxmlformats.org/officeDocument/2006/math">
                    <m:sSup>
                      <m:sSupPr>
                        <m:ctrlPr>
                          <a:rPr lang="en-GB" sz="1600" i="1" smtClean="0">
                            <a:latin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cs typeface="Times New Roman" panose="02020603050405020304" pitchFamily="18" charset="0"/>
                          </a:rPr>
                          <m:t>𝑤</m:t>
                        </m:r>
                      </m:e>
                      <m:sup>
                        <m:r>
                          <a:rPr lang="en-GB" sz="1600" b="0" i="1" smtClean="0">
                            <a:latin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cs typeface="Times New Roman" panose="02020603050405020304" pitchFamily="18" charset="0"/>
                          </a:rPr>
                          <m:t>)</m:t>
                        </m:r>
                      </m:sup>
                    </m:sSup>
                    <m:r>
                      <a:rPr lang="en-GB" sz="160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GB" sz="1600" i="1" smtClean="0">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2"/>
                                  <m:mcJc m:val="center"/>
                                </m:mcPr>
                              </m:mc>
                            </m:mcs>
                            <m:ctrlPr>
                              <a:rPr lang="en-GB" sz="1600" i="1" smtClean="0">
                                <a:latin typeface="Cambria Math" panose="02040503050406030204" pitchFamily="18" charset="0"/>
                                <a:ea typeface="Cambria Math" panose="02040503050406030204" pitchFamily="18" charset="0"/>
                                <a:cs typeface="Times New Roman" panose="02020603050405020304" pitchFamily="18" charset="0"/>
                              </a:rPr>
                            </m:ctrlPr>
                          </m:mPr>
                          <m:mr>
                            <m:e>
                              <m:sSup>
                                <m:sSupPr>
                                  <m:ctrlPr>
                                    <a:rPr lang="en-GB" sz="1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𝑤</m:t>
                                  </m:r>
                                </m:e>
                                <m:sup>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sup>
                              </m:sSup>
                            </m:e>
                            <m:e>
                              <m:r>
                                <m:rPr>
                                  <m:nor/>
                                </m:rPr>
                                <a:rPr lang="en-GB" sz="1600" b="0" i="0" smtClean="0">
                                  <a:latin typeface="Cambria Math" panose="02040503050406030204" pitchFamily="18" charset="0"/>
                                  <a:ea typeface="Cambria Math" panose="02040503050406030204" pitchFamily="18" charset="0"/>
                                  <a:cs typeface="Times New Roman" panose="02020603050405020304" pitchFamily="18" charset="0"/>
                                </a:rPr>
                                <m:t>if</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  </m:t>
                              </m:r>
                              <m:sSubSup>
                                <m:sSubSupPr>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sSubSupPr>
                                <m:e>
                                  <m:acc>
                                    <m:accPr>
                                      <m:chr m:val="̂"/>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𝑦</m:t>
                                      </m:r>
                                    </m:e>
                                  </m:acc>
                                </m:e>
                                <m:sub>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𝑗</m:t>
                                  </m:r>
                                </m:sub>
                                <m:sup>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sup>
                              </m:sSubSup>
                              <m:r>
                                <a:rPr lang="en-US" sz="16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𝑦</m:t>
                                  </m:r>
                                </m:e>
                                <m:sup>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sup>
                              </m:sSup>
                            </m:e>
                          </m:mr>
                          <m:mr>
                            <m:e>
                              <m:sSup>
                                <m:sSupPr>
                                  <m:ctrlPr>
                                    <a:rPr lang="en-GB" sz="1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𝑤</m:t>
                                  </m:r>
                                </m:e>
                                <m:sup>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en-GB" sz="1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𝑒</m:t>
                                  </m:r>
                                </m:e>
                                <m:sup>
                                  <m:sSubSup>
                                    <m:sSubSupPr>
                                      <m:ctrlPr>
                                        <a:rPr lang="en-GB" sz="1600" b="0"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GB" sz="1600" b="0" i="1" smtClean="0">
                                          <a:latin typeface="Cambria Math" panose="02040503050406030204" pitchFamily="18" charset="0"/>
                                          <a:ea typeface="Cambria Math" panose="02040503050406030204" pitchFamily="18" charset="0"/>
                                          <a:cs typeface="Times New Roman" panose="02020603050405020304" pitchFamily="18" charset="0"/>
                                        </a:rPr>
                                        <m:t>𝑗</m:t>
                                      </m:r>
                                    </m:sub>
                                    <m:sup/>
                                  </m:sSubSup>
                                </m:sup>
                              </m:sSup>
                            </m:e>
                            <m:e>
                              <m:r>
                                <m:rPr>
                                  <m:nor/>
                                </m:rPr>
                                <a:rPr lang="en-GB" sz="1600" b="0" i="0" smtClean="0">
                                  <a:latin typeface="Cambria Math" panose="02040503050406030204" pitchFamily="18" charset="0"/>
                                  <a:ea typeface="Cambria Math" panose="02040503050406030204" pitchFamily="18" charset="0"/>
                                  <a:cs typeface="Times New Roman" panose="02020603050405020304" pitchFamily="18" charset="0"/>
                                </a:rPr>
                                <m:t>otherwise</m:t>
                              </m:r>
                            </m:e>
                          </m:mr>
                        </m:m>
                      </m:e>
                    </m:d>
                  </m:oMath>
                </a14:m>
                <a:r>
                  <a:rPr lang="en-GB" sz="1600" dirty="0">
                    <a:latin typeface="Times New Roman" panose="02020603050405020304" pitchFamily="18" charset="0"/>
                    <a:cs typeface="Times New Roman" panose="02020603050405020304" pitchFamily="18" charset="0"/>
                  </a:rPr>
                  <a:t>   weight update</a:t>
                </a:r>
              </a:p>
              <a:p>
                <a:pPr lvl="1"/>
                <a:r>
                  <a:rPr lang="en-GB" sz="1600" dirty="0">
                    <a:latin typeface="Times New Roman" panose="02020603050405020304" pitchFamily="18" charset="0"/>
                    <a:cs typeface="Times New Roman" panose="02020603050405020304" pitchFamily="18" charset="0"/>
                  </a:rPr>
                  <a:t>Normalize weights (divide them by </a:t>
                </a:r>
                <a14:m>
                  <m:oMath xmlns:m="http://schemas.openxmlformats.org/officeDocument/2006/math">
                    <m:nary>
                      <m:naryPr>
                        <m:chr m:val="∑"/>
                        <m:ctrlPr>
                          <a:rPr lang="en-GB" sz="1600" i="1" smtClean="0">
                            <a:latin typeface="Cambria Math" panose="02040503050406030204" pitchFamily="18" charset="0"/>
                            <a:cs typeface="Times New Roman" panose="02020603050405020304" pitchFamily="18" charset="0"/>
                          </a:rPr>
                        </m:ctrlPr>
                      </m:naryPr>
                      <m:sub>
                        <m:r>
                          <m:rPr>
                            <m:brk m:alnAt="23"/>
                          </m:rPr>
                          <a:rPr lang="en-GB" sz="1600" b="0" i="1" smtClean="0">
                            <a:latin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cs typeface="Times New Roman" panose="02020603050405020304" pitchFamily="18" charset="0"/>
                          </a:rPr>
                          <m:t>=1</m:t>
                        </m:r>
                      </m:sub>
                      <m:sup>
                        <m:r>
                          <a:rPr lang="en-GB" sz="1600" b="0" i="1" smtClean="0">
                            <a:latin typeface="Cambria Math" panose="02040503050406030204" pitchFamily="18" charset="0"/>
                            <a:cs typeface="Times New Roman" panose="02020603050405020304" pitchFamily="18" charset="0"/>
                          </a:rPr>
                          <m:t>𝑚</m:t>
                        </m:r>
                      </m:sup>
                      <m:e>
                        <m:sSup>
                          <m:sSupPr>
                            <m:ctrlPr>
                              <a:rPr lang="en-GB" sz="1600" i="1" smtClean="0">
                                <a:latin typeface="Cambria Math" panose="02040503050406030204" pitchFamily="18" charset="0"/>
                                <a:cs typeface="Times New Roman" panose="02020603050405020304" pitchFamily="18" charset="0"/>
                              </a:rPr>
                            </m:ctrlPr>
                          </m:sSupPr>
                          <m:e>
                            <m:r>
                              <a:rPr lang="en-GB" sz="1600" b="0" i="1" smtClean="0">
                                <a:latin typeface="Cambria Math" panose="02040503050406030204" pitchFamily="18" charset="0"/>
                                <a:cs typeface="Times New Roman" panose="02020603050405020304" pitchFamily="18" charset="0"/>
                              </a:rPr>
                              <m:t>𝑤</m:t>
                            </m:r>
                          </m:e>
                          <m:sup>
                            <m:r>
                              <a:rPr lang="en-GB" sz="1600" b="0" i="1" smtClean="0">
                                <a:latin typeface="Cambria Math" panose="02040503050406030204" pitchFamily="18" charset="0"/>
                                <a:cs typeface="Times New Roman" panose="02020603050405020304" pitchFamily="18" charset="0"/>
                              </a:rPr>
                              <m:t>(</m:t>
                            </m:r>
                            <m:r>
                              <a:rPr lang="en-GB" sz="1600" b="0" i="1" smtClean="0">
                                <a:latin typeface="Cambria Math" panose="02040503050406030204" pitchFamily="18" charset="0"/>
                                <a:cs typeface="Times New Roman" panose="02020603050405020304" pitchFamily="18" charset="0"/>
                              </a:rPr>
                              <m:t>𝑖</m:t>
                            </m:r>
                            <m:r>
                              <a:rPr lang="en-GB" sz="1600" b="0" i="1" smtClean="0">
                                <a:latin typeface="Cambria Math" panose="02040503050406030204" pitchFamily="18" charset="0"/>
                                <a:cs typeface="Times New Roman" panose="02020603050405020304" pitchFamily="18" charset="0"/>
                              </a:rPr>
                              <m:t>)</m:t>
                            </m:r>
                          </m:sup>
                        </m:sSup>
                      </m:e>
                    </m:nary>
                  </m:oMath>
                </a14:m>
                <a:r>
                  <a:rPr lang="en-GB" sz="1600" dirty="0">
                    <a:latin typeface="Times New Roman" panose="02020603050405020304" pitchFamily="18" charset="0"/>
                    <a:cs typeface="Times New Roman" panose="02020603050405020304" pitchFamily="18" charset="0"/>
                  </a:rPr>
                  <a:t>)</a:t>
                </a:r>
              </a:p>
              <a:p>
                <a:pPr lvl="1"/>
                <a:endParaRPr lang="en-GB" sz="1600" dirty="0">
                  <a:latin typeface="Times New Roman" panose="02020603050405020304" pitchFamily="18" charset="0"/>
                  <a:cs typeface="Times New Roman" panose="02020603050405020304" pitchFamily="18" charset="0"/>
                </a:endParaRPr>
              </a:p>
              <a:p>
                <a14:m>
                  <m:oMath xmlns:m="http://schemas.openxmlformats.org/officeDocument/2006/math">
                    <m:acc>
                      <m:accPr>
                        <m:chr m:val="̂"/>
                        <m:ctrlPr>
                          <a:rPr lang="it-IT" sz="2000" b="1" i="1" smtClean="0">
                            <a:latin typeface="Cambria Math" panose="02040503050406030204" pitchFamily="18" charset="0"/>
                            <a:cs typeface="Times New Roman" panose="02020603050405020304" pitchFamily="18" charset="0"/>
                          </a:rPr>
                        </m:ctrlPr>
                      </m:accPr>
                      <m:e>
                        <m:r>
                          <a:rPr lang="en-GB" sz="2000" b="1" i="1" smtClean="0">
                            <a:latin typeface="Cambria Math" panose="02040503050406030204" pitchFamily="18" charset="0"/>
                            <a:cs typeface="Times New Roman" panose="02020603050405020304" pitchFamily="18" charset="0"/>
                          </a:rPr>
                          <m:t>𝒚</m:t>
                        </m:r>
                      </m:e>
                    </m:acc>
                    <m:d>
                      <m:dPr>
                        <m:ctrlPr>
                          <a:rPr lang="en-GB" sz="2000" b="1" i="1" smtClean="0">
                            <a:latin typeface="Cambria Math" panose="02040503050406030204" pitchFamily="18" charset="0"/>
                            <a:cs typeface="Times New Roman" panose="02020603050405020304" pitchFamily="18" charset="0"/>
                          </a:rPr>
                        </m:ctrlPr>
                      </m:dPr>
                      <m:e>
                        <m:r>
                          <a:rPr lang="en-GB" sz="2000" b="1" i="1" smtClean="0">
                            <a:latin typeface="Cambria Math" panose="02040503050406030204" pitchFamily="18" charset="0"/>
                            <a:cs typeface="Times New Roman" panose="02020603050405020304" pitchFamily="18" charset="0"/>
                          </a:rPr>
                          <m:t>𝒙</m:t>
                        </m:r>
                      </m:e>
                    </m:d>
                    <m:r>
                      <a:rPr lang="en-GB" sz="2000" b="1" i="1" smtClean="0">
                        <a:latin typeface="Cambria Math" panose="02040503050406030204" pitchFamily="18" charset="0"/>
                        <a:cs typeface="Times New Roman" panose="02020603050405020304" pitchFamily="18" charset="0"/>
                      </a:rPr>
                      <m:t>=</m:t>
                    </m:r>
                    <m:func>
                      <m:funcPr>
                        <m:ctrlPr>
                          <a:rPr lang="en-GB" sz="2000" b="1" i="1" smtClean="0">
                            <a:latin typeface="Cambria Math" panose="02040503050406030204" pitchFamily="18" charset="0"/>
                            <a:cs typeface="Times New Roman" panose="02020603050405020304" pitchFamily="18" charset="0"/>
                          </a:rPr>
                        </m:ctrlPr>
                      </m:funcPr>
                      <m:fName>
                        <m:limLow>
                          <m:limLowPr>
                            <m:ctrlPr>
                              <a:rPr lang="en-GB" sz="2000" b="1" i="1" smtClean="0">
                                <a:latin typeface="Cambria Math" panose="02040503050406030204" pitchFamily="18" charset="0"/>
                                <a:cs typeface="Times New Roman" panose="02020603050405020304" pitchFamily="18" charset="0"/>
                              </a:rPr>
                            </m:ctrlPr>
                          </m:limLowPr>
                          <m:e>
                            <m:r>
                              <m:rPr>
                                <m:sty m:val="p"/>
                              </m:rPr>
                              <a:rPr lang="en-GB" sz="2000" b="0" i="0" smtClean="0">
                                <a:latin typeface="Cambria Math" panose="02040503050406030204" pitchFamily="18" charset="0"/>
                                <a:cs typeface="Times New Roman" panose="02020603050405020304" pitchFamily="18" charset="0"/>
                              </a:rPr>
                              <m:t>argmax</m:t>
                            </m:r>
                          </m:e>
                          <m:lim>
                            <m:r>
                              <a:rPr lang="en-GB" sz="2000" b="1" i="1" smtClean="0">
                                <a:latin typeface="Cambria Math" panose="02040503050406030204" pitchFamily="18" charset="0"/>
                                <a:cs typeface="Times New Roman" panose="02020603050405020304" pitchFamily="18" charset="0"/>
                              </a:rPr>
                              <m:t>𝒌</m:t>
                            </m:r>
                          </m:lim>
                        </m:limLow>
                      </m:fName>
                      <m:e>
                        <m:nary>
                          <m:naryPr>
                            <m:chr m:val="∑"/>
                            <m:ctrlPr>
                              <a:rPr lang="en-GB" sz="2000" b="1" i="1" smtClean="0">
                                <a:latin typeface="Cambria Math" panose="02040503050406030204" pitchFamily="18" charset="0"/>
                                <a:cs typeface="Times New Roman" panose="02020603050405020304" pitchFamily="18" charset="0"/>
                              </a:rPr>
                            </m:ctrlPr>
                          </m:naryPr>
                          <m:sub>
                            <m:r>
                              <m:rPr>
                                <m:brk m:alnAt="23"/>
                              </m:rPr>
                              <a:rPr lang="en-GB" sz="2000" b="1" i="1" smtClean="0">
                                <a:latin typeface="Cambria Math" panose="02040503050406030204" pitchFamily="18" charset="0"/>
                                <a:cs typeface="Times New Roman" panose="02020603050405020304" pitchFamily="18" charset="0"/>
                              </a:rPr>
                              <m:t>𝒋</m:t>
                            </m:r>
                            <m:r>
                              <a:rPr lang="en-GB" sz="2000" b="1" i="1" smtClean="0">
                                <a:latin typeface="Cambria Math" panose="02040503050406030204" pitchFamily="18" charset="0"/>
                                <a:cs typeface="Times New Roman" panose="02020603050405020304" pitchFamily="18" charset="0"/>
                              </a:rPr>
                              <m:t>=</m:t>
                            </m:r>
                            <m:r>
                              <a:rPr lang="en-GB" sz="2000" b="1" i="1" smtClean="0">
                                <a:latin typeface="Cambria Math" panose="02040503050406030204" pitchFamily="18" charset="0"/>
                                <a:cs typeface="Times New Roman" panose="02020603050405020304" pitchFamily="18" charset="0"/>
                              </a:rPr>
                              <m:t>𝟏</m:t>
                            </m:r>
                            <m:r>
                              <a:rPr lang="en-GB" sz="2000" b="1" i="1" smtClean="0">
                                <a:latin typeface="Cambria Math" panose="02040503050406030204" pitchFamily="18" charset="0"/>
                                <a:cs typeface="Times New Roman" panose="02020603050405020304" pitchFamily="18" charset="0"/>
                              </a:rPr>
                              <m:t>, </m:t>
                            </m:r>
                            <m:sSub>
                              <m:sSubPr>
                                <m:ctrlPr>
                                  <a:rPr lang="en-GB" sz="2000" b="1" i="1" smtClean="0">
                                    <a:latin typeface="Cambria Math" panose="02040503050406030204" pitchFamily="18" charset="0"/>
                                    <a:cs typeface="Times New Roman" panose="02020603050405020304" pitchFamily="18" charset="0"/>
                                  </a:rPr>
                                </m:ctrlPr>
                              </m:sSubPr>
                              <m:e>
                                <m:acc>
                                  <m:accPr>
                                    <m:chr m:val="̂"/>
                                    <m:ctrlPr>
                                      <a:rPr lang="en-GB" sz="2000" b="1" i="1" smtClean="0">
                                        <a:latin typeface="Cambria Math" panose="02040503050406030204" pitchFamily="18" charset="0"/>
                                        <a:cs typeface="Times New Roman" panose="02020603050405020304" pitchFamily="18" charset="0"/>
                                      </a:rPr>
                                    </m:ctrlPr>
                                  </m:accPr>
                                  <m:e>
                                    <m:r>
                                      <a:rPr lang="en-GB" sz="2000" b="1" i="1" smtClean="0">
                                        <a:latin typeface="Cambria Math" panose="02040503050406030204" pitchFamily="18" charset="0"/>
                                        <a:cs typeface="Times New Roman" panose="02020603050405020304" pitchFamily="18" charset="0"/>
                                      </a:rPr>
                                      <m:t>𝒚</m:t>
                                    </m:r>
                                  </m:e>
                                </m:acc>
                              </m:e>
                              <m:sub>
                                <m:r>
                                  <a:rPr lang="en-GB" sz="2000" b="1" i="1" smtClean="0">
                                    <a:latin typeface="Cambria Math" panose="02040503050406030204" pitchFamily="18" charset="0"/>
                                    <a:cs typeface="Times New Roman" panose="02020603050405020304" pitchFamily="18" charset="0"/>
                                  </a:rPr>
                                  <m:t>𝒋</m:t>
                                </m:r>
                              </m:sub>
                            </m:sSub>
                            <m:d>
                              <m:dPr>
                                <m:ctrlPr>
                                  <a:rPr lang="en-GB" sz="2000" b="1" i="1" smtClean="0">
                                    <a:latin typeface="Cambria Math" panose="02040503050406030204" pitchFamily="18" charset="0"/>
                                    <a:cs typeface="Times New Roman" panose="02020603050405020304" pitchFamily="18" charset="0"/>
                                  </a:rPr>
                                </m:ctrlPr>
                              </m:dPr>
                              <m:e>
                                <m:r>
                                  <m:rPr>
                                    <m:brk m:alnAt="23"/>
                                  </m:rPr>
                                  <a:rPr lang="en-GB" sz="2000" b="1" i="1" smtClean="0">
                                    <a:latin typeface="Cambria Math" panose="02040503050406030204" pitchFamily="18" charset="0"/>
                                    <a:cs typeface="Times New Roman" panose="02020603050405020304" pitchFamily="18" charset="0"/>
                                  </a:rPr>
                                  <m:t>𝒙</m:t>
                                </m:r>
                              </m:e>
                            </m:d>
                            <m:r>
                              <m:rPr>
                                <m:brk m:alnAt="23"/>
                              </m:rPr>
                              <a:rPr lang="en-GB" sz="2000" b="1" i="1" smtClean="0">
                                <a:latin typeface="Cambria Math" panose="02040503050406030204" pitchFamily="18" charset="0"/>
                                <a:cs typeface="Times New Roman" panose="02020603050405020304" pitchFamily="18" charset="0"/>
                              </a:rPr>
                              <m:t>=</m:t>
                            </m:r>
                            <m:r>
                              <a:rPr lang="en-GB" sz="2000" b="1" i="1" smtClean="0">
                                <a:latin typeface="Cambria Math" panose="02040503050406030204" pitchFamily="18" charset="0"/>
                                <a:cs typeface="Times New Roman" panose="02020603050405020304" pitchFamily="18" charset="0"/>
                              </a:rPr>
                              <m:t>𝒌</m:t>
                            </m:r>
                          </m:sub>
                          <m:sup>
                            <m:r>
                              <a:rPr lang="en-GB" sz="2000" b="1" i="1" smtClean="0">
                                <a:latin typeface="Cambria Math" panose="02040503050406030204" pitchFamily="18" charset="0"/>
                                <a:cs typeface="Times New Roman" panose="02020603050405020304" pitchFamily="18" charset="0"/>
                              </a:rPr>
                              <m:t>𝑻</m:t>
                            </m:r>
                          </m:sup>
                          <m:e>
                            <m:sSub>
                              <m:sSubPr>
                                <m:ctrlPr>
                                  <a:rPr lang="en-GB" sz="2000" b="1" i="1" smtClean="0">
                                    <a:latin typeface="Cambria Math" panose="02040503050406030204" pitchFamily="18" charset="0"/>
                                    <a:cs typeface="Times New Roman" panose="02020603050405020304" pitchFamily="18" charset="0"/>
                                  </a:rPr>
                                </m:ctrlPr>
                              </m:sSubPr>
                              <m:e>
                                <m:r>
                                  <a:rPr lang="en-GB" sz="2000" b="1" i="1" smtClean="0">
                                    <a:latin typeface="Cambria Math" panose="02040503050406030204" pitchFamily="18" charset="0"/>
                                    <a:ea typeface="Cambria Math" panose="02040503050406030204" pitchFamily="18" charset="0"/>
                                    <a:cs typeface="Times New Roman" panose="02020603050405020304" pitchFamily="18" charset="0"/>
                                  </a:rPr>
                                  <m:t>𝜶</m:t>
                                </m:r>
                              </m:e>
                              <m:sub>
                                <m:r>
                                  <a:rPr lang="en-GB" sz="2000" b="1" i="1" smtClean="0">
                                    <a:latin typeface="Cambria Math" panose="02040503050406030204" pitchFamily="18" charset="0"/>
                                    <a:cs typeface="Times New Roman" panose="02020603050405020304" pitchFamily="18" charset="0"/>
                                  </a:rPr>
                                  <m:t>𝒋</m:t>
                                </m:r>
                              </m:sub>
                            </m:sSub>
                          </m:e>
                        </m:nary>
                      </m:e>
                    </m:func>
                  </m:oMath>
                </a14:m>
                <a:r>
                  <a:rPr lang="it-IT" sz="2000" b="1" dirty="0">
                    <a:latin typeface="Times New Roman" panose="02020603050405020304" pitchFamily="18" charset="0"/>
                    <a:cs typeface="Times New Roman" panose="02020603050405020304" pitchFamily="18" charset="0"/>
                  </a:rPr>
                  <a:t>     </a:t>
                </a:r>
                <a:r>
                  <a:rPr lang="it-IT" sz="2000" dirty="0">
                    <a:latin typeface="Times New Roman" panose="02020603050405020304" pitchFamily="18" charset="0"/>
                    <a:cs typeface="Times New Roman" panose="02020603050405020304" pitchFamily="18" charset="0"/>
                  </a:rPr>
                  <a:t>Final prediction (weighted majority vote)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00150"/>
                <a:ext cx="8229600" cy="3943350"/>
              </a:xfrm>
              <a:blipFill>
                <a:blip r:embed="rId2"/>
                <a:stretch>
                  <a:fillRect l="-519" t="-927" b="-122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7B9C5D1C-17A7-42E9-B18E-E809C64DB2E5}"/>
                  </a:ext>
                </a:extLst>
              </p:cNvPr>
              <p:cNvSpPr txBox="1"/>
              <p:nvPr/>
            </p:nvSpPr>
            <p:spPr>
              <a:xfrm>
                <a:off x="5638800" y="951430"/>
                <a:ext cx="1674561" cy="635174"/>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𝑗</m:t>
                          </m:r>
                        </m:sub>
                        <m: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𝑤</m:t>
                              </m:r>
                            </m:e>
                            <m: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sup>
                          </m:sSup>
                        </m:num>
                        <m:den>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𝑚</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𝑤</m:t>
                                  </m:r>
                                </m:e>
                                <m:sup>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up>
                              </m:sSup>
                            </m:e>
                          </m:nary>
                        </m:den>
                      </m:f>
                    </m:oMath>
                  </m:oMathPara>
                </a14:m>
                <a:endParaRPr lang="en-US" dirty="0"/>
              </a:p>
            </p:txBody>
          </p:sp>
        </mc:Choice>
        <mc:Fallback>
          <p:sp>
            <p:nvSpPr>
              <p:cNvPr id="7" name="TextBox 6">
                <a:extLst>
                  <a:ext uri="{FF2B5EF4-FFF2-40B4-BE49-F238E27FC236}">
                    <a16:creationId xmlns:a16="http://schemas.microsoft.com/office/drawing/2014/main" id="{7B9C5D1C-17A7-42E9-B18E-E809C64DB2E5}"/>
                  </a:ext>
                </a:extLst>
              </p:cNvPr>
              <p:cNvSpPr txBox="1">
                <a:spLocks noRot="1" noChangeAspect="1" noMove="1" noResize="1" noEditPoints="1" noAdjustHandles="1" noChangeArrowheads="1" noChangeShapeType="1" noTextEdit="1"/>
              </p:cNvSpPr>
              <p:nvPr/>
            </p:nvSpPr>
            <p:spPr>
              <a:xfrm>
                <a:off x="5638800" y="951430"/>
                <a:ext cx="1674561" cy="63517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34329631-0C03-4B93-AFED-EF7942881041}"/>
                  </a:ext>
                </a:extLst>
              </p:cNvPr>
              <p:cNvSpPr txBox="1"/>
              <p:nvPr/>
            </p:nvSpPr>
            <p:spPr>
              <a:xfrm>
                <a:off x="5638800" y="1655064"/>
                <a:ext cx="2401363" cy="756233"/>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𝑗</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𝑚</m:t>
                          </m:r>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𝑗</m:t>
                              </m:r>
                            </m:sub>
                            <m: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sup>
                          </m:sSubSup>
                          <m:d>
                            <m:dPr>
                              <m:begChr m:val="|"/>
                              <m:endChr m:val="|"/>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𝑗</m:t>
                                  </m:r>
                                </m:sub>
                                <m: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𝑦</m:t>
                                  </m:r>
                                </m:e>
                                <m:sub>
                                  <m:r>
                                    <a:rPr lang="en-US" b="0" i="1" smtClean="0">
                                      <a:latin typeface="Cambria Math" panose="02040503050406030204" pitchFamily="18" charset="0"/>
                                    </a:rPr>
                                    <m:t>𝑗</m:t>
                                  </m:r>
                                </m:sub>
                                <m: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sup>
                              </m:sSubSup>
                            </m:e>
                          </m:d>
                        </m:e>
                      </m:nary>
                    </m:oMath>
                  </m:oMathPara>
                </a14:m>
                <a:endParaRPr lang="en-US" dirty="0"/>
              </a:p>
            </p:txBody>
          </p:sp>
        </mc:Choice>
        <mc:Fallback>
          <p:sp>
            <p:nvSpPr>
              <p:cNvPr id="8" name="TextBox 7">
                <a:extLst>
                  <a:ext uri="{FF2B5EF4-FFF2-40B4-BE49-F238E27FC236}">
                    <a16:creationId xmlns:a16="http://schemas.microsoft.com/office/drawing/2014/main" id="{34329631-0C03-4B93-AFED-EF7942881041}"/>
                  </a:ext>
                </a:extLst>
              </p:cNvPr>
              <p:cNvSpPr txBox="1">
                <a:spLocks noRot="1" noChangeAspect="1" noMove="1" noResize="1" noEditPoints="1" noAdjustHandles="1" noChangeArrowheads="1" noChangeShapeType="1" noTextEdit="1"/>
              </p:cNvSpPr>
              <p:nvPr/>
            </p:nvSpPr>
            <p:spPr>
              <a:xfrm>
                <a:off x="5638800" y="1655064"/>
                <a:ext cx="2401363" cy="756233"/>
              </a:xfrm>
              <a:prstGeom prst="rect">
                <a:avLst/>
              </a:prstGeom>
              <a:blipFill>
                <a:blip r:embed="rId4"/>
                <a:stretch>
                  <a:fillRect/>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578D3650-6EAE-42D9-82C0-3E23ADD43E51}"/>
              </a:ext>
            </a:extLst>
          </p:cNvPr>
          <p:cNvSpPr/>
          <p:nvPr/>
        </p:nvSpPr>
        <p:spPr>
          <a:xfrm>
            <a:off x="1219200" y="2114549"/>
            <a:ext cx="1676400" cy="70127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cxnSp>
        <p:nvCxnSpPr>
          <p:cNvPr id="11" name="Straight Arrow Connector 10">
            <a:extLst>
              <a:ext uri="{FF2B5EF4-FFF2-40B4-BE49-F238E27FC236}">
                <a16:creationId xmlns:a16="http://schemas.microsoft.com/office/drawing/2014/main" id="{C0C19AD6-4EA1-4137-881A-F08190E34FBD}"/>
              </a:ext>
            </a:extLst>
          </p:cNvPr>
          <p:cNvCxnSpPr>
            <a:cxnSpLocks/>
            <a:stCxn id="9" idx="3"/>
          </p:cNvCxnSpPr>
          <p:nvPr/>
        </p:nvCxnSpPr>
        <p:spPr>
          <a:xfrm flipV="1">
            <a:off x="2895600" y="1520429"/>
            <a:ext cx="2743200" cy="94476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604F52EF-5F84-48CB-9BE9-022C2A659335}"/>
                  </a:ext>
                </a:extLst>
              </p:cNvPr>
              <p:cNvSpPr txBox="1"/>
              <p:nvPr/>
            </p:nvSpPr>
            <p:spPr>
              <a:xfrm>
                <a:off x="5715000" y="3562350"/>
                <a:ext cx="1730730" cy="711157"/>
              </a:xfrm>
              <a:prstGeom prst="rect">
                <a:avLst/>
              </a:prstGeom>
            </p:spPr>
            <p:style>
              <a:lnRef idx="1">
                <a:schemeClr val="accent5"/>
              </a:lnRef>
              <a:fillRef idx="2">
                <a:schemeClr val="accent5"/>
              </a:fillRef>
              <a:effectRef idx="1">
                <a:schemeClr val="accent5"/>
              </a:effectRef>
              <a:fontRef idx="minor">
                <a:schemeClr val="dk1"/>
              </a:fontRef>
            </p:style>
            <p:txBody>
              <a:bodyPr wrap="none" lIns="0" tIns="0" rIns="0" bIns="0" rtlCol="0">
                <a:spAutoFit/>
              </a:bodyPr>
              <a:lstStyle/>
              <a:p>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𝑇</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𝑗</m:t>
                                  </m:r>
                                </m:sub>
                              </m:sSub>
                            </m:e>
                          </m:nary>
                        </m:num>
                        <m:den>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𝑇</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rPr>
                                    <m:t>𝑗</m:t>
                                  </m:r>
                                </m:sub>
                              </m:sSub>
                            </m:e>
                          </m:nary>
                        </m:den>
                      </m:f>
                    </m:oMath>
                  </m:oMathPara>
                </a14:m>
                <a:endParaRPr lang="en-US" dirty="0"/>
              </a:p>
            </p:txBody>
          </p:sp>
        </mc:Choice>
        <mc:Fallback>
          <p:sp>
            <p:nvSpPr>
              <p:cNvPr id="13" name="TextBox 12">
                <a:extLst>
                  <a:ext uri="{FF2B5EF4-FFF2-40B4-BE49-F238E27FC236}">
                    <a16:creationId xmlns:a16="http://schemas.microsoft.com/office/drawing/2014/main" id="{604F52EF-5F84-48CB-9BE9-022C2A659335}"/>
                  </a:ext>
                </a:extLst>
              </p:cNvPr>
              <p:cNvSpPr txBox="1">
                <a:spLocks noRot="1" noChangeAspect="1" noMove="1" noResize="1" noEditPoints="1" noAdjustHandles="1" noChangeArrowheads="1" noChangeShapeType="1" noTextEdit="1"/>
              </p:cNvSpPr>
              <p:nvPr/>
            </p:nvSpPr>
            <p:spPr>
              <a:xfrm>
                <a:off x="5715000" y="3562350"/>
                <a:ext cx="1730730" cy="711157"/>
              </a:xfrm>
              <a:prstGeom prst="rect">
                <a:avLst/>
              </a:prstGeom>
              <a:blipFill>
                <a:blip r:embed="rId5"/>
                <a:stretch>
                  <a:fillRect/>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0FEA59C7-5049-4FB9-BA86-FB9D1A193BBA}"/>
              </a:ext>
            </a:extLst>
          </p:cNvPr>
          <p:cNvSpPr/>
          <p:nvPr/>
        </p:nvSpPr>
        <p:spPr>
          <a:xfrm>
            <a:off x="838200" y="4476750"/>
            <a:ext cx="3200400" cy="609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3BC44690-3451-4B34-A7C5-F2E72D717BDF}"/>
              </a:ext>
            </a:extLst>
          </p:cNvPr>
          <p:cNvCxnSpPr>
            <a:cxnSpLocks/>
            <a:endCxn id="13" idx="1"/>
          </p:cNvCxnSpPr>
          <p:nvPr/>
        </p:nvCxnSpPr>
        <p:spPr>
          <a:xfrm flipV="1">
            <a:off x="4114800" y="3917929"/>
            <a:ext cx="1600200" cy="86362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95327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3" grpId="0" animBg="1"/>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3DEDCB-C255-4136-A7F1-9EA01539580E}"/>
              </a:ext>
            </a:extLst>
          </p:cNvPr>
          <p:cNvPicPr>
            <a:picLocks noChangeAspect="1"/>
          </p:cNvPicPr>
          <p:nvPr/>
        </p:nvPicPr>
        <p:blipFill>
          <a:blip r:embed="rId2"/>
          <a:stretch>
            <a:fillRect/>
          </a:stretch>
        </p:blipFill>
        <p:spPr>
          <a:xfrm>
            <a:off x="76200" y="819150"/>
            <a:ext cx="8497193" cy="3429000"/>
          </a:xfrm>
          <a:prstGeom prst="rect">
            <a:avLst/>
          </a:prstGeom>
        </p:spPr>
      </p:pic>
      <p:sp>
        <p:nvSpPr>
          <p:cNvPr id="2" name="TextBox 1">
            <a:extLst>
              <a:ext uri="{FF2B5EF4-FFF2-40B4-BE49-F238E27FC236}">
                <a16:creationId xmlns:a16="http://schemas.microsoft.com/office/drawing/2014/main" id="{43CCAAF2-34DA-4FBD-9323-72A74640C909}"/>
              </a:ext>
            </a:extLst>
          </p:cNvPr>
          <p:cNvSpPr txBox="1"/>
          <p:nvPr/>
        </p:nvSpPr>
        <p:spPr>
          <a:xfrm>
            <a:off x="2971800" y="798620"/>
            <a:ext cx="301686" cy="369332"/>
          </a:xfrm>
          <a:prstGeom prst="rect">
            <a:avLst/>
          </a:prstGeom>
          <a:solidFill>
            <a:schemeClr val="bg1"/>
          </a:solidFill>
        </p:spPr>
        <p:txBody>
          <a:bodyPr wrap="none" rtlCol="0">
            <a:spAutoFit/>
          </a:bodyPr>
          <a:lstStyle/>
          <a:p>
            <a:r>
              <a:rPr lang="en-US" dirty="0"/>
              <a:t>1</a:t>
            </a:r>
          </a:p>
        </p:txBody>
      </p:sp>
      <p:sp>
        <p:nvSpPr>
          <p:cNvPr id="4" name="TextBox 3">
            <a:extLst>
              <a:ext uri="{FF2B5EF4-FFF2-40B4-BE49-F238E27FC236}">
                <a16:creationId xmlns:a16="http://schemas.microsoft.com/office/drawing/2014/main" id="{EA5AE81C-6467-497B-AF1B-760A5070D2BC}"/>
              </a:ext>
            </a:extLst>
          </p:cNvPr>
          <p:cNvSpPr txBox="1"/>
          <p:nvPr/>
        </p:nvSpPr>
        <p:spPr>
          <a:xfrm>
            <a:off x="7162800" y="798620"/>
            <a:ext cx="609600" cy="369332"/>
          </a:xfrm>
          <a:prstGeom prst="rect">
            <a:avLst/>
          </a:prstGeom>
          <a:solidFill>
            <a:schemeClr val="bg1"/>
          </a:solidFill>
        </p:spPr>
        <p:txBody>
          <a:bodyPr wrap="square" rtlCol="0">
            <a:spAutoFit/>
          </a:bodyPr>
          <a:lstStyle/>
          <a:p>
            <a:r>
              <a:rPr lang="en-US" dirty="0"/>
              <a:t>0.5</a:t>
            </a:r>
          </a:p>
        </p:txBody>
      </p:sp>
    </p:spTree>
    <p:extLst>
      <p:ext uri="{BB962C8B-B14F-4D97-AF65-F5344CB8AC3E}">
        <p14:creationId xmlns:p14="http://schemas.microsoft.com/office/powerpoint/2010/main" val="2156656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cdn-images-1.medium.com/max/1600/1*OCbjhFH6kfquNOO3RGE9A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710677"/>
            <a:ext cx="5257800" cy="387667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p:cNvSpPr txBox="1"/>
              <p:nvPr/>
            </p:nvSpPr>
            <p:spPr>
              <a:xfrm>
                <a:off x="4157888" y="4272441"/>
                <a:ext cx="2761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oMath>
                  </m:oMathPara>
                </a14:m>
                <a:endParaRPr lang="it-IT" dirty="0"/>
              </a:p>
            </p:txBody>
          </p:sp>
        </mc:Choice>
        <mc:Fallback xmlns="">
          <p:sp>
            <p:nvSpPr>
              <p:cNvPr id="2" name="TextBox 1"/>
              <p:cNvSpPr txBox="1">
                <a:spLocks noRot="1" noChangeAspect="1" noMove="1" noResize="1" noEditPoints="1" noAdjustHandles="1" noChangeArrowheads="1" noChangeShapeType="1" noTextEdit="1"/>
              </p:cNvSpPr>
              <p:nvPr/>
            </p:nvSpPr>
            <p:spPr>
              <a:xfrm>
                <a:off x="4157888" y="4272441"/>
                <a:ext cx="276101" cy="276999"/>
              </a:xfrm>
              <a:prstGeom prst="rect">
                <a:avLst/>
              </a:prstGeom>
              <a:blipFill rotWithShape="0">
                <a:blip r:embed="rId3"/>
                <a:stretch>
                  <a:fillRect l="-13333" r="-8889" b="-1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3200400" y="3562350"/>
                <a:ext cx="2814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oMath>
                  </m:oMathPara>
                </a14:m>
                <a:endParaRPr lang="it-IT" dirty="0"/>
              </a:p>
            </p:txBody>
          </p:sp>
        </mc:Choice>
        <mc:Fallback xmlns="">
          <p:sp>
            <p:nvSpPr>
              <p:cNvPr id="4" name="TextBox 3"/>
              <p:cNvSpPr txBox="1">
                <a:spLocks noRot="1" noChangeAspect="1" noMove="1" noResize="1" noEditPoints="1" noAdjustHandles="1" noChangeArrowheads="1" noChangeShapeType="1" noTextEdit="1"/>
              </p:cNvSpPr>
              <p:nvPr/>
            </p:nvSpPr>
            <p:spPr>
              <a:xfrm>
                <a:off x="3200400" y="3562350"/>
                <a:ext cx="281423" cy="276999"/>
              </a:xfrm>
              <a:prstGeom prst="rect">
                <a:avLst/>
              </a:prstGeom>
              <a:blipFill rotWithShape="0">
                <a:blip r:embed="rId4"/>
                <a:stretch>
                  <a:fillRect l="-13043" r="-6522" b="-15217"/>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2360094" y="2683069"/>
                <a:ext cx="13946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1</m:t>
                      </m:r>
                    </m:oMath>
                  </m:oMathPara>
                </a14:m>
                <a:endParaRPr lang="it-IT" sz="1400" dirty="0"/>
              </a:p>
            </p:txBody>
          </p:sp>
        </mc:Choice>
        <mc:Fallback xmlns="">
          <p:sp>
            <p:nvSpPr>
              <p:cNvPr id="3" name="TextBox 2"/>
              <p:cNvSpPr txBox="1">
                <a:spLocks noRot="1" noChangeAspect="1" noMove="1" noResize="1" noEditPoints="1" noAdjustHandles="1" noChangeArrowheads="1" noChangeShapeType="1" noTextEdit="1"/>
              </p:cNvSpPr>
              <p:nvPr/>
            </p:nvSpPr>
            <p:spPr>
              <a:xfrm>
                <a:off x="2360094" y="2683069"/>
                <a:ext cx="139462" cy="215444"/>
              </a:xfrm>
              <a:prstGeom prst="rect">
                <a:avLst/>
              </a:prstGeom>
              <a:blipFill rotWithShape="0">
                <a:blip r:embed="rId5"/>
                <a:stretch>
                  <a:fillRect l="-30435" r="-26087" b="-5714"/>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572000" y="2683069"/>
                <a:ext cx="16904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4</m:t>
                      </m:r>
                    </m:oMath>
                  </m:oMathPara>
                </a14:m>
                <a:endParaRPr lang="it-IT" sz="1400" dirty="0"/>
              </a:p>
            </p:txBody>
          </p:sp>
        </mc:Choice>
        <mc:Fallback xmlns="">
          <p:sp>
            <p:nvSpPr>
              <p:cNvPr id="6" name="TextBox 5"/>
              <p:cNvSpPr txBox="1">
                <a:spLocks noRot="1" noChangeAspect="1" noMove="1" noResize="1" noEditPoints="1" noAdjustHandles="1" noChangeArrowheads="1" noChangeShapeType="1" noTextEdit="1"/>
              </p:cNvSpPr>
              <p:nvPr/>
            </p:nvSpPr>
            <p:spPr>
              <a:xfrm>
                <a:off x="4572000" y="2683069"/>
                <a:ext cx="169046" cy="215444"/>
              </a:xfrm>
              <a:prstGeom prst="rect">
                <a:avLst/>
              </a:prstGeom>
              <a:blipFill rotWithShape="0">
                <a:blip r:embed="rId6"/>
                <a:stretch>
                  <a:fillRect l="-14286" r="-14286" b="-5714"/>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400800" y="1809750"/>
                <a:ext cx="13946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3</m:t>
                      </m:r>
                    </m:oMath>
                  </m:oMathPara>
                </a14:m>
                <a:endParaRPr lang="it-IT" sz="1400" dirty="0"/>
              </a:p>
            </p:txBody>
          </p:sp>
        </mc:Choice>
        <mc:Fallback xmlns="">
          <p:sp>
            <p:nvSpPr>
              <p:cNvPr id="7" name="TextBox 6"/>
              <p:cNvSpPr txBox="1">
                <a:spLocks noRot="1" noChangeAspect="1" noMove="1" noResize="1" noEditPoints="1" noAdjustHandles="1" noChangeArrowheads="1" noChangeShapeType="1" noTextEdit="1"/>
              </p:cNvSpPr>
              <p:nvPr/>
            </p:nvSpPr>
            <p:spPr>
              <a:xfrm>
                <a:off x="6400800" y="1809750"/>
                <a:ext cx="139461" cy="215444"/>
              </a:xfrm>
              <a:prstGeom prst="rect">
                <a:avLst/>
              </a:prstGeom>
              <a:blipFill rotWithShape="0">
                <a:blip r:embed="rId7"/>
                <a:stretch>
                  <a:fillRect l="-30435" r="-26087" b="-5714"/>
                </a:stretch>
              </a:blipFill>
            </p:spPr>
            <p:txBody>
              <a:bodyPr/>
              <a:lstStyle/>
              <a:p>
                <a:r>
                  <a:rPr lang="it-IT">
                    <a:noFill/>
                  </a:rPr>
                  <a:t> </a:t>
                </a:r>
              </a:p>
            </p:txBody>
          </p:sp>
        </mc:Fallback>
      </mc:AlternateContent>
      <p:sp>
        <p:nvSpPr>
          <p:cNvPr id="5" name="Rectangle 4"/>
          <p:cNvSpPr/>
          <p:nvPr/>
        </p:nvSpPr>
        <p:spPr>
          <a:xfrm>
            <a:off x="431506" y="1110049"/>
            <a:ext cx="838200" cy="3487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9" name="Straight Arrow Connector 8"/>
          <p:cNvCxnSpPr>
            <a:stCxn id="5" idx="2"/>
          </p:cNvCxnSpPr>
          <p:nvPr/>
        </p:nvCxnSpPr>
        <p:spPr>
          <a:xfrm flipH="1">
            <a:off x="507706" y="1458776"/>
            <a:ext cx="342900" cy="260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a:stCxn id="5" idx="2"/>
          </p:cNvCxnSpPr>
          <p:nvPr/>
        </p:nvCxnSpPr>
        <p:spPr>
          <a:xfrm>
            <a:off x="850606" y="1458776"/>
            <a:ext cx="342900" cy="260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507706" y="1145913"/>
                <a:ext cx="70570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&gt;</m:t>
                      </m:r>
                      <m:r>
                        <a:rPr lang="en-GB" b="0" i="1" smtClean="0">
                          <a:latin typeface="Cambria Math" panose="02040503050406030204" pitchFamily="18" charset="0"/>
                        </a:rPr>
                        <m:t>1</m:t>
                      </m:r>
                    </m:oMath>
                  </m:oMathPara>
                </a14:m>
                <a:endParaRPr lang="it-IT" dirty="0"/>
              </a:p>
            </p:txBody>
          </p:sp>
        </mc:Choice>
        <mc:Fallback xmlns="">
          <p:sp>
            <p:nvSpPr>
              <p:cNvPr id="12" name="TextBox 11"/>
              <p:cNvSpPr txBox="1">
                <a:spLocks noRot="1" noChangeAspect="1" noMove="1" noResize="1" noEditPoints="1" noAdjustHandles="1" noChangeArrowheads="1" noChangeShapeType="1" noTextEdit="1"/>
              </p:cNvSpPr>
              <p:nvPr/>
            </p:nvSpPr>
            <p:spPr>
              <a:xfrm>
                <a:off x="507706" y="1145913"/>
                <a:ext cx="705706" cy="276999"/>
              </a:xfrm>
              <a:prstGeom prst="rect">
                <a:avLst/>
              </a:prstGeom>
              <a:blipFill rotWithShape="0">
                <a:blip r:embed="rId8"/>
                <a:stretch>
                  <a:fillRect l="-4310" r="-7759" b="-1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65548" y="1671249"/>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i="1" smtClean="0">
                          <a:solidFill>
                            <a:schemeClr val="accent1"/>
                          </a:solidFill>
                          <a:latin typeface="Cambria Math" panose="02040503050406030204" pitchFamily="18" charset="0"/>
                        </a:rPr>
                        <m:t>+</m:t>
                      </m:r>
                    </m:oMath>
                  </m:oMathPara>
                </a14:m>
                <a:endParaRPr lang="it-IT" dirty="0">
                  <a:solidFill>
                    <a:schemeClr val="accent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365548" y="1671249"/>
                <a:ext cx="226024" cy="276999"/>
              </a:xfrm>
              <a:prstGeom prst="rect">
                <a:avLst/>
              </a:prstGeom>
              <a:blipFill rotWithShape="0">
                <a:blip r:embed="rId9"/>
                <a:stretch>
                  <a:fillRect l="-24324" r="-18919" b="-652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056437" y="1671250"/>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solidFill>
                            <a:schemeClr val="accent2"/>
                          </a:solidFill>
                          <a:latin typeface="Cambria Math" panose="02040503050406030204" pitchFamily="18" charset="0"/>
                        </a:rPr>
                        <m:t>−</m:t>
                      </m:r>
                    </m:oMath>
                  </m:oMathPara>
                </a14:m>
                <a:endParaRPr lang="it-IT" dirty="0">
                  <a:solidFill>
                    <a:schemeClr val="accent2"/>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1056437" y="1671250"/>
                <a:ext cx="226024" cy="276999"/>
              </a:xfrm>
              <a:prstGeom prst="rect">
                <a:avLst/>
              </a:prstGeom>
              <a:blipFill rotWithShape="0">
                <a:blip r:embed="rId10"/>
                <a:stretch>
                  <a:fillRect l="-5405" r="-5405"/>
                </a:stretch>
              </a:blipFill>
            </p:spPr>
            <p:txBody>
              <a:bodyPr/>
              <a:lstStyle/>
              <a:p>
                <a:r>
                  <a:rPr lang="it-IT">
                    <a:noFill/>
                  </a:rPr>
                  <a:t> </a:t>
                </a:r>
              </a:p>
            </p:txBody>
          </p:sp>
        </mc:Fallback>
      </mc:AlternateContent>
      <p:sp>
        <p:nvSpPr>
          <p:cNvPr id="16" name="Rectangle 15"/>
          <p:cNvSpPr/>
          <p:nvPr/>
        </p:nvSpPr>
        <p:spPr>
          <a:xfrm>
            <a:off x="444261" y="2419350"/>
            <a:ext cx="838200" cy="3487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7" name="Straight Arrow Connector 16"/>
          <p:cNvCxnSpPr>
            <a:stCxn id="16" idx="2"/>
          </p:cNvCxnSpPr>
          <p:nvPr/>
        </p:nvCxnSpPr>
        <p:spPr>
          <a:xfrm flipH="1">
            <a:off x="520461" y="2768077"/>
            <a:ext cx="342900" cy="260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6" idx="2"/>
          </p:cNvCxnSpPr>
          <p:nvPr/>
        </p:nvCxnSpPr>
        <p:spPr>
          <a:xfrm>
            <a:off x="863361" y="2768077"/>
            <a:ext cx="342900" cy="260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TextBox 18"/>
              <p:cNvSpPr txBox="1"/>
              <p:nvPr/>
            </p:nvSpPr>
            <p:spPr>
              <a:xfrm>
                <a:off x="520461" y="2455214"/>
                <a:ext cx="70570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&gt;</m:t>
                      </m:r>
                      <m:r>
                        <a:rPr lang="en-GB" b="0" i="1" smtClean="0">
                          <a:latin typeface="Cambria Math" panose="02040503050406030204" pitchFamily="18" charset="0"/>
                        </a:rPr>
                        <m:t>4</m:t>
                      </m:r>
                    </m:oMath>
                  </m:oMathPara>
                </a14:m>
                <a:endParaRPr lang="it-IT" dirty="0"/>
              </a:p>
            </p:txBody>
          </p:sp>
        </mc:Choice>
        <mc:Fallback xmlns="">
          <p:sp>
            <p:nvSpPr>
              <p:cNvPr id="19" name="TextBox 18"/>
              <p:cNvSpPr txBox="1">
                <a:spLocks noRot="1" noChangeAspect="1" noMove="1" noResize="1" noEditPoints="1" noAdjustHandles="1" noChangeArrowheads="1" noChangeShapeType="1" noTextEdit="1"/>
              </p:cNvSpPr>
              <p:nvPr/>
            </p:nvSpPr>
            <p:spPr>
              <a:xfrm>
                <a:off x="520461" y="2455214"/>
                <a:ext cx="705706" cy="276999"/>
              </a:xfrm>
              <a:prstGeom prst="rect">
                <a:avLst/>
              </a:prstGeom>
              <a:blipFill rotWithShape="0">
                <a:blip r:embed="rId11"/>
                <a:stretch>
                  <a:fillRect l="-4310" r="-7759" b="-1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378303" y="2980550"/>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i="1" smtClean="0">
                          <a:solidFill>
                            <a:schemeClr val="accent1"/>
                          </a:solidFill>
                          <a:latin typeface="Cambria Math" panose="02040503050406030204" pitchFamily="18" charset="0"/>
                        </a:rPr>
                        <m:t>+</m:t>
                      </m:r>
                    </m:oMath>
                  </m:oMathPara>
                </a14:m>
                <a:endParaRPr lang="it-IT" dirty="0">
                  <a:solidFill>
                    <a:schemeClr val="accent1"/>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378303" y="2980550"/>
                <a:ext cx="226024" cy="276999"/>
              </a:xfrm>
              <a:prstGeom prst="rect">
                <a:avLst/>
              </a:prstGeom>
              <a:blipFill rotWithShape="0">
                <a:blip r:embed="rId12"/>
                <a:stretch>
                  <a:fillRect l="-21622" r="-21622" b="-6667"/>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1069192" y="2980551"/>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solidFill>
                            <a:schemeClr val="accent2"/>
                          </a:solidFill>
                          <a:latin typeface="Cambria Math" panose="02040503050406030204" pitchFamily="18" charset="0"/>
                        </a:rPr>
                        <m:t>−</m:t>
                      </m:r>
                    </m:oMath>
                  </m:oMathPara>
                </a14:m>
                <a:endParaRPr lang="it-IT" dirty="0">
                  <a:solidFill>
                    <a:schemeClr val="accent2"/>
                  </a:solidFill>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1069192" y="2980551"/>
                <a:ext cx="226024" cy="276999"/>
              </a:xfrm>
              <a:prstGeom prst="rect">
                <a:avLst/>
              </a:prstGeom>
              <a:blipFill rotWithShape="0">
                <a:blip r:embed="rId13"/>
                <a:stretch>
                  <a:fillRect l="-5405" r="-5405"/>
                </a:stretch>
              </a:blipFill>
            </p:spPr>
            <p:txBody>
              <a:bodyPr/>
              <a:lstStyle/>
              <a:p>
                <a:r>
                  <a:rPr lang="it-IT">
                    <a:noFill/>
                  </a:rPr>
                  <a:t> </a:t>
                </a:r>
              </a:p>
            </p:txBody>
          </p:sp>
        </mc:Fallback>
      </mc:AlternateContent>
      <p:sp>
        <p:nvSpPr>
          <p:cNvPr id="22" name="Rectangle 21"/>
          <p:cNvSpPr/>
          <p:nvPr/>
        </p:nvSpPr>
        <p:spPr>
          <a:xfrm>
            <a:off x="444261" y="3761453"/>
            <a:ext cx="838200" cy="3487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3" name="Straight Arrow Connector 22"/>
          <p:cNvCxnSpPr>
            <a:stCxn id="22" idx="2"/>
          </p:cNvCxnSpPr>
          <p:nvPr/>
        </p:nvCxnSpPr>
        <p:spPr>
          <a:xfrm flipH="1">
            <a:off x="520461" y="4110180"/>
            <a:ext cx="342900" cy="260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22" idx="2"/>
          </p:cNvCxnSpPr>
          <p:nvPr/>
        </p:nvCxnSpPr>
        <p:spPr>
          <a:xfrm>
            <a:off x="863361" y="4110180"/>
            <a:ext cx="342900" cy="260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520461" y="3797317"/>
                <a:ext cx="7110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r>
                        <a:rPr lang="en-GB" b="0" i="1" smtClean="0">
                          <a:latin typeface="Cambria Math" panose="02040503050406030204" pitchFamily="18" charset="0"/>
                        </a:rPr>
                        <m:t>&lt;</m:t>
                      </m:r>
                      <m:r>
                        <a:rPr lang="en-GB" b="0" i="1" smtClean="0">
                          <a:latin typeface="Cambria Math" panose="02040503050406030204" pitchFamily="18" charset="0"/>
                        </a:rPr>
                        <m:t>3</m:t>
                      </m:r>
                    </m:oMath>
                  </m:oMathPara>
                </a14:m>
                <a:endParaRPr lang="it-IT" dirty="0"/>
              </a:p>
            </p:txBody>
          </p:sp>
        </mc:Choice>
        <mc:Fallback xmlns="">
          <p:sp>
            <p:nvSpPr>
              <p:cNvPr id="25" name="TextBox 24"/>
              <p:cNvSpPr txBox="1">
                <a:spLocks noRot="1" noChangeAspect="1" noMove="1" noResize="1" noEditPoints="1" noAdjustHandles="1" noChangeArrowheads="1" noChangeShapeType="1" noTextEdit="1"/>
              </p:cNvSpPr>
              <p:nvPr/>
            </p:nvSpPr>
            <p:spPr>
              <a:xfrm>
                <a:off x="520461" y="3797317"/>
                <a:ext cx="711028" cy="276999"/>
              </a:xfrm>
              <a:prstGeom prst="rect">
                <a:avLst/>
              </a:prstGeom>
              <a:blipFill rotWithShape="0">
                <a:blip r:embed="rId14"/>
                <a:stretch>
                  <a:fillRect l="-4274" r="-7692" b="-1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378303" y="4322653"/>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i="1" smtClean="0">
                          <a:solidFill>
                            <a:schemeClr val="accent1"/>
                          </a:solidFill>
                          <a:latin typeface="Cambria Math" panose="02040503050406030204" pitchFamily="18" charset="0"/>
                        </a:rPr>
                        <m:t>+</m:t>
                      </m:r>
                    </m:oMath>
                  </m:oMathPara>
                </a14:m>
                <a:endParaRPr lang="it-IT" dirty="0">
                  <a:solidFill>
                    <a:schemeClr val="accent1"/>
                  </a:solidFill>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378303" y="4322653"/>
                <a:ext cx="226024" cy="276999"/>
              </a:xfrm>
              <a:prstGeom prst="rect">
                <a:avLst/>
              </a:prstGeom>
              <a:blipFill rotWithShape="0">
                <a:blip r:embed="rId15"/>
                <a:stretch>
                  <a:fillRect l="-21622" r="-21622" b="-652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1069192" y="4322654"/>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solidFill>
                            <a:schemeClr val="accent2"/>
                          </a:solidFill>
                          <a:latin typeface="Cambria Math" panose="02040503050406030204" pitchFamily="18" charset="0"/>
                        </a:rPr>
                        <m:t>−</m:t>
                      </m:r>
                    </m:oMath>
                  </m:oMathPara>
                </a14:m>
                <a:endParaRPr lang="it-IT" dirty="0">
                  <a:solidFill>
                    <a:schemeClr val="accent2"/>
                  </a:solidFill>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1069192" y="4322654"/>
                <a:ext cx="226024" cy="276999"/>
              </a:xfrm>
              <a:prstGeom prst="rect">
                <a:avLst/>
              </a:prstGeom>
              <a:blipFill rotWithShape="0">
                <a:blip r:embed="rId16"/>
                <a:stretch>
                  <a:fillRect l="-5405" r="-5405"/>
                </a:stretch>
              </a:blipFill>
            </p:spPr>
            <p:txBody>
              <a:bodyPr/>
              <a:lstStyle/>
              <a:p>
                <a:r>
                  <a:rPr lang="it-IT">
                    <a:noFill/>
                  </a:rPr>
                  <a:t> </a:t>
                </a:r>
              </a:p>
            </p:txBody>
          </p:sp>
        </mc:Fallback>
      </mc:AlternateContent>
      <p:sp>
        <p:nvSpPr>
          <p:cNvPr id="13" name="Rectangle 12"/>
          <p:cNvSpPr/>
          <p:nvPr/>
        </p:nvSpPr>
        <p:spPr>
          <a:xfrm>
            <a:off x="3962400" y="710677"/>
            <a:ext cx="471589" cy="6418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9" name="Rectangle 28"/>
          <p:cNvSpPr/>
          <p:nvPr/>
        </p:nvSpPr>
        <p:spPr>
          <a:xfrm>
            <a:off x="5772448" y="2874115"/>
            <a:ext cx="471589" cy="6418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0" name="Rectangle 29"/>
          <p:cNvSpPr/>
          <p:nvPr/>
        </p:nvSpPr>
        <p:spPr>
          <a:xfrm>
            <a:off x="2360094" y="2912030"/>
            <a:ext cx="471589" cy="6418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8" name="TextBox 27"/>
          <p:cNvSpPr txBox="1"/>
          <p:nvPr/>
        </p:nvSpPr>
        <p:spPr>
          <a:xfrm>
            <a:off x="591572" y="798013"/>
            <a:ext cx="386644" cy="307777"/>
          </a:xfrm>
          <a:prstGeom prst="rect">
            <a:avLst/>
          </a:prstGeom>
          <a:noFill/>
        </p:spPr>
        <p:txBody>
          <a:bodyPr wrap="none" rtlCol="0">
            <a:spAutoFit/>
          </a:bodyPr>
          <a:lstStyle/>
          <a:p>
            <a:r>
              <a:rPr lang="en-GB" sz="1400" dirty="0"/>
              <a:t>D1</a:t>
            </a:r>
            <a:endParaRPr lang="it-IT" sz="1400" dirty="0"/>
          </a:p>
        </p:txBody>
      </p:sp>
      <p:sp>
        <p:nvSpPr>
          <p:cNvPr id="32" name="TextBox 31"/>
          <p:cNvSpPr txBox="1"/>
          <p:nvPr/>
        </p:nvSpPr>
        <p:spPr>
          <a:xfrm>
            <a:off x="612085" y="2107314"/>
            <a:ext cx="386644" cy="307777"/>
          </a:xfrm>
          <a:prstGeom prst="rect">
            <a:avLst/>
          </a:prstGeom>
          <a:noFill/>
        </p:spPr>
        <p:txBody>
          <a:bodyPr wrap="none" rtlCol="0">
            <a:spAutoFit/>
          </a:bodyPr>
          <a:lstStyle/>
          <a:p>
            <a:r>
              <a:rPr lang="en-GB" sz="1400" dirty="0"/>
              <a:t>D2</a:t>
            </a:r>
            <a:endParaRPr lang="it-IT" sz="1400" dirty="0"/>
          </a:p>
        </p:txBody>
      </p:sp>
      <p:sp>
        <p:nvSpPr>
          <p:cNvPr id="33" name="TextBox 32"/>
          <p:cNvSpPr txBox="1"/>
          <p:nvPr/>
        </p:nvSpPr>
        <p:spPr>
          <a:xfrm>
            <a:off x="657284" y="3515988"/>
            <a:ext cx="386644" cy="307777"/>
          </a:xfrm>
          <a:prstGeom prst="rect">
            <a:avLst/>
          </a:prstGeom>
          <a:noFill/>
        </p:spPr>
        <p:txBody>
          <a:bodyPr wrap="none" rtlCol="0">
            <a:spAutoFit/>
          </a:bodyPr>
          <a:lstStyle/>
          <a:p>
            <a:r>
              <a:rPr lang="en-GB" sz="1400" dirty="0"/>
              <a:t>D3</a:t>
            </a:r>
            <a:endParaRPr lang="it-IT" sz="1400" dirty="0"/>
          </a:p>
        </p:txBody>
      </p:sp>
      <p:sp>
        <p:nvSpPr>
          <p:cNvPr id="31" name="TextBox 30"/>
          <p:cNvSpPr txBox="1"/>
          <p:nvPr/>
        </p:nvSpPr>
        <p:spPr>
          <a:xfrm>
            <a:off x="946345" y="1418451"/>
            <a:ext cx="260008" cy="276999"/>
          </a:xfrm>
          <a:prstGeom prst="rect">
            <a:avLst/>
          </a:prstGeom>
          <a:noFill/>
        </p:spPr>
        <p:txBody>
          <a:bodyPr wrap="none" rtlCol="0">
            <a:spAutoFit/>
          </a:bodyPr>
          <a:lstStyle/>
          <a:p>
            <a:r>
              <a:rPr lang="en-GB" sz="1200" b="1" dirty="0"/>
              <a:t>T</a:t>
            </a:r>
            <a:endParaRPr lang="it-IT" sz="1200" b="1" dirty="0"/>
          </a:p>
        </p:txBody>
      </p:sp>
      <p:sp>
        <p:nvSpPr>
          <p:cNvPr id="35" name="TextBox 34"/>
          <p:cNvSpPr txBox="1"/>
          <p:nvPr/>
        </p:nvSpPr>
        <p:spPr>
          <a:xfrm>
            <a:off x="1022453" y="2751951"/>
            <a:ext cx="260008" cy="276999"/>
          </a:xfrm>
          <a:prstGeom prst="rect">
            <a:avLst/>
          </a:prstGeom>
          <a:noFill/>
        </p:spPr>
        <p:txBody>
          <a:bodyPr wrap="none" rtlCol="0">
            <a:spAutoFit/>
          </a:bodyPr>
          <a:lstStyle/>
          <a:p>
            <a:r>
              <a:rPr lang="en-GB" sz="1200" b="1" dirty="0"/>
              <a:t>T</a:t>
            </a:r>
            <a:endParaRPr lang="it-IT" sz="1200" b="1" dirty="0"/>
          </a:p>
        </p:txBody>
      </p:sp>
      <p:sp>
        <p:nvSpPr>
          <p:cNvPr id="36" name="TextBox 35"/>
          <p:cNvSpPr txBox="1"/>
          <p:nvPr/>
        </p:nvSpPr>
        <p:spPr>
          <a:xfrm>
            <a:off x="1009698" y="4102116"/>
            <a:ext cx="260008" cy="276999"/>
          </a:xfrm>
          <a:prstGeom prst="rect">
            <a:avLst/>
          </a:prstGeom>
          <a:noFill/>
        </p:spPr>
        <p:txBody>
          <a:bodyPr wrap="none" rtlCol="0">
            <a:spAutoFit/>
          </a:bodyPr>
          <a:lstStyle/>
          <a:p>
            <a:r>
              <a:rPr lang="en-GB" sz="1200" b="1" dirty="0"/>
              <a:t>T</a:t>
            </a:r>
            <a:endParaRPr lang="it-IT" sz="1200" b="1" dirty="0"/>
          </a:p>
        </p:txBody>
      </p:sp>
      <p:sp>
        <p:nvSpPr>
          <p:cNvPr id="37" name="TextBox 36"/>
          <p:cNvSpPr txBox="1"/>
          <p:nvPr/>
        </p:nvSpPr>
        <p:spPr>
          <a:xfrm>
            <a:off x="460116" y="1418451"/>
            <a:ext cx="255198" cy="276999"/>
          </a:xfrm>
          <a:prstGeom prst="rect">
            <a:avLst/>
          </a:prstGeom>
          <a:noFill/>
        </p:spPr>
        <p:txBody>
          <a:bodyPr wrap="none" rtlCol="0">
            <a:spAutoFit/>
          </a:bodyPr>
          <a:lstStyle/>
          <a:p>
            <a:r>
              <a:rPr lang="en-GB" sz="1200" b="1" dirty="0"/>
              <a:t>F</a:t>
            </a:r>
            <a:endParaRPr lang="it-IT" sz="1200" b="1" dirty="0"/>
          </a:p>
        </p:txBody>
      </p:sp>
      <p:sp>
        <p:nvSpPr>
          <p:cNvPr id="38" name="TextBox 37"/>
          <p:cNvSpPr txBox="1"/>
          <p:nvPr/>
        </p:nvSpPr>
        <p:spPr>
          <a:xfrm>
            <a:off x="506745" y="2743029"/>
            <a:ext cx="239740" cy="276999"/>
          </a:xfrm>
          <a:prstGeom prst="rect">
            <a:avLst/>
          </a:prstGeom>
          <a:noFill/>
        </p:spPr>
        <p:txBody>
          <a:bodyPr wrap="square" rtlCol="0">
            <a:spAutoFit/>
          </a:bodyPr>
          <a:lstStyle/>
          <a:p>
            <a:r>
              <a:rPr lang="en-GB" sz="1200" b="1" dirty="0"/>
              <a:t>F</a:t>
            </a:r>
            <a:endParaRPr lang="it-IT" sz="1200" b="1" dirty="0"/>
          </a:p>
        </p:txBody>
      </p:sp>
      <p:sp>
        <p:nvSpPr>
          <p:cNvPr id="39" name="TextBox 38"/>
          <p:cNvSpPr txBox="1"/>
          <p:nvPr/>
        </p:nvSpPr>
        <p:spPr>
          <a:xfrm>
            <a:off x="478646" y="4090614"/>
            <a:ext cx="255198" cy="276999"/>
          </a:xfrm>
          <a:prstGeom prst="rect">
            <a:avLst/>
          </a:prstGeom>
          <a:noFill/>
        </p:spPr>
        <p:txBody>
          <a:bodyPr wrap="none" rtlCol="0">
            <a:spAutoFit/>
          </a:bodyPr>
          <a:lstStyle/>
          <a:p>
            <a:r>
              <a:rPr lang="en-GB" sz="1200" b="1" dirty="0"/>
              <a:t>F</a:t>
            </a:r>
            <a:endParaRPr lang="it-IT" sz="1200" b="1" dirty="0"/>
          </a:p>
        </p:txBody>
      </p:sp>
      <p:sp>
        <p:nvSpPr>
          <p:cNvPr id="34" name="Rectangle 33"/>
          <p:cNvSpPr/>
          <p:nvPr/>
        </p:nvSpPr>
        <p:spPr>
          <a:xfrm>
            <a:off x="4953000" y="3839349"/>
            <a:ext cx="990600" cy="483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 name="TextBox 39"/>
          <p:cNvSpPr txBox="1"/>
          <p:nvPr/>
        </p:nvSpPr>
        <p:spPr>
          <a:xfrm>
            <a:off x="2109889" y="217928"/>
            <a:ext cx="4648200" cy="369332"/>
          </a:xfrm>
          <a:prstGeom prst="rect">
            <a:avLst/>
          </a:prstGeom>
          <a:noFill/>
        </p:spPr>
        <p:txBody>
          <a:bodyPr wrap="square" rtlCol="0">
            <a:spAutoFit/>
          </a:bodyPr>
          <a:lstStyle/>
          <a:p>
            <a:r>
              <a:rPr lang="en-GB" dirty="0"/>
              <a:t>Example: Boosting Decision Stumps (1-level DT)</a:t>
            </a:r>
            <a:endParaRPr lang="it-IT" dirty="0"/>
          </a:p>
        </p:txBody>
      </p:sp>
      <p:sp>
        <p:nvSpPr>
          <p:cNvPr id="42" name="Rectangle 41"/>
          <p:cNvSpPr/>
          <p:nvPr/>
        </p:nvSpPr>
        <p:spPr>
          <a:xfrm>
            <a:off x="7294752" y="2391816"/>
            <a:ext cx="838200" cy="3487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43" name="Straight Arrow Connector 42"/>
          <p:cNvCxnSpPr>
            <a:stCxn id="42" idx="2"/>
          </p:cNvCxnSpPr>
          <p:nvPr/>
        </p:nvCxnSpPr>
        <p:spPr>
          <a:xfrm flipH="1">
            <a:off x="7370952" y="2740543"/>
            <a:ext cx="342900" cy="260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p:cNvCxnSpPr>
            <a:stCxn id="42" idx="2"/>
          </p:cNvCxnSpPr>
          <p:nvPr/>
        </p:nvCxnSpPr>
        <p:spPr>
          <a:xfrm>
            <a:off x="7713852" y="2740543"/>
            <a:ext cx="342900" cy="260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5" name="TextBox 44"/>
              <p:cNvSpPr txBox="1"/>
              <p:nvPr/>
            </p:nvSpPr>
            <p:spPr>
              <a:xfrm>
                <a:off x="7370952" y="2427680"/>
                <a:ext cx="70570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&gt;</m:t>
                      </m:r>
                      <m:r>
                        <a:rPr lang="en-GB" b="0" i="1" smtClean="0">
                          <a:latin typeface="Cambria Math" panose="02040503050406030204" pitchFamily="18" charset="0"/>
                        </a:rPr>
                        <m:t>1</m:t>
                      </m:r>
                    </m:oMath>
                  </m:oMathPara>
                </a14:m>
                <a:endParaRPr lang="it-IT" dirty="0"/>
              </a:p>
            </p:txBody>
          </p:sp>
        </mc:Choice>
        <mc:Fallback xmlns="">
          <p:sp>
            <p:nvSpPr>
              <p:cNvPr id="45" name="TextBox 44"/>
              <p:cNvSpPr txBox="1">
                <a:spLocks noRot="1" noChangeAspect="1" noMove="1" noResize="1" noEditPoints="1" noAdjustHandles="1" noChangeArrowheads="1" noChangeShapeType="1" noTextEdit="1"/>
              </p:cNvSpPr>
              <p:nvPr/>
            </p:nvSpPr>
            <p:spPr>
              <a:xfrm>
                <a:off x="7370952" y="2427680"/>
                <a:ext cx="705706" cy="276999"/>
              </a:xfrm>
              <a:prstGeom prst="rect">
                <a:avLst/>
              </a:prstGeom>
              <a:blipFill rotWithShape="0">
                <a:blip r:embed="rId17"/>
                <a:stretch>
                  <a:fillRect l="-4310" r="-7759" b="-15217"/>
                </a:stretch>
              </a:blipFill>
            </p:spPr>
            <p:txBody>
              <a:bodyPr/>
              <a:lstStyle/>
              <a:p>
                <a:r>
                  <a:rPr lang="it-IT">
                    <a:noFill/>
                  </a:rPr>
                  <a:t> </a:t>
                </a:r>
              </a:p>
            </p:txBody>
          </p:sp>
        </mc:Fallback>
      </mc:AlternateContent>
      <p:sp>
        <p:nvSpPr>
          <p:cNvPr id="46" name="TextBox 45"/>
          <p:cNvSpPr txBox="1"/>
          <p:nvPr/>
        </p:nvSpPr>
        <p:spPr>
          <a:xfrm>
            <a:off x="7809591" y="2700218"/>
            <a:ext cx="260008" cy="276999"/>
          </a:xfrm>
          <a:prstGeom prst="rect">
            <a:avLst/>
          </a:prstGeom>
          <a:noFill/>
        </p:spPr>
        <p:txBody>
          <a:bodyPr wrap="none" rtlCol="0">
            <a:spAutoFit/>
          </a:bodyPr>
          <a:lstStyle/>
          <a:p>
            <a:r>
              <a:rPr lang="en-GB" sz="1200" b="1" dirty="0"/>
              <a:t>T</a:t>
            </a:r>
            <a:endParaRPr lang="it-IT" sz="1200" b="1" dirty="0"/>
          </a:p>
        </p:txBody>
      </p:sp>
      <p:sp>
        <p:nvSpPr>
          <p:cNvPr id="47" name="TextBox 46"/>
          <p:cNvSpPr txBox="1"/>
          <p:nvPr/>
        </p:nvSpPr>
        <p:spPr>
          <a:xfrm>
            <a:off x="7343438" y="2708019"/>
            <a:ext cx="255198" cy="276999"/>
          </a:xfrm>
          <a:prstGeom prst="rect">
            <a:avLst/>
          </a:prstGeom>
          <a:noFill/>
        </p:spPr>
        <p:txBody>
          <a:bodyPr wrap="none" rtlCol="0">
            <a:spAutoFit/>
          </a:bodyPr>
          <a:lstStyle/>
          <a:p>
            <a:r>
              <a:rPr lang="en-GB" sz="1200" b="1" dirty="0"/>
              <a:t>F</a:t>
            </a:r>
            <a:endParaRPr lang="it-IT" sz="1200" b="1" dirty="0"/>
          </a:p>
        </p:txBody>
      </p:sp>
      <mc:AlternateContent xmlns:mc="http://schemas.openxmlformats.org/markup-compatibility/2006" xmlns:a14="http://schemas.microsoft.com/office/drawing/2010/main">
        <mc:Choice Requires="a14">
          <p:sp>
            <p:nvSpPr>
              <p:cNvPr id="48" name="TextBox 47"/>
              <p:cNvSpPr txBox="1"/>
              <p:nvPr/>
            </p:nvSpPr>
            <p:spPr>
              <a:xfrm>
                <a:off x="7278016" y="3036534"/>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i="1" smtClean="0">
                          <a:solidFill>
                            <a:schemeClr val="accent1"/>
                          </a:solidFill>
                          <a:latin typeface="Cambria Math" panose="02040503050406030204" pitchFamily="18" charset="0"/>
                        </a:rPr>
                        <m:t>+</m:t>
                      </m:r>
                    </m:oMath>
                  </m:oMathPara>
                </a14:m>
                <a:endParaRPr lang="it-IT" dirty="0">
                  <a:solidFill>
                    <a:schemeClr val="accent1"/>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7278016" y="3036534"/>
                <a:ext cx="226024" cy="276999"/>
              </a:xfrm>
              <a:prstGeom prst="rect">
                <a:avLst/>
              </a:prstGeom>
              <a:blipFill rotWithShape="0">
                <a:blip r:embed="rId18"/>
                <a:stretch>
                  <a:fillRect l="-24324" r="-18919" b="-6522"/>
                </a:stretch>
              </a:blipFill>
            </p:spPr>
            <p:txBody>
              <a:bodyPr/>
              <a:lstStyle/>
              <a:p>
                <a:r>
                  <a:rPr lang="it-IT">
                    <a:noFill/>
                  </a:rPr>
                  <a:t> </a:t>
                </a:r>
              </a:p>
            </p:txBody>
          </p:sp>
        </mc:Fallback>
      </mc:AlternateContent>
      <p:sp>
        <p:nvSpPr>
          <p:cNvPr id="49" name="Rectangle 48"/>
          <p:cNvSpPr/>
          <p:nvPr/>
        </p:nvSpPr>
        <p:spPr>
          <a:xfrm>
            <a:off x="7728931" y="3078122"/>
            <a:ext cx="838200" cy="3487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50" name="Straight Arrow Connector 49"/>
          <p:cNvCxnSpPr>
            <a:stCxn id="49" idx="2"/>
          </p:cNvCxnSpPr>
          <p:nvPr/>
        </p:nvCxnSpPr>
        <p:spPr>
          <a:xfrm flipH="1">
            <a:off x="7805131" y="3426849"/>
            <a:ext cx="342900" cy="260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a:stCxn id="49" idx="2"/>
          </p:cNvCxnSpPr>
          <p:nvPr/>
        </p:nvCxnSpPr>
        <p:spPr>
          <a:xfrm>
            <a:off x="8148031" y="3426849"/>
            <a:ext cx="342900" cy="260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2" name="TextBox 51"/>
              <p:cNvSpPr txBox="1"/>
              <p:nvPr/>
            </p:nvSpPr>
            <p:spPr>
              <a:xfrm>
                <a:off x="7805131" y="3113986"/>
                <a:ext cx="7110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r>
                        <a:rPr lang="en-GB" b="0" i="1" smtClean="0">
                          <a:latin typeface="Cambria Math" panose="02040503050406030204" pitchFamily="18" charset="0"/>
                        </a:rPr>
                        <m:t>&lt;</m:t>
                      </m:r>
                      <m:r>
                        <a:rPr lang="en-GB" b="0" i="1" smtClean="0">
                          <a:latin typeface="Cambria Math" panose="02040503050406030204" pitchFamily="18" charset="0"/>
                        </a:rPr>
                        <m:t>3</m:t>
                      </m:r>
                    </m:oMath>
                  </m:oMathPara>
                </a14:m>
                <a:endParaRPr lang="it-IT" dirty="0"/>
              </a:p>
            </p:txBody>
          </p:sp>
        </mc:Choice>
        <mc:Fallback xmlns="">
          <p:sp>
            <p:nvSpPr>
              <p:cNvPr id="52" name="TextBox 51"/>
              <p:cNvSpPr txBox="1">
                <a:spLocks noRot="1" noChangeAspect="1" noMove="1" noResize="1" noEditPoints="1" noAdjustHandles="1" noChangeArrowheads="1" noChangeShapeType="1" noTextEdit="1"/>
              </p:cNvSpPr>
              <p:nvPr/>
            </p:nvSpPr>
            <p:spPr>
              <a:xfrm>
                <a:off x="7805131" y="3113986"/>
                <a:ext cx="711028" cy="276999"/>
              </a:xfrm>
              <a:prstGeom prst="rect">
                <a:avLst/>
              </a:prstGeom>
              <a:blipFill rotWithShape="0">
                <a:blip r:embed="rId19"/>
                <a:stretch>
                  <a:fillRect l="-4274" r="-7692" b="-1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8353862" y="3639323"/>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solidFill>
                            <a:schemeClr val="accent2"/>
                          </a:solidFill>
                          <a:latin typeface="Cambria Math" panose="02040503050406030204" pitchFamily="18" charset="0"/>
                        </a:rPr>
                        <m:t>−</m:t>
                      </m:r>
                    </m:oMath>
                  </m:oMathPara>
                </a14:m>
                <a:endParaRPr lang="it-IT" dirty="0">
                  <a:solidFill>
                    <a:schemeClr val="accent2"/>
                  </a:solidFill>
                </a:endParaRPr>
              </a:p>
            </p:txBody>
          </p:sp>
        </mc:Choice>
        <mc:Fallback xmlns="">
          <p:sp>
            <p:nvSpPr>
              <p:cNvPr id="54" name="TextBox 53"/>
              <p:cNvSpPr txBox="1">
                <a:spLocks noRot="1" noChangeAspect="1" noMove="1" noResize="1" noEditPoints="1" noAdjustHandles="1" noChangeArrowheads="1" noChangeShapeType="1" noTextEdit="1"/>
              </p:cNvSpPr>
              <p:nvPr/>
            </p:nvSpPr>
            <p:spPr>
              <a:xfrm>
                <a:off x="8353862" y="3639323"/>
                <a:ext cx="226024" cy="276999"/>
              </a:xfrm>
              <a:prstGeom prst="rect">
                <a:avLst/>
              </a:prstGeom>
              <a:blipFill rotWithShape="0">
                <a:blip r:embed="rId13"/>
                <a:stretch>
                  <a:fillRect l="-5405" r="-5405"/>
                </a:stretch>
              </a:blipFill>
            </p:spPr>
            <p:txBody>
              <a:bodyPr/>
              <a:lstStyle/>
              <a:p>
                <a:r>
                  <a:rPr lang="it-IT">
                    <a:noFill/>
                  </a:rPr>
                  <a:t> </a:t>
                </a:r>
              </a:p>
            </p:txBody>
          </p:sp>
        </mc:Fallback>
      </mc:AlternateContent>
      <p:sp>
        <p:nvSpPr>
          <p:cNvPr id="56" name="TextBox 55"/>
          <p:cNvSpPr txBox="1"/>
          <p:nvPr/>
        </p:nvSpPr>
        <p:spPr>
          <a:xfrm>
            <a:off x="8294368" y="3418785"/>
            <a:ext cx="260008" cy="276999"/>
          </a:xfrm>
          <a:prstGeom prst="rect">
            <a:avLst/>
          </a:prstGeom>
          <a:noFill/>
        </p:spPr>
        <p:txBody>
          <a:bodyPr wrap="none" rtlCol="0">
            <a:spAutoFit/>
          </a:bodyPr>
          <a:lstStyle/>
          <a:p>
            <a:r>
              <a:rPr lang="en-GB" sz="1200" b="1" dirty="0"/>
              <a:t>T</a:t>
            </a:r>
            <a:endParaRPr lang="it-IT" sz="1200" b="1" dirty="0"/>
          </a:p>
        </p:txBody>
      </p:sp>
      <p:sp>
        <p:nvSpPr>
          <p:cNvPr id="57" name="TextBox 56"/>
          <p:cNvSpPr txBox="1"/>
          <p:nvPr/>
        </p:nvSpPr>
        <p:spPr>
          <a:xfrm>
            <a:off x="7763316" y="3407283"/>
            <a:ext cx="255198" cy="276999"/>
          </a:xfrm>
          <a:prstGeom prst="rect">
            <a:avLst/>
          </a:prstGeom>
          <a:noFill/>
        </p:spPr>
        <p:txBody>
          <a:bodyPr wrap="none" rtlCol="0">
            <a:spAutoFit/>
          </a:bodyPr>
          <a:lstStyle/>
          <a:p>
            <a:r>
              <a:rPr lang="en-GB" sz="1200" b="1" dirty="0"/>
              <a:t>F</a:t>
            </a:r>
            <a:endParaRPr lang="it-IT" sz="1200" b="1" dirty="0"/>
          </a:p>
        </p:txBody>
      </p:sp>
      <p:sp>
        <p:nvSpPr>
          <p:cNvPr id="58" name="Rectangle 57"/>
          <p:cNvSpPr/>
          <p:nvPr/>
        </p:nvSpPr>
        <p:spPr>
          <a:xfrm>
            <a:off x="7439023" y="3758704"/>
            <a:ext cx="838200" cy="3487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59" name="Straight Arrow Connector 58"/>
          <p:cNvCxnSpPr>
            <a:stCxn id="58" idx="2"/>
          </p:cNvCxnSpPr>
          <p:nvPr/>
        </p:nvCxnSpPr>
        <p:spPr>
          <a:xfrm flipH="1">
            <a:off x="7515223" y="4107431"/>
            <a:ext cx="342900" cy="260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p:cNvCxnSpPr>
            <a:stCxn id="58" idx="2"/>
          </p:cNvCxnSpPr>
          <p:nvPr/>
        </p:nvCxnSpPr>
        <p:spPr>
          <a:xfrm>
            <a:off x="7858123" y="4107431"/>
            <a:ext cx="342900" cy="260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1" name="TextBox 60"/>
              <p:cNvSpPr txBox="1"/>
              <p:nvPr/>
            </p:nvSpPr>
            <p:spPr>
              <a:xfrm>
                <a:off x="7515223" y="3794568"/>
                <a:ext cx="70570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&gt;</m:t>
                      </m:r>
                      <m:r>
                        <a:rPr lang="en-GB" b="0" i="1" smtClean="0">
                          <a:latin typeface="Cambria Math" panose="02040503050406030204" pitchFamily="18" charset="0"/>
                        </a:rPr>
                        <m:t>4</m:t>
                      </m:r>
                    </m:oMath>
                  </m:oMathPara>
                </a14:m>
                <a:endParaRPr lang="it-IT" dirty="0"/>
              </a:p>
            </p:txBody>
          </p:sp>
        </mc:Choice>
        <mc:Fallback xmlns="">
          <p:sp>
            <p:nvSpPr>
              <p:cNvPr id="61" name="TextBox 60"/>
              <p:cNvSpPr txBox="1">
                <a:spLocks noRot="1" noChangeAspect="1" noMove="1" noResize="1" noEditPoints="1" noAdjustHandles="1" noChangeArrowheads="1" noChangeShapeType="1" noTextEdit="1"/>
              </p:cNvSpPr>
              <p:nvPr/>
            </p:nvSpPr>
            <p:spPr>
              <a:xfrm>
                <a:off x="7515223" y="3794568"/>
                <a:ext cx="705706" cy="276999"/>
              </a:xfrm>
              <a:prstGeom prst="rect">
                <a:avLst/>
              </a:prstGeom>
              <a:blipFill rotWithShape="0">
                <a:blip r:embed="rId20"/>
                <a:stretch>
                  <a:fillRect l="-4310" r="-6897" b="-15217"/>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2" name="TextBox 61"/>
              <p:cNvSpPr txBox="1"/>
              <p:nvPr/>
            </p:nvSpPr>
            <p:spPr>
              <a:xfrm>
                <a:off x="7373065" y="4319904"/>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i="1" smtClean="0">
                          <a:solidFill>
                            <a:schemeClr val="accent1"/>
                          </a:solidFill>
                          <a:latin typeface="Cambria Math" panose="02040503050406030204" pitchFamily="18" charset="0"/>
                        </a:rPr>
                        <m:t>+</m:t>
                      </m:r>
                    </m:oMath>
                  </m:oMathPara>
                </a14:m>
                <a:endParaRPr lang="it-IT" dirty="0">
                  <a:solidFill>
                    <a:schemeClr val="accent1"/>
                  </a:solidFill>
                </a:endParaRPr>
              </a:p>
            </p:txBody>
          </p:sp>
        </mc:Choice>
        <mc:Fallback xmlns="">
          <p:sp>
            <p:nvSpPr>
              <p:cNvPr id="62" name="TextBox 61"/>
              <p:cNvSpPr txBox="1">
                <a:spLocks noRot="1" noChangeAspect="1" noMove="1" noResize="1" noEditPoints="1" noAdjustHandles="1" noChangeArrowheads="1" noChangeShapeType="1" noTextEdit="1"/>
              </p:cNvSpPr>
              <p:nvPr/>
            </p:nvSpPr>
            <p:spPr>
              <a:xfrm>
                <a:off x="7373065" y="4319904"/>
                <a:ext cx="226024" cy="276999"/>
              </a:xfrm>
              <a:prstGeom prst="rect">
                <a:avLst/>
              </a:prstGeom>
              <a:blipFill rotWithShape="0">
                <a:blip r:embed="rId21"/>
                <a:stretch>
                  <a:fillRect l="-21053" r="-18421" b="-6667"/>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8063954" y="4319905"/>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solidFill>
                            <a:schemeClr val="accent2"/>
                          </a:solidFill>
                          <a:latin typeface="Cambria Math" panose="02040503050406030204" pitchFamily="18" charset="0"/>
                        </a:rPr>
                        <m:t>−</m:t>
                      </m:r>
                    </m:oMath>
                  </m:oMathPara>
                </a14:m>
                <a:endParaRPr lang="it-IT" dirty="0">
                  <a:solidFill>
                    <a:schemeClr val="accent2"/>
                  </a:solidFill>
                </a:endParaRPr>
              </a:p>
            </p:txBody>
          </p:sp>
        </mc:Choice>
        <mc:Fallback xmlns="">
          <p:sp>
            <p:nvSpPr>
              <p:cNvPr id="63" name="TextBox 62"/>
              <p:cNvSpPr txBox="1">
                <a:spLocks noRot="1" noChangeAspect="1" noMove="1" noResize="1" noEditPoints="1" noAdjustHandles="1" noChangeArrowheads="1" noChangeShapeType="1" noTextEdit="1"/>
              </p:cNvSpPr>
              <p:nvPr/>
            </p:nvSpPr>
            <p:spPr>
              <a:xfrm>
                <a:off x="8063954" y="4319905"/>
                <a:ext cx="226024" cy="276999"/>
              </a:xfrm>
              <a:prstGeom prst="rect">
                <a:avLst/>
              </a:prstGeom>
              <a:blipFill rotWithShape="0">
                <a:blip r:embed="rId22"/>
                <a:stretch>
                  <a:fillRect l="-8108" r="-2703"/>
                </a:stretch>
              </a:blipFill>
            </p:spPr>
            <p:txBody>
              <a:bodyPr/>
              <a:lstStyle/>
              <a:p>
                <a:r>
                  <a:rPr lang="it-IT">
                    <a:noFill/>
                  </a:rPr>
                  <a:t> </a:t>
                </a:r>
              </a:p>
            </p:txBody>
          </p:sp>
        </mc:Fallback>
      </mc:AlternateContent>
      <p:sp>
        <p:nvSpPr>
          <p:cNvPr id="64" name="TextBox 63"/>
          <p:cNvSpPr txBox="1"/>
          <p:nvPr/>
        </p:nvSpPr>
        <p:spPr>
          <a:xfrm>
            <a:off x="8017215" y="4091305"/>
            <a:ext cx="260008" cy="276999"/>
          </a:xfrm>
          <a:prstGeom prst="rect">
            <a:avLst/>
          </a:prstGeom>
          <a:noFill/>
        </p:spPr>
        <p:txBody>
          <a:bodyPr wrap="none" rtlCol="0">
            <a:spAutoFit/>
          </a:bodyPr>
          <a:lstStyle/>
          <a:p>
            <a:r>
              <a:rPr lang="en-GB" sz="1200" b="1" dirty="0"/>
              <a:t>T</a:t>
            </a:r>
            <a:endParaRPr lang="it-IT" sz="1200" b="1" dirty="0"/>
          </a:p>
        </p:txBody>
      </p:sp>
      <p:sp>
        <p:nvSpPr>
          <p:cNvPr id="65" name="TextBox 64"/>
          <p:cNvSpPr txBox="1"/>
          <p:nvPr/>
        </p:nvSpPr>
        <p:spPr>
          <a:xfrm>
            <a:off x="7501507" y="4082383"/>
            <a:ext cx="239740" cy="276999"/>
          </a:xfrm>
          <a:prstGeom prst="rect">
            <a:avLst/>
          </a:prstGeom>
          <a:noFill/>
        </p:spPr>
        <p:txBody>
          <a:bodyPr wrap="square" rtlCol="0">
            <a:spAutoFit/>
          </a:bodyPr>
          <a:lstStyle/>
          <a:p>
            <a:r>
              <a:rPr lang="en-GB" sz="1200" b="1" dirty="0"/>
              <a:t>F</a:t>
            </a:r>
            <a:endParaRPr lang="it-IT" sz="1200" b="1" dirty="0"/>
          </a:p>
        </p:txBody>
      </p:sp>
      <p:sp>
        <p:nvSpPr>
          <p:cNvPr id="41" name="Right Arrow 40"/>
          <p:cNvSpPr/>
          <p:nvPr/>
        </p:nvSpPr>
        <p:spPr>
          <a:xfrm>
            <a:off x="5260057" y="3515988"/>
            <a:ext cx="1869776" cy="2454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419655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VIOUS_ACTIVE_SLIDE" val="558"/>
</p:tagLst>
</file>

<file path=ppt/theme/theme1.xml><?xml version="1.0" encoding="utf-8"?>
<a:theme xmlns:a="http://schemas.openxmlformats.org/drawingml/2006/main" name="1_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Template>
  <TotalTime>12082</TotalTime>
  <Words>1191</Words>
  <Application>Microsoft Office PowerPoint</Application>
  <PresentationFormat>On-screen Show (16:9)</PresentationFormat>
  <Paragraphs>214</Paragraphs>
  <Slides>25</Slides>
  <Notes>1</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25</vt:i4>
      </vt:variant>
    </vt:vector>
  </HeadingPairs>
  <TitlesOfParts>
    <vt:vector size="33" baseType="lpstr">
      <vt:lpstr>Arial</vt:lpstr>
      <vt:lpstr>Calibri</vt:lpstr>
      <vt:lpstr>Cambria Math</vt:lpstr>
      <vt:lpstr>Times New Roman</vt:lpstr>
      <vt:lpstr>1_Lecture</vt:lpstr>
      <vt:lpstr>2_Office Theme</vt:lpstr>
      <vt:lpstr>3_Office Theme</vt:lpstr>
      <vt:lpstr>2_Lecture</vt:lpstr>
      <vt:lpstr>Ensemble learning </vt:lpstr>
      <vt:lpstr>Weak and Strong Learnability</vt:lpstr>
      <vt:lpstr>Types of ensemble learning</vt:lpstr>
      <vt:lpstr>Why?</vt:lpstr>
      <vt:lpstr>Uncorrelated predictions</vt:lpstr>
      <vt:lpstr>Multiple algorithms, same data</vt:lpstr>
      <vt:lpstr>Voting</vt:lpstr>
      <vt:lpstr>Hard vs Soft Voting</vt:lpstr>
      <vt:lpstr>PowerPoint Presentation</vt:lpstr>
      <vt:lpstr>Stacking</vt:lpstr>
      <vt:lpstr>PowerPoint Presentation</vt:lpstr>
      <vt:lpstr>PowerPoint Presentation</vt:lpstr>
      <vt:lpstr>Same algorithm, multiple data</vt:lpstr>
      <vt:lpstr>Bagging</vt:lpstr>
      <vt:lpstr>Sampling with replacement: example</vt:lpstr>
      <vt:lpstr>PowerPoint Presentation</vt:lpstr>
      <vt:lpstr>Out-of-bag evaluation</vt:lpstr>
      <vt:lpstr>Random Forest</vt:lpstr>
      <vt:lpstr>Boosting</vt:lpstr>
      <vt:lpstr>PowerPoint Presentation</vt:lpstr>
      <vt:lpstr>Weight and Predictions</vt:lpstr>
      <vt:lpstr>AdaBoost Algorithm</vt:lpstr>
      <vt:lpstr>AdaBoost Regression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Programming</dc:title>
  <dc:creator>OpenClassroom</dc:creator>
  <cp:lastModifiedBy>Luigi Portinale</cp:lastModifiedBy>
  <cp:revision>756</cp:revision>
  <dcterms:created xsi:type="dcterms:W3CDTF">2010-07-08T21:59:02Z</dcterms:created>
  <dcterms:modified xsi:type="dcterms:W3CDTF">2022-03-04T13:38:30Z</dcterms:modified>
</cp:coreProperties>
</file>