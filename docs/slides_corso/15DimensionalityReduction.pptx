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0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42"/>
  </p:notesMasterIdLst>
  <p:sldIdLst>
    <p:sldId id="367" r:id="rId5"/>
    <p:sldId id="460" r:id="rId6"/>
    <p:sldId id="606" r:id="rId7"/>
    <p:sldId id="549" r:id="rId8"/>
    <p:sldId id="607" r:id="rId9"/>
    <p:sldId id="524" r:id="rId10"/>
    <p:sldId id="635" r:id="rId11"/>
    <p:sldId id="634" r:id="rId12"/>
    <p:sldId id="608" r:id="rId13"/>
    <p:sldId id="642" r:id="rId14"/>
    <p:sldId id="643" r:id="rId15"/>
    <p:sldId id="644" r:id="rId16"/>
    <p:sldId id="613" r:id="rId17"/>
    <p:sldId id="595" r:id="rId18"/>
    <p:sldId id="615" r:id="rId19"/>
    <p:sldId id="645" r:id="rId20"/>
    <p:sldId id="646" r:id="rId21"/>
    <p:sldId id="647" r:id="rId22"/>
    <p:sldId id="648" r:id="rId23"/>
    <p:sldId id="651" r:id="rId24"/>
    <p:sldId id="652" r:id="rId25"/>
    <p:sldId id="653" r:id="rId26"/>
    <p:sldId id="654" r:id="rId27"/>
    <p:sldId id="656" r:id="rId28"/>
    <p:sldId id="655" r:id="rId29"/>
    <p:sldId id="657" r:id="rId30"/>
    <p:sldId id="658" r:id="rId31"/>
    <p:sldId id="659" r:id="rId32"/>
    <p:sldId id="660" r:id="rId33"/>
    <p:sldId id="661" r:id="rId34"/>
    <p:sldId id="617" r:id="rId35"/>
    <p:sldId id="570" r:id="rId36"/>
    <p:sldId id="630" r:id="rId37"/>
    <p:sldId id="628" r:id="rId38"/>
    <p:sldId id="629" r:id="rId39"/>
    <p:sldId id="631" r:id="rId40"/>
    <p:sldId id="632" r:id="rId41"/>
  </p:sldIdLst>
  <p:sldSz cx="9144000" cy="5143500" type="screen16x9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179" autoAdjust="0"/>
  </p:normalViewPr>
  <p:slideViewPr>
    <p:cSldViewPr>
      <p:cViewPr varScale="1">
        <p:scale>
          <a:sx n="93" d="100"/>
          <a:sy n="93" d="100"/>
        </p:scale>
        <p:origin x="544" y="56"/>
      </p:cViewPr>
      <p:guideLst>
        <p:guide orient="horz" pos="1572"/>
        <p:guide pos="2880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56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more unique colors (3-4)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8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Pca3d2d</a:t>
            </a:r>
            <a:r>
              <a:rPr lang="en-US" baseline="0" dirty="0"/>
              <a:t> in lecture-slides/assets/</a:t>
            </a:r>
            <a:r>
              <a:rPr lang="en-US" baseline="0" dirty="0" err="1"/>
              <a:t>pca</a:t>
            </a:r>
            <a:r>
              <a:rPr lang="en-US" baseline="0" dirty="0"/>
              <a:t>/</a:t>
            </a:r>
          </a:p>
          <a:p>
            <a:endParaRPr lang="en-US" baseline="0" dirty="0"/>
          </a:p>
          <a:p>
            <a:r>
              <a:rPr lang="en-US" baseline="0" dirty="0"/>
              <a:t>Label axes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77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68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dots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7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points</a:t>
            </a:r>
            <a:r>
              <a:rPr lang="en-US" baseline="0" dirty="0"/>
              <a:t> look uncorrelated</a:t>
            </a:r>
          </a:p>
          <a:p>
            <a:endParaRPr lang="en-US" baseline="0" dirty="0"/>
          </a:p>
          <a:p>
            <a:r>
              <a:rPr lang="en-US" baseline="0" dirty="0"/>
              <a:t>US, Singapore in blue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00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as previous; change spacing to fill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7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43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NB if we use standardization, we actually replace covariance with correlation, le PC </a:t>
            </a:r>
            <a:r>
              <a:rPr lang="en-GB" dirty="0" err="1"/>
              <a:t>cambiano</a:t>
            </a:r>
            <a:r>
              <a:rPr lang="en-GB" dirty="0"/>
              <a:t>! Le </a:t>
            </a:r>
            <a:r>
              <a:rPr lang="en-GB" dirty="0" err="1"/>
              <a:t>var</a:t>
            </a:r>
            <a:r>
              <a:rPr lang="en-GB" dirty="0"/>
              <a:t> con </a:t>
            </a:r>
            <a:r>
              <a:rPr lang="en-GB" dirty="0" err="1"/>
              <a:t>varianza</a:t>
            </a:r>
            <a:r>
              <a:rPr lang="en-GB" dirty="0"/>
              <a:t> </a:t>
            </a:r>
            <a:r>
              <a:rPr lang="en-GB" dirty="0" err="1"/>
              <a:t>maggiore</a:t>
            </a:r>
            <a:r>
              <a:rPr lang="en-GB" dirty="0"/>
              <a:t> </a:t>
            </a:r>
            <a:r>
              <a:rPr lang="en-GB" dirty="0" err="1"/>
              <a:t>vengono</a:t>
            </a:r>
            <a:r>
              <a:rPr lang="en-GB" dirty="0"/>
              <a:t> </a:t>
            </a:r>
            <a:r>
              <a:rPr lang="en-GB" dirty="0" err="1"/>
              <a:t>piu</a:t>
            </a:r>
            <a:r>
              <a:rPr lang="en-GB" dirty="0"/>
              <a:t>’ attenuate.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as previous; change spacing to fill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PC</a:t>
            </a:r>
            <a:r>
              <a:rPr lang="en-GB" baseline="0" dirty="0"/>
              <a:t> j e’ </a:t>
            </a:r>
            <a:r>
              <a:rPr lang="en-GB" baseline="0" dirty="0" err="1"/>
              <a:t>il</a:t>
            </a:r>
            <a:r>
              <a:rPr lang="en-GB" baseline="0" dirty="0"/>
              <a:t> </a:t>
            </a:r>
            <a:r>
              <a:rPr lang="en-GB" baseline="0" dirty="0" err="1"/>
              <a:t>prodotto</a:t>
            </a:r>
            <a:r>
              <a:rPr lang="en-GB" baseline="0" dirty="0"/>
              <a:t> di u(j) </a:t>
            </a:r>
            <a:r>
              <a:rPr lang="en-GB" baseline="0" dirty="0" err="1"/>
              <a:t>riga</a:t>
            </a:r>
            <a:r>
              <a:rPr lang="en-GB" baseline="0" dirty="0"/>
              <a:t> per X </a:t>
            </a:r>
            <a:r>
              <a:rPr lang="en-GB" baseline="0" dirty="0" err="1"/>
              <a:t>ossia</a:t>
            </a:r>
            <a:r>
              <a:rPr lang="en-GB" baseline="0" dirty="0"/>
              <a:t> un </a:t>
            </a:r>
            <a:r>
              <a:rPr lang="en-GB" baseline="0" dirty="0" err="1"/>
              <a:t>vettore</a:t>
            </a:r>
            <a:r>
              <a:rPr lang="en-GB" baseline="0" dirty="0"/>
              <a:t> 1xm di </a:t>
            </a:r>
            <a:r>
              <a:rPr lang="en-GB" baseline="0" dirty="0" err="1"/>
              <a:t>elementi</a:t>
            </a:r>
            <a:r>
              <a:rPr lang="en-GB" baseline="0" dirty="0"/>
              <a:t> </a:t>
            </a:r>
            <a:r>
              <a:rPr lang="en-GB" baseline="0" dirty="0" err="1"/>
              <a:t>che</a:t>
            </a:r>
            <a:r>
              <a:rPr lang="en-GB" baseline="0" dirty="0"/>
              <a:t> </a:t>
            </a:r>
            <a:r>
              <a:rPr lang="en-GB" baseline="0" dirty="0" err="1"/>
              <a:t>sono</a:t>
            </a:r>
            <a:r>
              <a:rPr lang="en-GB" baseline="0" dirty="0"/>
              <a:t> </a:t>
            </a:r>
            <a:r>
              <a:rPr lang="en-GB" baseline="0" dirty="0" err="1"/>
              <a:t>calcolati</a:t>
            </a:r>
            <a:r>
              <a:rPr lang="en-GB" baseline="0" dirty="0"/>
              <a:t> come </a:t>
            </a:r>
            <a:r>
              <a:rPr lang="en-GB" baseline="0" dirty="0" err="1"/>
              <a:t>combinazione</a:t>
            </a:r>
            <a:r>
              <a:rPr lang="en-GB" baseline="0" dirty="0"/>
              <a:t> </a:t>
            </a:r>
            <a:r>
              <a:rPr lang="en-GB" baseline="0" dirty="0" err="1"/>
              <a:t>lineare</a:t>
            </a:r>
            <a:r>
              <a:rPr lang="en-GB" baseline="0" dirty="0"/>
              <a:t> di u(j) </a:t>
            </a:r>
            <a:r>
              <a:rPr lang="en-GB" baseline="0" dirty="0" err="1"/>
              <a:t>riga</a:t>
            </a:r>
            <a:r>
              <a:rPr lang="en-GB" baseline="0" dirty="0"/>
              <a:t> per x(</a:t>
            </a:r>
            <a:r>
              <a:rPr lang="en-GB" baseline="0" dirty="0" err="1"/>
              <a:t>i</a:t>
            </a:r>
            <a:r>
              <a:rPr lang="en-GB" baseline="0" dirty="0"/>
              <a:t>) Colonna con </a:t>
            </a:r>
            <a:r>
              <a:rPr lang="en-GB" baseline="0" dirty="0" err="1"/>
              <a:t>i</a:t>
            </a:r>
            <a:r>
              <a:rPr lang="en-GB" baseline="0" dirty="0"/>
              <a:t>=1..m (</a:t>
            </a:r>
            <a:r>
              <a:rPr lang="en-GB" baseline="0" dirty="0" err="1"/>
              <a:t>sono</a:t>
            </a:r>
            <a:r>
              <a:rPr lang="en-GB" baseline="0" dirty="0"/>
              <a:t> </a:t>
            </a:r>
            <a:r>
              <a:rPr lang="en-GB" baseline="0" dirty="0" err="1"/>
              <a:t>quindi</a:t>
            </a:r>
            <a:r>
              <a:rPr lang="en-GB" baseline="0" dirty="0"/>
              <a:t> </a:t>
            </a:r>
            <a:r>
              <a:rPr lang="en-GB" baseline="0" dirty="0" err="1"/>
              <a:t>una</a:t>
            </a:r>
            <a:r>
              <a:rPr lang="en-GB" baseline="0" dirty="0"/>
              <a:t> </a:t>
            </a:r>
            <a:r>
              <a:rPr lang="en-GB" baseline="0" dirty="0" err="1"/>
              <a:t>combinazione</a:t>
            </a:r>
            <a:r>
              <a:rPr lang="en-GB" baseline="0" dirty="0"/>
              <a:t> </a:t>
            </a:r>
            <a:r>
              <a:rPr lang="en-GB" baseline="0" dirty="0" err="1"/>
              <a:t>lineare</a:t>
            </a:r>
            <a:r>
              <a:rPr lang="en-GB" baseline="0" dirty="0"/>
              <a:t> di loading feature x </a:t>
            </a:r>
            <a:r>
              <a:rPr lang="en-GB" baseline="0" dirty="0" err="1"/>
              <a:t>valore</a:t>
            </a:r>
            <a:r>
              <a:rPr lang="en-GB" baseline="0" dirty="0"/>
              <a:t> feature)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19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62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46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points have 0 mean on x1 and x2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8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93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image" Target="../media/image5.png"/><Relationship Id="rId26" Type="http://schemas.openxmlformats.org/officeDocument/2006/relationships/image" Target="../media/image3.png"/><Relationship Id="rId3" Type="http://schemas.openxmlformats.org/officeDocument/2006/relationships/tags" Target="../tags/tag6.xml"/><Relationship Id="rId21" Type="http://schemas.openxmlformats.org/officeDocument/2006/relationships/image" Target="../media/image8.png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image" Target="../media/image4.png"/><Relationship Id="rId25" Type="http://schemas.openxmlformats.org/officeDocument/2006/relationships/image" Target="../media/image2.png"/><Relationship Id="rId2" Type="http://schemas.openxmlformats.org/officeDocument/2006/relationships/tags" Target="../tags/tag5.xml"/><Relationship Id="rId16" Type="http://schemas.openxmlformats.org/officeDocument/2006/relationships/notesSlide" Target="../notesSlides/notesSlide2.xml"/><Relationship Id="rId20" Type="http://schemas.openxmlformats.org/officeDocument/2006/relationships/image" Target="../media/image7.png"/><Relationship Id="rId29" Type="http://schemas.openxmlformats.org/officeDocument/2006/relationships/image" Target="../media/image14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image" Target="../media/image11.png"/><Relationship Id="rId32" Type="http://schemas.openxmlformats.org/officeDocument/2006/relationships/image" Target="../media/image17.png"/><Relationship Id="rId5" Type="http://schemas.openxmlformats.org/officeDocument/2006/relationships/tags" Target="../tags/tag8.xml"/><Relationship Id="rId15" Type="http://schemas.openxmlformats.org/officeDocument/2006/relationships/slideLayout" Target="../slideLayouts/slideLayout47.xml"/><Relationship Id="rId23" Type="http://schemas.openxmlformats.org/officeDocument/2006/relationships/image" Target="../media/image10.png"/><Relationship Id="rId28" Type="http://schemas.openxmlformats.org/officeDocument/2006/relationships/image" Target="../media/image13.png"/><Relationship Id="rId10" Type="http://schemas.openxmlformats.org/officeDocument/2006/relationships/tags" Target="../tags/tag13.xml"/><Relationship Id="rId19" Type="http://schemas.openxmlformats.org/officeDocument/2006/relationships/image" Target="../media/image6.png"/><Relationship Id="rId31" Type="http://schemas.openxmlformats.org/officeDocument/2006/relationships/image" Target="../media/image16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image" Target="../media/image9.png"/><Relationship Id="rId27" Type="http://schemas.openxmlformats.org/officeDocument/2006/relationships/image" Target="../media/image12.png"/><Relationship Id="rId30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14.jpeg"/><Relationship Id="rId18" Type="http://schemas.openxmlformats.org/officeDocument/2006/relationships/image" Target="../media/image19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13.jpeg"/><Relationship Id="rId17" Type="http://schemas.openxmlformats.org/officeDocument/2006/relationships/image" Target="../media/image4.png"/><Relationship Id="rId2" Type="http://schemas.openxmlformats.org/officeDocument/2006/relationships/tags" Target="../tags/tag19.xml"/><Relationship Id="rId16" Type="http://schemas.openxmlformats.org/officeDocument/2006/relationships/image" Target="../media/image18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12.jpeg"/><Relationship Id="rId5" Type="http://schemas.openxmlformats.org/officeDocument/2006/relationships/tags" Target="../tags/tag22.xml"/><Relationship Id="rId15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20.jpe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png"/><Relationship Id="rId3" Type="http://schemas.openxmlformats.org/officeDocument/2006/relationships/tags" Target="../tags/tag32.xml"/><Relationship Id="rId7" Type="http://schemas.openxmlformats.org/officeDocument/2006/relationships/notesSlide" Target="../notesSlides/notesSlide8.xml"/><Relationship Id="rId12" Type="http://schemas.openxmlformats.org/officeDocument/2006/relationships/image" Target="../media/image25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4.png"/><Relationship Id="rId5" Type="http://schemas.openxmlformats.org/officeDocument/2006/relationships/tags" Target="../tags/tag34.xml"/><Relationship Id="rId10" Type="http://schemas.openxmlformats.org/officeDocument/2006/relationships/image" Target="../media/image23.png"/><Relationship Id="rId4" Type="http://schemas.openxmlformats.org/officeDocument/2006/relationships/tags" Target="../tags/tag33.xml"/><Relationship Id="rId9" Type="http://schemas.openxmlformats.org/officeDocument/2006/relationships/image" Target="../media/image22.png"/><Relationship Id="rId1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39.xml"/><Relationship Id="rId7" Type="http://schemas.openxmlformats.org/officeDocument/2006/relationships/image" Target="../media/image26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0.xml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13" Type="http://schemas.openxmlformats.org/officeDocument/2006/relationships/image" Target="../media/image34.png"/><Relationship Id="rId3" Type="http://schemas.openxmlformats.org/officeDocument/2006/relationships/tags" Target="../tags/tag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33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30.png"/><Relationship Id="rId5" Type="http://schemas.openxmlformats.org/officeDocument/2006/relationships/tags" Target="../tags/tag45.xml"/><Relationship Id="rId15" Type="http://schemas.openxmlformats.org/officeDocument/2006/relationships/image" Target="../media/image39.png"/><Relationship Id="rId10" Type="http://schemas.openxmlformats.org/officeDocument/2006/relationships/image" Target="../media/image29.png"/><Relationship Id="rId4" Type="http://schemas.openxmlformats.org/officeDocument/2006/relationships/tags" Target="../tags/tag44.xml"/><Relationship Id="rId9" Type="http://schemas.openxmlformats.org/officeDocument/2006/relationships/image" Target="../media/image28.png"/><Relationship Id="rId1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png"/><Relationship Id="rId3" Type="http://schemas.openxmlformats.org/officeDocument/2006/relationships/tags" Target="../tags/tag49.xml"/><Relationship Id="rId7" Type="http://schemas.openxmlformats.org/officeDocument/2006/relationships/notesSlide" Target="../notesSlides/notesSlide11.xml"/><Relationship Id="rId12" Type="http://schemas.openxmlformats.org/officeDocument/2006/relationships/image" Target="../media/image25.png"/><Relationship Id="rId17" Type="http://schemas.openxmlformats.org/officeDocument/2006/relationships/image" Target="../media/image43.png"/><Relationship Id="rId2" Type="http://schemas.openxmlformats.org/officeDocument/2006/relationships/tags" Target="../tags/tag48.xml"/><Relationship Id="rId16" Type="http://schemas.openxmlformats.org/officeDocument/2006/relationships/image" Target="../media/image42.png"/><Relationship Id="rId1" Type="http://schemas.openxmlformats.org/officeDocument/2006/relationships/tags" Target="../tags/tag47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4.png"/><Relationship Id="rId5" Type="http://schemas.openxmlformats.org/officeDocument/2006/relationships/tags" Target="../tags/tag51.xml"/><Relationship Id="rId15" Type="http://schemas.openxmlformats.org/officeDocument/2006/relationships/image" Target="../media/image41.png"/><Relationship Id="rId10" Type="http://schemas.openxmlformats.org/officeDocument/2006/relationships/image" Target="../media/image23.png"/><Relationship Id="rId4" Type="http://schemas.openxmlformats.org/officeDocument/2006/relationships/tags" Target="../tags/tag50.xml"/><Relationship Id="rId9" Type="http://schemas.openxmlformats.org/officeDocument/2006/relationships/image" Target="../media/image22.png"/><Relationship Id="rId1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tags" Target="../tags/tag54.xml"/><Relationship Id="rId7" Type="http://schemas.openxmlformats.org/officeDocument/2006/relationships/notesSlide" Target="../notesSlides/notesSlide15.xml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tags" Target="../tags/tag53.xml"/><Relationship Id="rId16" Type="http://schemas.openxmlformats.org/officeDocument/2006/relationships/image" Target="../media/image71.png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66.png"/><Relationship Id="rId5" Type="http://schemas.openxmlformats.org/officeDocument/2006/relationships/tags" Target="../tags/tag56.xml"/><Relationship Id="rId15" Type="http://schemas.openxmlformats.org/officeDocument/2006/relationships/image" Target="../media/image70.png"/><Relationship Id="rId10" Type="http://schemas.openxmlformats.org/officeDocument/2006/relationships/image" Target="../media/image4.png"/><Relationship Id="rId4" Type="http://schemas.openxmlformats.org/officeDocument/2006/relationships/tags" Target="../tags/tag55.xml"/><Relationship Id="rId9" Type="http://schemas.openxmlformats.org/officeDocument/2006/relationships/image" Target="../media/image26.png"/><Relationship Id="rId1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image" Target="../media/image77.png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tags" Target="../tags/tag58.xml"/><Relationship Id="rId16" Type="http://schemas.openxmlformats.org/officeDocument/2006/relationships/image" Target="../media/image80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image" Target="../media/image75.png"/><Relationship Id="rId5" Type="http://schemas.openxmlformats.org/officeDocument/2006/relationships/tags" Target="../tags/tag61.xml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tags" Target="../tags/tag60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67.xml"/><Relationship Id="rId7" Type="http://schemas.openxmlformats.org/officeDocument/2006/relationships/image" Target="../media/image83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82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68.xml"/><Relationship Id="rId9" Type="http://schemas.openxmlformats.org/officeDocument/2006/relationships/image" Target="../media/image8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tags" Target="../tags/tag70.xml"/><Relationship Id="rId16" Type="http://schemas.openxmlformats.org/officeDocument/2006/relationships/image" Target="../media/image90.pn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73.xml"/><Relationship Id="rId15" Type="http://schemas.openxmlformats.org/officeDocument/2006/relationships/image" Target="../media/image89.png"/><Relationship Id="rId10" Type="http://schemas.openxmlformats.org/officeDocument/2006/relationships/tags" Target="../tags/tag78.xml"/><Relationship Id="rId19" Type="http://schemas.openxmlformats.org/officeDocument/2006/relationships/image" Target="../media/image93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67250" y="6380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0383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 I: </a:t>
            </a:r>
            <a:b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Compression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Compression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405494" y="1019487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219200" y="3602057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ross 35"/>
          <p:cNvSpPr/>
          <p:nvPr/>
        </p:nvSpPr>
        <p:spPr>
          <a:xfrm rot="2734294">
            <a:off x="1568762" y="31499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792855"/>
            <a:ext cx="222885" cy="150495"/>
          </a:xfrm>
          <a:prstGeom prst="rect">
            <a:avLst/>
          </a:prstGeom>
        </p:spPr>
      </p:pic>
      <p:sp>
        <p:nvSpPr>
          <p:cNvPr id="19" name="Cross 18"/>
          <p:cNvSpPr/>
          <p:nvPr/>
        </p:nvSpPr>
        <p:spPr>
          <a:xfrm rot="2734294">
            <a:off x="1949762" y="30737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2178362" y="27689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329873" y="23879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/>
          <p:cNvSpPr/>
          <p:nvPr/>
        </p:nvSpPr>
        <p:spPr>
          <a:xfrm rot="2734294">
            <a:off x="2787962" y="21593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/>
          <p:cNvSpPr/>
          <p:nvPr/>
        </p:nvSpPr>
        <p:spPr>
          <a:xfrm rot="2734294">
            <a:off x="3168073" y="1929823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/>
          <p:cNvSpPr/>
          <p:nvPr/>
        </p:nvSpPr>
        <p:spPr>
          <a:xfrm rot="2734294">
            <a:off x="3403598" y="15685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ross 26"/>
          <p:cNvSpPr/>
          <p:nvPr/>
        </p:nvSpPr>
        <p:spPr>
          <a:xfrm rot="2734294">
            <a:off x="3777673" y="14735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ross 28"/>
          <p:cNvSpPr/>
          <p:nvPr/>
        </p:nvSpPr>
        <p:spPr>
          <a:xfrm rot="2734294">
            <a:off x="4006273" y="1167823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48612" y="2080704"/>
            <a:ext cx="228600" cy="1504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rot="16200000">
            <a:off x="509989" y="1367724"/>
            <a:ext cx="104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(inches)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659686"/>
            <a:ext cx="104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1286" y="971550"/>
            <a:ext cx="3751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Reduce data from </a:t>
            </a:r>
          </a:p>
          <a:p>
            <a:r>
              <a:rPr lang="en-US" sz="2800" dirty="0"/>
              <a:t>2D to 1D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9042" y="3029656"/>
            <a:ext cx="36947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If we have correlated features we can</a:t>
            </a:r>
          </a:p>
          <a:p>
            <a:r>
              <a:rPr lang="en-GB" dirty="0"/>
              <a:t>project points into a line and to keep</a:t>
            </a:r>
          </a:p>
          <a:p>
            <a:r>
              <a:rPr lang="en-GB" dirty="0"/>
              <a:t>only the position on that line (1D)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Compression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405494" y="1019487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219200" y="3602057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ross 35"/>
          <p:cNvSpPr/>
          <p:nvPr/>
        </p:nvSpPr>
        <p:spPr>
          <a:xfrm rot="2734294">
            <a:off x="1568762" y="3149912"/>
            <a:ext cx="216165" cy="216165"/>
          </a:xfrm>
          <a:prstGeom prst="plus">
            <a:avLst>
              <a:gd name="adj" fmla="val 46579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/>
          <p:cNvSpPr/>
          <p:nvPr/>
        </p:nvSpPr>
        <p:spPr>
          <a:xfrm rot="2734294">
            <a:off x="1949762" y="30737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329873" y="2387912"/>
            <a:ext cx="216165" cy="216165"/>
          </a:xfrm>
          <a:prstGeom prst="plus">
            <a:avLst>
              <a:gd name="adj" fmla="val 46579"/>
            </a:avLst>
          </a:prstGeom>
          <a:solidFill>
            <a:srgbClr val="00CC00"/>
          </a:solidFill>
          <a:ln w="1905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/>
          <p:cNvSpPr/>
          <p:nvPr/>
        </p:nvSpPr>
        <p:spPr>
          <a:xfrm rot="2734294">
            <a:off x="2787962" y="2159312"/>
            <a:ext cx="216165" cy="216165"/>
          </a:xfrm>
          <a:prstGeom prst="plus">
            <a:avLst>
              <a:gd name="adj" fmla="val 46579"/>
            </a:avLst>
          </a:prstGeom>
          <a:solidFill>
            <a:srgbClr val="993366"/>
          </a:solidFill>
          <a:ln w="19050">
            <a:solidFill>
              <a:srgbClr val="99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/>
          <p:cNvSpPr/>
          <p:nvPr/>
        </p:nvSpPr>
        <p:spPr>
          <a:xfrm rot="2734294">
            <a:off x="3168073" y="1929823"/>
            <a:ext cx="216165" cy="216165"/>
          </a:xfrm>
          <a:prstGeom prst="plus">
            <a:avLst>
              <a:gd name="adj" fmla="val 46579"/>
            </a:avLst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/>
          <p:cNvSpPr/>
          <p:nvPr/>
        </p:nvSpPr>
        <p:spPr>
          <a:xfrm rot="2734294">
            <a:off x="3403598" y="15685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ross 26"/>
          <p:cNvSpPr/>
          <p:nvPr/>
        </p:nvSpPr>
        <p:spPr>
          <a:xfrm rot="2734294">
            <a:off x="3777673" y="1473512"/>
            <a:ext cx="216165" cy="216165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ross 28"/>
          <p:cNvSpPr/>
          <p:nvPr/>
        </p:nvSpPr>
        <p:spPr>
          <a:xfrm rot="2734294">
            <a:off x="4006273" y="1167823"/>
            <a:ext cx="216165" cy="216165"/>
          </a:xfrm>
          <a:prstGeom prst="plus">
            <a:avLst>
              <a:gd name="adj" fmla="val 46579"/>
            </a:avLst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219200" y="4414314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644819"/>
            <a:ext cx="192405" cy="150495"/>
          </a:xfrm>
          <a:prstGeom prst="rect">
            <a:avLst/>
          </a:prstGeom>
        </p:spPr>
      </p:pic>
      <p:sp>
        <p:nvSpPr>
          <p:cNvPr id="28" name="Cross 27"/>
          <p:cNvSpPr/>
          <p:nvPr/>
        </p:nvSpPr>
        <p:spPr>
          <a:xfrm rot="2734294">
            <a:off x="1568762" y="4305787"/>
            <a:ext cx="216165" cy="216165"/>
          </a:xfrm>
          <a:prstGeom prst="plus">
            <a:avLst>
              <a:gd name="adj" fmla="val 46579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ross 30"/>
          <p:cNvSpPr/>
          <p:nvPr/>
        </p:nvSpPr>
        <p:spPr>
          <a:xfrm rot="2734294">
            <a:off x="1949762" y="4300837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ross 32"/>
          <p:cNvSpPr/>
          <p:nvPr/>
        </p:nvSpPr>
        <p:spPr>
          <a:xfrm rot="2734294">
            <a:off x="2329873" y="4292912"/>
            <a:ext cx="216165" cy="216165"/>
          </a:xfrm>
          <a:prstGeom prst="plus">
            <a:avLst>
              <a:gd name="adj" fmla="val 46579"/>
            </a:avLst>
          </a:prstGeom>
          <a:solidFill>
            <a:srgbClr val="00CC00"/>
          </a:solidFill>
          <a:ln w="1905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ross 33"/>
          <p:cNvSpPr/>
          <p:nvPr/>
        </p:nvSpPr>
        <p:spPr>
          <a:xfrm rot="2734294">
            <a:off x="2787962" y="4293912"/>
            <a:ext cx="216165" cy="216165"/>
          </a:xfrm>
          <a:prstGeom prst="plus">
            <a:avLst>
              <a:gd name="adj" fmla="val 46579"/>
            </a:avLst>
          </a:prstGeom>
          <a:solidFill>
            <a:srgbClr val="993366"/>
          </a:solidFill>
          <a:ln w="19050">
            <a:solidFill>
              <a:srgbClr val="99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3168073" y="4293912"/>
            <a:ext cx="216165" cy="216165"/>
          </a:xfrm>
          <a:prstGeom prst="plus">
            <a:avLst>
              <a:gd name="adj" fmla="val 46579"/>
            </a:avLst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3403598" y="429391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3777673" y="4293912"/>
            <a:ext cx="216165" cy="216165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4006273" y="4294801"/>
            <a:ext cx="216165" cy="216165"/>
          </a:xfrm>
          <a:prstGeom prst="plus">
            <a:avLst>
              <a:gd name="adj" fmla="val 46579"/>
            </a:avLst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011286" y="971550"/>
            <a:ext cx="3751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Reduce data from </a:t>
            </a:r>
          </a:p>
          <a:p>
            <a:r>
              <a:rPr lang="en-US" sz="2800" dirty="0"/>
              <a:t>2D to 1D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50" y="2038350"/>
            <a:ext cx="492823" cy="2996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045908"/>
            <a:ext cx="884110" cy="3021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579562"/>
            <a:ext cx="884110" cy="3021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50" y="2582039"/>
            <a:ext cx="492823" cy="29965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50" y="3625224"/>
            <a:ext cx="594360" cy="2996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1" y="3641217"/>
            <a:ext cx="985647" cy="30213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653" y="3173168"/>
            <a:ext cx="37147" cy="299656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792855"/>
            <a:ext cx="222885" cy="15049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48612" y="2080704"/>
            <a:ext cx="228600" cy="15049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 rot="16200000">
            <a:off x="509989" y="1367724"/>
            <a:ext cx="104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(inches)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2400" y="3659686"/>
            <a:ext cx="104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770477" y="2045908"/>
                <a:ext cx="5931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477" y="2045908"/>
                <a:ext cx="593176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7216" t="-1667" r="-4124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767197" y="2579562"/>
                <a:ext cx="5931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197" y="2579562"/>
                <a:ext cx="593176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6186" r="-4124" b="-65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789050" y="3625224"/>
                <a:ext cx="5931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50" y="3625224"/>
                <a:ext cx="593176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7216" t="-1667" r="-4124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641073" y="2053903"/>
                <a:ext cx="670120" cy="400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/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073" y="2053903"/>
                <a:ext cx="670120" cy="400944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54933" y="2570723"/>
                <a:ext cx="670120" cy="400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/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33" y="2570723"/>
                <a:ext cx="670120" cy="400944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693880" y="3617930"/>
                <a:ext cx="670120" cy="400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/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880" y="3617930"/>
                <a:ext cx="670120" cy="400944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120" y="3244773"/>
            <a:ext cx="492823" cy="2996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411" y="3027051"/>
            <a:ext cx="492823" cy="29965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90" y="4491474"/>
            <a:ext cx="884110" cy="302133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04" y="3996185"/>
            <a:ext cx="884110" cy="3021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62945" y="4147251"/>
            <a:ext cx="366744" cy="108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ctangle 53"/>
          <p:cNvSpPr/>
          <p:nvPr/>
        </p:nvSpPr>
        <p:spPr>
          <a:xfrm>
            <a:off x="954788" y="4644819"/>
            <a:ext cx="366744" cy="139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700384" y="1125221"/>
            <a:ext cx="2657376" cy="2171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15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Compression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0" y="545798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Reduce data from 3D to 2D</a:t>
            </a:r>
            <a:br>
              <a:rPr lang="en-US" sz="2400" dirty="0"/>
            </a:br>
            <a:r>
              <a:rPr lang="en-US" sz="2400" dirty="0"/>
              <a:t>(project onto a plan)</a:t>
            </a:r>
          </a:p>
        </p:txBody>
      </p:sp>
      <p:pic>
        <p:nvPicPr>
          <p:cNvPr id="1026" name="Picture 2" descr="C:\Users\tlow\Desktop\cs229a\lectures-slides\assets\pca\pca1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68136"/>
            <a:ext cx="287691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tlow\Desktop\cs229a\lectures-slides\assets\pca\pca2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412" y="1376795"/>
            <a:ext cx="287691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tlow\Desktop\cs229a\lectures-slides\assets\pca\proj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0" y="1504950"/>
            <a:ext cx="29464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86150"/>
            <a:ext cx="222885" cy="1504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3867150"/>
            <a:ext cx="228600" cy="150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722" y="3335655"/>
            <a:ext cx="228600" cy="1504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115" y="3867150"/>
            <a:ext cx="222885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385695"/>
            <a:ext cx="230505" cy="1543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489" y="2952750"/>
            <a:ext cx="230505" cy="1543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26" y="3695580"/>
            <a:ext cx="192405" cy="1504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581150"/>
            <a:ext cx="198120" cy="15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6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67250" y="6380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9621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 II: </a:t>
            </a:r>
            <a:b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95455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93218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[resources from en.wikipedia.org]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678510"/>
              </p:ext>
            </p:extLst>
          </p:nvPr>
        </p:nvGraphicFramePr>
        <p:xfrm>
          <a:off x="15240" y="835975"/>
          <a:ext cx="9052560" cy="39338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Country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GDP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(trillions of US$)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 capita GDP 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(thousands of intl. $)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Human Develop-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ment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Index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Life expectancy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Poverty Index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Gini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as percentage)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Mean household income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(thousands of US$)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Canada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67.293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China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India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3.41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Russia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19.84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Singapore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56.69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USA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14.527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46.86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78.3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84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Visualization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64215"/>
              </p:ext>
            </p:extLst>
          </p:nvPr>
        </p:nvGraphicFramePr>
        <p:xfrm>
          <a:off x="533400" y="971550"/>
          <a:ext cx="6553199" cy="38861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9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Country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Canada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1.6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1.2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China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1.7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0.3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India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1.6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0.2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Russia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1.4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0.5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Singapore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0.5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1.7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USA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1.5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199938"/>
            <a:ext cx="269175" cy="2044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745" y="1199939"/>
            <a:ext cx="261410" cy="204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233091"/>
            <a:ext cx="388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Overall economic activity (Country size)</a:t>
            </a:r>
            <a:endParaRPr lang="it-IT" dirty="0"/>
          </a:p>
        </p:txBody>
      </p:sp>
      <p:sp>
        <p:nvSpPr>
          <p:cNvPr id="8" name="TextBox 7"/>
          <p:cNvSpPr txBox="1"/>
          <p:nvPr/>
        </p:nvSpPr>
        <p:spPr>
          <a:xfrm>
            <a:off x="6018244" y="631484"/>
            <a:ext cx="2888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Per person economic activity</a:t>
            </a:r>
            <a:endParaRPr lang="it-IT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080450" y="602423"/>
            <a:ext cx="130705" cy="42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400800" y="1029877"/>
            <a:ext cx="1295400" cy="272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183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Visualization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795" y="4248150"/>
            <a:ext cx="192405" cy="150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938" y="971550"/>
            <a:ext cx="198120" cy="150495"/>
          </a:xfrm>
          <a:prstGeom prst="rect">
            <a:avLst/>
          </a:prstGeom>
        </p:spPr>
      </p:pic>
      <p:pic>
        <p:nvPicPr>
          <p:cNvPr id="2" name="Picture 2" descr="C:\Users\tlow\Desktop\cs229a\lectures-slides\assets\pca\countries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89535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81800" y="134126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USA</a:t>
            </a:r>
            <a:endParaRPr lang="it-IT" dirty="0"/>
          </a:p>
        </p:txBody>
      </p:sp>
      <p:sp>
        <p:nvSpPr>
          <p:cNvPr id="8" name="TextBox 7"/>
          <p:cNvSpPr txBox="1"/>
          <p:nvPr/>
        </p:nvSpPr>
        <p:spPr>
          <a:xfrm>
            <a:off x="5181600" y="1110734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Singapore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229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67250" y="6380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907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Principal Component Analysis 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1379521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Principal Component Analysis (PCA) algorithm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800600" y="680398"/>
            <a:ext cx="4267200" cy="3186069"/>
            <a:chOff x="5275415" y="690798"/>
            <a:chExt cx="3683000" cy="2762250"/>
          </a:xfrm>
        </p:grpSpPr>
        <p:pic>
          <p:nvPicPr>
            <p:cNvPr id="14" name="Picture 2" descr="C:\Users\tlow\Desktop\cs229a\lectures-slides\assets\pca\15.3.jp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5415" y="690798"/>
              <a:ext cx="3683000" cy="2762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200" y="2932051"/>
              <a:ext cx="222885" cy="15049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7200" y="2896219"/>
              <a:ext cx="228600" cy="15049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0" y="1270701"/>
              <a:ext cx="230505" cy="154305"/>
            </a:xfrm>
            <a:prstGeom prst="rect">
              <a:avLst/>
            </a:prstGeom>
          </p:spPr>
        </p:pic>
      </p:grpSp>
      <p:sp>
        <p:nvSpPr>
          <p:cNvPr id="38" name="TextBox 37"/>
          <p:cNvSpPr txBox="1"/>
          <p:nvPr/>
        </p:nvSpPr>
        <p:spPr>
          <a:xfrm>
            <a:off x="220964" y="3567394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Reduce data from 2D to 1D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579493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Reduce data from 3D to 2D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38200" y="886737"/>
            <a:ext cx="3158164" cy="2536861"/>
            <a:chOff x="838200" y="949289"/>
            <a:chExt cx="3158164" cy="2536861"/>
          </a:xfrm>
        </p:grpSpPr>
        <p:cxnSp>
          <p:nvCxnSpPr>
            <p:cNvPr id="20" name="Straight Arrow Connector 19"/>
            <p:cNvCxnSpPr/>
            <p:nvPr/>
          </p:nvCxnSpPr>
          <p:spPr>
            <a:xfrm flipV="1">
              <a:off x="2461555" y="1106507"/>
              <a:ext cx="0" cy="237964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838200" y="2482621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ross 21"/>
            <p:cNvSpPr/>
            <p:nvPr/>
          </p:nvSpPr>
          <p:spPr>
            <a:xfrm rot="2734294">
              <a:off x="2767254" y="2065901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3299261" y="145680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3240230" y="1919263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1097360" y="3260276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1686038" y="3129994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102" y="949289"/>
              <a:ext cx="177093" cy="11658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698" y="2665086"/>
              <a:ext cx="172666" cy="116586"/>
            </a:xfrm>
            <a:prstGeom prst="rect">
              <a:avLst/>
            </a:prstGeom>
          </p:spPr>
        </p:pic>
      </p:grpSp>
      <p:cxnSp>
        <p:nvCxnSpPr>
          <p:cNvPr id="5" name="Straight Connector 4"/>
          <p:cNvCxnSpPr/>
          <p:nvPr/>
        </p:nvCxnSpPr>
        <p:spPr>
          <a:xfrm flipV="1">
            <a:off x="960943" y="1393421"/>
            <a:ext cx="2818702" cy="2172233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73059" y="1476158"/>
            <a:ext cx="138615" cy="10788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205380" y="1816139"/>
            <a:ext cx="118407" cy="1077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641130" y="3013588"/>
            <a:ext cx="118407" cy="10646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25" idx="3"/>
          </p:cNvCxnSpPr>
          <p:nvPr/>
        </p:nvCxnSpPr>
        <p:spPr>
          <a:xfrm>
            <a:off x="1179936" y="3265532"/>
            <a:ext cx="59766" cy="7571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8200" y="4504853"/>
            <a:ext cx="4888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Find a line/plane/hyperplane (set of vectors) </a:t>
            </a:r>
          </a:p>
          <a:p>
            <a:r>
              <a:rPr lang="en-GB" dirty="0"/>
              <a:t>that minimize the </a:t>
            </a:r>
            <a:r>
              <a:rPr lang="en-GB" b="1" dirty="0"/>
              <a:t>sum of the projection distances</a:t>
            </a:r>
            <a:endParaRPr lang="it-IT" b="1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54361" y="4324350"/>
            <a:ext cx="3550065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0943" y="413968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97291" y="413717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47304" y="41346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32121" y="41346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48996" y="41346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" name="Parallelogram 43"/>
          <p:cNvSpPr/>
          <p:nvPr/>
        </p:nvSpPr>
        <p:spPr>
          <a:xfrm rot="8577837">
            <a:off x="5953276" y="1177194"/>
            <a:ext cx="1908204" cy="1716331"/>
          </a:xfrm>
          <a:prstGeom prst="parallelogram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5" name="Picture 4" descr="C:\Users\tlow\Desktop\cs229a\lectures-slides\assets\pca\proj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21" y="3954903"/>
            <a:ext cx="1618893" cy="121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7" grpId="0"/>
      <p:bldP spid="40" grpId="0"/>
      <p:bldP spid="41" grpId="0"/>
      <p:bldP spid="42" grpId="0"/>
      <p:bldP spid="43" grpId="0"/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53664" y="825445"/>
            <a:ext cx="3158164" cy="2536861"/>
            <a:chOff x="838200" y="949289"/>
            <a:chExt cx="3158164" cy="2536861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2461555" y="1106507"/>
              <a:ext cx="0" cy="237964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/>
            <p:cNvCxnSpPr/>
            <p:nvPr/>
          </p:nvCxnSpPr>
          <p:spPr>
            <a:xfrm>
              <a:off x="838200" y="2482621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ross 4"/>
            <p:cNvSpPr/>
            <p:nvPr/>
          </p:nvSpPr>
          <p:spPr>
            <a:xfrm rot="2734294">
              <a:off x="2767254" y="2065901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ross 5"/>
            <p:cNvSpPr/>
            <p:nvPr/>
          </p:nvSpPr>
          <p:spPr>
            <a:xfrm rot="2734294">
              <a:off x="3299261" y="145680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 rot="2734294">
              <a:off x="3240230" y="1919263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 rot="2734294">
              <a:off x="1097360" y="3260276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686038" y="3129994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102" y="949289"/>
              <a:ext cx="177093" cy="11658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698" y="2665086"/>
              <a:ext cx="172666" cy="116586"/>
            </a:xfrm>
            <a:prstGeom prst="rect">
              <a:avLst/>
            </a:prstGeom>
          </p:spPr>
        </p:pic>
      </p:grpSp>
      <p:cxnSp>
        <p:nvCxnSpPr>
          <p:cNvPr id="12" name="Straight Connector 11"/>
          <p:cNvCxnSpPr/>
          <p:nvPr/>
        </p:nvCxnSpPr>
        <p:spPr>
          <a:xfrm flipV="1">
            <a:off x="1076407" y="1332129"/>
            <a:ext cx="2818702" cy="2172233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88523" y="1414866"/>
            <a:ext cx="138615" cy="10788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320844" y="1754847"/>
            <a:ext cx="118407" cy="1077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756594" y="2952296"/>
            <a:ext cx="118407" cy="10646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8" idx="3"/>
          </p:cNvCxnSpPr>
          <p:nvPr/>
        </p:nvCxnSpPr>
        <p:spPr>
          <a:xfrm>
            <a:off x="1295400" y="3204240"/>
            <a:ext cx="59766" cy="7571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516701" y="1130245"/>
            <a:ext cx="2110437" cy="251460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2665566" y="1898633"/>
            <a:ext cx="775677" cy="642609"/>
          </a:xfrm>
          <a:prstGeom prst="line">
            <a:avLst/>
          </a:prstGeom>
          <a:ln w="190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2460431" y="1424777"/>
            <a:ext cx="1028280" cy="783700"/>
          </a:xfrm>
          <a:prstGeom prst="line">
            <a:avLst/>
          </a:prstGeom>
          <a:ln w="190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1877171" y="2469028"/>
            <a:ext cx="740928" cy="632727"/>
          </a:xfrm>
          <a:prstGeom prst="line">
            <a:avLst/>
          </a:prstGeom>
          <a:ln w="190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295400" y="2282085"/>
            <a:ext cx="1165031" cy="891884"/>
          </a:xfrm>
          <a:prstGeom prst="line">
            <a:avLst/>
          </a:prstGeom>
          <a:ln w="190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200721" y="1021470"/>
            <a:ext cx="36612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green one is better than</a:t>
            </a:r>
          </a:p>
          <a:p>
            <a:r>
              <a:rPr lang="en-GB" dirty="0"/>
              <a:t>the red one (better keep “dispersion”</a:t>
            </a:r>
          </a:p>
          <a:p>
            <a:r>
              <a:rPr lang="en-GB" dirty="0"/>
              <a:t>among the points)</a:t>
            </a:r>
            <a:endParaRPr lang="it-IT" dirty="0"/>
          </a:p>
          <a:p>
            <a:r>
              <a:rPr lang="en-GB" dirty="0"/>
              <a:t>Idea: choose directions that</a:t>
            </a:r>
          </a:p>
          <a:p>
            <a:r>
              <a:rPr lang="en-GB" dirty="0"/>
              <a:t>maximize the spread of data, </a:t>
            </a:r>
          </a:p>
          <a:p>
            <a:r>
              <a:rPr lang="en-GB" dirty="0"/>
              <a:t>i.e. the variance</a:t>
            </a:r>
          </a:p>
        </p:txBody>
      </p:sp>
    </p:spTree>
    <p:extLst>
      <p:ext uri="{BB962C8B-B14F-4D97-AF65-F5344CB8AC3E}">
        <p14:creationId xmlns:p14="http://schemas.microsoft.com/office/powerpoint/2010/main" val="235091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62000" y="1352550"/>
            <a:ext cx="3158164" cy="2536861"/>
            <a:chOff x="838200" y="949289"/>
            <a:chExt cx="3158164" cy="2536861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2461555" y="1106507"/>
              <a:ext cx="0" cy="237964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/>
            <p:cNvCxnSpPr/>
            <p:nvPr/>
          </p:nvCxnSpPr>
          <p:spPr>
            <a:xfrm>
              <a:off x="838200" y="2482621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ross 4"/>
            <p:cNvSpPr/>
            <p:nvPr/>
          </p:nvSpPr>
          <p:spPr>
            <a:xfrm rot="2734294">
              <a:off x="2767254" y="2065901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ross 5"/>
            <p:cNvSpPr/>
            <p:nvPr/>
          </p:nvSpPr>
          <p:spPr>
            <a:xfrm rot="2734294">
              <a:off x="3299261" y="145680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 rot="2734294">
              <a:off x="3240230" y="1919263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 rot="2734294">
              <a:off x="1097360" y="3260276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686038" y="3129994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102" y="949289"/>
              <a:ext cx="177093" cy="11658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698" y="2665086"/>
              <a:ext cx="172666" cy="116586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4876800" y="1352550"/>
            <a:ext cx="3158164" cy="2536861"/>
            <a:chOff x="838200" y="949289"/>
            <a:chExt cx="3158164" cy="2536861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2461555" y="1106507"/>
              <a:ext cx="0" cy="237964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838200" y="2482621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ross 14"/>
            <p:cNvSpPr/>
            <p:nvPr/>
          </p:nvSpPr>
          <p:spPr>
            <a:xfrm rot="2734294">
              <a:off x="2767254" y="2065901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/>
            <p:cNvSpPr/>
            <p:nvPr/>
          </p:nvSpPr>
          <p:spPr>
            <a:xfrm rot="2734294">
              <a:off x="3299261" y="145680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3240230" y="1919263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ross 17"/>
            <p:cNvSpPr/>
            <p:nvPr/>
          </p:nvSpPr>
          <p:spPr>
            <a:xfrm rot="2734294">
              <a:off x="1097360" y="3260276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ross 18"/>
            <p:cNvSpPr/>
            <p:nvPr/>
          </p:nvSpPr>
          <p:spPr>
            <a:xfrm rot="2734294">
              <a:off x="1686038" y="3129994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102" y="949289"/>
              <a:ext cx="177093" cy="116586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698" y="2665086"/>
              <a:ext cx="172666" cy="116586"/>
            </a:xfrm>
            <a:prstGeom prst="rect">
              <a:avLst/>
            </a:prstGeom>
          </p:spPr>
        </p:pic>
      </p:grpSp>
      <p:sp>
        <p:nvSpPr>
          <p:cNvPr id="22" name="TextBox 21"/>
          <p:cNvSpPr txBox="1"/>
          <p:nvPr/>
        </p:nvSpPr>
        <p:spPr>
          <a:xfrm>
            <a:off x="888981" y="590550"/>
            <a:ext cx="4597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PCA vs Linear Regression</a:t>
            </a:r>
            <a:endParaRPr lang="it-IT" sz="2400" dirty="0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1064051" y="1743336"/>
            <a:ext cx="2642608" cy="2232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101283" y="1825392"/>
            <a:ext cx="2720176" cy="2176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288051" y="1943845"/>
            <a:ext cx="138615" cy="10788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120372" y="2283826"/>
            <a:ext cx="118407" cy="1077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582327" y="3498578"/>
            <a:ext cx="92202" cy="8916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094928" y="3733219"/>
            <a:ext cx="128369" cy="13245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417309" y="1973145"/>
            <a:ext cx="4282" cy="2531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353578" y="2226331"/>
            <a:ext cx="2141" cy="2059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808368" y="3432494"/>
            <a:ext cx="2141" cy="2059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217549" y="3747267"/>
            <a:ext cx="2141" cy="2059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583889" y="136124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889" y="1361245"/>
                <a:ext cx="186718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/>
          <p:cNvSpPr/>
          <p:nvPr/>
        </p:nvSpPr>
        <p:spPr>
          <a:xfrm>
            <a:off x="6588702" y="1275054"/>
            <a:ext cx="177093" cy="1940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TextBox 52"/>
          <p:cNvSpPr txBox="1"/>
          <p:nvPr/>
        </p:nvSpPr>
        <p:spPr>
          <a:xfrm>
            <a:off x="666091" y="4208965"/>
            <a:ext cx="2581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PCA: projection distance, </a:t>
            </a:r>
          </a:p>
          <a:p>
            <a:r>
              <a:rPr lang="en-GB" dirty="0"/>
              <a:t>no target variable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598749" y="4083630"/>
                <a:ext cx="18989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LR: squared error, </a:t>
                </a:r>
              </a:p>
              <a:p>
                <a:r>
                  <a:rPr lang="en-GB" dirty="0"/>
                  <a:t>target variable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749" y="4083630"/>
                <a:ext cx="1898981" cy="646331"/>
              </a:xfrm>
              <a:prstGeom prst="rect">
                <a:avLst/>
              </a:prstGeom>
              <a:blipFill rotWithShape="0">
                <a:blip r:embed="rId9"/>
                <a:stretch>
                  <a:fillRect l="-2564" t="-5660" r="-1603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48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67250" y="6380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9621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Principal Component Analysis algorithm</a:t>
            </a:r>
          </a:p>
        </p:txBody>
      </p:sp>
    </p:spTree>
    <p:extLst>
      <p:ext uri="{BB962C8B-B14F-4D97-AF65-F5344CB8AC3E}">
        <p14:creationId xmlns:p14="http://schemas.microsoft.com/office/powerpoint/2010/main" val="2193694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742950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 set:</a:t>
            </a:r>
          </a:p>
          <a:p>
            <a:r>
              <a:rPr lang="en-US" sz="2400" dirty="0"/>
              <a:t>Preprocessing (feature scaling/mean normalization):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302" y="2343150"/>
            <a:ext cx="8200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Replace each        with               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If different features on different scales (e.g.,           size of house,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          number of bedrooms), scale features to have comparable range of values.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029" y="800245"/>
            <a:ext cx="2359152" cy="3337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73947"/>
            <a:ext cx="2016252" cy="8321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251" y="2343150"/>
            <a:ext cx="420624" cy="4503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675" y="2540000"/>
            <a:ext cx="944118" cy="224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187" y="2903136"/>
            <a:ext cx="608076" cy="1805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257550"/>
            <a:ext cx="608076" cy="1805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34251" y="3766233"/>
                <a:ext cx="3285258" cy="720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standardization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251" y="3766233"/>
                <a:ext cx="3285258" cy="72096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047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Principal Component Analysis (PCA) algorithm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800600" y="680398"/>
            <a:ext cx="4267200" cy="3186069"/>
            <a:chOff x="5275415" y="690798"/>
            <a:chExt cx="3683000" cy="2762250"/>
          </a:xfrm>
        </p:grpSpPr>
        <p:pic>
          <p:nvPicPr>
            <p:cNvPr id="14" name="Picture 2" descr="C:\Users\tlow\Desktop\cs229a\lectures-slides\assets\pca\15.3.jp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5415" y="690798"/>
              <a:ext cx="3683000" cy="2762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200" y="2932051"/>
              <a:ext cx="222885" cy="15049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7200" y="2896219"/>
              <a:ext cx="228600" cy="15049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0" y="1270701"/>
              <a:ext cx="230505" cy="154305"/>
            </a:xfrm>
            <a:prstGeom prst="rect">
              <a:avLst/>
            </a:prstGeom>
          </p:spPr>
        </p:pic>
      </p:grpSp>
      <p:sp>
        <p:nvSpPr>
          <p:cNvPr id="38" name="TextBox 37"/>
          <p:cNvSpPr txBox="1"/>
          <p:nvPr/>
        </p:nvSpPr>
        <p:spPr>
          <a:xfrm>
            <a:off x="220964" y="3567394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Reduce data from 2D to 1D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579493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Reduce data from 3D to 2D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38200" y="886737"/>
            <a:ext cx="3158164" cy="2536861"/>
            <a:chOff x="838200" y="949289"/>
            <a:chExt cx="3158164" cy="2536861"/>
          </a:xfrm>
        </p:grpSpPr>
        <p:cxnSp>
          <p:nvCxnSpPr>
            <p:cNvPr id="20" name="Straight Arrow Connector 19"/>
            <p:cNvCxnSpPr/>
            <p:nvPr/>
          </p:nvCxnSpPr>
          <p:spPr>
            <a:xfrm flipV="1">
              <a:off x="2461555" y="1106507"/>
              <a:ext cx="0" cy="237964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838200" y="2482621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ross 21"/>
            <p:cNvSpPr/>
            <p:nvPr/>
          </p:nvSpPr>
          <p:spPr>
            <a:xfrm rot="2734294">
              <a:off x="2767254" y="2065901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3299261" y="145680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3240230" y="1919263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1097360" y="3260276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1686038" y="3129994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102" y="949289"/>
              <a:ext cx="177093" cy="11658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698" y="2665086"/>
              <a:ext cx="172666" cy="116586"/>
            </a:xfrm>
            <a:prstGeom prst="rect">
              <a:avLst/>
            </a:prstGeom>
          </p:spPr>
        </p:pic>
      </p:grpSp>
      <p:cxnSp>
        <p:nvCxnSpPr>
          <p:cNvPr id="5" name="Straight Connector 4"/>
          <p:cNvCxnSpPr/>
          <p:nvPr/>
        </p:nvCxnSpPr>
        <p:spPr>
          <a:xfrm flipV="1">
            <a:off x="960943" y="1393421"/>
            <a:ext cx="2818702" cy="2172233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73059" y="1476158"/>
            <a:ext cx="138615" cy="10788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205380" y="1816139"/>
            <a:ext cx="118407" cy="1077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641130" y="3013588"/>
            <a:ext cx="118407" cy="10646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25" idx="3"/>
          </p:cNvCxnSpPr>
          <p:nvPr/>
        </p:nvCxnSpPr>
        <p:spPr>
          <a:xfrm>
            <a:off x="1179936" y="3265532"/>
            <a:ext cx="59766" cy="7571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38200" y="4504853"/>
                <a:ext cx="7976351" cy="657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Find a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that minimize the </a:t>
                </a:r>
                <a:r>
                  <a:rPr lang="en-GB" b="1" dirty="0"/>
                  <a:t>sum of the projection distances  </a:t>
                </a:r>
                <a14:m>
                  <m:oMath xmlns:m="http://schemas.openxmlformats.org/officeDocument/2006/math">
                    <m:r>
                      <a:rPr lang="en-GB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(maximize the variance)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04853"/>
                <a:ext cx="7976351" cy="657809"/>
              </a:xfrm>
              <a:prstGeom prst="rect">
                <a:avLst/>
              </a:prstGeom>
              <a:blipFill rotWithShape="0">
                <a:blip r:embed="rId14"/>
                <a:stretch>
                  <a:fillRect l="-688" t="-3704" r="-612" b="-13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H="1">
            <a:off x="5781411" y="1993277"/>
            <a:ext cx="1148971" cy="7110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934518" y="1996911"/>
            <a:ext cx="489189" cy="8878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754361" y="4324350"/>
            <a:ext cx="3550065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0943" y="413968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97291" y="413717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47304" y="41346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32121" y="41346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48996" y="41346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it-IT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" name="Parallelogram 43"/>
          <p:cNvSpPr/>
          <p:nvPr/>
        </p:nvSpPr>
        <p:spPr>
          <a:xfrm rot="8577837">
            <a:off x="5953276" y="1177194"/>
            <a:ext cx="1908204" cy="1716331"/>
          </a:xfrm>
          <a:prstGeom prst="parallelogram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463773" y="1676535"/>
            <a:ext cx="970460" cy="7311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723889" y="1695092"/>
                <a:ext cx="45358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889" y="1695092"/>
                <a:ext cx="453586" cy="288477"/>
              </a:xfrm>
              <a:prstGeom prst="rect">
                <a:avLst/>
              </a:prstGeom>
              <a:blipFill rotWithShape="0">
                <a:blip r:embed="rId15"/>
                <a:stretch>
                  <a:fillRect l="-6757" t="-8511" r="-108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553184" y="2372180"/>
                <a:ext cx="45358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184" y="2372180"/>
                <a:ext cx="453586" cy="288477"/>
              </a:xfrm>
              <a:prstGeom prst="rect">
                <a:avLst/>
              </a:prstGeom>
              <a:blipFill rotWithShape="0">
                <a:blip r:embed="rId16"/>
                <a:stretch>
                  <a:fillRect l="-6757" t="-8511" r="-108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153031" y="2992977"/>
                <a:ext cx="45358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031" y="2992977"/>
                <a:ext cx="453586" cy="288477"/>
              </a:xfrm>
              <a:prstGeom prst="rect">
                <a:avLst/>
              </a:prstGeom>
              <a:blipFill rotWithShape="0">
                <a:blip r:embed="rId17"/>
                <a:stretch>
                  <a:fillRect l="-6667" t="-8511" r="-10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15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7" grpId="0"/>
      <p:bldP spid="40" grpId="0"/>
      <p:bldP spid="41" grpId="0"/>
      <p:bldP spid="42" grpId="0"/>
      <p:bldP spid="43" grpId="0"/>
      <p:bldP spid="44" grpId="0" animBg="1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5342"/>
            <a:ext cx="8229600" cy="857250"/>
          </a:xfrm>
        </p:spPr>
        <p:txBody>
          <a:bodyPr/>
          <a:lstStyle/>
          <a:p>
            <a:r>
              <a:rPr lang="en-GB" dirty="0"/>
              <a:t>PCA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42950"/>
                <a:ext cx="8229600" cy="457472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GB" dirty="0"/>
                  <a:t>PCA algorithm issues:</a:t>
                </a:r>
              </a:p>
              <a:p>
                <a:pPr lvl="1"/>
                <a:r>
                  <a:rPr lang="en-GB" dirty="0"/>
                  <a:t>How to compute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=1..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How to determine </a:t>
                </a:r>
                <a:r>
                  <a:rPr lang="en-GB" sz="2900" i="1" dirty="0">
                    <a:latin typeface="Cambria Math" panose="02040503050406030204" pitchFamily="18" charset="0"/>
                  </a:rPr>
                  <a:t>k</a:t>
                </a:r>
              </a:p>
              <a:p>
                <a:pPr lvl="1"/>
                <a:r>
                  <a:rPr lang="en-GB" dirty="0"/>
                  <a:t>How to compute projected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it-IT" dirty="0"/>
                  <a:t> from samples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dirty="0"/>
                  <a:t> using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it-IT" dirty="0"/>
              </a:p>
              <a:p>
                <a:r>
                  <a:rPr lang="en-GB" dirty="0"/>
                  <a:t>Each linear combination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it-IT" dirty="0"/>
                  <a:t> is called the 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it-IT" dirty="0"/>
                  <a:t>th</a:t>
                </a:r>
                <a:r>
                  <a:rPr lang="it-IT" b="1" dirty="0"/>
                  <a:t> Principal Component (PC)</a:t>
                </a:r>
                <a:endParaRPr lang="en-GB" b="1" dirty="0"/>
              </a:p>
              <a:p>
                <a:r>
                  <a:rPr lang="en-GB" dirty="0"/>
                  <a:t>The </a:t>
                </a:r>
                <a:r>
                  <a:rPr lang="en-GB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dirty="0" err="1"/>
                  <a:t>-th</a:t>
                </a:r>
                <a:r>
                  <a:rPr lang="en-GB" dirty="0"/>
                  <a:t> values of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,…</m:t>
                    </m:r>
                    <m:sSubSup>
                      <m:sSub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it-IT" dirty="0"/>
                  <a:t>are called </a:t>
                </a:r>
                <a:r>
                  <a:rPr lang="it-IT" b="1" dirty="0"/>
                  <a:t>loadings </a:t>
                </a:r>
                <a:r>
                  <a:rPr lang="it-IT" dirty="0"/>
                  <a:t>(represent the importance of feature 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it-IT" dirty="0"/>
                  <a:t> in the projected </a:t>
                </a:r>
                <a:r>
                  <a:rPr lang="it-IT" sz="3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it-IT" dirty="0"/>
                  <a:t>-dimensional space)</a:t>
                </a:r>
              </a:p>
              <a:p>
                <a:r>
                  <a:rPr lang="en-GB" dirty="0"/>
                  <a:t>Projected values are called </a:t>
                </a:r>
                <a:r>
                  <a:rPr lang="en-GB" b="1" dirty="0"/>
                  <a:t>scores</a:t>
                </a:r>
                <a:r>
                  <a:rPr lang="en-GB" dirty="0"/>
                  <a:t> and are obtained by a linear combination the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GB" dirty="0"/>
                  <a:t> selected vectors with each original point</a:t>
                </a:r>
              </a:p>
              <a:p>
                <a:r>
                  <a:rPr lang="en-GB" dirty="0"/>
                  <a:t>Each PC is then a linear combination of feature loadings and feature values</a:t>
                </a:r>
              </a:p>
              <a:p>
                <a:endParaRPr lang="it-IT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42950"/>
                <a:ext cx="8229600" cy="4574721"/>
              </a:xfrm>
              <a:blipFill rotWithShape="0">
                <a:blip r:embed="rId2"/>
                <a:stretch>
                  <a:fillRect l="-815" t="-2267" r="-1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887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 digression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57599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Variance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: </m:t>
                    </m:r>
                    <m:sSubSup>
                      <m:sSub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it-IT" sz="24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Covariance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it-IT" sz="2400" dirty="0"/>
                  <a:t>)(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it-IT" sz="2400" dirty="0"/>
                  <a:t>)]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sz="2400" dirty="0"/>
                  <a:t>  iff </a:t>
                </a:r>
                <a:r>
                  <a:rPr lang="it-IT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it-IT" sz="2400" dirty="0"/>
                  <a:t> and </a:t>
                </a:r>
                <a:r>
                  <a:rPr lang="it-IT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it-IT" sz="2400" dirty="0"/>
                  <a:t> are uncorrelated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it-IT" sz="2400" dirty="0"/>
              </a:p>
              <a:p>
                <a:r>
                  <a:rPr lang="en-GB" sz="2500" dirty="0">
                    <a:latin typeface="Cambria Math" panose="02040503050406030204" pitchFamily="18" charset="0"/>
                  </a:rPr>
                  <a:t>Sample variance </a:t>
                </a:r>
                <a:r>
                  <a:rPr lang="en-GB" sz="2400" dirty="0"/>
                  <a:t>for sample size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it-IT" sz="2400" dirty="0"/>
              </a:p>
              <a:p>
                <a:r>
                  <a:rPr lang="en-GB" sz="2500" dirty="0">
                    <a:latin typeface="Cambria Math" panose="02040503050406030204" pitchFamily="18" charset="0"/>
                  </a:rPr>
                  <a:t>Sample covariance</a:t>
                </a:r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</m:e>
                        </m:nary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it-IT" sz="2400" dirty="0"/>
              </a:p>
              <a:p>
                <a:r>
                  <a:rPr lang="en-GB" sz="2500" dirty="0">
                    <a:latin typeface="Cambria Math" panose="02040503050406030204" pitchFamily="18" charset="0"/>
                  </a:rPr>
                  <a:t>Covariance matrix</a:t>
                </a:r>
                <a:r>
                  <a:rPr lang="en-GB" sz="2400" dirty="0"/>
                  <a:t>: if we have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n&gt;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GB" sz="2400" dirty="0"/>
                  <a:t> variables,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matrix</a:t>
                </a:r>
                <a:br>
                  <a:rPr lang="en-GB" sz="2400" dirty="0"/>
                </a:br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sz="2400" dirty="0"/>
                  <a:t>  (symmetric matrix with variance along diagonal)</a:t>
                </a:r>
                <a:endParaRPr lang="it-IT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57599"/>
              </a:xfrm>
              <a:blipFill>
                <a:blip r:embed="rId2"/>
                <a:stretch>
                  <a:fillRect l="-519" t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465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Each dimension/feature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400" dirty="0"/>
                  <a:t> is a variable</a:t>
                </a:r>
              </a:p>
              <a:p>
                <a:r>
                  <a:rPr lang="en-GB" sz="2400" dirty="0"/>
                  <a:t>Each data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=1…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it-IT" sz="2400" dirty="0"/>
                  <a:t> is a sample for each variable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We can then compute the covariance matrix </a:t>
                </a:r>
                <a:r>
                  <a:rPr lang="en-GB" sz="2400" dirty="0">
                    <a:latin typeface="Symbol" panose="05050102010706020507" pitchFamily="18" charset="2"/>
                  </a:rPr>
                  <a:t>S</a:t>
                </a:r>
                <a:r>
                  <a:rPr lang="en-GB" sz="2400" dirty="0"/>
                  <a:t> between the features of the whole dataset </a:t>
                </a:r>
                <a:r>
                  <a:rPr lang="en-GB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GB" sz="2400" dirty="0"/>
                  <a:t> as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29000" y="2266950"/>
                <a:ext cx="1246303" cy="944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266950"/>
                <a:ext cx="1246303" cy="9447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763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Eigenvectors and Eigenvalues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9730"/>
                <a:ext cx="8382000" cy="3394472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Given a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square matrix </a:t>
                </a:r>
                <a:r>
                  <a:rPr lang="en-GB" sz="2400" i="1" dirty="0">
                    <a:latin typeface="Cambria Math" panose="02040503050406030204" pitchFamily="18" charset="0"/>
                  </a:rPr>
                  <a:t>A</a:t>
                </a:r>
                <a:r>
                  <a:rPr lang="en-GB" sz="2400" dirty="0"/>
                  <a:t>, if there exists a (non-null)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vector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, such that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then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is an </a:t>
                </a:r>
                <a:r>
                  <a:rPr lang="it-IT" sz="2400" b="1" dirty="0"/>
                  <a:t>eigenvector</a:t>
                </a:r>
                <a:r>
                  <a:rPr lang="it-IT" sz="2400" dirty="0"/>
                  <a:t> of </a:t>
                </a:r>
                <a:r>
                  <a:rPr lang="it-IT" sz="2400" i="1" dirty="0">
                    <a:latin typeface="Cambria Math" panose="02040503050406030204" pitchFamily="18" charset="0"/>
                  </a:rPr>
                  <a:t>A</a:t>
                </a:r>
                <a:r>
                  <a:rPr lang="it-IT" sz="2400" dirty="0"/>
                  <a:t> and </a:t>
                </a:r>
                <a:r>
                  <a:rPr lang="it-IT" sz="2400" i="1" dirty="0">
                    <a:latin typeface="Symbol" panose="05050102010706020507" pitchFamily="18" charset="2"/>
                  </a:rPr>
                  <a:t>l</a:t>
                </a:r>
                <a:r>
                  <a:rPr lang="it-IT" sz="2400" dirty="0"/>
                  <a:t> is an </a:t>
                </a:r>
                <a:r>
                  <a:rPr lang="it-IT" sz="2400" b="1" dirty="0"/>
                  <a:t>eigenvalue</a:t>
                </a:r>
              </a:p>
              <a:p>
                <a:r>
                  <a:rPr lang="en-GB" sz="2400" dirty="0"/>
                  <a:t>Necessary and sufficient condition: </a:t>
                </a:r>
              </a:p>
              <a:p>
                <a:r>
                  <a:rPr lang="en-GB" sz="2400" dirty="0"/>
                  <a:t>At most </a:t>
                </a:r>
                <a:r>
                  <a:rPr lang="en-GB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GB" sz="2400" dirty="0"/>
                  <a:t> eigenvalues</a:t>
                </a:r>
                <a:endParaRPr lang="it-IT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9730"/>
                <a:ext cx="8382000" cy="3394472"/>
              </a:xfrm>
              <a:blipFill rotWithShape="0">
                <a:blip r:embed="rId2"/>
                <a:stretch>
                  <a:fillRect l="-945" t="-1795" r="-2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upload.wikimedia.org/wikipedia/commons/thumb/5/58/Eigenvalue_equation.svg/250px-Eigenvalue_equation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10119"/>
            <a:ext cx="23812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0" y="3846778"/>
            <a:ext cx="3951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Matrix </a:t>
            </a:r>
            <a:r>
              <a:rPr lang="en-US" i="1" dirty="0"/>
              <a:t>A</a:t>
            </a:r>
            <a:r>
              <a:rPr lang="en-US" dirty="0"/>
              <a:t> acts by stretching the vector </a:t>
            </a:r>
            <a:r>
              <a:rPr lang="en-US" i="1" dirty="0"/>
              <a:t>x</a:t>
            </a:r>
            <a:r>
              <a:rPr lang="en-US" dirty="0"/>
              <a:t>, </a:t>
            </a:r>
          </a:p>
          <a:p>
            <a:r>
              <a:rPr lang="en-US" dirty="0"/>
              <a:t>not changing its direction, </a:t>
            </a:r>
          </a:p>
          <a:p>
            <a:r>
              <a:rPr lang="en-US" dirty="0"/>
              <a:t>so </a:t>
            </a:r>
            <a:r>
              <a:rPr lang="en-US" i="1" dirty="0"/>
              <a:t>x</a:t>
            </a:r>
            <a:r>
              <a:rPr lang="en-US" dirty="0"/>
              <a:t> is an eigenvector of </a:t>
            </a:r>
            <a:r>
              <a:rPr lang="en-US" i="1" dirty="0"/>
              <a:t>A</a:t>
            </a:r>
            <a:r>
              <a:rPr lang="en-US" dirty="0"/>
              <a:t>.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57800" y="2270337"/>
                <a:ext cx="21709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func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270337"/>
                <a:ext cx="2170979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3090" r="-2809" b="-65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4815722" y="2662335"/>
            <a:ext cx="3602064" cy="864377"/>
            <a:chOff x="4819650" y="2639669"/>
            <a:chExt cx="3602064" cy="8643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819650" y="3042125"/>
                  <a:ext cx="3079048" cy="461921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GB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9650" y="3042125"/>
                  <a:ext cx="3079048" cy="461921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/>
            <p:cNvSpPr txBox="1"/>
            <p:nvPr/>
          </p:nvSpPr>
          <p:spPr>
            <a:xfrm>
              <a:off x="6343289" y="2659122"/>
              <a:ext cx="9168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solidFill>
                    <a:srgbClr val="FF0000"/>
                  </a:solidFill>
                </a:rPr>
                <a:t>eigenvector</a:t>
              </a:r>
              <a:endParaRPr lang="it-IT" sz="12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566672" y="2639669"/>
              <a:ext cx="8550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solidFill>
                    <a:srgbClr val="FF0000"/>
                  </a:solidFill>
                </a:rPr>
                <a:t>eigenvalue</a:t>
              </a:r>
              <a:endParaRPr lang="it-IT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6172200" y="2916668"/>
              <a:ext cx="457200" cy="188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7398036" y="2853643"/>
              <a:ext cx="489231" cy="29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D93432C-39E4-4989-8B31-DC603E8E362D}"/>
              </a:ext>
            </a:extLst>
          </p:cNvPr>
          <p:cNvSpPr/>
          <p:nvPr/>
        </p:nvSpPr>
        <p:spPr>
          <a:xfrm>
            <a:off x="6396872" y="1801665"/>
            <a:ext cx="22694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characteristic polynomial</a:t>
            </a:r>
            <a:endParaRPr lang="it-IT" sz="1600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C50756-FB30-45D2-8157-FD0E66C72202}"/>
              </a:ext>
            </a:extLst>
          </p:cNvPr>
          <p:cNvCxnSpPr/>
          <p:nvPr/>
        </p:nvCxnSpPr>
        <p:spPr>
          <a:xfrm flipH="1">
            <a:off x="6279076" y="2080572"/>
            <a:ext cx="489231" cy="299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54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Eigenvectors and Eigenvalues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946921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GB" dirty="0"/>
                  <a:t>The length of an eigenvector does not count (only the direction)</a:t>
                </a:r>
              </a:p>
              <a:p>
                <a:r>
                  <a:rPr lang="en-GB" dirty="0"/>
                  <a:t>We can normalize (</a:t>
                </a:r>
                <a:r>
                  <a:rPr lang="en-GB" dirty="0" err="1"/>
                  <a:t>wrt</a:t>
                </a:r>
                <a:r>
                  <a:rPr lang="en-GB" dirty="0"/>
                  <a:t> a norm) each eigenvector to length 1 by dividing for the norm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9+4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it-IT" dirty="0"/>
              </a:p>
              <a:p>
                <a:r>
                  <a:rPr lang="en-GB" dirty="0"/>
                  <a:t>Eigenvectors can be found only for square matrices, but not every square matrix has eigenvectors</a:t>
                </a:r>
              </a:p>
              <a:p>
                <a:r>
                  <a:rPr lang="en-GB" dirty="0"/>
                  <a:t>Symmetric matrices have exactly n eigenvectors/eigenvalues</a:t>
                </a:r>
              </a:p>
              <a:p>
                <a:r>
                  <a:rPr lang="en-GB" dirty="0"/>
                  <a:t>Eigenvectors of symmetric matrices are orthogonal (orthonormal if normalized)</a:t>
                </a:r>
              </a:p>
              <a:p>
                <a:pPr lvl="1"/>
                <a:r>
                  <a:rPr lang="en-GB" dirty="0"/>
                  <a:t>they are a an orthogonal/orthonormal base, thus they can be used as a </a:t>
                </a:r>
                <a:r>
                  <a:rPr lang="en-GB" dirty="0" err="1"/>
                  <a:t>a</a:t>
                </a:r>
                <a:r>
                  <a:rPr lang="en-GB" dirty="0"/>
                  <a:t> reference system </a:t>
                </a:r>
                <a:endParaRPr lang="it-I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946921"/>
              </a:xfrm>
              <a:blipFill rotWithShape="0">
                <a:blip r:embed="rId2"/>
                <a:stretch>
                  <a:fillRect l="-444" t="-20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478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Singular Value Decomposition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sSup>
                      <m:sSupPr>
                        <m:ctrlP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>
                  <a:solidFill>
                    <a:srgbClr val="FF0000"/>
                  </a:solidFill>
                </a:endParaRPr>
              </a:p>
              <a:p>
                <a:r>
                  <a:rPr lang="en-GB" i="1" dirty="0">
                    <a:latin typeface="Cambria Math" panose="02040503050406030204" pitchFamily="18" charset="0"/>
                  </a:rPr>
                  <a:t>U</a:t>
                </a:r>
                <a:r>
                  <a:rPr lang="en-GB" dirty="0"/>
                  <a:t>  is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column-orthonormal matrix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(number of linearly independent rows/columns)</a:t>
                </a:r>
              </a:p>
              <a:p>
                <a:r>
                  <a:rPr lang="en-GB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GB" dirty="0"/>
                  <a:t>  is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it-IT" dirty="0"/>
                  <a:t> diagonal matrix with diagonal elements (</a:t>
                </a:r>
                <a:r>
                  <a:rPr lang="it-IT" i="1" dirty="0"/>
                  <a:t>singular values</a:t>
                </a:r>
                <a:r>
                  <a:rPr lang="it-IT" dirty="0"/>
                  <a:t>) sorted in decreasing order</a:t>
                </a:r>
              </a:p>
              <a:p>
                <a:r>
                  <a:rPr lang="en-GB" i="1" dirty="0">
                    <a:latin typeface="Cambria Math" panose="02040503050406030204" pitchFamily="18" charset="0"/>
                  </a:rPr>
                  <a:t>V</a:t>
                </a:r>
                <a:r>
                  <a:rPr lang="en-GB" dirty="0"/>
                  <a:t>  is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column-orthonormal matrix</a:t>
                </a:r>
              </a:p>
              <a:p>
                <a:r>
                  <a:rPr lang="en-GB" dirty="0"/>
                  <a:t>SVD is </a:t>
                </a:r>
                <a:r>
                  <a:rPr lang="en-GB" b="1" dirty="0"/>
                  <a:t>unique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343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 err="1"/>
              <a:t>Eigendecomposition</a:t>
            </a:r>
            <a:r>
              <a:rPr lang="en-GB" sz="3200" dirty="0"/>
              <a:t> (or Spectral Decomposition)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00151"/>
                <a:ext cx="8382000" cy="3394472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is symmetric then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it-IT" dirty="0"/>
                  <a:t> where</a:t>
                </a:r>
              </a:p>
              <a:p>
                <a:pPr lvl="1"/>
                <a:r>
                  <a:rPr lang="en-GB" dirty="0"/>
                  <a:t>c</a:t>
                </a:r>
                <a:r>
                  <a:rPr lang="en-GB" b="0" dirty="0"/>
                  <a:t>olumns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are eigenvectors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diagonal whose entries are the eigenvalues of </a:t>
                </a:r>
                <a:r>
                  <a:rPr lang="en-GB" i="1" dirty="0">
                    <a:latin typeface="Cambria Math" panose="02040503050406030204" pitchFamily="18" charset="0"/>
                  </a:rPr>
                  <a:t>A</a:t>
                </a:r>
              </a:p>
              <a:p>
                <a:r>
                  <a:rPr lang="en-GB" dirty="0"/>
                  <a:t>In this case SD is equivalent to SVD</a:t>
                </a:r>
              </a:p>
              <a:p>
                <a:r>
                  <a:rPr lang="en-GB" dirty="0"/>
                  <a:t>The covariance matrix </a:t>
                </a:r>
                <a:r>
                  <a:rPr lang="en-GB" dirty="0">
                    <a:latin typeface="Symbol" panose="05050102010706020507" pitchFamily="18" charset="2"/>
                  </a:rPr>
                  <a:t>S</a:t>
                </a:r>
                <a:r>
                  <a:rPr lang="en-GB" dirty="0"/>
                  <a:t> of a dataset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dirty="0"/>
                  <a:t> is symmetric, thus SVD of </a:t>
                </a:r>
                <a:r>
                  <a:rPr lang="en-GB" dirty="0">
                    <a:latin typeface="Symbol" panose="05050102010706020507" pitchFamily="18" charset="2"/>
                  </a:rPr>
                  <a:t>S</a:t>
                </a:r>
                <a:r>
                  <a:rPr lang="en-GB" dirty="0"/>
                  <a:t> allows us to get its eigenvectors and eigenvalues (which are exactly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GB" dirty="0"/>
                  <a:t> and orthogonal)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00151"/>
                <a:ext cx="8382000" cy="3394472"/>
              </a:xfrm>
              <a:blipFill rotWithShape="0">
                <a:blip r:embed="rId2"/>
                <a:stretch>
                  <a:fillRect l="-1236" t="-28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64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"/>
            <a:ext cx="8229600" cy="857250"/>
          </a:xfrm>
        </p:spPr>
        <p:txBody>
          <a:bodyPr/>
          <a:lstStyle/>
          <a:p>
            <a:r>
              <a:rPr lang="en-GB" dirty="0"/>
              <a:t>SVD of covariance matrix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399" y="1200150"/>
                <a:ext cx="8870913" cy="3733799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Let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2400" dirty="0"/>
                  <a:t> be the dataset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GB" sz="2400" dirty="0"/>
                  <a:t> be the covariance matrix</a:t>
                </a: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𝑆𝑉𝐷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𝑈𝑆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𝑆𝑉𝐷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𝑉𝑆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GB" sz="2400" b="0" dirty="0"/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𝑆𝑉𝐷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𝑈𝑆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𝑉𝑆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GB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2400" dirty="0"/>
              </a:p>
              <a:p>
                <a:r>
                  <a:rPr lang="en-GB" sz="2400" dirty="0"/>
                  <a:t>Singular values of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2400" dirty="0"/>
                  <a:t> (in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)</a:t>
                </a:r>
                <a:r>
                  <a:rPr lang="en-GB" sz="2400" dirty="0"/>
                  <a:t> are then the square roots of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=1..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of </a:t>
                </a:r>
                <a:r>
                  <a:rPr lang="en-GB" sz="2400" dirty="0">
                    <a:latin typeface="Symbol" panose="05050102010706020507" pitchFamily="18" charset="2"/>
                  </a:rPr>
                  <a:t>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399" y="1200150"/>
                <a:ext cx="8870913" cy="3733799"/>
              </a:xfrm>
              <a:blipFill rotWithShape="0">
                <a:blip r:embed="rId2"/>
                <a:stretch>
                  <a:fillRect l="-8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410200" y="2800350"/>
            <a:ext cx="2622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dirty="0">
                <a:solidFill>
                  <a:srgbClr val="0070C0"/>
                </a:solidFill>
              </a:rPr>
              <a:t> has orthogonal columns</a:t>
            </a:r>
          </a:p>
          <a:p>
            <a:r>
              <a:rPr lang="en-GB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V=I</a:t>
            </a:r>
            <a:endParaRPr lang="it-IT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>
          <a:xfrm flipH="1" flipV="1">
            <a:off x="4267200" y="2663428"/>
            <a:ext cx="1143000" cy="460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119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Eigenvalues and variance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382000" cy="3394472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sz="2800" dirty="0"/>
                  <a:t>It can be shown that the total variance of the data (i.e. the sum on the diagonal of </a:t>
                </a:r>
                <a:r>
                  <a:rPr lang="en-GB" sz="2800" dirty="0">
                    <a:latin typeface="Symbol" panose="05050102010706020507" pitchFamily="18" charset="2"/>
                  </a:rPr>
                  <a:t>L</a:t>
                </a:r>
                <a:r>
                  <a:rPr lang="en-GB" sz="2800" dirty="0"/>
                  <a:t>, also called </a:t>
                </a:r>
                <a:r>
                  <a:rPr lang="en-GB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trace</a:t>
                </a:r>
                <a:r>
                  <a:rPr lang="en-GB" sz="2800" dirty="0"/>
                  <a:t>(</a:t>
                </a:r>
                <a:r>
                  <a:rPr lang="en-GB" sz="2800" dirty="0">
                    <a:latin typeface="Symbol" panose="05050102010706020507" pitchFamily="18" charset="2"/>
                  </a:rPr>
                  <a:t>L</a:t>
                </a:r>
                <a:r>
                  <a:rPr lang="en-GB" sz="2800" dirty="0"/>
                  <a:t>))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it-IT" sz="2800" dirty="0"/>
              </a:p>
              <a:p>
                <a:r>
                  <a:rPr lang="en-GB" sz="2800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800" dirty="0"/>
                  <a:t> represents the variance of (explained by) the </a:t>
                </a:r>
                <a:r>
                  <a:rPr lang="it-IT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it-IT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 </a:t>
                </a:r>
                <a:r>
                  <a:rPr lang="it-IT" sz="2800" dirty="0"/>
                  <a:t>principal component, corresponding to eigenvector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sz="2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8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it-IT" sz="2800" dirty="0"/>
              </a:p>
              <a:p>
                <a:r>
                  <a:rPr lang="en-GB" sz="2800" dirty="0"/>
                  <a:t>Thus the percentage of total variance explained by the first </a:t>
                </a:r>
                <a:r>
                  <a:rPr lang="en-GB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GB" sz="2800" dirty="0"/>
                  <a:t> PC is given by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382000" cy="3394472"/>
              </a:xfrm>
              <a:blipFill>
                <a:blip r:embed="rId2"/>
                <a:stretch>
                  <a:fillRect l="-1091" t="-1436" r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885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Principal Component Analysis (PCA)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895350"/>
                <a:ext cx="8763000" cy="41148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sz="2400" dirty="0"/>
                  <a:t>Compute covariance matrix </a:t>
                </a:r>
                <a:r>
                  <a:rPr lang="en-GB" sz="2400" dirty="0">
                    <a:latin typeface="Symbol" panose="05050102010706020507" pitchFamily="18" charset="2"/>
                  </a:rPr>
                  <a:t>S</a:t>
                </a:r>
                <a:r>
                  <a:rPr lang="en-GB" sz="2400" dirty="0"/>
                  <a:t> of mean-</a:t>
                </a:r>
                <a:r>
                  <a:rPr lang="en-GB" sz="2400" dirty="0" err="1"/>
                  <a:t>centered</a:t>
                </a:r>
                <a:r>
                  <a:rPr lang="en-GB" sz="2400" dirty="0"/>
                  <a:t> data set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Compute eigenvectors 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GB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24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and eigenvalues  </a:t>
                </a:r>
                <a:r>
                  <a:rPr lang="en-GB" sz="24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l</a:t>
                </a:r>
                <a:r>
                  <a:rPr lang="en-GB" sz="2400" baseline="-25000" dirty="0">
                    <a:latin typeface="+mj-lt"/>
                    <a:cs typeface="Times New Roman" panose="02020603050405020304" pitchFamily="18" charset="0"/>
                  </a:rPr>
                  <a:t>i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of </a:t>
                </a:r>
                <a:r>
                  <a:rPr lang="en-GB" sz="24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 (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for example via SVD)</a:t>
                </a:r>
              </a:p>
              <a:p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Order eigenvectors in descending order of eigenvalues (SVD can output matrices 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and </a:t>
                </a:r>
                <a:r>
                  <a:rPr lang="en-GB" sz="24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L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sorted this way)</a:t>
                </a:r>
              </a:p>
              <a:p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Determine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GB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GB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GB" sz="24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 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for a given threshold </a:t>
                </a:r>
                <a:r>
                  <a:rPr lang="en-GB" sz="24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s (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e.g.</a:t>
                </a:r>
                <a:r>
                  <a:rPr lang="en-GB" sz="2400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 s=0.95)</a:t>
                </a:r>
              </a:p>
              <a:p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(:,1: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(first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columns of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(2)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where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 is the score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sz="24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895350"/>
                <a:ext cx="8763000" cy="4114800"/>
              </a:xfrm>
              <a:blipFill rotWithShape="0">
                <a:blip r:embed="rId2"/>
                <a:stretch>
                  <a:fillRect l="-835" t="-1333" r="-2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154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9600" y="590550"/>
                <a:ext cx="3412537" cy="732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90550"/>
                <a:ext cx="3412537" cy="73225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5471" y="1657350"/>
                <a:ext cx="7651069" cy="732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first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71" y="1657350"/>
                <a:ext cx="7651069" cy="73225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19600" y="590550"/>
                <a:ext cx="2598212" cy="784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90550"/>
                <a:ext cx="2598212" cy="7849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36416" y="4140041"/>
                <a:ext cx="4178965" cy="732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416" y="4140041"/>
                <a:ext cx="4178965" cy="73225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017812" y="1110561"/>
                <a:ext cx="19033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≥⋯≥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812" y="1110561"/>
                <a:ext cx="1903342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282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32682" y="2724150"/>
                <a:ext cx="3491790" cy="732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682" y="2724150"/>
                <a:ext cx="3491790" cy="73225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096000" y="13208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of PCs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 rot="1897165">
            <a:off x="4877877" y="786789"/>
            <a:ext cx="1371600" cy="3924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718706" y="332051"/>
            <a:ext cx="711781" cy="401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62000" y="2724150"/>
                <a:ext cx="2876685" cy="1039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(2)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724150"/>
                <a:ext cx="2876685" cy="103913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 rot="5400000">
            <a:off x="1391770" y="3100787"/>
            <a:ext cx="1371600" cy="3924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TextBox 20"/>
          <p:cNvSpPr txBox="1"/>
          <p:nvPr/>
        </p:nvSpPr>
        <p:spPr>
          <a:xfrm>
            <a:off x="21771" y="3913163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loading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371600" y="3763281"/>
            <a:ext cx="509730" cy="219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 rot="5400000">
            <a:off x="3312236" y="4342461"/>
            <a:ext cx="1027322" cy="3924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TextBox 24"/>
          <p:cNvSpPr txBox="1"/>
          <p:nvPr/>
        </p:nvSpPr>
        <p:spPr>
          <a:xfrm>
            <a:off x="5189115" y="377070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>
            <a:stCxn id="25" idx="1"/>
          </p:cNvCxnSpPr>
          <p:nvPr/>
        </p:nvCxnSpPr>
        <p:spPr>
          <a:xfrm flipH="1">
            <a:off x="4022137" y="3955375"/>
            <a:ext cx="116697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214555" y="89809"/>
                <a:ext cx="3914661" cy="317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GB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it-IT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555" y="89809"/>
                <a:ext cx="3914661" cy="317844"/>
              </a:xfrm>
              <a:prstGeom prst="rect">
                <a:avLst/>
              </a:prstGeom>
              <a:blipFill rotWithShape="0">
                <a:blip r:embed="rId10"/>
                <a:stretch>
                  <a:fillRect l="-1090" b="-115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83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20" grpId="0" animBg="1"/>
      <p:bldP spid="21" grpId="0"/>
      <p:bldP spid="24" grpId="0" animBg="1"/>
      <p:bldP spid="25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84571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PCA plots</a:t>
            </a:r>
            <a:endParaRPr lang="it-IT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962400"/>
          </a:xfrm>
        </p:spPr>
        <p:txBody>
          <a:bodyPr>
            <a:normAutofit lnSpcReduction="10000"/>
          </a:bodyPr>
          <a:lstStyle/>
          <a:p>
            <a:r>
              <a:rPr lang="en-GB" sz="2400" b="1" dirty="0"/>
              <a:t>Score plot</a:t>
            </a:r>
            <a:r>
              <a:rPr lang="en-GB" sz="2400" dirty="0"/>
              <a:t>: a scatter plot of the scores of original data points</a:t>
            </a:r>
          </a:p>
          <a:p>
            <a:pPr lvl="1"/>
            <a:r>
              <a:rPr lang="en-GB" sz="2000" dirty="0"/>
              <a:t>It provides a view of how data look like in the reduced space</a:t>
            </a:r>
          </a:p>
          <a:p>
            <a:r>
              <a:rPr lang="en-GB" sz="2400" b="1" dirty="0"/>
              <a:t>Loading plot</a:t>
            </a:r>
            <a:r>
              <a:rPr lang="en-GB" sz="2400" dirty="0"/>
              <a:t>: either a scatter plot or a vector representation in the reduced space of feature loadings</a:t>
            </a:r>
          </a:p>
          <a:p>
            <a:pPr lvl="1"/>
            <a:r>
              <a:rPr lang="en-GB" sz="2000" dirty="0"/>
              <a:t>It provide an idea of the importance of each feature in the reduced space</a:t>
            </a:r>
          </a:p>
          <a:p>
            <a:r>
              <a:rPr lang="en-GB" sz="2400" dirty="0"/>
              <a:t>These plots are of course 2D or 3D graphs</a:t>
            </a:r>
          </a:p>
          <a:p>
            <a:pPr lvl="1"/>
            <a:r>
              <a:rPr lang="en-GB" sz="2000" dirty="0"/>
              <a:t>In case of more than 3 PC we can plot multiple graphs showing scores and loadings of pairs or triples of PC</a:t>
            </a:r>
          </a:p>
          <a:p>
            <a:r>
              <a:rPr lang="en-GB" sz="2400" b="1" dirty="0"/>
              <a:t>Scree plot</a:t>
            </a:r>
            <a:r>
              <a:rPr lang="en-GB" sz="2400" dirty="0"/>
              <a:t>: a line/bar graph showing the variance explained by each PC (ordered)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235981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66750"/>
            <a:ext cx="5372850" cy="43725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24200" y="133350"/>
            <a:ext cx="22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Example: IRIS dataset</a:t>
            </a:r>
            <a:endParaRPr lang="it-IT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1652713"/>
            <a:ext cx="32851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 dimensional space (4 features):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Sepal length/width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Petal length/width</a:t>
            </a:r>
          </a:p>
          <a:p>
            <a:endParaRPr lang="en-GB" dirty="0"/>
          </a:p>
          <a:p>
            <a:r>
              <a:rPr lang="en-GB" dirty="0"/>
              <a:t>Three classes: </a:t>
            </a:r>
            <a:br>
              <a:rPr lang="en-GB" dirty="0"/>
            </a:b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versicolor,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viriginica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891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819150"/>
            <a:ext cx="4026832" cy="4019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133350"/>
            <a:ext cx="4657646" cy="3219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625" y="4800600"/>
                <a:ext cx="647292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𝑃𝐶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1=0.5210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𝑆𝑒𝑝𝑎𝑙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𝐿𝑒𝑛𝑔𝑡h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−0.2693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𝑆𝑒𝑝𝑎𝑙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𝑊𝑖𝑑𝑡h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+0.5804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𝑃𝑒𝑡𝑎𝑙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𝐿𝑒𝑛𝑔𝑡h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+0.5648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𝑃𝑒𝑡𝑎𝑙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𝑊𝑖𝑑𝑡h</m:t>
                      </m:r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" y="4800600"/>
                <a:ext cx="6472926" cy="184666"/>
              </a:xfrm>
              <a:prstGeom prst="rect">
                <a:avLst/>
              </a:prstGeom>
              <a:blipFill rotWithShape="0">
                <a:blip r:embed="rId4"/>
                <a:stretch>
                  <a:fillRect l="-94" t="-6667" r="-94" b="-3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086600" y="819150"/>
            <a:ext cx="111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Scree Plot</a:t>
            </a:r>
            <a:endParaRPr lang="it-IT" dirty="0"/>
          </a:p>
        </p:txBody>
      </p:sp>
      <p:sp>
        <p:nvSpPr>
          <p:cNvPr id="7" name="Oval 6"/>
          <p:cNvSpPr/>
          <p:nvPr/>
        </p:nvSpPr>
        <p:spPr>
          <a:xfrm>
            <a:off x="762000" y="1733550"/>
            <a:ext cx="762000" cy="733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219200" y="2466975"/>
            <a:ext cx="685800" cy="2333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04552" y="1885950"/>
            <a:ext cx="232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Explain more than 95% of </a:t>
            </a:r>
            <a:r>
              <a:rPr lang="en-GB" sz="1400" dirty="0" err="1">
                <a:solidFill>
                  <a:srgbClr val="FF0000"/>
                </a:solidFill>
              </a:rPr>
              <a:t>var</a:t>
            </a:r>
            <a:endParaRPr lang="it-IT" sz="1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6097771" y="1188482"/>
            <a:ext cx="406781" cy="8513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553200" y="2193727"/>
            <a:ext cx="76200" cy="987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33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66" y="0"/>
            <a:ext cx="8685067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15338" y="3391494"/>
            <a:ext cx="6348982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Loading interpretation: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Petal length and width are very similar (highly correlated)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in the reduced space; their variability is essentially</a:t>
            </a:r>
          </a:p>
          <a:p>
            <a:r>
              <a:rPr lang="en-GB" dirty="0">
                <a:solidFill>
                  <a:srgbClr val="FF0000"/>
                </a:solidFill>
              </a:rPr>
              <a:t>accounted for by PC1 only</a:t>
            </a:r>
          </a:p>
          <a:p>
            <a:r>
              <a:rPr lang="en-GB" dirty="0">
                <a:solidFill>
                  <a:srgbClr val="FF0000"/>
                </a:solidFill>
              </a:rPr>
              <a:t>While sepal width is very dissimilar (uncorrelated) to all the others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5000" y="57150"/>
            <a:ext cx="231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Score and loading plot</a:t>
            </a:r>
            <a:endParaRPr lang="it-IT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981499" y="4130158"/>
            <a:ext cx="6005298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Score interpretation: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in the reduced 2D space different classes are clearly separable</a:t>
            </a:r>
          </a:p>
          <a:p>
            <a:r>
              <a:rPr lang="en-GB" dirty="0">
                <a:solidFill>
                  <a:srgbClr val="FF0000"/>
                </a:solidFill>
              </a:rPr>
              <a:t>PC1 alone can identify </a:t>
            </a:r>
            <a:r>
              <a:rPr lang="en-GB" dirty="0" err="1">
                <a:solidFill>
                  <a:srgbClr val="FF0000"/>
                </a:solidFill>
              </a:rPr>
              <a:t>setosa</a:t>
            </a:r>
            <a:r>
              <a:rPr lang="en-GB" dirty="0">
                <a:solidFill>
                  <a:srgbClr val="FF0000"/>
                </a:solidFill>
              </a:rPr>
              <a:t> from the other two classes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57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67250" y="6380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907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Reconstruction from compressed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370588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1274696" y="1197393"/>
            <a:ext cx="2597368" cy="211532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4098" y="79551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Reconstruction from compressed representation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537755" y="901644"/>
            <a:ext cx="0" cy="2379643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14400" y="2277758"/>
            <a:ext cx="3158164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302" y="744426"/>
            <a:ext cx="177093" cy="11658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898" y="2460223"/>
            <a:ext cx="172666" cy="116586"/>
          </a:xfrm>
          <a:prstGeom prst="rect">
            <a:avLst/>
          </a:prstGeom>
        </p:spPr>
      </p:pic>
      <p:sp>
        <p:nvSpPr>
          <p:cNvPr id="32" name="Cross 31"/>
          <p:cNvSpPr/>
          <p:nvPr/>
        </p:nvSpPr>
        <p:spPr>
          <a:xfrm rot="2734294">
            <a:off x="2843454" y="1861038"/>
            <a:ext cx="167460" cy="167460"/>
          </a:xfrm>
          <a:prstGeom prst="plus">
            <a:avLst>
              <a:gd name="adj" fmla="val 46579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ross 32"/>
          <p:cNvSpPr/>
          <p:nvPr/>
        </p:nvSpPr>
        <p:spPr>
          <a:xfrm rot="2734294">
            <a:off x="3375461" y="1251944"/>
            <a:ext cx="167460" cy="167460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ross 33"/>
          <p:cNvSpPr/>
          <p:nvPr/>
        </p:nvSpPr>
        <p:spPr>
          <a:xfrm rot="2734294">
            <a:off x="3316430" y="1714400"/>
            <a:ext cx="167460" cy="167460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1173560" y="3055413"/>
            <a:ext cx="167460" cy="167460"/>
          </a:xfrm>
          <a:prstGeom prst="plus">
            <a:avLst>
              <a:gd name="adj" fmla="val 46579"/>
            </a:avLst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1762238" y="2925131"/>
            <a:ext cx="167460" cy="167460"/>
          </a:xfrm>
          <a:prstGeom prst="plus">
            <a:avLst>
              <a:gd name="adj" fmla="val 46579"/>
            </a:avLst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914400" y="4619988"/>
            <a:ext cx="3276600" cy="388257"/>
            <a:chOff x="914400" y="4619988"/>
            <a:chExt cx="3276600" cy="388257"/>
          </a:xfrm>
        </p:grpSpPr>
        <p:cxnSp>
          <p:nvCxnSpPr>
            <p:cNvPr id="61" name="Straight Arrow Connector 60"/>
            <p:cNvCxnSpPr/>
            <p:nvPr/>
          </p:nvCxnSpPr>
          <p:spPr>
            <a:xfrm>
              <a:off x="914400" y="4705350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8595" y="4857750"/>
              <a:ext cx="192405" cy="150495"/>
            </a:xfrm>
            <a:prstGeom prst="rect">
              <a:avLst/>
            </a:prstGeom>
          </p:spPr>
        </p:pic>
        <p:sp>
          <p:nvSpPr>
            <p:cNvPr id="64" name="Cross 63"/>
            <p:cNvSpPr/>
            <p:nvPr/>
          </p:nvSpPr>
          <p:spPr>
            <a:xfrm rot="2734294">
              <a:off x="2812333" y="462035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Cross 64"/>
            <p:cNvSpPr/>
            <p:nvPr/>
          </p:nvSpPr>
          <p:spPr>
            <a:xfrm rot="2734294">
              <a:off x="3344340" y="462831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Cross 66"/>
            <p:cNvSpPr/>
            <p:nvPr/>
          </p:nvSpPr>
          <p:spPr>
            <a:xfrm rot="2734294">
              <a:off x="3285309" y="4628317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rgbClr val="0000CC"/>
            </a:solidFill>
            <a:ln w="1905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ross 36"/>
            <p:cNvSpPr/>
            <p:nvPr/>
          </p:nvSpPr>
          <p:spPr>
            <a:xfrm rot="2734294">
              <a:off x="1137935" y="4619988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ross 37"/>
            <p:cNvSpPr/>
            <p:nvPr/>
          </p:nvSpPr>
          <p:spPr>
            <a:xfrm rot="2734294">
              <a:off x="1726613" y="4619988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995236" y="742950"/>
            <a:ext cx="3158164" cy="2659619"/>
            <a:chOff x="4995236" y="742950"/>
            <a:chExt cx="3158164" cy="2659619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6618591" y="900169"/>
              <a:ext cx="0" cy="237964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995236" y="2276283"/>
              <a:ext cx="315816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7138" y="742950"/>
              <a:ext cx="177093" cy="116586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0734" y="2458748"/>
              <a:ext cx="172666" cy="116586"/>
            </a:xfrm>
            <a:prstGeom prst="rect">
              <a:avLst/>
            </a:prstGeom>
          </p:spPr>
        </p:pic>
        <p:cxnSp>
          <p:nvCxnSpPr>
            <p:cNvPr id="49" name="Straight Connector 48"/>
            <p:cNvCxnSpPr/>
            <p:nvPr/>
          </p:nvCxnSpPr>
          <p:spPr>
            <a:xfrm flipV="1">
              <a:off x="5356132" y="1188275"/>
              <a:ext cx="2597368" cy="2115327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ross 49"/>
            <p:cNvSpPr/>
            <p:nvPr/>
          </p:nvSpPr>
          <p:spPr>
            <a:xfrm rot="2734294">
              <a:off x="6924890" y="1872392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Cross 56"/>
            <p:cNvSpPr/>
            <p:nvPr/>
          </p:nvSpPr>
          <p:spPr>
            <a:xfrm rot="2734294">
              <a:off x="7456897" y="1441565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ross 57"/>
            <p:cNvSpPr/>
            <p:nvPr/>
          </p:nvSpPr>
          <p:spPr>
            <a:xfrm rot="2734294">
              <a:off x="7397866" y="1490723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rgbClr val="0000CC"/>
            </a:solidFill>
            <a:ln w="1905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Cross 58"/>
            <p:cNvSpPr/>
            <p:nvPr/>
          </p:nvSpPr>
          <p:spPr>
            <a:xfrm rot="2734294">
              <a:off x="5254996" y="3235109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Cross 59"/>
            <p:cNvSpPr/>
            <p:nvPr/>
          </p:nvSpPr>
          <p:spPr>
            <a:xfrm rot="2734294">
              <a:off x="5843674" y="2765651"/>
              <a:ext cx="167460" cy="167460"/>
            </a:xfrm>
            <a:prstGeom prst="plus">
              <a:avLst>
                <a:gd name="adj" fmla="val 46579"/>
              </a:avLst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534964" y="3587533"/>
                <a:ext cx="1715668" cy="3841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64" y="3587533"/>
                <a:ext cx="1715668" cy="384144"/>
              </a:xfrm>
              <a:prstGeom prst="rect">
                <a:avLst/>
              </a:prstGeom>
              <a:blipFill rotWithShape="0">
                <a:blip r:embed="rId11"/>
                <a:stretch>
                  <a:fillRect b="-174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27404" y="3573811"/>
                <a:ext cx="1959062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𝑎𝑝𝑝𝑟𝑜𝑥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404" y="3573811"/>
                <a:ext cx="1959062" cy="397866"/>
              </a:xfrm>
              <a:prstGeom prst="rect">
                <a:avLst/>
              </a:prstGeom>
              <a:blipFill rotWithShape="0">
                <a:blip r:embed="rId12"/>
                <a:stretch>
                  <a:fillRect l="-1553" r="-1242" b="-181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186098" y="4316641"/>
                <a:ext cx="590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098" y="4316641"/>
                <a:ext cx="590996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5155" r="-8247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endCxn id="4" idx="0"/>
          </p:cNvCxnSpPr>
          <p:nvPr/>
        </p:nvCxnSpPr>
        <p:spPr>
          <a:xfrm>
            <a:off x="7481596" y="3887025"/>
            <a:ext cx="0" cy="429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947988" y="4080945"/>
                <a:ext cx="651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988" y="4080945"/>
                <a:ext cx="651910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8411" r="-4673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808997" y="4241886"/>
                <a:ext cx="655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997" y="4241886"/>
                <a:ext cx="655564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4673" r="-4673" b="-22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/>
          <p:nvPr/>
        </p:nvCxnSpPr>
        <p:spPr>
          <a:xfrm>
            <a:off x="7777094" y="3887025"/>
            <a:ext cx="376306" cy="214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4" idx="0"/>
          </p:cNvCxnSpPr>
          <p:nvPr/>
        </p:nvCxnSpPr>
        <p:spPr>
          <a:xfrm flipH="1">
            <a:off x="6136779" y="3994429"/>
            <a:ext cx="437539" cy="247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98573" y="2797401"/>
                <a:ext cx="437364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73" y="2797401"/>
                <a:ext cx="437364" cy="288477"/>
              </a:xfrm>
              <a:prstGeom prst="rect">
                <a:avLst/>
              </a:prstGeom>
              <a:blipFill rotWithShape="0">
                <a:blip r:embed="rId16"/>
                <a:stretch>
                  <a:fillRect l="-6944" t="-8511" r="-97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48801" y="4331023"/>
                <a:ext cx="424795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801" y="4331023"/>
                <a:ext cx="424795" cy="288477"/>
              </a:xfrm>
              <a:prstGeom prst="rect">
                <a:avLst/>
              </a:prstGeom>
              <a:blipFill rotWithShape="0">
                <a:blip r:embed="rId17"/>
                <a:stretch>
                  <a:fillRect l="-7143" t="-8333" r="-1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52504" y="2890454"/>
                <a:ext cx="794064" cy="366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𝑎𝑝𝑝𝑟𝑜𝑥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504" y="2890454"/>
                <a:ext cx="794064" cy="366832"/>
              </a:xfrm>
              <a:prstGeom prst="rect">
                <a:avLst/>
              </a:prstGeom>
              <a:blipFill rotWithShape="0">
                <a:blip r:embed="rId18"/>
                <a:stretch>
                  <a:fillRect l="-3846" t="-3333" r="-3077" b="-1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urved Connector 17"/>
          <p:cNvCxnSpPr/>
          <p:nvPr/>
        </p:nvCxnSpPr>
        <p:spPr>
          <a:xfrm>
            <a:off x="1217257" y="3343400"/>
            <a:ext cx="510305" cy="429343"/>
          </a:xfrm>
          <a:prstGeom prst="curvedConnector3">
            <a:avLst>
              <a:gd name="adj1" fmla="val -30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endCxn id="47" idx="3"/>
          </p:cNvCxnSpPr>
          <p:nvPr/>
        </p:nvCxnSpPr>
        <p:spPr>
          <a:xfrm rot="5400000">
            <a:off x="1431243" y="3924961"/>
            <a:ext cx="592654" cy="5079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3" idx="1"/>
          </p:cNvCxnSpPr>
          <p:nvPr/>
        </p:nvCxnSpPr>
        <p:spPr>
          <a:xfrm flipH="1" flipV="1">
            <a:off x="5457133" y="3392997"/>
            <a:ext cx="470271" cy="379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586204" y="3984171"/>
            <a:ext cx="4422710" cy="613707"/>
          </a:xfrm>
          <a:custGeom>
            <a:avLst/>
            <a:gdLst>
              <a:gd name="connsiteX0" fmla="*/ 0 w 4422710"/>
              <a:gd name="connsiteY0" fmla="*/ 559837 h 613707"/>
              <a:gd name="connsiteX1" fmla="*/ 3470988 w 4422710"/>
              <a:gd name="connsiteY1" fmla="*/ 559837 h 613707"/>
              <a:gd name="connsiteX2" fmla="*/ 4422710 w 4422710"/>
              <a:gd name="connsiteY2" fmla="*/ 0 h 613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22710" h="613707">
                <a:moveTo>
                  <a:pt x="0" y="559837"/>
                </a:moveTo>
                <a:cubicBezTo>
                  <a:pt x="1366935" y="606490"/>
                  <a:pt x="2733870" y="653143"/>
                  <a:pt x="3470988" y="559837"/>
                </a:cubicBezTo>
                <a:cubicBezTo>
                  <a:pt x="4208106" y="466531"/>
                  <a:pt x="4315408" y="233265"/>
                  <a:pt x="4422710" y="0"/>
                </a:cubicBezTo>
              </a:path>
            </a:pathLst>
          </a:custGeom>
          <a:noFill/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16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3" grpId="0"/>
      <p:bldP spid="44" grpId="0"/>
      <p:bldP spid="15" grpId="0"/>
      <p:bldP spid="47" grpId="0"/>
      <p:bldP spid="16" grpId="0"/>
      <p:bldP spid="8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67250" y="6380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Advice for applying PCA</a:t>
            </a:r>
          </a:p>
        </p:txBody>
      </p:sp>
    </p:spTree>
    <p:extLst>
      <p:ext uri="{BB962C8B-B14F-4D97-AF65-F5344CB8AC3E}">
        <p14:creationId xmlns:p14="http://schemas.microsoft.com/office/powerpoint/2010/main" val="213089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Supervised learning speedup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19150"/>
            <a:ext cx="5010912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195685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Extract inputs:</a:t>
            </a:r>
          </a:p>
          <a:p>
            <a:r>
              <a:rPr lang="en-US" sz="2400" dirty="0"/>
              <a:t>	Unlabeled dataset: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638" y="1611183"/>
            <a:ext cx="3582162" cy="349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2876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New training set: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0" y="2534580"/>
            <a:ext cx="3399282" cy="3497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460" y="2108708"/>
            <a:ext cx="928116" cy="27889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338215"/>
            <a:ext cx="4953762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1000" y="3733621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Note: Mapping                      should be defined by running PCA only on the training set. This mapping can be applied as well to the examples           and            in the cross validation and test sets.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776026"/>
            <a:ext cx="1339596" cy="29489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831" y="4494991"/>
            <a:ext cx="420624" cy="36804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877" y="4470128"/>
            <a:ext cx="569214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2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Application of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23950"/>
            <a:ext cx="830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3200" dirty="0"/>
              <a:t>Compression</a:t>
            </a:r>
          </a:p>
          <a:p>
            <a:pPr marL="800100" lvl="1" indent="-342900">
              <a:buFontTx/>
              <a:buChar char="-"/>
            </a:pPr>
            <a:r>
              <a:rPr lang="en-US" sz="3200" dirty="0"/>
              <a:t>Reduce memory/disk needed to store data</a:t>
            </a:r>
          </a:p>
          <a:p>
            <a:pPr marL="800100" lvl="1" indent="-342900">
              <a:buFontTx/>
              <a:buChar char="-"/>
            </a:pPr>
            <a:r>
              <a:rPr lang="en-US" sz="3200" dirty="0"/>
              <a:t>Speed up learning algorithm</a:t>
            </a:r>
          </a:p>
          <a:p>
            <a:pPr marL="800100" lvl="1" indent="-342900">
              <a:buFontTx/>
              <a:buChar char="-"/>
            </a:pPr>
            <a:endParaRPr lang="en-US" sz="3200" dirty="0"/>
          </a:p>
          <a:p>
            <a:pPr marL="800100" lvl="1" indent="-342900">
              <a:buFontTx/>
              <a:buChar char="-"/>
            </a:pPr>
            <a:endParaRPr lang="en-US" sz="3200" dirty="0"/>
          </a:p>
          <a:p>
            <a:pPr marL="342900" indent="-342900">
              <a:buFontTx/>
              <a:buChar char="-"/>
            </a:pPr>
            <a:r>
              <a:rPr lang="en-US" sz="3200" dirty="0"/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706" y="2800350"/>
            <a:ext cx="4043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Choose </a:t>
            </a:r>
            <a:r>
              <a:rPr lang="en-GB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000" dirty="0">
                <a:solidFill>
                  <a:srgbClr val="FF0000"/>
                </a:solidFill>
              </a:rPr>
              <a:t> by using variance explained</a:t>
            </a:r>
            <a:endParaRPr lang="it-IT" sz="2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2032" y="4224308"/>
            <a:ext cx="2268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Choose </a:t>
            </a:r>
            <a:r>
              <a:rPr lang="en-GB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000" dirty="0">
                <a:solidFill>
                  <a:srgbClr val="FF0000"/>
                </a:solidFill>
              </a:rPr>
              <a:t> =2 or </a:t>
            </a:r>
            <a:r>
              <a:rPr lang="en-GB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000" dirty="0">
                <a:solidFill>
                  <a:srgbClr val="FF0000"/>
                </a:solidFill>
              </a:rPr>
              <a:t> =3 </a:t>
            </a:r>
            <a:endParaRPr lang="it-IT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169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Bad use of PCA: To prevent </a:t>
            </a:r>
            <a:r>
              <a:rPr lang="en-US" sz="2800" b="1" dirty="0" err="1"/>
              <a:t>overfitting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81000" y="742950"/>
            <a:ext cx="830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Use         instead of         to reduce the number of features to </a:t>
            </a:r>
          </a:p>
          <a:p>
            <a:r>
              <a:rPr lang="en-US" sz="2800" dirty="0"/>
              <a:t>Thus, fewer features, less likely to </a:t>
            </a:r>
            <a:r>
              <a:rPr lang="en-US" sz="2800" dirty="0" err="1"/>
              <a:t>overfit</a:t>
            </a:r>
            <a:r>
              <a:rPr lang="en-US" sz="2800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724150"/>
            <a:ext cx="830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might work OK, but isn’t a good way to address </a:t>
            </a:r>
            <a:r>
              <a:rPr lang="en-US" sz="2800" dirty="0" err="1"/>
              <a:t>overfitting</a:t>
            </a:r>
            <a:r>
              <a:rPr lang="en-US" sz="2800" dirty="0"/>
              <a:t>. Use regularization instead.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812057"/>
            <a:ext cx="397764" cy="2926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826413"/>
            <a:ext cx="420624" cy="29260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700" y="1335308"/>
            <a:ext cx="800100" cy="2240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678257"/>
            <a:ext cx="5397246" cy="87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2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2857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PCA is sometimes used where it shouldn’t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62285"/>
            <a:ext cx="8305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Design of ML system: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Get training set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Run PCA to reduce         in dimension to get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Train logistic regression on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Test on test set: Map          to         . Run            on</a:t>
            </a:r>
          </a:p>
          <a:p>
            <a:pPr lvl="1"/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2971621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about doing the whole thing without using PCA?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8821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Before implementing PCA, first try running whatever you want to do with the original/raw data      . Only if that doesn’t do what you want, then implement PCA and consider using      .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025" y="1112075"/>
            <a:ext cx="444436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925" y="1489482"/>
            <a:ext cx="350520" cy="2438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900" y="1489482"/>
            <a:ext cx="331470" cy="2438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820158"/>
            <a:ext cx="3168015" cy="304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255" y="2160130"/>
            <a:ext cx="474345" cy="3333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47" y="2182875"/>
            <a:ext cx="443865" cy="3333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629" y="2260980"/>
            <a:ext cx="548640" cy="2552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55" y="2567527"/>
            <a:ext cx="3318510" cy="3333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381" y="3871440"/>
            <a:ext cx="350520" cy="24384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330" y="4236275"/>
            <a:ext cx="33147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63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z_1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1)}&#10;$&#10;&#10;\end{document}"/>
  <p:tag name="IGUANATEXSIZE" val="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1)}&#10;$&#10;&#10;\end{document}"/>
  <p:tag name="IGUANATEXSIZE" val="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2)}&#10;$&#10;&#10;\end{document}"/>
  <p:tag name="IGUANATEXSIZE" val="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2)}&#10;$&#10;&#10;\end{document}"/>
  <p:tag name="IGUANATEXSIZE" val="2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m)}&#10;$&#10;&#10;\end{document}"/>
  <p:tag name="IGUANATEXSIZE" val="2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m)}&#10;$&#10;&#10;\end{document}"/>
  <p:tag name="IGUANATEXSIZE" val="2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vdots&#10;$&#10;&#10;\end{document}"/>
  <p:tag name="IGUANATEXSIZE" val="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1)}&#10;$&#10;&#10;\end{document}"/>
  <p:tag name="IGUANATEXSIZE" val="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2)}&#10;$&#10;&#10;\end{document}"/>
  <p:tag name="IGUANATEXSIZE" val="2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1)}&#10;$&#10;&#10;\end{document}"/>
  <p:tag name="IGUANATEXSIZE" val="2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2)}&#10;$&#10;&#10;\end{document}"/>
  <p:tag name="IGUANATEXSIZE" val="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3&#10;$&#10;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3&#10;$&#10;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z_1&#10;$&#10;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z_2&#10;$&#10;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z_2&#10;$&#10;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z_1&#10;$&#10;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z_1&#10;$&#10;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z_2&#10;$&#10;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3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1)}, x^{(2)}, \dots, x^{(m)}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\mu_j = \frac{1}{m} \sum_{i=1}^m x_j^{(i)}&#10;$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j^{(i)}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j - \mu_j&#10;$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1=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2=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3&#10;$&#10;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z_1&#10;$&#10;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(x^{(1)}, y^{(1)}),(x^{(2)}, y^{(2)}), \dots, (x^{(m)}, y^{(m)})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x^{(1)},x^{(2)},\dots, x^{(m)} \in \mathbb{R}^{10000}&#10;$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z^{(1)},z^{(2)},\dots, z^{(m)} \in \mathbb{R}^{1000}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downarrow PCA&#10;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(z^{(1)}, y^{(1)}),(z^{(2)}, y^{(2)}), \dots, (z^{(m)}, y^{(m)})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^{(i)} \rightarrow z^{(i)}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{cv}^{(i)}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{test}^{(i)}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z^{(i)}&#10;$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^{(i)}&#10;$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k &lt; n.&#10;$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\min_\theta \frac{1}{2m} \sum^m_{i=1} (h_\theta (x^{(i)}) - y^{(i)})^2 &#10;+ \frac{\lambda}{2m} \sum_{j=1}^n \theta_j^2&#10;$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\{(x^{(1)}, y^{(1)}),(x^{(2)}, y^{(2)}), \dots, (x^{(m)}, y^{(m)}) \}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^{(i)}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z^{(i)}&#10;$&#10;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\{(z^{(1)}, y^{(1)}), \dots, (z^{(m)}, y^{(m)}) \}&#10;$&#10;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_{test}^{(i)}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z_{test}^{(i)}&#10;$&#10;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h_\theta(z)&#10;$&#10;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\{(z_{test}^{(1)}, y_{test}^{(1)}), \dots, (z_{test}^{(m)}, y_{test}^{(m)}) \}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x^{(i)}&#10;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&#10;z^{(i)}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0</TotalTime>
  <Words>2024</Words>
  <Application>Microsoft Office PowerPoint</Application>
  <PresentationFormat>On-screen Show (16:9)</PresentationFormat>
  <Paragraphs>345</Paragraphs>
  <Slides>37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Arial Unicode MS</vt:lpstr>
      <vt:lpstr>Calibri</vt:lpstr>
      <vt:lpstr>Cambria Math</vt:lpstr>
      <vt:lpstr>Symbol</vt:lpstr>
      <vt:lpstr>Times New Roman</vt:lpstr>
      <vt:lpstr>Wingdings</vt:lpstr>
      <vt:lpstr>1_Lecture</vt:lpstr>
      <vt:lpstr>2_Office Theme</vt:lpstr>
      <vt:lpstr>3_Office Theme</vt:lpstr>
      <vt:lpstr>2_Lecture</vt:lpstr>
      <vt:lpstr>Motivation I:  Data Compression</vt:lpstr>
      <vt:lpstr>PowerPoint Presentation</vt:lpstr>
      <vt:lpstr>PowerPoint Presentation</vt:lpstr>
      <vt:lpstr>PowerPoint Presentation</vt:lpstr>
      <vt:lpstr>Motivation II:  Data Visualization</vt:lpstr>
      <vt:lpstr>PowerPoint Presentation</vt:lpstr>
      <vt:lpstr>PowerPoint Presentation</vt:lpstr>
      <vt:lpstr>PowerPoint Presentation</vt:lpstr>
      <vt:lpstr>Principal Component Analysis problem formulation</vt:lpstr>
      <vt:lpstr>PowerPoint Presentation</vt:lpstr>
      <vt:lpstr>PowerPoint Presentation</vt:lpstr>
      <vt:lpstr>PowerPoint Presentation</vt:lpstr>
      <vt:lpstr>Principal Component Analysis algorithm</vt:lpstr>
      <vt:lpstr>PowerPoint Presentation</vt:lpstr>
      <vt:lpstr>PowerPoint Presentation</vt:lpstr>
      <vt:lpstr>PCA</vt:lpstr>
      <vt:lpstr>Math digression</vt:lpstr>
      <vt:lpstr>PowerPoint Presentation</vt:lpstr>
      <vt:lpstr>Eigenvectors and Eigenvalues</vt:lpstr>
      <vt:lpstr>Eigenvectors and Eigenvalues</vt:lpstr>
      <vt:lpstr>Singular Value Decomposition</vt:lpstr>
      <vt:lpstr>Eigendecomposition (or Spectral Decomposition)</vt:lpstr>
      <vt:lpstr>SVD of covariance matrix</vt:lpstr>
      <vt:lpstr>Eigenvalues and variance</vt:lpstr>
      <vt:lpstr>PowerPoint Presentation</vt:lpstr>
      <vt:lpstr>PowerPoint Presentation</vt:lpstr>
      <vt:lpstr>PCA plots</vt:lpstr>
      <vt:lpstr>PowerPoint Presentation</vt:lpstr>
      <vt:lpstr>PowerPoint Presentation</vt:lpstr>
      <vt:lpstr>PowerPoint Presentation</vt:lpstr>
      <vt:lpstr>Reconstruction from compressed representation</vt:lpstr>
      <vt:lpstr>PowerPoint Presentation</vt:lpstr>
      <vt:lpstr>Advice for applying PCA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812</cp:revision>
  <dcterms:created xsi:type="dcterms:W3CDTF">2010-07-08T21:59:02Z</dcterms:created>
  <dcterms:modified xsi:type="dcterms:W3CDTF">2025-03-25T11:53:58Z</dcterms:modified>
</cp:coreProperties>
</file>