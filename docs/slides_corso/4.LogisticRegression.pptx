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4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5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6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7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  <p:sldMasterId id="2147483748" r:id="rId5"/>
    <p:sldMasterId id="2147483761" r:id="rId6"/>
  </p:sldMasterIdLst>
  <p:notesMasterIdLst>
    <p:notesMasterId r:id="rId37"/>
  </p:notesMasterIdLst>
  <p:sldIdLst>
    <p:sldId id="367" r:id="rId7"/>
    <p:sldId id="368" r:id="rId8"/>
    <p:sldId id="404" r:id="rId9"/>
    <p:sldId id="370" r:id="rId10"/>
    <p:sldId id="372" r:id="rId11"/>
    <p:sldId id="373" r:id="rId12"/>
    <p:sldId id="405" r:id="rId13"/>
    <p:sldId id="400" r:id="rId14"/>
    <p:sldId id="401" r:id="rId15"/>
    <p:sldId id="402" r:id="rId16"/>
    <p:sldId id="406" r:id="rId17"/>
    <p:sldId id="376" r:id="rId18"/>
    <p:sldId id="377" r:id="rId19"/>
    <p:sldId id="378" r:id="rId20"/>
    <p:sldId id="407" r:id="rId21"/>
    <p:sldId id="380" r:id="rId22"/>
    <p:sldId id="382" r:id="rId23"/>
    <p:sldId id="383" r:id="rId24"/>
    <p:sldId id="384" r:id="rId25"/>
    <p:sldId id="385" r:id="rId26"/>
    <p:sldId id="386" r:id="rId27"/>
    <p:sldId id="388" r:id="rId28"/>
    <p:sldId id="390" r:id="rId29"/>
    <p:sldId id="389" r:id="rId30"/>
    <p:sldId id="394" r:id="rId31"/>
    <p:sldId id="395" r:id="rId32"/>
    <p:sldId id="396" r:id="rId33"/>
    <p:sldId id="397" r:id="rId34"/>
    <p:sldId id="398" r:id="rId35"/>
    <p:sldId id="408" r:id="rId36"/>
  </p:sldIdLst>
  <p:sldSz cx="9144000" cy="5143500" type="screen16x9"/>
  <p:notesSz cx="6858000" cy="9144000"/>
  <p:custDataLst>
    <p:tags r:id="rId3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68">
          <p15:clr>
            <a:srgbClr val="A4A3A4"/>
          </p15:clr>
        </p15:guide>
        <p15:guide id="2" pos="23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3" autoAdjust="0"/>
    <p:restoredTop sz="58970" autoAdjust="0"/>
  </p:normalViewPr>
  <p:slideViewPr>
    <p:cSldViewPr>
      <p:cViewPr varScale="1">
        <p:scale>
          <a:sx n="85" d="100"/>
          <a:sy n="85" d="100"/>
        </p:scale>
        <p:origin x="758" y="31"/>
      </p:cViewPr>
      <p:guideLst>
        <p:guide orient="horz" pos="1668"/>
        <p:guide pos="2352"/>
      </p:guideLst>
    </p:cSldViewPr>
  </p:slideViewPr>
  <p:outlineViewPr>
    <p:cViewPr>
      <p:scale>
        <a:sx n="33" d="100"/>
        <a:sy n="33" d="100"/>
      </p:scale>
      <p:origin x="0" y="243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presProps" Target="presProp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1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85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5259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608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43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59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63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473656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963780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429456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756922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95004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88982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549120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88627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365867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289200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459083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879388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547024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96990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21263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983829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89601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891361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243447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303058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88965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974350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547274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44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7697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4306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5.xml"/><Relationship Id="rId7" Type="http://schemas.openxmlformats.org/officeDocument/2006/relationships/image" Target="../media/image5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10.xml"/><Relationship Id="rId7" Type="http://schemas.openxmlformats.org/officeDocument/2006/relationships/image" Target="../media/image11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47.xml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13.xml"/><Relationship Id="rId7" Type="http://schemas.openxmlformats.org/officeDocument/2006/relationships/image" Target="../media/image3.png"/><Relationship Id="rId12" Type="http://schemas.openxmlformats.org/officeDocument/2006/relationships/image" Target="../media/image17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16.png"/><Relationship Id="rId5" Type="http://schemas.openxmlformats.org/officeDocument/2006/relationships/tags" Target="../tags/tag15.xml"/><Relationship Id="rId10" Type="http://schemas.openxmlformats.org/officeDocument/2006/relationships/image" Target="../media/image15.png"/><Relationship Id="rId4" Type="http://schemas.openxmlformats.org/officeDocument/2006/relationships/tags" Target="../tags/tag14.xml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tags" Target="../tags/tag18.xml"/><Relationship Id="rId7" Type="http://schemas.openxmlformats.org/officeDocument/2006/relationships/slideLayout" Target="../slideLayouts/slideLayout71.xml"/><Relationship Id="rId12" Type="http://schemas.openxmlformats.org/officeDocument/2006/relationships/image" Target="../media/image22.png"/><Relationship Id="rId17" Type="http://schemas.openxmlformats.org/officeDocument/2006/relationships/image" Target="../media/image26.png"/><Relationship Id="rId2" Type="http://schemas.openxmlformats.org/officeDocument/2006/relationships/tags" Target="../tags/tag17.xml"/><Relationship Id="rId16" Type="http://schemas.openxmlformats.org/officeDocument/2006/relationships/image" Target="../media/image25.png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21.png"/><Relationship Id="rId5" Type="http://schemas.openxmlformats.org/officeDocument/2006/relationships/tags" Target="../tags/tag20.xml"/><Relationship Id="rId15" Type="http://schemas.openxmlformats.org/officeDocument/2006/relationships/image" Target="../media/image24.png"/><Relationship Id="rId10" Type="http://schemas.openxmlformats.org/officeDocument/2006/relationships/image" Target="../media/image20.png"/><Relationship Id="rId4" Type="http://schemas.openxmlformats.org/officeDocument/2006/relationships/tags" Target="../tags/tag19.xml"/><Relationship Id="rId9" Type="http://schemas.openxmlformats.org/officeDocument/2006/relationships/image" Target="../media/image19.png"/><Relationship Id="rId1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tags" Target="../tags/tag24.xml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slideLayout" Target="../slideLayouts/slideLayout71.xml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9.png"/><Relationship Id="rId3" Type="http://schemas.openxmlformats.org/officeDocument/2006/relationships/tags" Target="../tags/tag27.xml"/><Relationship Id="rId7" Type="http://schemas.openxmlformats.org/officeDocument/2006/relationships/slideLayout" Target="../slideLayouts/slideLayout71.xml"/><Relationship Id="rId12" Type="http://schemas.openxmlformats.org/officeDocument/2006/relationships/image" Target="../media/image38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image" Target="../media/image37.png"/><Relationship Id="rId5" Type="http://schemas.openxmlformats.org/officeDocument/2006/relationships/tags" Target="../tags/tag29.xml"/><Relationship Id="rId10" Type="http://schemas.openxmlformats.org/officeDocument/2006/relationships/image" Target="../media/image28.png"/><Relationship Id="rId4" Type="http://schemas.openxmlformats.org/officeDocument/2006/relationships/tags" Target="../tags/tag28.xml"/><Relationship Id="rId9" Type="http://schemas.openxmlformats.org/officeDocument/2006/relationships/image" Target="../media/image36.png"/><Relationship Id="rId1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tags" Target="../tags/tag33.xml"/><Relationship Id="rId7" Type="http://schemas.openxmlformats.org/officeDocument/2006/relationships/image" Target="../media/image41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45.png"/><Relationship Id="rId5" Type="http://schemas.openxmlformats.org/officeDocument/2006/relationships/tags" Target="../tags/tag35.xml"/><Relationship Id="rId10" Type="http://schemas.openxmlformats.org/officeDocument/2006/relationships/image" Target="../media/image44.png"/><Relationship Id="rId4" Type="http://schemas.openxmlformats.org/officeDocument/2006/relationships/tags" Target="../tags/tag34.xml"/><Relationship Id="rId9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tags" Target="../tags/tag38.xml"/><Relationship Id="rId7" Type="http://schemas.openxmlformats.org/officeDocument/2006/relationships/image" Target="../media/image46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slideLayout" Target="../slideLayouts/slideLayout47.xml"/><Relationship Id="rId5" Type="http://schemas.openxmlformats.org/officeDocument/2006/relationships/tags" Target="../tags/tag40.xml"/><Relationship Id="rId10" Type="http://schemas.openxmlformats.org/officeDocument/2006/relationships/image" Target="../media/image48.png"/><Relationship Id="rId4" Type="http://schemas.openxmlformats.org/officeDocument/2006/relationships/tags" Target="../tags/tag39.xml"/><Relationship Id="rId9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slideLayout" Target="../slideLayouts/slideLayout47.xml"/><Relationship Id="rId1" Type="http://schemas.openxmlformats.org/officeDocument/2006/relationships/tags" Target="../tags/tag43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tags" Target="../tags/tag46.xml"/><Relationship Id="rId7" Type="http://schemas.openxmlformats.org/officeDocument/2006/relationships/image" Target="../media/image56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55.png"/><Relationship Id="rId5" Type="http://schemas.openxmlformats.org/officeDocument/2006/relationships/image" Target="../media/image50.png"/><Relationship Id="rId4" Type="http://schemas.openxmlformats.org/officeDocument/2006/relationships/slideLayout" Target="../slideLayouts/slideLayout4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2.png"/><Relationship Id="rId3" Type="http://schemas.openxmlformats.org/officeDocument/2006/relationships/tags" Target="../tags/tag49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61.pn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image" Target="../media/image60.png"/><Relationship Id="rId5" Type="http://schemas.openxmlformats.org/officeDocument/2006/relationships/tags" Target="../tags/tag51.xml"/><Relationship Id="rId10" Type="http://schemas.openxmlformats.org/officeDocument/2006/relationships/image" Target="../media/image59.png"/><Relationship Id="rId4" Type="http://schemas.openxmlformats.org/officeDocument/2006/relationships/tags" Target="../tags/tag50.xml"/><Relationship Id="rId9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tags" Target="../tags/tag55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67.pn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image" Target="../media/image66.png"/><Relationship Id="rId5" Type="http://schemas.openxmlformats.org/officeDocument/2006/relationships/tags" Target="../tags/tag57.xml"/><Relationship Id="rId10" Type="http://schemas.openxmlformats.org/officeDocument/2006/relationships/image" Target="../media/image65.png"/><Relationship Id="rId4" Type="http://schemas.openxmlformats.org/officeDocument/2006/relationships/tags" Target="../tags/tag56.xml"/><Relationship Id="rId9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66.png"/><Relationship Id="rId3" Type="http://schemas.openxmlformats.org/officeDocument/2006/relationships/tags" Target="../tags/tag61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65.pn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image" Target="../media/image68.png"/><Relationship Id="rId5" Type="http://schemas.openxmlformats.org/officeDocument/2006/relationships/tags" Target="../tags/tag63.xml"/><Relationship Id="rId15" Type="http://schemas.openxmlformats.org/officeDocument/2006/relationships/image" Target="../media/image71.png"/><Relationship Id="rId10" Type="http://schemas.openxmlformats.org/officeDocument/2006/relationships/image" Target="../media/image64.png"/><Relationship Id="rId4" Type="http://schemas.openxmlformats.org/officeDocument/2006/relationships/tags" Target="../tags/tag62.xml"/><Relationship Id="rId9" Type="http://schemas.openxmlformats.org/officeDocument/2006/relationships/image" Target="../media/image63.png"/><Relationship Id="rId14" Type="http://schemas.openxmlformats.org/officeDocument/2006/relationships/image" Target="../media/image7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image" Target="../media/image59.png"/><Relationship Id="rId18" Type="http://schemas.openxmlformats.org/officeDocument/2006/relationships/image" Target="../media/image67.png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image" Target="../media/image63.png"/><Relationship Id="rId17" Type="http://schemas.openxmlformats.org/officeDocument/2006/relationships/image" Target="../media/image66.png"/><Relationship Id="rId2" Type="http://schemas.openxmlformats.org/officeDocument/2006/relationships/tags" Target="../tags/tag66.xml"/><Relationship Id="rId16" Type="http://schemas.openxmlformats.org/officeDocument/2006/relationships/image" Target="../media/image65.png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image" Target="../media/image72.png"/><Relationship Id="rId5" Type="http://schemas.openxmlformats.org/officeDocument/2006/relationships/tags" Target="../tags/tag69.xml"/><Relationship Id="rId15" Type="http://schemas.openxmlformats.org/officeDocument/2006/relationships/image" Target="../media/image74.png"/><Relationship Id="rId10" Type="http://schemas.openxmlformats.org/officeDocument/2006/relationships/slideLayout" Target="../slideLayouts/slideLayout47.xml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image" Target="../media/image7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tags" Target="../tags/tag76.xml"/><Relationship Id="rId7" Type="http://schemas.openxmlformats.org/officeDocument/2006/relationships/image" Target="../media/image59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75.png"/><Relationship Id="rId5" Type="http://schemas.openxmlformats.org/officeDocument/2006/relationships/tags" Target="../tags/tag78.xml"/><Relationship Id="rId10" Type="http://schemas.openxmlformats.org/officeDocument/2006/relationships/image" Target="../media/image74.png"/><Relationship Id="rId4" Type="http://schemas.openxmlformats.org/officeDocument/2006/relationships/tags" Target="../tags/tag77.xml"/><Relationship Id="rId9" Type="http://schemas.openxmlformats.org/officeDocument/2006/relationships/image" Target="../media/image7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tags" Target="../tags/tag83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81.png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image" Target="../media/image61.png"/><Relationship Id="rId5" Type="http://schemas.openxmlformats.org/officeDocument/2006/relationships/tags" Target="../tags/tag85.xml"/><Relationship Id="rId10" Type="http://schemas.openxmlformats.org/officeDocument/2006/relationships/image" Target="../media/image80.png"/><Relationship Id="rId4" Type="http://schemas.openxmlformats.org/officeDocument/2006/relationships/tags" Target="../tags/tag84.xml"/><Relationship Id="rId9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</a:t>
            </a:r>
          </a:p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Regression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10050" y="1962150"/>
            <a:ext cx="4876800" cy="1676400"/>
          </a:xfrm>
        </p:spPr>
        <p:txBody>
          <a:bodyPr>
            <a:noAutofit/>
          </a:bodyPr>
          <a:lstStyle/>
          <a:p>
            <a:pPr algn="l"/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76371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902261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Email: Spam / Not Spam?</a:t>
            </a:r>
          </a:p>
          <a:p>
            <a:r>
              <a:rPr lang="en-US" sz="2400" dirty="0"/>
              <a:t>Online Transactions: Fraudulent (Yes / No)?</a:t>
            </a:r>
          </a:p>
          <a:p>
            <a:r>
              <a:rPr lang="en-US" sz="2400" dirty="0"/>
              <a:t>Tumor: Malignant / Benign ?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1" y="2637283"/>
            <a:ext cx="1492301" cy="36758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12681" y="2343150"/>
            <a:ext cx="56388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0: “Negative Class” (e.g., benign tumor)</a:t>
            </a:r>
          </a:p>
          <a:p>
            <a:r>
              <a:rPr lang="en-US" sz="300" dirty="0"/>
              <a:t> </a:t>
            </a:r>
            <a:endParaRPr lang="en-US" sz="2400" dirty="0"/>
          </a:p>
          <a:p>
            <a:r>
              <a:rPr lang="en-US" sz="2400" dirty="0"/>
              <a:t>1: “Positive Class” (e.g., malignant tumor)</a:t>
            </a:r>
          </a:p>
        </p:txBody>
      </p:sp>
    </p:spTree>
    <p:extLst>
      <p:ext uri="{BB962C8B-B14F-4D97-AF65-F5344CB8AC3E}">
        <p14:creationId xmlns:p14="http://schemas.microsoft.com/office/powerpoint/2010/main" val="405111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/>
          <p:cNvSpPr txBox="1"/>
          <p:nvPr/>
        </p:nvSpPr>
        <p:spPr>
          <a:xfrm>
            <a:off x="1457284" y="1885950"/>
            <a:ext cx="6645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Tumor Size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347850" y="1879993"/>
            <a:ext cx="6754668" cy="5957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838200" y="3320088"/>
            <a:ext cx="5638800" cy="461665"/>
            <a:chOff x="2286000" y="2573982"/>
            <a:chExt cx="5638800" cy="461665"/>
          </a:xfrm>
        </p:grpSpPr>
        <p:sp>
          <p:nvSpPr>
            <p:cNvPr id="11" name="TextBox 10"/>
            <p:cNvSpPr txBox="1"/>
            <p:nvPr/>
          </p:nvSpPr>
          <p:spPr>
            <a:xfrm>
              <a:off x="2286000" y="2573982"/>
              <a:ext cx="563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Threshold classifier output             at 0.5:</a:t>
              </a:r>
            </a:p>
          </p:txBody>
        </p:sp>
        <p:pic>
          <p:nvPicPr>
            <p:cNvPr id="3" name="Picture 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1200" y="2671700"/>
              <a:ext cx="678942" cy="306324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1676400" y="3875991"/>
            <a:ext cx="5638800" cy="461665"/>
            <a:chOff x="1219200" y="3311247"/>
            <a:chExt cx="5638800" cy="461665"/>
          </a:xfrm>
        </p:grpSpPr>
        <p:sp>
          <p:nvSpPr>
            <p:cNvPr id="18" name="TextBox 17"/>
            <p:cNvSpPr txBox="1"/>
            <p:nvPr/>
          </p:nvSpPr>
          <p:spPr>
            <a:xfrm>
              <a:off x="1219200" y="3311247"/>
              <a:ext cx="563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If                        , predict “y = 1”</a:t>
              </a:r>
            </a:p>
          </p:txBody>
        </p:sp>
        <p:pic>
          <p:nvPicPr>
            <p:cNvPr id="7" name="Picture 6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7058" y="3408965"/>
              <a:ext cx="1483614" cy="306324"/>
            </a:xfrm>
            <a:prstGeom prst="rect">
              <a:avLst/>
            </a:prstGeom>
          </p:spPr>
        </p:pic>
      </p:grpSp>
      <p:grpSp>
        <p:nvGrpSpPr>
          <p:cNvPr id="24" name="Group 23"/>
          <p:cNvGrpSpPr/>
          <p:nvPr/>
        </p:nvGrpSpPr>
        <p:grpSpPr>
          <a:xfrm>
            <a:off x="1676400" y="4472285"/>
            <a:ext cx="5638800" cy="461665"/>
            <a:chOff x="1219200" y="3849379"/>
            <a:chExt cx="5638800" cy="461665"/>
          </a:xfrm>
        </p:grpSpPr>
        <p:sp>
          <p:nvSpPr>
            <p:cNvPr id="21" name="TextBox 20"/>
            <p:cNvSpPr txBox="1"/>
            <p:nvPr/>
          </p:nvSpPr>
          <p:spPr>
            <a:xfrm>
              <a:off x="1219200" y="3849379"/>
              <a:ext cx="563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If                        , predict “y = 0”</a:t>
              </a:r>
            </a:p>
          </p:txBody>
        </p:sp>
        <p:pic>
          <p:nvPicPr>
            <p:cNvPr id="23" name="Picture 22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7058" y="3947097"/>
              <a:ext cx="1483614" cy="306324"/>
            </a:xfrm>
            <a:prstGeom prst="rect">
              <a:avLst/>
            </a:prstGeom>
          </p:spPr>
        </p:pic>
      </p:grpSp>
      <p:cxnSp>
        <p:nvCxnSpPr>
          <p:cNvPr id="27" name="Straight Connector 26"/>
          <p:cNvCxnSpPr/>
          <p:nvPr/>
        </p:nvCxnSpPr>
        <p:spPr>
          <a:xfrm flipV="1">
            <a:off x="1457284" y="285750"/>
            <a:ext cx="0" cy="1946645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347850" y="1879993"/>
            <a:ext cx="3630468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457284" y="1885950"/>
            <a:ext cx="2835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Tumor Size</a:t>
            </a:r>
          </a:p>
        </p:txBody>
      </p:sp>
      <p:sp>
        <p:nvSpPr>
          <p:cNvPr id="35" name="Cross 34"/>
          <p:cNvSpPr/>
          <p:nvPr/>
        </p:nvSpPr>
        <p:spPr>
          <a:xfrm rot="2734294">
            <a:off x="1602649" y="1757176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ross 35"/>
          <p:cNvSpPr/>
          <p:nvPr/>
        </p:nvSpPr>
        <p:spPr>
          <a:xfrm rot="2734294">
            <a:off x="1907450" y="1757176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ross 36"/>
          <p:cNvSpPr/>
          <p:nvPr/>
        </p:nvSpPr>
        <p:spPr>
          <a:xfrm rot="2734294">
            <a:off x="2229037" y="1757176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ross 37"/>
          <p:cNvSpPr/>
          <p:nvPr/>
        </p:nvSpPr>
        <p:spPr>
          <a:xfrm rot="2734294">
            <a:off x="2610037" y="1757176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ross 38"/>
          <p:cNvSpPr/>
          <p:nvPr/>
        </p:nvSpPr>
        <p:spPr>
          <a:xfrm rot="2734294">
            <a:off x="3355250" y="491483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ross 40"/>
          <p:cNvSpPr/>
          <p:nvPr/>
        </p:nvSpPr>
        <p:spPr>
          <a:xfrm rot="2734294">
            <a:off x="3753037" y="491483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ross 41"/>
          <p:cNvSpPr/>
          <p:nvPr/>
        </p:nvSpPr>
        <p:spPr>
          <a:xfrm rot="2734294">
            <a:off x="4134037" y="491483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ross 42"/>
          <p:cNvSpPr/>
          <p:nvPr/>
        </p:nvSpPr>
        <p:spPr>
          <a:xfrm rot="2734294">
            <a:off x="4574450" y="491483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-15050" y="772247"/>
            <a:ext cx="1417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Malignant ?</a:t>
            </a:r>
          </a:p>
        </p:txBody>
      </p:sp>
      <p:cxnSp>
        <p:nvCxnSpPr>
          <p:cNvPr id="49" name="Straight Connector 48"/>
          <p:cNvCxnSpPr/>
          <p:nvPr/>
        </p:nvCxnSpPr>
        <p:spPr>
          <a:xfrm>
            <a:off x="1347850" y="620256"/>
            <a:ext cx="228600" cy="0"/>
          </a:xfrm>
          <a:prstGeom prst="line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14551" y="426275"/>
            <a:ext cx="938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(Yes)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4550" y="1681100"/>
            <a:ext cx="938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(No) 0</a:t>
            </a:r>
          </a:p>
        </p:txBody>
      </p:sp>
      <p:sp>
        <p:nvSpPr>
          <p:cNvPr id="55" name="Cross 54"/>
          <p:cNvSpPr/>
          <p:nvPr/>
        </p:nvSpPr>
        <p:spPr>
          <a:xfrm rot="2734294">
            <a:off x="7368532" y="491483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685884" y="285750"/>
            <a:ext cx="2886116" cy="19466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470067" y="1227694"/>
            <a:ext cx="1693017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3163084" y="1227694"/>
            <a:ext cx="0" cy="65229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22930" y="105560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</a:t>
            </a:r>
            <a:endParaRPr lang="it-IT" dirty="0"/>
          </a:p>
        </p:txBody>
      </p:sp>
      <p:cxnSp>
        <p:nvCxnSpPr>
          <p:cNvPr id="44" name="Straight Connector 43"/>
          <p:cNvCxnSpPr/>
          <p:nvPr/>
        </p:nvCxnSpPr>
        <p:spPr>
          <a:xfrm>
            <a:off x="1355767" y="1227694"/>
            <a:ext cx="228600" cy="0"/>
          </a:xfrm>
          <a:prstGeom prst="line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929958" y="772247"/>
                <a:ext cx="6258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958" y="772247"/>
                <a:ext cx="625812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8824" t="-4444" r="-13725" b="-3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/>
          <p:cNvCxnSpPr/>
          <p:nvPr/>
        </p:nvCxnSpPr>
        <p:spPr>
          <a:xfrm flipV="1">
            <a:off x="1726164" y="330782"/>
            <a:ext cx="5437507" cy="1755223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1457284" y="1227694"/>
            <a:ext cx="2886116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348203" y="1245859"/>
            <a:ext cx="0" cy="65229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346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3" grpId="0"/>
      <p:bldP spid="55" grpId="0" animBg="1"/>
      <p:bldP spid="22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57200" y="413414"/>
            <a:ext cx="563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Classification:    y   =   0   or   1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064324" y="1276350"/>
            <a:ext cx="4424551" cy="584775"/>
            <a:chOff x="1671449" y="3253085"/>
            <a:chExt cx="4424551" cy="584775"/>
          </a:xfrm>
        </p:grpSpPr>
        <p:sp>
          <p:nvSpPr>
            <p:cNvPr id="18" name="TextBox 17"/>
            <p:cNvSpPr txBox="1"/>
            <p:nvPr/>
          </p:nvSpPr>
          <p:spPr>
            <a:xfrm>
              <a:off x="2743200" y="3253085"/>
              <a:ext cx="3352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can be &gt; 1 or &lt; 0</a:t>
              </a:r>
            </a:p>
          </p:txBody>
        </p:sp>
        <p:pic>
          <p:nvPicPr>
            <p:cNvPr id="2" name="Picture 1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1449" y="3362677"/>
              <a:ext cx="982215" cy="443155"/>
            </a:xfrm>
            <a:prstGeom prst="rect">
              <a:avLst/>
            </a:prstGeom>
          </p:spPr>
        </p:pic>
      </p:grpSp>
      <p:grpSp>
        <p:nvGrpSpPr>
          <p:cNvPr id="8" name="Group 7"/>
          <p:cNvGrpSpPr/>
          <p:nvPr/>
        </p:nvGrpSpPr>
        <p:grpSpPr>
          <a:xfrm>
            <a:off x="457200" y="2672775"/>
            <a:ext cx="6311264" cy="584775"/>
            <a:chOff x="457200" y="2672775"/>
            <a:chExt cx="6311264" cy="584775"/>
          </a:xfrm>
        </p:grpSpPr>
        <p:sp>
          <p:nvSpPr>
            <p:cNvPr id="21" name="TextBox 20"/>
            <p:cNvSpPr txBox="1"/>
            <p:nvPr/>
          </p:nvSpPr>
          <p:spPr>
            <a:xfrm>
              <a:off x="457200" y="2672775"/>
              <a:ext cx="5638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Logistic Regression:</a:t>
              </a:r>
            </a:p>
          </p:txBody>
        </p:sp>
        <p:pic>
          <p:nvPicPr>
            <p:cNvPr id="6" name="Picture 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9286" y="2747567"/>
              <a:ext cx="2559178" cy="4351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912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</a:t>
            </a:r>
          </a:p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Regression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10050" y="2217203"/>
            <a:ext cx="4876800" cy="1676400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Hypothesis</a:t>
            </a:r>
            <a:b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Representation</a:t>
            </a:r>
          </a:p>
        </p:txBody>
      </p:sp>
    </p:spTree>
    <p:extLst>
      <p:ext uri="{BB962C8B-B14F-4D97-AF65-F5344CB8AC3E}">
        <p14:creationId xmlns:p14="http://schemas.microsoft.com/office/powerpoint/2010/main" val="4067455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upload.wikimedia.org/wikipedia/commons/thumb/8/88/Logistic-curve.svg/320px-Logistic-curve.sv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950" y="1915357"/>
            <a:ext cx="3848100" cy="2561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421640" y="2491860"/>
            <a:ext cx="5638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Sigmoid function</a:t>
            </a:r>
          </a:p>
          <a:p>
            <a:r>
              <a:rPr lang="en-US" sz="3200" dirty="0"/>
              <a:t>Logistic function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538" y="752342"/>
            <a:ext cx="2592324" cy="41696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72" y="1516324"/>
            <a:ext cx="2372868" cy="7680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Logistic Regression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579" y="714735"/>
            <a:ext cx="1211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Want</a:t>
            </a:r>
          </a:p>
        </p:txBody>
      </p:sp>
      <p:pic>
        <p:nvPicPr>
          <p:cNvPr id="25" name="Picture 2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632" y="819150"/>
            <a:ext cx="1801368" cy="3063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170288" y="3936023"/>
                <a:ext cx="2536207" cy="7382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it-IT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288" y="3936023"/>
                <a:ext cx="2536207" cy="73821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570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Interpretation of Hypothesis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7800" y="814685"/>
            <a:ext cx="6362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 estimated probability that y = 1 on input x 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89361"/>
            <a:ext cx="678942" cy="3063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800" y="2643485"/>
            <a:ext cx="7434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Tell patient that 70% chance of tumor being malignant 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650" y="1352550"/>
            <a:ext cx="3808476" cy="7315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833" y="2218677"/>
            <a:ext cx="1495044" cy="30632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2601" y="1452985"/>
            <a:ext cx="187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  If 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995401" y="3317203"/>
            <a:ext cx="4081799" cy="830997"/>
            <a:chOff x="2319001" y="3405485"/>
            <a:chExt cx="4081799" cy="830997"/>
          </a:xfrm>
        </p:grpSpPr>
        <p:sp>
          <p:nvSpPr>
            <p:cNvPr id="30" name="TextBox 29"/>
            <p:cNvSpPr txBox="1"/>
            <p:nvPr/>
          </p:nvSpPr>
          <p:spPr>
            <a:xfrm>
              <a:off x="2319001" y="3405485"/>
              <a:ext cx="408179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“probability that y = 1, given x,</a:t>
              </a:r>
            </a:p>
            <a:p>
              <a:r>
                <a:rPr lang="en-US" sz="2400" dirty="0"/>
                <a:t>  parameterized by    ”</a:t>
              </a:r>
            </a:p>
          </p:txBody>
        </p:sp>
        <p:pic>
          <p:nvPicPr>
            <p:cNvPr id="9" name="Picture 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24984" y="3890900"/>
              <a:ext cx="128016" cy="217170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4248150"/>
            <a:ext cx="4267200" cy="657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21360" y="3420757"/>
                <a:ext cx="301832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it-IT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60" y="3420757"/>
                <a:ext cx="3018327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2020" r="-3232" b="-344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46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Logistic</a:t>
            </a:r>
          </a:p>
          <a:p>
            <a:pPr algn="l"/>
            <a:r>
              <a:rPr lang="en-US" sz="5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Regression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1543050"/>
            <a:ext cx="4705350" cy="2324100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Decision boundary</a:t>
            </a:r>
          </a:p>
        </p:txBody>
      </p:sp>
    </p:spTree>
    <p:extLst>
      <p:ext uri="{BB962C8B-B14F-4D97-AF65-F5344CB8AC3E}">
        <p14:creationId xmlns:p14="http://schemas.microsoft.com/office/powerpoint/2010/main" val="1401121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Logistic regression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677" y="1057275"/>
            <a:ext cx="2322957" cy="3840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1600698"/>
            <a:ext cx="1981581" cy="4587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1000" y="2190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  Suppose predict “          “ if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775" y="2351477"/>
            <a:ext cx="657225" cy="25412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450" y="2292612"/>
            <a:ext cx="1421797" cy="29356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4579" y="3557885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>
                <a:solidFill>
                  <a:prstClr val="black"/>
                </a:solidFill>
                <a:latin typeface="Calibri"/>
              </a:rPr>
              <a:t>	    predict “          “  if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822" y="3699562"/>
            <a:ext cx="670370" cy="25412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497" y="3659747"/>
            <a:ext cx="1421797" cy="293561"/>
          </a:xfrm>
          <a:prstGeom prst="rect">
            <a:avLst/>
          </a:prstGeom>
        </p:spPr>
      </p:pic>
      <p:pic>
        <p:nvPicPr>
          <p:cNvPr id="21" name="Picture 2" descr="https://upload.wikimedia.org/wikipedia/commons/thumb/8/88/Logistic-curve.svg/320px-Logistic-curve.svg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327" y="33991"/>
            <a:ext cx="3067050" cy="204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855303" y="2191419"/>
            <a:ext cx="3288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i.e. it is more likely that y=1 than y=0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37126" y="1099750"/>
                <a:ext cx="21518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126" y="1099750"/>
                <a:ext cx="2151808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1133" r="-4816" b="-344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81450" y="2835309"/>
                <a:ext cx="11590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it-IT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450" y="2835309"/>
                <a:ext cx="1159035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5263" r="-6316" b="-114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945890" y="4121412"/>
                <a:ext cx="11590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it-IT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890" y="4121412"/>
                <a:ext cx="1159035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5263" r="-6316" b="-114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392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4" grpId="0"/>
      <p:bldP spid="6" grpId="0"/>
      <p:bldP spid="7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740184" y="2540924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000" baseline="-25000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738" y="747415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000" baseline="-250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1041541" y="895350"/>
            <a:ext cx="0" cy="1695124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919398" y="2485033"/>
            <a:ext cx="1747602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Decision Boundary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986752" y="2098106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991975" y="2487639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993402" y="1711865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998625" y="2101398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993861" y="1322552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999084" y="1712085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 rot="16200000">
            <a:off x="1574083" y="1910673"/>
            <a:ext cx="105224" cy="1165087"/>
            <a:chOff x="1144375" y="1474952"/>
            <a:chExt cx="105224" cy="1165087"/>
          </a:xfrm>
        </p:grpSpPr>
        <p:cxnSp>
          <p:nvCxnSpPr>
            <p:cNvPr id="33" name="Straight Arrow Connector 32"/>
            <p:cNvCxnSpPr/>
            <p:nvPr/>
          </p:nvCxnSpPr>
          <p:spPr>
            <a:xfrm>
              <a:off x="1144375" y="2640039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1151025" y="2253798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146261" y="1474952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151484" y="1864485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/>
          <p:cNvGrpSpPr/>
          <p:nvPr/>
        </p:nvGrpSpPr>
        <p:grpSpPr>
          <a:xfrm>
            <a:off x="1122116" y="1015119"/>
            <a:ext cx="1413976" cy="1425485"/>
            <a:chOff x="1122116" y="1015119"/>
            <a:chExt cx="1413976" cy="1425485"/>
          </a:xfrm>
        </p:grpSpPr>
        <p:sp>
          <p:nvSpPr>
            <p:cNvPr id="2" name="Oval 1"/>
            <p:cNvSpPr/>
            <p:nvPr/>
          </p:nvSpPr>
          <p:spPr>
            <a:xfrm>
              <a:off x="1122116" y="1795221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" name="Oval 2"/>
            <p:cNvSpPr/>
            <p:nvPr/>
          </p:nvSpPr>
          <p:spPr>
            <a:xfrm>
              <a:off x="1204609" y="202138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" name="Oval 3"/>
            <p:cNvSpPr/>
            <p:nvPr/>
          </p:nvSpPr>
          <p:spPr>
            <a:xfrm>
              <a:off x="1127889" y="1542765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384434" y="1888832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1348695" y="2216372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537873" y="2114448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1123402" y="223185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Cross 8"/>
            <p:cNvSpPr/>
            <p:nvPr/>
          </p:nvSpPr>
          <p:spPr>
            <a:xfrm rot="2734294">
              <a:off x="1839342" y="1510425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Cross 9"/>
            <p:cNvSpPr/>
            <p:nvPr/>
          </p:nvSpPr>
          <p:spPr>
            <a:xfrm rot="2734294">
              <a:off x="1496419" y="1147713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Cross 10"/>
            <p:cNvSpPr/>
            <p:nvPr/>
          </p:nvSpPr>
          <p:spPr>
            <a:xfrm rot="2734294">
              <a:off x="1790032" y="128027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Cross 11"/>
            <p:cNvSpPr/>
            <p:nvPr/>
          </p:nvSpPr>
          <p:spPr>
            <a:xfrm rot="2734294">
              <a:off x="1718996" y="1030771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" name="Cross 16"/>
            <p:cNvSpPr/>
            <p:nvPr/>
          </p:nvSpPr>
          <p:spPr>
            <a:xfrm rot="2734294">
              <a:off x="2099755" y="1232768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1681443" y="2287165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9" name="Cross 38"/>
            <p:cNvSpPr/>
            <p:nvPr/>
          </p:nvSpPr>
          <p:spPr>
            <a:xfrm rot="2734294">
              <a:off x="2184711" y="1497927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0" name="Cross 39"/>
            <p:cNvSpPr/>
            <p:nvPr/>
          </p:nvSpPr>
          <p:spPr>
            <a:xfrm rot="2734294">
              <a:off x="2066327" y="1718267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1" name="Cross 40"/>
            <p:cNvSpPr/>
            <p:nvPr/>
          </p:nvSpPr>
          <p:spPr>
            <a:xfrm rot="2734294">
              <a:off x="2184616" y="196531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2" name="Cross 41"/>
            <p:cNvSpPr/>
            <p:nvPr/>
          </p:nvSpPr>
          <p:spPr>
            <a:xfrm rot="2734294">
              <a:off x="2382183" y="1703053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3" name="Cross 42"/>
            <p:cNvSpPr/>
            <p:nvPr/>
          </p:nvSpPr>
          <p:spPr>
            <a:xfrm rot="2734294">
              <a:off x="1948167" y="1015119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1304966" y="2545829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91312" y="2545915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2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099653" y="2545915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3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12479" y="1945171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23096" y="1514430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2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37721" y="1149927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3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1" name="Picture 5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396192"/>
            <a:ext cx="4285869" cy="35737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18934" y="3115330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alibri"/>
              </a:rPr>
              <a:t>Predict “          “ if </a:t>
            </a:r>
          </a:p>
        </p:txBody>
      </p:sp>
      <p:pic>
        <p:nvPicPr>
          <p:cNvPr id="59" name="Picture 5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3245767"/>
            <a:ext cx="800100" cy="309372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002" y="3233555"/>
            <a:ext cx="2650998" cy="2907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178782" y="2010166"/>
                <a:ext cx="32642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suppose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=−3;</m:t>
                      </m:r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=1;</m:t>
                      </m:r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782" y="2010166"/>
                <a:ext cx="3264227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1306" r="-1306" b="-2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142797" y="2391056"/>
                <a:ext cx="21090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=−3+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797" y="2391056"/>
                <a:ext cx="2109039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867" t="-4348" b="-152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>
            <a:stCxn id="49" idx="3"/>
            <a:endCxn id="46" idx="0"/>
          </p:cNvCxnSpPr>
          <p:nvPr/>
        </p:nvCxnSpPr>
        <p:spPr>
          <a:xfrm>
            <a:off x="1011994" y="1319204"/>
            <a:ext cx="1224796" cy="1226711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97473" y="3752153"/>
                <a:ext cx="42010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Positive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region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):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≥3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73" y="3752153"/>
                <a:ext cx="4201022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1161" r="-1451" b="-35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 rot="2700000">
                <a:off x="1139345" y="1686651"/>
                <a:ext cx="12099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700000">
                <a:off x="1139345" y="1686651"/>
                <a:ext cx="1209947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1149" r="-1724" b="-404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685406" y="4623853"/>
            <a:ext cx="7925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NB decision boundaries are property of the hypothesis and not of the training set</a:t>
            </a:r>
            <a:endParaRPr lang="it-IT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602512" y="4088484"/>
                <a:ext cx="43260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Negative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region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solidFill>
                                <a:srgbClr val="00B0F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o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):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12" y="4088484"/>
                <a:ext cx="4326056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1975" r="-1269" b="-35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920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20" grpId="0"/>
      <p:bldP spid="21" grpId="0"/>
      <p:bldP spid="30" grpId="0"/>
      <p:bldP spid="53" grpId="0"/>
      <p:bldP spid="31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Non-linear decision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44432" y="2014645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000" baseline="-25000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1915" y="752356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000" baseline="-250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775241" y="1062216"/>
            <a:ext cx="0" cy="2119134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741446" y="2158573"/>
            <a:ext cx="20186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5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754" y="890966"/>
            <a:ext cx="4147185" cy="357378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871" y="1377676"/>
            <a:ext cx="2168271" cy="38404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871520" y="2571750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alibri"/>
              </a:rPr>
              <a:t>Predict “          “ if </a:t>
            </a:r>
          </a:p>
        </p:txBody>
      </p:sp>
      <p:pic>
        <p:nvPicPr>
          <p:cNvPr id="53" name="Picture 5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836" y="2702187"/>
            <a:ext cx="800100" cy="309372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588" y="2680450"/>
            <a:ext cx="2650998" cy="384048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311" y="3922376"/>
            <a:ext cx="5267325" cy="38404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212806" y="4071116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000" baseline="-25000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2576" y="3029341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000" baseline="-250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 flipV="1">
            <a:off x="1356470" y="3339201"/>
            <a:ext cx="9432" cy="168694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511429" y="4236489"/>
            <a:ext cx="172865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6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4397502"/>
            <a:ext cx="5277993" cy="384048"/>
          </a:xfrm>
          <a:prstGeom prst="rect">
            <a:avLst/>
          </a:prstGeom>
        </p:spPr>
      </p:pic>
      <p:grpSp>
        <p:nvGrpSpPr>
          <p:cNvPr id="101" name="Group 100"/>
          <p:cNvGrpSpPr/>
          <p:nvPr/>
        </p:nvGrpSpPr>
        <p:grpSpPr>
          <a:xfrm>
            <a:off x="812855" y="1212320"/>
            <a:ext cx="1814029" cy="1829875"/>
            <a:chOff x="812855" y="1212320"/>
            <a:chExt cx="1814029" cy="1829875"/>
          </a:xfrm>
        </p:grpSpPr>
        <p:sp>
          <p:nvSpPr>
            <p:cNvPr id="77" name="Oval 76"/>
            <p:cNvSpPr/>
            <p:nvPr/>
          </p:nvSpPr>
          <p:spPr>
            <a:xfrm>
              <a:off x="1366477" y="2319308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8" name="Oval 77"/>
            <p:cNvSpPr/>
            <p:nvPr/>
          </p:nvSpPr>
          <p:spPr>
            <a:xfrm>
              <a:off x="1597322" y="2376201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/>
            <p:cNvSpPr/>
            <p:nvPr/>
          </p:nvSpPr>
          <p:spPr>
            <a:xfrm>
              <a:off x="1538039" y="214762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/>
            <p:cNvSpPr/>
            <p:nvPr/>
          </p:nvSpPr>
          <p:spPr>
            <a:xfrm>
              <a:off x="1387791" y="1823930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/>
            <p:cNvSpPr/>
            <p:nvPr/>
          </p:nvSpPr>
          <p:spPr>
            <a:xfrm>
              <a:off x="1704237" y="1791140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2" name="Oval 81"/>
            <p:cNvSpPr/>
            <p:nvPr/>
          </p:nvSpPr>
          <p:spPr>
            <a:xfrm>
              <a:off x="1531490" y="1927513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3" name="Oval 82"/>
            <p:cNvSpPr/>
            <p:nvPr/>
          </p:nvSpPr>
          <p:spPr>
            <a:xfrm>
              <a:off x="1295400" y="2064623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4" name="Oval 83"/>
            <p:cNvSpPr/>
            <p:nvPr/>
          </p:nvSpPr>
          <p:spPr>
            <a:xfrm>
              <a:off x="1580767" y="1683859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5" name="Cross 84"/>
            <p:cNvSpPr/>
            <p:nvPr/>
          </p:nvSpPr>
          <p:spPr>
            <a:xfrm rot="2734294">
              <a:off x="2472981" y="2237190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6" name="Cross 85"/>
            <p:cNvSpPr/>
            <p:nvPr/>
          </p:nvSpPr>
          <p:spPr>
            <a:xfrm rot="2734294">
              <a:off x="1120341" y="2646737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Cross 86"/>
            <p:cNvSpPr/>
            <p:nvPr/>
          </p:nvSpPr>
          <p:spPr>
            <a:xfrm rot="2734294">
              <a:off x="1452062" y="284100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8" name="Cross 87"/>
            <p:cNvSpPr/>
            <p:nvPr/>
          </p:nvSpPr>
          <p:spPr>
            <a:xfrm rot="2734294">
              <a:off x="2271958" y="2670635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9" name="Cross 88"/>
            <p:cNvSpPr/>
            <p:nvPr/>
          </p:nvSpPr>
          <p:spPr>
            <a:xfrm rot="2734294">
              <a:off x="1853770" y="288828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0" name="Cross 89"/>
            <p:cNvSpPr/>
            <p:nvPr/>
          </p:nvSpPr>
          <p:spPr>
            <a:xfrm rot="2734294">
              <a:off x="812855" y="2319072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1" name="Oval 90"/>
            <p:cNvSpPr/>
            <p:nvPr/>
          </p:nvSpPr>
          <p:spPr>
            <a:xfrm>
              <a:off x="1848800" y="207090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2" name="Oval 91"/>
            <p:cNvSpPr/>
            <p:nvPr/>
          </p:nvSpPr>
          <p:spPr>
            <a:xfrm>
              <a:off x="2045415" y="2224345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3" name="Oval 92"/>
            <p:cNvSpPr/>
            <p:nvPr/>
          </p:nvSpPr>
          <p:spPr>
            <a:xfrm>
              <a:off x="2026623" y="1882119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4" name="Oval 93"/>
            <p:cNvSpPr/>
            <p:nvPr/>
          </p:nvSpPr>
          <p:spPr>
            <a:xfrm>
              <a:off x="1848801" y="2428132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5" name="Cross 94"/>
            <p:cNvSpPr/>
            <p:nvPr/>
          </p:nvSpPr>
          <p:spPr>
            <a:xfrm rot="2734294">
              <a:off x="2472982" y="1734874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6" name="Cross 95"/>
            <p:cNvSpPr/>
            <p:nvPr/>
          </p:nvSpPr>
          <p:spPr>
            <a:xfrm rot="2734294">
              <a:off x="2292182" y="1410890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7" name="Cross 96"/>
            <p:cNvSpPr/>
            <p:nvPr/>
          </p:nvSpPr>
          <p:spPr>
            <a:xfrm rot="2734294">
              <a:off x="1902299" y="1211552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8" name="Cross 97"/>
            <p:cNvSpPr/>
            <p:nvPr/>
          </p:nvSpPr>
          <p:spPr>
            <a:xfrm rot="2734294">
              <a:off x="1433225" y="1211552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9" name="Cross 98"/>
            <p:cNvSpPr/>
            <p:nvPr/>
          </p:nvSpPr>
          <p:spPr>
            <a:xfrm rot="2734294">
              <a:off x="1019788" y="1354717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0" name="Cross 99"/>
            <p:cNvSpPr/>
            <p:nvPr/>
          </p:nvSpPr>
          <p:spPr>
            <a:xfrm rot="2734294">
              <a:off x="816315" y="1790525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198854" y="2142301"/>
            <a:ext cx="274273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Calibri"/>
              </a:rPr>
              <a:t>1</a:t>
            </a:r>
            <a:endParaRPr lang="en-US" sz="1100" baseline="-250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rot="16200000">
            <a:off x="2284584" y="2150440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6200000">
            <a:off x="1148877" y="2152325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049610" y="2158851"/>
            <a:ext cx="408823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Calibri"/>
              </a:rPr>
              <a:t>-1</a:t>
            </a:r>
            <a:endParaRPr lang="en-US" sz="11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96177" y="2582383"/>
            <a:ext cx="408823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Calibri"/>
              </a:rPr>
              <a:t>-1</a:t>
            </a:r>
            <a:endParaRPr lang="en-US" sz="1100" baseline="-250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1731334" y="2691593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1731334" y="1591783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522231" y="1462418"/>
            <a:ext cx="274273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Calibri"/>
              </a:rPr>
              <a:t>1</a:t>
            </a:r>
            <a:endParaRPr lang="en-US" sz="1100" baseline="-25000" dirty="0">
              <a:solidFill>
                <a:prstClr val="black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3596890" y="1857400"/>
                <a:ext cx="47748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suppose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=−1;</m:t>
                      </m:r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=0;</m:t>
                      </m:r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=0;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1;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6890" y="1857400"/>
                <a:ext cx="4774897" cy="276999"/>
              </a:xfrm>
              <a:prstGeom prst="rect">
                <a:avLst/>
              </a:prstGeom>
              <a:blipFill rotWithShape="0">
                <a:blip r:embed="rId14"/>
                <a:stretch>
                  <a:fillRect l="-766" r="-766" b="-2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1194436" y="1616857"/>
            <a:ext cx="1166736" cy="1104418"/>
          </a:xfrm>
          <a:prstGeom prst="ellipse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Freeform 8"/>
          <p:cNvSpPr/>
          <p:nvPr/>
        </p:nvSpPr>
        <p:spPr>
          <a:xfrm>
            <a:off x="609600" y="3596640"/>
            <a:ext cx="1351280" cy="1076960"/>
          </a:xfrm>
          <a:custGeom>
            <a:avLst/>
            <a:gdLst>
              <a:gd name="connsiteX0" fmla="*/ 30480 w 1351280"/>
              <a:gd name="connsiteY0" fmla="*/ 1026160 h 1076960"/>
              <a:gd name="connsiteX1" fmla="*/ 20320 w 1351280"/>
              <a:gd name="connsiteY1" fmla="*/ 701040 h 1076960"/>
              <a:gd name="connsiteX2" fmla="*/ 10160 w 1351280"/>
              <a:gd name="connsiteY2" fmla="*/ 650240 h 1076960"/>
              <a:gd name="connsiteX3" fmla="*/ 0 w 1351280"/>
              <a:gd name="connsiteY3" fmla="*/ 579120 h 1076960"/>
              <a:gd name="connsiteX4" fmla="*/ 10160 w 1351280"/>
              <a:gd name="connsiteY4" fmla="*/ 294640 h 1076960"/>
              <a:gd name="connsiteX5" fmla="*/ 30480 w 1351280"/>
              <a:gd name="connsiteY5" fmla="*/ 233680 h 1076960"/>
              <a:gd name="connsiteX6" fmla="*/ 91440 w 1351280"/>
              <a:gd name="connsiteY6" fmla="*/ 193040 h 1076960"/>
              <a:gd name="connsiteX7" fmla="*/ 172720 w 1351280"/>
              <a:gd name="connsiteY7" fmla="*/ 142240 h 1076960"/>
              <a:gd name="connsiteX8" fmla="*/ 233680 w 1351280"/>
              <a:gd name="connsiteY8" fmla="*/ 111760 h 1076960"/>
              <a:gd name="connsiteX9" fmla="*/ 264160 w 1351280"/>
              <a:gd name="connsiteY9" fmla="*/ 91440 h 1076960"/>
              <a:gd name="connsiteX10" fmla="*/ 325120 w 1351280"/>
              <a:gd name="connsiteY10" fmla="*/ 71120 h 1076960"/>
              <a:gd name="connsiteX11" fmla="*/ 355600 w 1351280"/>
              <a:gd name="connsiteY11" fmla="*/ 50800 h 1076960"/>
              <a:gd name="connsiteX12" fmla="*/ 426720 w 1351280"/>
              <a:gd name="connsiteY12" fmla="*/ 40640 h 1076960"/>
              <a:gd name="connsiteX13" fmla="*/ 457200 w 1351280"/>
              <a:gd name="connsiteY13" fmla="*/ 30480 h 1076960"/>
              <a:gd name="connsiteX14" fmla="*/ 548640 w 1351280"/>
              <a:gd name="connsiteY14" fmla="*/ 10160 h 1076960"/>
              <a:gd name="connsiteX15" fmla="*/ 619760 w 1351280"/>
              <a:gd name="connsiteY15" fmla="*/ 0 h 1076960"/>
              <a:gd name="connsiteX16" fmla="*/ 995680 w 1351280"/>
              <a:gd name="connsiteY16" fmla="*/ 10160 h 1076960"/>
              <a:gd name="connsiteX17" fmla="*/ 1056640 w 1351280"/>
              <a:gd name="connsiteY17" fmla="*/ 50800 h 1076960"/>
              <a:gd name="connsiteX18" fmla="*/ 1087120 w 1351280"/>
              <a:gd name="connsiteY18" fmla="*/ 60960 h 1076960"/>
              <a:gd name="connsiteX19" fmla="*/ 1148080 w 1351280"/>
              <a:gd name="connsiteY19" fmla="*/ 91440 h 1076960"/>
              <a:gd name="connsiteX20" fmla="*/ 1219200 w 1351280"/>
              <a:gd name="connsiteY20" fmla="*/ 182880 h 1076960"/>
              <a:gd name="connsiteX21" fmla="*/ 1229360 w 1351280"/>
              <a:gd name="connsiteY21" fmla="*/ 213360 h 1076960"/>
              <a:gd name="connsiteX22" fmla="*/ 1270000 w 1351280"/>
              <a:gd name="connsiteY22" fmla="*/ 274320 h 1076960"/>
              <a:gd name="connsiteX23" fmla="*/ 1290320 w 1351280"/>
              <a:gd name="connsiteY23" fmla="*/ 335280 h 1076960"/>
              <a:gd name="connsiteX24" fmla="*/ 1300480 w 1351280"/>
              <a:gd name="connsiteY24" fmla="*/ 365760 h 1076960"/>
              <a:gd name="connsiteX25" fmla="*/ 1320800 w 1351280"/>
              <a:gd name="connsiteY25" fmla="*/ 396240 h 1076960"/>
              <a:gd name="connsiteX26" fmla="*/ 1341120 w 1351280"/>
              <a:gd name="connsiteY26" fmla="*/ 477520 h 1076960"/>
              <a:gd name="connsiteX27" fmla="*/ 1351280 w 1351280"/>
              <a:gd name="connsiteY27" fmla="*/ 508000 h 1076960"/>
              <a:gd name="connsiteX28" fmla="*/ 1341120 w 1351280"/>
              <a:gd name="connsiteY28" fmla="*/ 650240 h 1076960"/>
              <a:gd name="connsiteX29" fmla="*/ 1330960 w 1351280"/>
              <a:gd name="connsiteY29" fmla="*/ 680720 h 1076960"/>
              <a:gd name="connsiteX30" fmla="*/ 1320800 w 1351280"/>
              <a:gd name="connsiteY30" fmla="*/ 731520 h 1076960"/>
              <a:gd name="connsiteX31" fmla="*/ 1290320 w 1351280"/>
              <a:gd name="connsiteY31" fmla="*/ 802640 h 1076960"/>
              <a:gd name="connsiteX32" fmla="*/ 1259840 w 1351280"/>
              <a:gd name="connsiteY32" fmla="*/ 812800 h 1076960"/>
              <a:gd name="connsiteX33" fmla="*/ 1198880 w 1351280"/>
              <a:gd name="connsiteY33" fmla="*/ 843280 h 1076960"/>
              <a:gd name="connsiteX34" fmla="*/ 1056640 w 1351280"/>
              <a:gd name="connsiteY34" fmla="*/ 833120 h 1076960"/>
              <a:gd name="connsiteX35" fmla="*/ 1026160 w 1351280"/>
              <a:gd name="connsiteY35" fmla="*/ 822960 h 1076960"/>
              <a:gd name="connsiteX36" fmla="*/ 995680 w 1351280"/>
              <a:gd name="connsiteY36" fmla="*/ 762000 h 1076960"/>
              <a:gd name="connsiteX37" fmla="*/ 985520 w 1351280"/>
              <a:gd name="connsiteY37" fmla="*/ 599440 h 1076960"/>
              <a:gd name="connsiteX38" fmla="*/ 975360 w 1351280"/>
              <a:gd name="connsiteY38" fmla="*/ 568960 h 1076960"/>
              <a:gd name="connsiteX39" fmla="*/ 894080 w 1351280"/>
              <a:gd name="connsiteY39" fmla="*/ 497840 h 1076960"/>
              <a:gd name="connsiteX40" fmla="*/ 863600 w 1351280"/>
              <a:gd name="connsiteY40" fmla="*/ 487680 h 1076960"/>
              <a:gd name="connsiteX41" fmla="*/ 833120 w 1351280"/>
              <a:gd name="connsiteY41" fmla="*/ 467360 h 1076960"/>
              <a:gd name="connsiteX42" fmla="*/ 772160 w 1351280"/>
              <a:gd name="connsiteY42" fmla="*/ 457200 h 1076960"/>
              <a:gd name="connsiteX43" fmla="*/ 640080 w 1351280"/>
              <a:gd name="connsiteY43" fmla="*/ 467360 h 1076960"/>
              <a:gd name="connsiteX44" fmla="*/ 609600 w 1351280"/>
              <a:gd name="connsiteY44" fmla="*/ 487680 h 1076960"/>
              <a:gd name="connsiteX45" fmla="*/ 579120 w 1351280"/>
              <a:gd name="connsiteY45" fmla="*/ 579120 h 1076960"/>
              <a:gd name="connsiteX46" fmla="*/ 568960 w 1351280"/>
              <a:gd name="connsiteY46" fmla="*/ 609600 h 1076960"/>
              <a:gd name="connsiteX47" fmla="*/ 589280 w 1351280"/>
              <a:gd name="connsiteY47" fmla="*/ 680720 h 1076960"/>
              <a:gd name="connsiteX48" fmla="*/ 609600 w 1351280"/>
              <a:gd name="connsiteY48" fmla="*/ 711200 h 1076960"/>
              <a:gd name="connsiteX49" fmla="*/ 650240 w 1351280"/>
              <a:gd name="connsiteY49" fmla="*/ 802640 h 1076960"/>
              <a:gd name="connsiteX50" fmla="*/ 629920 w 1351280"/>
              <a:gd name="connsiteY50" fmla="*/ 904240 h 1076960"/>
              <a:gd name="connsiteX51" fmla="*/ 579120 w 1351280"/>
              <a:gd name="connsiteY51" fmla="*/ 955040 h 1076960"/>
              <a:gd name="connsiteX52" fmla="*/ 548640 w 1351280"/>
              <a:gd name="connsiteY52" fmla="*/ 985520 h 1076960"/>
              <a:gd name="connsiteX53" fmla="*/ 518160 w 1351280"/>
              <a:gd name="connsiteY53" fmla="*/ 995680 h 1076960"/>
              <a:gd name="connsiteX54" fmla="*/ 477520 w 1351280"/>
              <a:gd name="connsiteY54" fmla="*/ 1016000 h 1076960"/>
              <a:gd name="connsiteX55" fmla="*/ 447040 w 1351280"/>
              <a:gd name="connsiteY55" fmla="*/ 1036320 h 1076960"/>
              <a:gd name="connsiteX56" fmla="*/ 386080 w 1351280"/>
              <a:gd name="connsiteY56" fmla="*/ 1056640 h 1076960"/>
              <a:gd name="connsiteX57" fmla="*/ 355600 w 1351280"/>
              <a:gd name="connsiteY57" fmla="*/ 1066800 h 1076960"/>
              <a:gd name="connsiteX58" fmla="*/ 325120 w 1351280"/>
              <a:gd name="connsiteY58" fmla="*/ 1076960 h 1076960"/>
              <a:gd name="connsiteX59" fmla="*/ 101600 w 1351280"/>
              <a:gd name="connsiteY59" fmla="*/ 1066800 h 1076960"/>
              <a:gd name="connsiteX60" fmla="*/ 71120 w 1351280"/>
              <a:gd name="connsiteY60" fmla="*/ 1056640 h 1076960"/>
              <a:gd name="connsiteX61" fmla="*/ 50800 w 1351280"/>
              <a:gd name="connsiteY61" fmla="*/ 1026160 h 1076960"/>
              <a:gd name="connsiteX62" fmla="*/ 30480 w 1351280"/>
              <a:gd name="connsiteY62" fmla="*/ 1026160 h 1076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351280" h="1076960">
                <a:moveTo>
                  <a:pt x="30480" y="1026160"/>
                </a:moveTo>
                <a:cubicBezTo>
                  <a:pt x="25400" y="971973"/>
                  <a:pt x="26172" y="809308"/>
                  <a:pt x="20320" y="701040"/>
                </a:cubicBezTo>
                <a:cubicBezTo>
                  <a:pt x="19388" y="683796"/>
                  <a:pt x="12999" y="667274"/>
                  <a:pt x="10160" y="650240"/>
                </a:cubicBezTo>
                <a:cubicBezTo>
                  <a:pt x="6223" y="626618"/>
                  <a:pt x="3387" y="602827"/>
                  <a:pt x="0" y="579120"/>
                </a:cubicBezTo>
                <a:cubicBezTo>
                  <a:pt x="3387" y="484293"/>
                  <a:pt x="1820" y="389160"/>
                  <a:pt x="10160" y="294640"/>
                </a:cubicBezTo>
                <a:cubicBezTo>
                  <a:pt x="12043" y="273304"/>
                  <a:pt x="12658" y="245561"/>
                  <a:pt x="30480" y="233680"/>
                </a:cubicBezTo>
                <a:lnTo>
                  <a:pt x="91440" y="193040"/>
                </a:lnTo>
                <a:cubicBezTo>
                  <a:pt x="140184" y="119924"/>
                  <a:pt x="71158" y="209948"/>
                  <a:pt x="172720" y="142240"/>
                </a:cubicBezTo>
                <a:cubicBezTo>
                  <a:pt x="260071" y="84006"/>
                  <a:pt x="149552" y="153824"/>
                  <a:pt x="233680" y="111760"/>
                </a:cubicBezTo>
                <a:cubicBezTo>
                  <a:pt x="244602" y="106299"/>
                  <a:pt x="253002" y="96399"/>
                  <a:pt x="264160" y="91440"/>
                </a:cubicBezTo>
                <a:cubicBezTo>
                  <a:pt x="283733" y="82741"/>
                  <a:pt x="307298" y="83001"/>
                  <a:pt x="325120" y="71120"/>
                </a:cubicBezTo>
                <a:cubicBezTo>
                  <a:pt x="335280" y="64347"/>
                  <a:pt x="343904" y="54309"/>
                  <a:pt x="355600" y="50800"/>
                </a:cubicBezTo>
                <a:cubicBezTo>
                  <a:pt x="378537" y="43919"/>
                  <a:pt x="403013" y="44027"/>
                  <a:pt x="426720" y="40640"/>
                </a:cubicBezTo>
                <a:cubicBezTo>
                  <a:pt x="436880" y="37253"/>
                  <a:pt x="446902" y="33422"/>
                  <a:pt x="457200" y="30480"/>
                </a:cubicBezTo>
                <a:cubicBezTo>
                  <a:pt x="482773" y="23173"/>
                  <a:pt x="523499" y="14350"/>
                  <a:pt x="548640" y="10160"/>
                </a:cubicBezTo>
                <a:cubicBezTo>
                  <a:pt x="572262" y="6223"/>
                  <a:pt x="596053" y="3387"/>
                  <a:pt x="619760" y="0"/>
                </a:cubicBezTo>
                <a:cubicBezTo>
                  <a:pt x="745067" y="3387"/>
                  <a:pt x="870484" y="3900"/>
                  <a:pt x="995680" y="10160"/>
                </a:cubicBezTo>
                <a:cubicBezTo>
                  <a:pt x="1034855" y="12119"/>
                  <a:pt x="1025209" y="29846"/>
                  <a:pt x="1056640" y="50800"/>
                </a:cubicBezTo>
                <a:cubicBezTo>
                  <a:pt x="1065551" y="56741"/>
                  <a:pt x="1077541" y="56171"/>
                  <a:pt x="1087120" y="60960"/>
                </a:cubicBezTo>
                <a:cubicBezTo>
                  <a:pt x="1165902" y="100351"/>
                  <a:pt x="1071468" y="65903"/>
                  <a:pt x="1148080" y="91440"/>
                </a:cubicBezTo>
                <a:cubicBezTo>
                  <a:pt x="1174379" y="117739"/>
                  <a:pt x="1207047" y="146422"/>
                  <a:pt x="1219200" y="182880"/>
                </a:cubicBezTo>
                <a:cubicBezTo>
                  <a:pt x="1222587" y="193040"/>
                  <a:pt x="1224159" y="203998"/>
                  <a:pt x="1229360" y="213360"/>
                </a:cubicBezTo>
                <a:cubicBezTo>
                  <a:pt x="1241220" y="234708"/>
                  <a:pt x="1262277" y="251152"/>
                  <a:pt x="1270000" y="274320"/>
                </a:cubicBezTo>
                <a:lnTo>
                  <a:pt x="1290320" y="335280"/>
                </a:lnTo>
                <a:cubicBezTo>
                  <a:pt x="1293707" y="345440"/>
                  <a:pt x="1294539" y="356849"/>
                  <a:pt x="1300480" y="365760"/>
                </a:cubicBezTo>
                <a:cubicBezTo>
                  <a:pt x="1307253" y="375920"/>
                  <a:pt x="1315339" y="385318"/>
                  <a:pt x="1320800" y="396240"/>
                </a:cubicBezTo>
                <a:cubicBezTo>
                  <a:pt x="1332412" y="419464"/>
                  <a:pt x="1335323" y="454334"/>
                  <a:pt x="1341120" y="477520"/>
                </a:cubicBezTo>
                <a:cubicBezTo>
                  <a:pt x="1343717" y="487910"/>
                  <a:pt x="1347893" y="497840"/>
                  <a:pt x="1351280" y="508000"/>
                </a:cubicBezTo>
                <a:cubicBezTo>
                  <a:pt x="1347893" y="555413"/>
                  <a:pt x="1346674" y="603031"/>
                  <a:pt x="1341120" y="650240"/>
                </a:cubicBezTo>
                <a:cubicBezTo>
                  <a:pt x="1339869" y="660876"/>
                  <a:pt x="1333557" y="670330"/>
                  <a:pt x="1330960" y="680720"/>
                </a:cubicBezTo>
                <a:cubicBezTo>
                  <a:pt x="1326772" y="697473"/>
                  <a:pt x="1324546" y="714663"/>
                  <a:pt x="1320800" y="731520"/>
                </a:cubicBezTo>
                <a:cubicBezTo>
                  <a:pt x="1315524" y="755264"/>
                  <a:pt x="1311525" y="785676"/>
                  <a:pt x="1290320" y="802640"/>
                </a:cubicBezTo>
                <a:cubicBezTo>
                  <a:pt x="1281957" y="809330"/>
                  <a:pt x="1269419" y="808011"/>
                  <a:pt x="1259840" y="812800"/>
                </a:cubicBezTo>
                <a:cubicBezTo>
                  <a:pt x="1181058" y="852191"/>
                  <a:pt x="1275492" y="817743"/>
                  <a:pt x="1198880" y="843280"/>
                </a:cubicBezTo>
                <a:cubicBezTo>
                  <a:pt x="1151467" y="839893"/>
                  <a:pt x="1103849" y="838674"/>
                  <a:pt x="1056640" y="833120"/>
                </a:cubicBezTo>
                <a:cubicBezTo>
                  <a:pt x="1046004" y="831869"/>
                  <a:pt x="1034523" y="829650"/>
                  <a:pt x="1026160" y="822960"/>
                </a:cubicBezTo>
                <a:cubicBezTo>
                  <a:pt x="1008255" y="808636"/>
                  <a:pt x="1002373" y="782079"/>
                  <a:pt x="995680" y="762000"/>
                </a:cubicBezTo>
                <a:cubicBezTo>
                  <a:pt x="992293" y="707813"/>
                  <a:pt x="991204" y="653434"/>
                  <a:pt x="985520" y="599440"/>
                </a:cubicBezTo>
                <a:cubicBezTo>
                  <a:pt x="984399" y="588789"/>
                  <a:pt x="980149" y="578539"/>
                  <a:pt x="975360" y="568960"/>
                </a:cubicBezTo>
                <a:cubicBezTo>
                  <a:pt x="958765" y="535771"/>
                  <a:pt x="930656" y="510032"/>
                  <a:pt x="894080" y="497840"/>
                </a:cubicBezTo>
                <a:cubicBezTo>
                  <a:pt x="883920" y="494453"/>
                  <a:pt x="873179" y="492469"/>
                  <a:pt x="863600" y="487680"/>
                </a:cubicBezTo>
                <a:cubicBezTo>
                  <a:pt x="852678" y="482219"/>
                  <a:pt x="844704" y="471221"/>
                  <a:pt x="833120" y="467360"/>
                </a:cubicBezTo>
                <a:cubicBezTo>
                  <a:pt x="813577" y="460846"/>
                  <a:pt x="792480" y="460587"/>
                  <a:pt x="772160" y="457200"/>
                </a:cubicBezTo>
                <a:cubicBezTo>
                  <a:pt x="728133" y="460587"/>
                  <a:pt x="683480" y="459222"/>
                  <a:pt x="640080" y="467360"/>
                </a:cubicBezTo>
                <a:cubicBezTo>
                  <a:pt x="628078" y="469610"/>
                  <a:pt x="616072" y="477325"/>
                  <a:pt x="609600" y="487680"/>
                </a:cubicBezTo>
                <a:lnTo>
                  <a:pt x="579120" y="579120"/>
                </a:lnTo>
                <a:lnTo>
                  <a:pt x="568960" y="609600"/>
                </a:lnTo>
                <a:cubicBezTo>
                  <a:pt x="572215" y="622621"/>
                  <a:pt x="581992" y="666144"/>
                  <a:pt x="589280" y="680720"/>
                </a:cubicBezTo>
                <a:cubicBezTo>
                  <a:pt x="594741" y="691642"/>
                  <a:pt x="604641" y="700042"/>
                  <a:pt x="609600" y="711200"/>
                </a:cubicBezTo>
                <a:cubicBezTo>
                  <a:pt x="657963" y="820016"/>
                  <a:pt x="604253" y="733660"/>
                  <a:pt x="650240" y="802640"/>
                </a:cubicBezTo>
                <a:cubicBezTo>
                  <a:pt x="646496" y="828849"/>
                  <a:pt x="644106" y="875867"/>
                  <a:pt x="629920" y="904240"/>
                </a:cubicBezTo>
                <a:cubicBezTo>
                  <a:pt x="608632" y="946815"/>
                  <a:pt x="613954" y="926011"/>
                  <a:pt x="579120" y="955040"/>
                </a:cubicBezTo>
                <a:cubicBezTo>
                  <a:pt x="568082" y="964238"/>
                  <a:pt x="560595" y="977550"/>
                  <a:pt x="548640" y="985520"/>
                </a:cubicBezTo>
                <a:cubicBezTo>
                  <a:pt x="539729" y="991461"/>
                  <a:pt x="528004" y="991461"/>
                  <a:pt x="518160" y="995680"/>
                </a:cubicBezTo>
                <a:cubicBezTo>
                  <a:pt x="504239" y="1001646"/>
                  <a:pt x="490670" y="1008486"/>
                  <a:pt x="477520" y="1016000"/>
                </a:cubicBezTo>
                <a:cubicBezTo>
                  <a:pt x="466918" y="1022058"/>
                  <a:pt x="458198" y="1031361"/>
                  <a:pt x="447040" y="1036320"/>
                </a:cubicBezTo>
                <a:cubicBezTo>
                  <a:pt x="427467" y="1045019"/>
                  <a:pt x="406400" y="1049867"/>
                  <a:pt x="386080" y="1056640"/>
                </a:cubicBezTo>
                <a:lnTo>
                  <a:pt x="355600" y="1066800"/>
                </a:lnTo>
                <a:lnTo>
                  <a:pt x="325120" y="1076960"/>
                </a:lnTo>
                <a:cubicBezTo>
                  <a:pt x="250613" y="1073573"/>
                  <a:pt x="175946" y="1072748"/>
                  <a:pt x="101600" y="1066800"/>
                </a:cubicBezTo>
                <a:cubicBezTo>
                  <a:pt x="90925" y="1065946"/>
                  <a:pt x="79483" y="1063330"/>
                  <a:pt x="71120" y="1056640"/>
                </a:cubicBezTo>
                <a:cubicBezTo>
                  <a:pt x="61585" y="1049012"/>
                  <a:pt x="58126" y="1035929"/>
                  <a:pt x="50800" y="1026160"/>
                </a:cubicBezTo>
                <a:cubicBezTo>
                  <a:pt x="47926" y="1022328"/>
                  <a:pt x="35560" y="1080347"/>
                  <a:pt x="30480" y="1026160"/>
                </a:cubicBezTo>
                <a:close/>
              </a:path>
            </a:pathLst>
          </a:cu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TextBox 9"/>
          <p:cNvSpPr txBox="1"/>
          <p:nvPr/>
        </p:nvSpPr>
        <p:spPr>
          <a:xfrm>
            <a:off x="1695774" y="3423450"/>
            <a:ext cx="109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y=1</a:t>
            </a:r>
            <a:endParaRPr lang="it-IT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85679" y="3737736"/>
            <a:ext cx="109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y=0</a:t>
            </a:r>
            <a:endParaRPr lang="it-IT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108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7" grpId="0"/>
      <p:bldP spid="58" grpId="0"/>
      <p:bldP spid="65" grpId="0"/>
      <p:bldP spid="8" grpId="0" animBg="1"/>
      <p:bldP spid="9" grpId="0" animBg="1"/>
      <p:bldP spid="10" grpId="0"/>
      <p:bldP spid="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</a:t>
            </a:r>
          </a:p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Regression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29100" y="2419350"/>
            <a:ext cx="4876800" cy="685800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Cost function</a:t>
            </a:r>
          </a:p>
        </p:txBody>
      </p:sp>
    </p:spTree>
    <p:extLst>
      <p:ext uri="{BB962C8B-B14F-4D97-AF65-F5344CB8AC3E}">
        <p14:creationId xmlns:p14="http://schemas.microsoft.com/office/powerpoint/2010/main" val="3113681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57200" y="413414"/>
            <a:ext cx="220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Training set: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457200" y="3968175"/>
            <a:ext cx="7086600" cy="1077218"/>
            <a:chOff x="457200" y="3182757"/>
            <a:chExt cx="5638800" cy="1077218"/>
          </a:xfrm>
        </p:grpSpPr>
        <p:sp>
          <p:nvSpPr>
            <p:cNvPr id="21" name="TextBox 20"/>
            <p:cNvSpPr txBox="1"/>
            <p:nvPr/>
          </p:nvSpPr>
          <p:spPr>
            <a:xfrm>
              <a:off x="457200" y="3182757"/>
              <a:ext cx="56388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How to choose (learn) parameters    ?</a:t>
              </a:r>
            </a:p>
          </p:txBody>
        </p:sp>
        <p:pic>
          <p:nvPicPr>
            <p:cNvPr id="19" name="Picture 1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6035" y="3357500"/>
              <a:ext cx="153619" cy="260604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995" y="502475"/>
            <a:ext cx="5383530" cy="3634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8868" y="1616775"/>
            <a:ext cx="335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 examples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84" y="1230630"/>
            <a:ext cx="1499616" cy="145618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1805559"/>
            <a:ext cx="2244852" cy="3063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2780538"/>
            <a:ext cx="2935224" cy="78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97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Cost function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578" y="762360"/>
            <a:ext cx="3533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Linear regression: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050" y="714375"/>
            <a:ext cx="4219956" cy="651510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 flipV="1">
            <a:off x="1066800" y="2724150"/>
            <a:ext cx="0" cy="2168626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838200" y="4652391"/>
            <a:ext cx="3200399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4749546"/>
            <a:ext cx="153619" cy="2606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660" y="2952752"/>
            <a:ext cx="427939" cy="24505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752600" y="2647950"/>
            <a:ext cx="2110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“non-convex”</a:t>
            </a:r>
          </a:p>
        </p:txBody>
      </p:sp>
      <p:cxnSp>
        <p:nvCxnSpPr>
          <p:cNvPr id="44" name="Straight Connector 43"/>
          <p:cNvCxnSpPr/>
          <p:nvPr/>
        </p:nvCxnSpPr>
        <p:spPr>
          <a:xfrm flipV="1">
            <a:off x="5410200" y="2724150"/>
            <a:ext cx="0" cy="2168626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181600" y="4652391"/>
            <a:ext cx="3200399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4749546"/>
            <a:ext cx="153619" cy="260604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060" y="2952752"/>
            <a:ext cx="427939" cy="24505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248400" y="2647950"/>
            <a:ext cx="130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“convex”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33578" y="1375131"/>
                <a:ext cx="3624197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Cost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it-IT" sz="2000" dirty="0"/>
                            <m:t> 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78" y="1375131"/>
                <a:ext cx="3624197" cy="57618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5562600" y="1427312"/>
            <a:ext cx="342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Non convex function (because of non-linearity of </a:t>
            </a:r>
            <a:r>
              <a:rPr lang="en-GB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GB" sz="2000" i="1" baseline="-25000" dirty="0" err="1"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4398415" y="1663222"/>
            <a:ext cx="1061253" cy="1804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Arc 4"/>
          <p:cNvSpPr/>
          <p:nvPr/>
        </p:nvSpPr>
        <p:spPr>
          <a:xfrm rot="5400000">
            <a:off x="5882591" y="2413295"/>
            <a:ext cx="1992756" cy="2004668"/>
          </a:xfrm>
          <a:prstGeom prst="arc">
            <a:avLst>
              <a:gd name="adj1" fmla="val 16200000"/>
              <a:gd name="adj2" fmla="val 5451404"/>
            </a:avLst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Freeform 9"/>
          <p:cNvSpPr/>
          <p:nvPr/>
        </p:nvSpPr>
        <p:spPr>
          <a:xfrm>
            <a:off x="1229360" y="3078480"/>
            <a:ext cx="2794000" cy="1412240"/>
          </a:xfrm>
          <a:custGeom>
            <a:avLst/>
            <a:gdLst>
              <a:gd name="connsiteX0" fmla="*/ 0 w 2794000"/>
              <a:gd name="connsiteY0" fmla="*/ 0 h 1412240"/>
              <a:gd name="connsiteX1" fmla="*/ 10160 w 2794000"/>
              <a:gd name="connsiteY1" fmla="*/ 284480 h 1412240"/>
              <a:gd name="connsiteX2" fmla="*/ 30480 w 2794000"/>
              <a:gd name="connsiteY2" fmla="*/ 314960 h 1412240"/>
              <a:gd name="connsiteX3" fmla="*/ 50800 w 2794000"/>
              <a:gd name="connsiteY3" fmla="*/ 375920 h 1412240"/>
              <a:gd name="connsiteX4" fmla="*/ 71120 w 2794000"/>
              <a:gd name="connsiteY4" fmla="*/ 406400 h 1412240"/>
              <a:gd name="connsiteX5" fmla="*/ 162560 w 2794000"/>
              <a:gd name="connsiteY5" fmla="*/ 457200 h 1412240"/>
              <a:gd name="connsiteX6" fmla="*/ 264160 w 2794000"/>
              <a:gd name="connsiteY6" fmla="*/ 447040 h 1412240"/>
              <a:gd name="connsiteX7" fmla="*/ 314960 w 2794000"/>
              <a:gd name="connsiteY7" fmla="*/ 386080 h 1412240"/>
              <a:gd name="connsiteX8" fmla="*/ 325120 w 2794000"/>
              <a:gd name="connsiteY8" fmla="*/ 355600 h 1412240"/>
              <a:gd name="connsiteX9" fmla="*/ 355600 w 2794000"/>
              <a:gd name="connsiteY9" fmla="*/ 325120 h 1412240"/>
              <a:gd name="connsiteX10" fmla="*/ 416560 w 2794000"/>
              <a:gd name="connsiteY10" fmla="*/ 304800 h 1412240"/>
              <a:gd name="connsiteX11" fmla="*/ 447040 w 2794000"/>
              <a:gd name="connsiteY11" fmla="*/ 335280 h 1412240"/>
              <a:gd name="connsiteX12" fmla="*/ 467360 w 2794000"/>
              <a:gd name="connsiteY12" fmla="*/ 447040 h 1412240"/>
              <a:gd name="connsiteX13" fmla="*/ 497840 w 2794000"/>
              <a:gd name="connsiteY13" fmla="*/ 741680 h 1412240"/>
              <a:gd name="connsiteX14" fmla="*/ 508000 w 2794000"/>
              <a:gd name="connsiteY14" fmla="*/ 955040 h 1412240"/>
              <a:gd name="connsiteX15" fmla="*/ 518160 w 2794000"/>
              <a:gd name="connsiteY15" fmla="*/ 985520 h 1412240"/>
              <a:gd name="connsiteX16" fmla="*/ 538480 w 2794000"/>
              <a:gd name="connsiteY16" fmla="*/ 1016000 h 1412240"/>
              <a:gd name="connsiteX17" fmla="*/ 599440 w 2794000"/>
              <a:gd name="connsiteY17" fmla="*/ 1056640 h 1412240"/>
              <a:gd name="connsiteX18" fmla="*/ 629920 w 2794000"/>
              <a:gd name="connsiteY18" fmla="*/ 1066800 h 1412240"/>
              <a:gd name="connsiteX19" fmla="*/ 731520 w 2794000"/>
              <a:gd name="connsiteY19" fmla="*/ 1046480 h 1412240"/>
              <a:gd name="connsiteX20" fmla="*/ 751840 w 2794000"/>
              <a:gd name="connsiteY20" fmla="*/ 1005840 h 1412240"/>
              <a:gd name="connsiteX21" fmla="*/ 772160 w 2794000"/>
              <a:gd name="connsiteY21" fmla="*/ 975360 h 1412240"/>
              <a:gd name="connsiteX22" fmla="*/ 782320 w 2794000"/>
              <a:gd name="connsiteY22" fmla="*/ 934720 h 1412240"/>
              <a:gd name="connsiteX23" fmla="*/ 812800 w 2794000"/>
              <a:gd name="connsiteY23" fmla="*/ 873760 h 1412240"/>
              <a:gd name="connsiteX24" fmla="*/ 843280 w 2794000"/>
              <a:gd name="connsiteY24" fmla="*/ 853440 h 1412240"/>
              <a:gd name="connsiteX25" fmla="*/ 914400 w 2794000"/>
              <a:gd name="connsiteY25" fmla="*/ 873760 h 1412240"/>
              <a:gd name="connsiteX26" fmla="*/ 924560 w 2794000"/>
              <a:gd name="connsiteY26" fmla="*/ 914400 h 1412240"/>
              <a:gd name="connsiteX27" fmla="*/ 934720 w 2794000"/>
              <a:gd name="connsiteY27" fmla="*/ 1016000 h 1412240"/>
              <a:gd name="connsiteX28" fmla="*/ 944880 w 2794000"/>
              <a:gd name="connsiteY28" fmla="*/ 1046480 h 1412240"/>
              <a:gd name="connsiteX29" fmla="*/ 955040 w 2794000"/>
              <a:gd name="connsiteY29" fmla="*/ 1097280 h 1412240"/>
              <a:gd name="connsiteX30" fmla="*/ 965200 w 2794000"/>
              <a:gd name="connsiteY30" fmla="*/ 1127760 h 1412240"/>
              <a:gd name="connsiteX31" fmla="*/ 995680 w 2794000"/>
              <a:gd name="connsiteY31" fmla="*/ 1229360 h 1412240"/>
              <a:gd name="connsiteX32" fmla="*/ 1016000 w 2794000"/>
              <a:gd name="connsiteY32" fmla="*/ 1290320 h 1412240"/>
              <a:gd name="connsiteX33" fmla="*/ 1026160 w 2794000"/>
              <a:gd name="connsiteY33" fmla="*/ 1320800 h 1412240"/>
              <a:gd name="connsiteX34" fmla="*/ 1056640 w 2794000"/>
              <a:gd name="connsiteY34" fmla="*/ 1351280 h 1412240"/>
              <a:gd name="connsiteX35" fmla="*/ 1066800 w 2794000"/>
              <a:gd name="connsiteY35" fmla="*/ 1381760 h 1412240"/>
              <a:gd name="connsiteX36" fmla="*/ 1127760 w 2794000"/>
              <a:gd name="connsiteY36" fmla="*/ 1412240 h 1412240"/>
              <a:gd name="connsiteX37" fmla="*/ 1361440 w 2794000"/>
              <a:gd name="connsiteY37" fmla="*/ 1351280 h 1412240"/>
              <a:gd name="connsiteX38" fmla="*/ 1371600 w 2794000"/>
              <a:gd name="connsiteY38" fmla="*/ 1310640 h 1412240"/>
              <a:gd name="connsiteX39" fmla="*/ 1381760 w 2794000"/>
              <a:gd name="connsiteY39" fmla="*/ 1280160 h 1412240"/>
              <a:gd name="connsiteX40" fmla="*/ 1402080 w 2794000"/>
              <a:gd name="connsiteY40" fmla="*/ 1148080 h 1412240"/>
              <a:gd name="connsiteX41" fmla="*/ 1412240 w 2794000"/>
              <a:gd name="connsiteY41" fmla="*/ 1087120 h 1412240"/>
              <a:gd name="connsiteX42" fmla="*/ 1432560 w 2794000"/>
              <a:gd name="connsiteY42" fmla="*/ 1026160 h 1412240"/>
              <a:gd name="connsiteX43" fmla="*/ 1452880 w 2794000"/>
              <a:gd name="connsiteY43" fmla="*/ 995680 h 1412240"/>
              <a:gd name="connsiteX44" fmla="*/ 1513840 w 2794000"/>
              <a:gd name="connsiteY44" fmla="*/ 955040 h 1412240"/>
              <a:gd name="connsiteX45" fmla="*/ 1625600 w 2794000"/>
              <a:gd name="connsiteY45" fmla="*/ 975360 h 1412240"/>
              <a:gd name="connsiteX46" fmla="*/ 1656080 w 2794000"/>
              <a:gd name="connsiteY46" fmla="*/ 1036320 h 1412240"/>
              <a:gd name="connsiteX47" fmla="*/ 1727200 w 2794000"/>
              <a:gd name="connsiteY47" fmla="*/ 1117600 h 1412240"/>
              <a:gd name="connsiteX48" fmla="*/ 1879600 w 2794000"/>
              <a:gd name="connsiteY48" fmla="*/ 1137920 h 1412240"/>
              <a:gd name="connsiteX49" fmla="*/ 1930400 w 2794000"/>
              <a:gd name="connsiteY49" fmla="*/ 1127760 h 1412240"/>
              <a:gd name="connsiteX50" fmla="*/ 1971040 w 2794000"/>
              <a:gd name="connsiteY50" fmla="*/ 1056640 h 1412240"/>
              <a:gd name="connsiteX51" fmla="*/ 2011680 w 2794000"/>
              <a:gd name="connsiteY51" fmla="*/ 985520 h 1412240"/>
              <a:gd name="connsiteX52" fmla="*/ 2032000 w 2794000"/>
              <a:gd name="connsiteY52" fmla="*/ 914400 h 1412240"/>
              <a:gd name="connsiteX53" fmla="*/ 2052320 w 2794000"/>
              <a:gd name="connsiteY53" fmla="*/ 873760 h 1412240"/>
              <a:gd name="connsiteX54" fmla="*/ 2062480 w 2794000"/>
              <a:gd name="connsiteY54" fmla="*/ 843280 h 1412240"/>
              <a:gd name="connsiteX55" fmla="*/ 2082800 w 2794000"/>
              <a:gd name="connsiteY55" fmla="*/ 751840 h 1412240"/>
              <a:gd name="connsiteX56" fmla="*/ 2092960 w 2794000"/>
              <a:gd name="connsiteY56" fmla="*/ 447040 h 1412240"/>
              <a:gd name="connsiteX57" fmla="*/ 2103120 w 2794000"/>
              <a:gd name="connsiteY57" fmla="*/ 416560 h 1412240"/>
              <a:gd name="connsiteX58" fmla="*/ 2204720 w 2794000"/>
              <a:gd name="connsiteY58" fmla="*/ 477520 h 1412240"/>
              <a:gd name="connsiteX59" fmla="*/ 2245360 w 2794000"/>
              <a:gd name="connsiteY59" fmla="*/ 548640 h 1412240"/>
              <a:gd name="connsiteX60" fmla="*/ 2265680 w 2794000"/>
              <a:gd name="connsiteY60" fmla="*/ 609600 h 1412240"/>
              <a:gd name="connsiteX61" fmla="*/ 2286000 w 2794000"/>
              <a:gd name="connsiteY61" fmla="*/ 640080 h 1412240"/>
              <a:gd name="connsiteX62" fmla="*/ 2296160 w 2794000"/>
              <a:gd name="connsiteY62" fmla="*/ 670560 h 1412240"/>
              <a:gd name="connsiteX63" fmla="*/ 2326640 w 2794000"/>
              <a:gd name="connsiteY63" fmla="*/ 680720 h 1412240"/>
              <a:gd name="connsiteX64" fmla="*/ 2428240 w 2794000"/>
              <a:gd name="connsiteY64" fmla="*/ 711200 h 1412240"/>
              <a:gd name="connsiteX65" fmla="*/ 2519680 w 2794000"/>
              <a:gd name="connsiteY65" fmla="*/ 701040 h 1412240"/>
              <a:gd name="connsiteX66" fmla="*/ 2560320 w 2794000"/>
              <a:gd name="connsiteY66" fmla="*/ 680720 h 1412240"/>
              <a:gd name="connsiteX67" fmla="*/ 2651760 w 2794000"/>
              <a:gd name="connsiteY67" fmla="*/ 609600 h 1412240"/>
              <a:gd name="connsiteX68" fmla="*/ 2682240 w 2794000"/>
              <a:gd name="connsiteY68" fmla="*/ 548640 h 1412240"/>
              <a:gd name="connsiteX69" fmla="*/ 2702560 w 2794000"/>
              <a:gd name="connsiteY69" fmla="*/ 508000 h 1412240"/>
              <a:gd name="connsiteX70" fmla="*/ 2722880 w 2794000"/>
              <a:gd name="connsiteY70" fmla="*/ 426720 h 1412240"/>
              <a:gd name="connsiteX71" fmla="*/ 2743200 w 2794000"/>
              <a:gd name="connsiteY71" fmla="*/ 345440 h 1412240"/>
              <a:gd name="connsiteX72" fmla="*/ 2753360 w 2794000"/>
              <a:gd name="connsiteY72" fmla="*/ 304800 h 1412240"/>
              <a:gd name="connsiteX73" fmla="*/ 2773680 w 2794000"/>
              <a:gd name="connsiteY73" fmla="*/ 243840 h 1412240"/>
              <a:gd name="connsiteX74" fmla="*/ 2783840 w 2794000"/>
              <a:gd name="connsiteY74" fmla="*/ 203200 h 1412240"/>
              <a:gd name="connsiteX75" fmla="*/ 2794000 w 2794000"/>
              <a:gd name="connsiteY75" fmla="*/ 172720 h 141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2794000" h="1412240">
                <a:moveTo>
                  <a:pt x="0" y="0"/>
                </a:moveTo>
                <a:cubicBezTo>
                  <a:pt x="3387" y="94827"/>
                  <a:pt x="1020" y="190034"/>
                  <a:pt x="10160" y="284480"/>
                </a:cubicBezTo>
                <a:cubicBezTo>
                  <a:pt x="11336" y="296634"/>
                  <a:pt x="25521" y="303802"/>
                  <a:pt x="30480" y="314960"/>
                </a:cubicBezTo>
                <a:cubicBezTo>
                  <a:pt x="39179" y="334533"/>
                  <a:pt x="38919" y="358098"/>
                  <a:pt x="50800" y="375920"/>
                </a:cubicBezTo>
                <a:cubicBezTo>
                  <a:pt x="57573" y="386080"/>
                  <a:pt x="61930" y="398359"/>
                  <a:pt x="71120" y="406400"/>
                </a:cubicBezTo>
                <a:cubicBezTo>
                  <a:pt x="114117" y="444023"/>
                  <a:pt x="120696" y="443245"/>
                  <a:pt x="162560" y="457200"/>
                </a:cubicBezTo>
                <a:cubicBezTo>
                  <a:pt x="196427" y="453813"/>
                  <a:pt x="231630" y="457049"/>
                  <a:pt x="264160" y="447040"/>
                </a:cubicBezTo>
                <a:cubicBezTo>
                  <a:pt x="277438" y="442955"/>
                  <a:pt x="308627" y="398746"/>
                  <a:pt x="314960" y="386080"/>
                </a:cubicBezTo>
                <a:cubicBezTo>
                  <a:pt x="319749" y="376501"/>
                  <a:pt x="319179" y="364511"/>
                  <a:pt x="325120" y="355600"/>
                </a:cubicBezTo>
                <a:cubicBezTo>
                  <a:pt x="333090" y="343645"/>
                  <a:pt x="343040" y="332098"/>
                  <a:pt x="355600" y="325120"/>
                </a:cubicBezTo>
                <a:cubicBezTo>
                  <a:pt x="374324" y="314718"/>
                  <a:pt x="416560" y="304800"/>
                  <a:pt x="416560" y="304800"/>
                </a:cubicBezTo>
                <a:cubicBezTo>
                  <a:pt x="426720" y="314960"/>
                  <a:pt x="440614" y="322429"/>
                  <a:pt x="447040" y="335280"/>
                </a:cubicBezTo>
                <a:cubicBezTo>
                  <a:pt x="450478" y="342156"/>
                  <a:pt x="467200" y="445542"/>
                  <a:pt x="467360" y="447040"/>
                </a:cubicBezTo>
                <a:cubicBezTo>
                  <a:pt x="505911" y="806849"/>
                  <a:pt x="471958" y="560507"/>
                  <a:pt x="497840" y="741680"/>
                </a:cubicBezTo>
                <a:cubicBezTo>
                  <a:pt x="501227" y="812800"/>
                  <a:pt x="502087" y="884085"/>
                  <a:pt x="508000" y="955040"/>
                </a:cubicBezTo>
                <a:cubicBezTo>
                  <a:pt x="508889" y="965713"/>
                  <a:pt x="513371" y="975941"/>
                  <a:pt x="518160" y="985520"/>
                </a:cubicBezTo>
                <a:cubicBezTo>
                  <a:pt x="523621" y="996442"/>
                  <a:pt x="529290" y="1007959"/>
                  <a:pt x="538480" y="1016000"/>
                </a:cubicBezTo>
                <a:cubicBezTo>
                  <a:pt x="556859" y="1032082"/>
                  <a:pt x="576272" y="1048917"/>
                  <a:pt x="599440" y="1056640"/>
                </a:cubicBezTo>
                <a:lnTo>
                  <a:pt x="629920" y="1066800"/>
                </a:lnTo>
                <a:cubicBezTo>
                  <a:pt x="663787" y="1060027"/>
                  <a:pt x="700629" y="1061926"/>
                  <a:pt x="731520" y="1046480"/>
                </a:cubicBezTo>
                <a:cubicBezTo>
                  <a:pt x="745067" y="1039707"/>
                  <a:pt x="744326" y="1018990"/>
                  <a:pt x="751840" y="1005840"/>
                </a:cubicBezTo>
                <a:cubicBezTo>
                  <a:pt x="757898" y="995238"/>
                  <a:pt x="765387" y="985520"/>
                  <a:pt x="772160" y="975360"/>
                </a:cubicBezTo>
                <a:cubicBezTo>
                  <a:pt x="775547" y="961813"/>
                  <a:pt x="778484" y="948146"/>
                  <a:pt x="782320" y="934720"/>
                </a:cubicBezTo>
                <a:cubicBezTo>
                  <a:pt x="788931" y="911583"/>
                  <a:pt x="794989" y="891571"/>
                  <a:pt x="812800" y="873760"/>
                </a:cubicBezTo>
                <a:cubicBezTo>
                  <a:pt x="821434" y="865126"/>
                  <a:pt x="833120" y="860213"/>
                  <a:pt x="843280" y="853440"/>
                </a:cubicBezTo>
                <a:cubicBezTo>
                  <a:pt x="866987" y="860213"/>
                  <a:pt x="894676" y="858967"/>
                  <a:pt x="914400" y="873760"/>
                </a:cubicBezTo>
                <a:cubicBezTo>
                  <a:pt x="925571" y="882138"/>
                  <a:pt x="922585" y="900577"/>
                  <a:pt x="924560" y="914400"/>
                </a:cubicBezTo>
                <a:cubicBezTo>
                  <a:pt x="929373" y="948094"/>
                  <a:pt x="929545" y="982360"/>
                  <a:pt x="934720" y="1016000"/>
                </a:cubicBezTo>
                <a:cubicBezTo>
                  <a:pt x="936348" y="1026585"/>
                  <a:pt x="942283" y="1036090"/>
                  <a:pt x="944880" y="1046480"/>
                </a:cubicBezTo>
                <a:cubicBezTo>
                  <a:pt x="949068" y="1063233"/>
                  <a:pt x="950852" y="1080527"/>
                  <a:pt x="955040" y="1097280"/>
                </a:cubicBezTo>
                <a:cubicBezTo>
                  <a:pt x="957637" y="1107670"/>
                  <a:pt x="962258" y="1117462"/>
                  <a:pt x="965200" y="1127760"/>
                </a:cubicBezTo>
                <a:cubicBezTo>
                  <a:pt x="995910" y="1235244"/>
                  <a:pt x="947391" y="1084493"/>
                  <a:pt x="995680" y="1229360"/>
                </a:cubicBezTo>
                <a:lnTo>
                  <a:pt x="1016000" y="1290320"/>
                </a:lnTo>
                <a:cubicBezTo>
                  <a:pt x="1019387" y="1300480"/>
                  <a:pt x="1018587" y="1313227"/>
                  <a:pt x="1026160" y="1320800"/>
                </a:cubicBezTo>
                <a:lnTo>
                  <a:pt x="1056640" y="1351280"/>
                </a:lnTo>
                <a:cubicBezTo>
                  <a:pt x="1060027" y="1361440"/>
                  <a:pt x="1060110" y="1373397"/>
                  <a:pt x="1066800" y="1381760"/>
                </a:cubicBezTo>
                <a:cubicBezTo>
                  <a:pt x="1081124" y="1399665"/>
                  <a:pt x="1107681" y="1405547"/>
                  <a:pt x="1127760" y="1412240"/>
                </a:cubicBezTo>
                <a:cubicBezTo>
                  <a:pt x="1222733" y="1402243"/>
                  <a:pt x="1309727" y="1434021"/>
                  <a:pt x="1361440" y="1351280"/>
                </a:cubicBezTo>
                <a:cubicBezTo>
                  <a:pt x="1368841" y="1339439"/>
                  <a:pt x="1367764" y="1324066"/>
                  <a:pt x="1371600" y="1310640"/>
                </a:cubicBezTo>
                <a:cubicBezTo>
                  <a:pt x="1374542" y="1300342"/>
                  <a:pt x="1378373" y="1290320"/>
                  <a:pt x="1381760" y="1280160"/>
                </a:cubicBezTo>
                <a:cubicBezTo>
                  <a:pt x="1398968" y="1142495"/>
                  <a:pt x="1383462" y="1250478"/>
                  <a:pt x="1402080" y="1148080"/>
                </a:cubicBezTo>
                <a:cubicBezTo>
                  <a:pt x="1405765" y="1127812"/>
                  <a:pt x="1407244" y="1107105"/>
                  <a:pt x="1412240" y="1087120"/>
                </a:cubicBezTo>
                <a:cubicBezTo>
                  <a:pt x="1417435" y="1066340"/>
                  <a:pt x="1420679" y="1043982"/>
                  <a:pt x="1432560" y="1026160"/>
                </a:cubicBezTo>
                <a:cubicBezTo>
                  <a:pt x="1439333" y="1016000"/>
                  <a:pt x="1443690" y="1003721"/>
                  <a:pt x="1452880" y="995680"/>
                </a:cubicBezTo>
                <a:cubicBezTo>
                  <a:pt x="1471259" y="979598"/>
                  <a:pt x="1513840" y="955040"/>
                  <a:pt x="1513840" y="955040"/>
                </a:cubicBezTo>
                <a:cubicBezTo>
                  <a:pt x="1551093" y="961813"/>
                  <a:pt x="1590260" y="961768"/>
                  <a:pt x="1625600" y="975360"/>
                </a:cubicBezTo>
                <a:cubicBezTo>
                  <a:pt x="1644720" y="982714"/>
                  <a:pt x="1648321" y="1022354"/>
                  <a:pt x="1656080" y="1036320"/>
                </a:cubicBezTo>
                <a:cubicBezTo>
                  <a:pt x="1679526" y="1078523"/>
                  <a:pt x="1688384" y="1098192"/>
                  <a:pt x="1727200" y="1117600"/>
                </a:cubicBezTo>
                <a:cubicBezTo>
                  <a:pt x="1768701" y="1138350"/>
                  <a:pt x="1852361" y="1135650"/>
                  <a:pt x="1879600" y="1137920"/>
                </a:cubicBezTo>
                <a:cubicBezTo>
                  <a:pt x="1896533" y="1134533"/>
                  <a:pt x="1915756" y="1136912"/>
                  <a:pt x="1930400" y="1127760"/>
                </a:cubicBezTo>
                <a:cubicBezTo>
                  <a:pt x="1961576" y="1108275"/>
                  <a:pt x="1959149" y="1084386"/>
                  <a:pt x="1971040" y="1056640"/>
                </a:cubicBezTo>
                <a:cubicBezTo>
                  <a:pt x="1986509" y="1020547"/>
                  <a:pt x="1991273" y="1016131"/>
                  <a:pt x="2011680" y="985520"/>
                </a:cubicBezTo>
                <a:cubicBezTo>
                  <a:pt x="2016836" y="964897"/>
                  <a:pt x="2023255" y="934806"/>
                  <a:pt x="2032000" y="914400"/>
                </a:cubicBezTo>
                <a:cubicBezTo>
                  <a:pt x="2037966" y="900479"/>
                  <a:pt x="2046354" y="887681"/>
                  <a:pt x="2052320" y="873760"/>
                </a:cubicBezTo>
                <a:cubicBezTo>
                  <a:pt x="2056539" y="863916"/>
                  <a:pt x="2059538" y="853578"/>
                  <a:pt x="2062480" y="843280"/>
                </a:cubicBezTo>
                <a:cubicBezTo>
                  <a:pt x="2072046" y="809801"/>
                  <a:pt x="2075816" y="786758"/>
                  <a:pt x="2082800" y="751840"/>
                </a:cubicBezTo>
                <a:cubicBezTo>
                  <a:pt x="2086187" y="650240"/>
                  <a:pt x="2086810" y="548510"/>
                  <a:pt x="2092960" y="447040"/>
                </a:cubicBezTo>
                <a:cubicBezTo>
                  <a:pt x="2093608" y="436350"/>
                  <a:pt x="2092493" y="415232"/>
                  <a:pt x="2103120" y="416560"/>
                </a:cubicBezTo>
                <a:cubicBezTo>
                  <a:pt x="2117489" y="418356"/>
                  <a:pt x="2181643" y="462135"/>
                  <a:pt x="2204720" y="477520"/>
                </a:cubicBezTo>
                <a:cubicBezTo>
                  <a:pt x="2235796" y="570747"/>
                  <a:pt x="2183850" y="425621"/>
                  <a:pt x="2245360" y="548640"/>
                </a:cubicBezTo>
                <a:cubicBezTo>
                  <a:pt x="2254939" y="567798"/>
                  <a:pt x="2253799" y="591778"/>
                  <a:pt x="2265680" y="609600"/>
                </a:cubicBezTo>
                <a:cubicBezTo>
                  <a:pt x="2272453" y="619760"/>
                  <a:pt x="2280539" y="629158"/>
                  <a:pt x="2286000" y="640080"/>
                </a:cubicBezTo>
                <a:cubicBezTo>
                  <a:pt x="2290789" y="649659"/>
                  <a:pt x="2288587" y="662987"/>
                  <a:pt x="2296160" y="670560"/>
                </a:cubicBezTo>
                <a:cubicBezTo>
                  <a:pt x="2303733" y="678133"/>
                  <a:pt x="2316250" y="678123"/>
                  <a:pt x="2326640" y="680720"/>
                </a:cubicBezTo>
                <a:cubicBezTo>
                  <a:pt x="2418218" y="703615"/>
                  <a:pt x="2337227" y="674795"/>
                  <a:pt x="2428240" y="711200"/>
                </a:cubicBezTo>
                <a:cubicBezTo>
                  <a:pt x="2458720" y="707813"/>
                  <a:pt x="2489798" y="707936"/>
                  <a:pt x="2519680" y="701040"/>
                </a:cubicBezTo>
                <a:cubicBezTo>
                  <a:pt x="2534438" y="697634"/>
                  <a:pt x="2547333" y="688512"/>
                  <a:pt x="2560320" y="680720"/>
                </a:cubicBezTo>
                <a:cubicBezTo>
                  <a:pt x="2598081" y="658063"/>
                  <a:pt x="2624694" y="642079"/>
                  <a:pt x="2651760" y="609600"/>
                </a:cubicBezTo>
                <a:cubicBezTo>
                  <a:pt x="2680473" y="575144"/>
                  <a:pt x="2666067" y="586376"/>
                  <a:pt x="2682240" y="548640"/>
                </a:cubicBezTo>
                <a:cubicBezTo>
                  <a:pt x="2688206" y="534719"/>
                  <a:pt x="2696594" y="521921"/>
                  <a:pt x="2702560" y="508000"/>
                </a:cubicBezTo>
                <a:cubicBezTo>
                  <a:pt x="2715508" y="477787"/>
                  <a:pt x="2714929" y="461175"/>
                  <a:pt x="2722880" y="426720"/>
                </a:cubicBezTo>
                <a:cubicBezTo>
                  <a:pt x="2729160" y="399508"/>
                  <a:pt x="2736427" y="372533"/>
                  <a:pt x="2743200" y="345440"/>
                </a:cubicBezTo>
                <a:cubicBezTo>
                  <a:pt x="2746587" y="331893"/>
                  <a:pt x="2748944" y="318047"/>
                  <a:pt x="2753360" y="304800"/>
                </a:cubicBezTo>
                <a:cubicBezTo>
                  <a:pt x="2760133" y="284480"/>
                  <a:pt x="2768485" y="264620"/>
                  <a:pt x="2773680" y="243840"/>
                </a:cubicBezTo>
                <a:cubicBezTo>
                  <a:pt x="2777067" y="230293"/>
                  <a:pt x="2780004" y="216626"/>
                  <a:pt x="2783840" y="203200"/>
                </a:cubicBezTo>
                <a:cubicBezTo>
                  <a:pt x="2786782" y="192902"/>
                  <a:pt x="2794000" y="172720"/>
                  <a:pt x="2794000" y="17272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33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8" grpId="0"/>
      <p:bldP spid="2" grpId="0"/>
      <p:bldP spid="3" grpId="0"/>
      <p:bldP spid="4" grpId="0" animBg="1"/>
      <p:bldP spid="5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462837"/>
            <a:ext cx="3191320" cy="2581635"/>
          </a:xfrm>
          <a:prstGeom prst="rect">
            <a:avLst/>
          </a:prstGeom>
        </p:spPr>
      </p:pic>
      <p:sp>
        <p:nvSpPr>
          <p:cNvPr id="68" name="Rectangle 67"/>
          <p:cNvSpPr/>
          <p:nvPr/>
        </p:nvSpPr>
        <p:spPr>
          <a:xfrm>
            <a:off x="4114800" y="1905000"/>
            <a:ext cx="5029200" cy="3238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Logistic regression cost function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23950"/>
            <a:ext cx="6030468" cy="7315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709457" y="2724150"/>
            <a:ext cx="1371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y = 1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830" y="2360295"/>
            <a:ext cx="4712970" cy="222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776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69" y="2275306"/>
            <a:ext cx="3519665" cy="28440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Logistic regression cost function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47800" y="2073088"/>
            <a:ext cx="1371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y = 0</a:t>
            </a: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23950"/>
            <a:ext cx="6030468" cy="73152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3505200" y="2057688"/>
            <a:ext cx="0" cy="295246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155478" y="2341810"/>
                <a:ext cx="268644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Cost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2400" b="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478" y="2341810"/>
                <a:ext cx="2686441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273" r="-2273" b="-1639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191038" y="3105150"/>
                <a:ext cx="30064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Cost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→∞ 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→1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38" y="3105150"/>
                <a:ext cx="3006464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2028" r="-1826" b="-1639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4191038" y="3960822"/>
            <a:ext cx="358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It may be proved that using this cost function we get a convex optimization problem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3833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</a:t>
            </a:r>
          </a:p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Regression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57675" y="2466975"/>
            <a:ext cx="4876800" cy="685800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Simplified cost function and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3289422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Logistic regression cost function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72651"/>
            <a:ext cx="6030468" cy="73152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33706"/>
            <a:ext cx="4169664" cy="65151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71811"/>
            <a:ext cx="2895600" cy="2523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57200" y="3670396"/>
                <a:ext cx="75153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Cost</m:t>
                      </m:r>
                      <m:d>
                        <m:d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func>
                        <m:func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))−(1−</m:t>
                          </m:r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GB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⁡(1−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670396"/>
                <a:ext cx="7515326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406" r="-973" b="-344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62000" y="2932595"/>
            <a:ext cx="3581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 we can rewrite as:</a:t>
            </a:r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59D17-0109-AE55-1C12-3A65E8C5FD2D}"/>
              </a:ext>
            </a:extLst>
          </p:cNvPr>
          <p:cNvSpPr txBox="1"/>
          <p:nvPr/>
        </p:nvSpPr>
        <p:spPr>
          <a:xfrm>
            <a:off x="3394005" y="4329598"/>
            <a:ext cx="20915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Cross-entropy loss</a:t>
            </a:r>
          </a:p>
        </p:txBody>
      </p:sp>
    </p:spTree>
    <p:extLst>
      <p:ext uri="{BB962C8B-B14F-4D97-AF65-F5344CB8AC3E}">
        <p14:creationId xmlns:p14="http://schemas.microsoft.com/office/powerpoint/2010/main" val="118154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577" y="1615440"/>
            <a:ext cx="7214616" cy="65151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8200" y="4135540"/>
            <a:ext cx="5410200" cy="419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Output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Logistic regression cost function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33706"/>
            <a:ext cx="4169664" cy="6515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261" y="2511458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fit parameters    : 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905" y="2653110"/>
            <a:ext cx="128016" cy="2194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957" y="3062530"/>
            <a:ext cx="1104138" cy="4297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03261" y="36385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make a prediction given new   :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942" y="3836329"/>
            <a:ext cx="153162" cy="1371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561" y="4202499"/>
            <a:ext cx="2146554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10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1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Descent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15811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Want                    :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268" y="1679368"/>
            <a:ext cx="1241298" cy="3063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33706"/>
            <a:ext cx="7879842" cy="65151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2417" y="2078886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Repeat</a:t>
            </a:r>
            <a:endParaRPr lang="en-US" sz="2400" dirty="0"/>
          </a:p>
        </p:txBody>
      </p:sp>
      <p:pic>
        <p:nvPicPr>
          <p:cNvPr id="34" name="Picture 3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80" y="2135053"/>
            <a:ext cx="109728" cy="304038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17" y="3410712"/>
            <a:ext cx="109728" cy="3040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148" y="2627428"/>
            <a:ext cx="2587752" cy="43662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028917" y="3200508"/>
            <a:ext cx="533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(simultaneously update all     )</a:t>
            </a:r>
          </a:p>
        </p:txBody>
      </p:sp>
      <p:pic>
        <p:nvPicPr>
          <p:cNvPr id="50" name="Picture 4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310" y="3300347"/>
            <a:ext cx="186690" cy="25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34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148" y="2521961"/>
            <a:ext cx="4528566" cy="65151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Descent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15811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Want                    :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268" y="1679368"/>
            <a:ext cx="1241298" cy="3063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33706"/>
            <a:ext cx="7879842" cy="65151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028917" y="3200508"/>
            <a:ext cx="533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(simultaneously update all     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2417" y="2078886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Repeat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310" y="3300347"/>
            <a:ext cx="186690" cy="25527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80" y="2135053"/>
            <a:ext cx="109728" cy="304038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17" y="3410712"/>
            <a:ext cx="109728" cy="3040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5829" y="4171950"/>
            <a:ext cx="7677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Algorithm looks identical to linear regression!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152612" y="1750024"/>
                <a:ext cx="13167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it-IT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it-IT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612" y="1750024"/>
                <a:ext cx="1316706" cy="276999"/>
              </a:xfrm>
              <a:prstGeom prst="rect">
                <a:avLst/>
              </a:prstGeom>
              <a:blipFill rotWithShape="0">
                <a:blip r:embed="rId14"/>
                <a:stretch>
                  <a:fillRect l="-4167" t="-4348" r="-1852" b="-1739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751066" y="3323811"/>
                <a:ext cx="1948867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it-IT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GB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it-IT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066" y="3323811"/>
                <a:ext cx="1948867" cy="553613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3352800" y="2580853"/>
            <a:ext cx="1060532" cy="5265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6" name="Straight Arrow Connector 15"/>
          <p:cNvCxnSpPr>
            <a:stCxn id="8" idx="0"/>
          </p:cNvCxnSpPr>
          <p:nvPr/>
        </p:nvCxnSpPr>
        <p:spPr>
          <a:xfrm flipV="1">
            <a:off x="3883066" y="2042815"/>
            <a:ext cx="2212934" cy="538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413332" y="3107382"/>
            <a:ext cx="3312167" cy="360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609784" y="1943357"/>
            <a:ext cx="1978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Linear regression</a:t>
            </a:r>
            <a:endParaRPr lang="it-IT" dirty="0"/>
          </a:p>
        </p:txBody>
      </p:sp>
      <p:sp>
        <p:nvSpPr>
          <p:cNvPr id="25" name="TextBox 24"/>
          <p:cNvSpPr txBox="1"/>
          <p:nvPr/>
        </p:nvSpPr>
        <p:spPr>
          <a:xfrm>
            <a:off x="6934200" y="3865618"/>
            <a:ext cx="1978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Logistic regression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2770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" grpId="0"/>
      <p:bldP spid="7" grpId="0"/>
      <p:bldP spid="8" grpId="0" animBg="1"/>
      <p:bldP spid="19" grpId="0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</a:t>
            </a:r>
          </a:p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Regression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752725"/>
            <a:ext cx="4876800" cy="685800"/>
          </a:xfrm>
        </p:spPr>
        <p:txBody>
          <a:bodyPr>
            <a:noAutofit/>
          </a:bodyPr>
          <a:lstStyle/>
          <a:p>
            <a:pPr algn="l"/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Advanced </a:t>
            </a:r>
            <a:b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optimization</a:t>
            </a:r>
          </a:p>
        </p:txBody>
      </p:sp>
    </p:spTree>
    <p:extLst>
      <p:ext uri="{BB962C8B-B14F-4D97-AF65-F5344CB8AC3E}">
        <p14:creationId xmlns:p14="http://schemas.microsoft.com/office/powerpoint/2010/main" val="4202629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Optimization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814685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Cost function         . Want                    .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002" y="915241"/>
            <a:ext cx="534924" cy="30632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833" y="915241"/>
            <a:ext cx="1241298" cy="3063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1000" y="1330631"/>
            <a:ext cx="541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    , we have code that can compute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 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 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674" y="1451735"/>
            <a:ext cx="128016" cy="21945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423" y="1782495"/>
            <a:ext cx="534924" cy="30632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086" y="2135124"/>
            <a:ext cx="964692" cy="43662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938406" y="2102905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(for                             )</a:t>
            </a:r>
          </a:p>
        </p:txBody>
      </p:sp>
      <p:pic>
        <p:nvPicPr>
          <p:cNvPr id="24" name="Picture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362" y="2222724"/>
            <a:ext cx="1840230" cy="2651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19100" y="3329654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Repeat</a:t>
            </a:r>
            <a:endParaRPr lang="en-US" sz="2400" dirty="0"/>
          </a:p>
        </p:txBody>
      </p:sp>
      <p:pic>
        <p:nvPicPr>
          <p:cNvPr id="26" name="Picture 2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363" y="3385821"/>
            <a:ext cx="109728" cy="304038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477512"/>
            <a:ext cx="109728" cy="3040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" y="3878196"/>
            <a:ext cx="2587752" cy="43662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81000" y="2872847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Gradient descent:</a:t>
            </a:r>
          </a:p>
        </p:txBody>
      </p:sp>
    </p:spTree>
    <p:extLst>
      <p:ext uri="{BB962C8B-B14F-4D97-AF65-F5344CB8AC3E}">
        <p14:creationId xmlns:p14="http://schemas.microsoft.com/office/powerpoint/2010/main" val="163105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  <p:bldP spid="25" grpId="0"/>
      <p:bldP spid="3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Optimization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738485"/>
            <a:ext cx="541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    , we have code that can compute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 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674" y="859589"/>
            <a:ext cx="128016" cy="21945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423" y="1190349"/>
            <a:ext cx="534924" cy="30632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086" y="1542978"/>
            <a:ext cx="964692" cy="4366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38406" y="1510759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(for                             )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362" y="1630578"/>
            <a:ext cx="1840230" cy="265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4425" y="2262485"/>
            <a:ext cx="3806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Optimization algorithms: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Gradient descent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99" y="2622838"/>
            <a:ext cx="38100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400" dirty="0"/>
          </a:p>
          <a:p>
            <a:pPr marL="800100" lvl="1" indent="-342900">
              <a:buFontTx/>
              <a:buChar char="-"/>
            </a:pPr>
            <a:r>
              <a:rPr lang="en-US" sz="2400" dirty="0"/>
              <a:t>Conjugate gradient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BFGS (</a:t>
            </a:r>
            <a:r>
              <a:rPr lang="it-IT" sz="1600" dirty="0"/>
              <a:t>Broyden–Fletcher–Goldfarb–Shanno</a:t>
            </a:r>
            <a:r>
              <a:rPr lang="it-IT" sz="2400" dirty="0"/>
              <a:t>)</a:t>
            </a:r>
            <a:endParaRPr lang="en-US" sz="2400" dirty="0"/>
          </a:p>
          <a:p>
            <a:pPr marL="800100" lvl="1" indent="-342900">
              <a:buFontTx/>
              <a:buChar char="-"/>
            </a:pPr>
            <a:r>
              <a:rPr lang="en-US" sz="2400" dirty="0"/>
              <a:t>L-BFGS (</a:t>
            </a:r>
            <a:r>
              <a:rPr lang="en-US" sz="1600" dirty="0"/>
              <a:t>Limited memory BFGS</a:t>
            </a:r>
            <a:r>
              <a:rPr lang="en-US" sz="2400" dirty="0"/>
              <a:t>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4187462" y="2262485"/>
            <a:ext cx="0" cy="25190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43400" y="2262484"/>
            <a:ext cx="4648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Advantages: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No need to manually pick 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Often faster than gradient descent.</a:t>
            </a:r>
          </a:p>
          <a:p>
            <a:r>
              <a:rPr lang="en-US" sz="2400" dirty="0"/>
              <a:t>Disadvantages: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More complex</a:t>
            </a:r>
          </a:p>
          <a:p>
            <a:endParaRPr lang="en-US" sz="2400" dirty="0"/>
          </a:p>
        </p:txBody>
      </p:sp>
      <p:pic>
        <p:nvPicPr>
          <p:cNvPr id="19" name="Picture 1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2807725"/>
            <a:ext cx="171450" cy="1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61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</a:t>
            </a:r>
          </a:p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Regression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67200" y="2457450"/>
            <a:ext cx="4876800" cy="685800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Multi-class classification: One-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vs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-all</a:t>
            </a:r>
          </a:p>
        </p:txBody>
      </p:sp>
    </p:spTree>
    <p:extLst>
      <p:ext uri="{BB962C8B-B14F-4D97-AF65-F5344CB8AC3E}">
        <p14:creationId xmlns:p14="http://schemas.microsoft.com/office/powerpoint/2010/main" val="4241912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Multiclass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814685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Email </a:t>
            </a:r>
            <a:r>
              <a:rPr lang="en-US" sz="2400" dirty="0" err="1"/>
              <a:t>foldering</a:t>
            </a:r>
            <a:r>
              <a:rPr lang="en-US" sz="2400" dirty="0"/>
              <a:t>/tagging: Work, Friends, Family, Hobby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21145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Medical diagrams: Not ill, Cold, Flu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569" y="34861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Weather: Sunny, Cloudy, Rain, Snow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0" y="2110154"/>
            <a:ext cx="274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We can map classes on natural numbers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y=1, y=2, y=3</a:t>
            </a:r>
            <a:r>
              <a:rPr lang="en-GB" sz="2400" dirty="0"/>
              <a:t>, </a:t>
            </a:r>
            <a:r>
              <a:rPr lang="en-GB" sz="2400" dirty="0" err="1"/>
              <a:t>etc</a:t>
            </a:r>
            <a:r>
              <a:rPr lang="en-GB" sz="2400" dirty="0"/>
              <a:t>…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80047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564840" y="1396731"/>
            <a:ext cx="3521936" cy="3112038"/>
            <a:chOff x="2057400" y="971550"/>
            <a:chExt cx="4386544" cy="3876020"/>
          </a:xfrm>
        </p:grpSpPr>
        <p:sp>
          <p:nvSpPr>
            <p:cNvPr id="2" name="Oval 1"/>
            <p:cNvSpPr/>
            <p:nvPr/>
          </p:nvSpPr>
          <p:spPr>
            <a:xfrm>
              <a:off x="3184422" y="2992642"/>
              <a:ext cx="297789" cy="297789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/>
            <p:cNvSpPr/>
            <p:nvPr/>
          </p:nvSpPr>
          <p:spPr>
            <a:xfrm>
              <a:off x="3868950" y="2944403"/>
              <a:ext cx="297789" cy="297789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3571498" y="3379718"/>
              <a:ext cx="297789" cy="297789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3484306" y="2640410"/>
              <a:ext cx="297789" cy="297789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ross 5"/>
            <p:cNvSpPr/>
            <p:nvPr/>
          </p:nvSpPr>
          <p:spPr>
            <a:xfrm rot="2734294">
              <a:off x="5002286" y="2205198"/>
              <a:ext cx="390684" cy="39068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ross 6"/>
            <p:cNvSpPr/>
            <p:nvPr/>
          </p:nvSpPr>
          <p:spPr>
            <a:xfrm rot="2734294">
              <a:off x="5127933" y="1396215"/>
              <a:ext cx="390684" cy="39068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/>
            <p:cNvSpPr/>
            <p:nvPr/>
          </p:nvSpPr>
          <p:spPr>
            <a:xfrm rot="2734294">
              <a:off x="5680417" y="1894197"/>
              <a:ext cx="390684" cy="39068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ross 8"/>
            <p:cNvSpPr/>
            <p:nvPr/>
          </p:nvSpPr>
          <p:spPr>
            <a:xfrm rot="2734294">
              <a:off x="5110632" y="1867799"/>
              <a:ext cx="390684" cy="39068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59400" y="4324350"/>
              <a:ext cx="46198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x</a:t>
              </a:r>
              <a:r>
                <a:rPr lang="en-US" sz="2800" baseline="-25000" dirty="0"/>
                <a:t>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057400" y="2153803"/>
              <a:ext cx="46198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x</a:t>
              </a:r>
              <a:r>
                <a:rPr lang="en-US" sz="2800" baseline="-25000" dirty="0"/>
                <a:t>2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V="1">
              <a:off x="2733804" y="971550"/>
              <a:ext cx="0" cy="348766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2543696" y="4191562"/>
              <a:ext cx="3900248" cy="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Cross 19"/>
          <p:cNvSpPr/>
          <p:nvPr/>
        </p:nvSpPr>
        <p:spPr>
          <a:xfrm rot="2734294">
            <a:off x="6750013" y="2795911"/>
            <a:ext cx="313678" cy="31367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/>
          <p:cNvSpPr/>
          <p:nvPr/>
        </p:nvSpPr>
        <p:spPr>
          <a:xfrm rot="2734294">
            <a:off x="6720599" y="2108682"/>
            <a:ext cx="313678" cy="31367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/>
          <p:cNvSpPr/>
          <p:nvPr/>
        </p:nvSpPr>
        <p:spPr>
          <a:xfrm rot="2734294">
            <a:off x="7063437" y="2381788"/>
            <a:ext cx="313678" cy="31367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/>
          <p:cNvSpPr/>
          <p:nvPr/>
        </p:nvSpPr>
        <p:spPr>
          <a:xfrm rot="2734294">
            <a:off x="7174225" y="1870346"/>
            <a:ext cx="313678" cy="31367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424355" y="4088678"/>
            <a:ext cx="370926" cy="420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  <a:r>
              <a:rPr lang="en-US" sz="2800" baseline="-25000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5800" y="2345956"/>
            <a:ext cx="370926" cy="420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  <a:r>
              <a:rPr lang="en-US" sz="2800" baseline="-25000" dirty="0"/>
              <a:t>2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5038882" y="1396731"/>
            <a:ext cx="0" cy="280022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886245" y="3982063"/>
            <a:ext cx="313149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ross 27"/>
          <p:cNvSpPr/>
          <p:nvPr/>
        </p:nvSpPr>
        <p:spPr>
          <a:xfrm rot="2734294">
            <a:off x="7507023" y="2290186"/>
            <a:ext cx="313678" cy="31367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6034919" y="3086284"/>
            <a:ext cx="234734" cy="26706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079585" y="3463772"/>
            <a:ext cx="234734" cy="26706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424355" y="3330238"/>
            <a:ext cx="234734" cy="26706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5694870" y="3316250"/>
            <a:ext cx="234734" cy="26706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5784418" y="1768984"/>
            <a:ext cx="355600" cy="317821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5469769" y="2133029"/>
            <a:ext cx="355600" cy="317821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5901785" y="2224631"/>
            <a:ext cx="355600" cy="317821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750303" y="747415"/>
            <a:ext cx="3256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Binary classification: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4635" y="747414"/>
            <a:ext cx="3256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Multi-class classification:</a:t>
            </a:r>
          </a:p>
        </p:txBody>
      </p:sp>
    </p:spTree>
    <p:extLst>
      <p:ext uri="{BB962C8B-B14F-4D97-AF65-F5344CB8AC3E}">
        <p14:creationId xmlns:p14="http://schemas.microsoft.com/office/powerpoint/2010/main" val="332255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/>
      <p:bldP spid="25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ross 19"/>
          <p:cNvSpPr/>
          <p:nvPr/>
        </p:nvSpPr>
        <p:spPr>
          <a:xfrm rot="2734294">
            <a:off x="2433367" y="1980058"/>
            <a:ext cx="243177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/>
          <p:cNvSpPr/>
          <p:nvPr/>
        </p:nvSpPr>
        <p:spPr>
          <a:xfrm rot="2734294">
            <a:off x="2410564" y="1447287"/>
            <a:ext cx="243177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/>
          <p:cNvSpPr/>
          <p:nvPr/>
        </p:nvSpPr>
        <p:spPr>
          <a:xfrm rot="2734294">
            <a:off x="2676348" y="1659011"/>
            <a:ext cx="243177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/>
          <p:cNvSpPr/>
          <p:nvPr/>
        </p:nvSpPr>
        <p:spPr>
          <a:xfrm rot="2734294">
            <a:off x="2762235" y="1262518"/>
            <a:ext cx="243177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180902" y="2982270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631232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1106822" y="895350"/>
            <a:ext cx="0" cy="217086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988491" y="2899616"/>
            <a:ext cx="2427672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ross 27"/>
          <p:cNvSpPr/>
          <p:nvPr/>
        </p:nvSpPr>
        <p:spPr>
          <a:xfrm rot="2734294">
            <a:off x="3020235" y="1587997"/>
            <a:ext cx="243177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878994" y="2205168"/>
            <a:ext cx="181976" cy="20704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913621" y="2497814"/>
            <a:ext cx="181976" cy="20704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2180902" y="2394292"/>
            <a:ext cx="181976" cy="20704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615373" y="2383448"/>
            <a:ext cx="181976" cy="20704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1684795" y="1183937"/>
            <a:ext cx="275677" cy="246389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1440865" y="1466161"/>
            <a:ext cx="275677" cy="246389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1775783" y="1537175"/>
            <a:ext cx="275677" cy="246389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381000" y="285750"/>
            <a:ext cx="4267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OvA</a:t>
            </a:r>
            <a:r>
              <a:rPr lang="en-US" sz="2400" b="1" dirty="0"/>
              <a:t>: One-vs-All (one-vs-rest):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037" y="3358104"/>
            <a:ext cx="2416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Class 1:</a:t>
            </a:r>
          </a:p>
          <a:p>
            <a:r>
              <a:rPr lang="en-US" sz="2400" dirty="0"/>
              <a:t>Class 2:</a:t>
            </a:r>
          </a:p>
          <a:p>
            <a:r>
              <a:rPr lang="en-US" sz="2400" dirty="0"/>
              <a:t>Class 3:</a:t>
            </a:r>
          </a:p>
        </p:txBody>
      </p:sp>
      <p:sp>
        <p:nvSpPr>
          <p:cNvPr id="40" name="Isosceles Triangle 39"/>
          <p:cNvSpPr/>
          <p:nvPr/>
        </p:nvSpPr>
        <p:spPr>
          <a:xfrm>
            <a:off x="2029730" y="3447813"/>
            <a:ext cx="275677" cy="246389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ross 40"/>
          <p:cNvSpPr/>
          <p:nvPr/>
        </p:nvSpPr>
        <p:spPr>
          <a:xfrm rot="2734294">
            <a:off x="2040885" y="4193491"/>
            <a:ext cx="243177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077948" y="3843329"/>
            <a:ext cx="181976" cy="20704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55" y="4559490"/>
            <a:ext cx="2631510" cy="37446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904" y="4683452"/>
            <a:ext cx="1107896" cy="240223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7490159" y="1292133"/>
            <a:ext cx="241668" cy="2532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638690" y="159133"/>
            <a:ext cx="241668" cy="2532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</a:p>
        </p:txBody>
      </p:sp>
      <p:cxnSp>
        <p:nvCxnSpPr>
          <p:cNvPr id="152" name="Straight Arrow Connector 151"/>
          <p:cNvCxnSpPr/>
          <p:nvPr/>
        </p:nvCxnSpPr>
        <p:spPr>
          <a:xfrm flipV="1">
            <a:off x="6021434" y="166753"/>
            <a:ext cx="0" cy="137396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5946541" y="1435274"/>
            <a:ext cx="153649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Isosceles Triangle 153"/>
          <p:cNvSpPr/>
          <p:nvPr/>
        </p:nvSpPr>
        <p:spPr>
          <a:xfrm>
            <a:off x="6387239" y="349403"/>
            <a:ext cx="174479" cy="155942"/>
          </a:xfrm>
          <a:prstGeom prst="triangl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Isosceles Triangle 154"/>
          <p:cNvSpPr/>
          <p:nvPr/>
        </p:nvSpPr>
        <p:spPr>
          <a:xfrm>
            <a:off x="6232854" y="528025"/>
            <a:ext cx="174479" cy="155942"/>
          </a:xfrm>
          <a:prstGeom prst="triangl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Isosceles Triangle 155"/>
          <p:cNvSpPr/>
          <p:nvPr/>
        </p:nvSpPr>
        <p:spPr>
          <a:xfrm>
            <a:off x="6444827" y="572971"/>
            <a:ext cx="174479" cy="155942"/>
          </a:xfrm>
          <a:prstGeom prst="triangl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/>
          <p:cNvSpPr/>
          <p:nvPr/>
        </p:nvSpPr>
        <p:spPr>
          <a:xfrm>
            <a:off x="6835814" y="517790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/>
          <p:cNvSpPr/>
          <p:nvPr/>
        </p:nvSpPr>
        <p:spPr>
          <a:xfrm>
            <a:off x="7067961" y="399372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/>
          <p:cNvSpPr/>
          <p:nvPr/>
        </p:nvSpPr>
        <p:spPr>
          <a:xfrm>
            <a:off x="7013602" y="650316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/>
          <p:cNvSpPr/>
          <p:nvPr/>
        </p:nvSpPr>
        <p:spPr>
          <a:xfrm>
            <a:off x="6867573" y="853733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/>
          <p:cNvSpPr/>
          <p:nvPr/>
        </p:nvSpPr>
        <p:spPr>
          <a:xfrm>
            <a:off x="7234413" y="607247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/>
          <p:cNvSpPr/>
          <p:nvPr/>
        </p:nvSpPr>
        <p:spPr>
          <a:xfrm>
            <a:off x="6493801" y="965688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/>
          <p:cNvSpPr/>
          <p:nvPr/>
        </p:nvSpPr>
        <p:spPr>
          <a:xfrm>
            <a:off x="6317695" y="1097386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/>
          <p:cNvSpPr/>
          <p:nvPr/>
        </p:nvSpPr>
        <p:spPr>
          <a:xfrm>
            <a:off x="6508574" y="1172754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/>
          <p:cNvSpPr/>
          <p:nvPr/>
        </p:nvSpPr>
        <p:spPr>
          <a:xfrm>
            <a:off x="6699795" y="1101435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Arrow Connector 166"/>
          <p:cNvCxnSpPr/>
          <p:nvPr/>
        </p:nvCxnSpPr>
        <p:spPr>
          <a:xfrm flipV="1">
            <a:off x="3751780" y="1005655"/>
            <a:ext cx="1571420" cy="5315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7519211" y="2870752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583366" y="1614203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</a:p>
        </p:txBody>
      </p:sp>
      <p:cxnSp>
        <p:nvCxnSpPr>
          <p:cNvPr id="170" name="Straight Arrow Connector 169"/>
          <p:cNvCxnSpPr/>
          <p:nvPr/>
        </p:nvCxnSpPr>
        <p:spPr>
          <a:xfrm flipV="1">
            <a:off x="6027755" y="1683483"/>
            <a:ext cx="0" cy="137396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/>
          <p:nvPr/>
        </p:nvCxnSpPr>
        <p:spPr>
          <a:xfrm>
            <a:off x="5952862" y="2952004"/>
            <a:ext cx="153649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angle 171"/>
          <p:cNvSpPr/>
          <p:nvPr/>
        </p:nvSpPr>
        <p:spPr>
          <a:xfrm>
            <a:off x="6516471" y="2512481"/>
            <a:ext cx="115175" cy="13104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/>
          <p:cNvSpPr/>
          <p:nvPr/>
        </p:nvSpPr>
        <p:spPr>
          <a:xfrm>
            <a:off x="6538387" y="2697699"/>
            <a:ext cx="115175" cy="13104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/>
          <p:cNvSpPr/>
          <p:nvPr/>
        </p:nvSpPr>
        <p:spPr>
          <a:xfrm>
            <a:off x="6707552" y="2632179"/>
            <a:ext cx="115175" cy="13104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/>
          <p:cNvSpPr/>
          <p:nvPr/>
        </p:nvSpPr>
        <p:spPr>
          <a:xfrm>
            <a:off x="6349622" y="2625316"/>
            <a:ext cx="115175" cy="13104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/>
          <p:cNvSpPr/>
          <p:nvPr/>
        </p:nvSpPr>
        <p:spPr>
          <a:xfrm>
            <a:off x="6241455" y="2057011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/>
          <p:cNvSpPr/>
          <p:nvPr/>
        </p:nvSpPr>
        <p:spPr>
          <a:xfrm>
            <a:off x="6472300" y="2113904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Oval 177"/>
          <p:cNvSpPr/>
          <p:nvPr/>
        </p:nvSpPr>
        <p:spPr>
          <a:xfrm>
            <a:off x="6413017" y="1885329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/>
          <p:cNvSpPr/>
          <p:nvPr/>
        </p:nvSpPr>
        <p:spPr>
          <a:xfrm>
            <a:off x="6851073" y="2037184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val 179"/>
          <p:cNvSpPr/>
          <p:nvPr/>
        </p:nvSpPr>
        <p:spPr>
          <a:xfrm>
            <a:off x="7083220" y="1918766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/>
          <p:cNvSpPr/>
          <p:nvPr/>
        </p:nvSpPr>
        <p:spPr>
          <a:xfrm>
            <a:off x="7028861" y="2169710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/>
          <p:cNvSpPr/>
          <p:nvPr/>
        </p:nvSpPr>
        <p:spPr>
          <a:xfrm>
            <a:off x="6882832" y="2373127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/>
          <p:cNvSpPr/>
          <p:nvPr/>
        </p:nvSpPr>
        <p:spPr>
          <a:xfrm>
            <a:off x="7249672" y="2126641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Straight Arrow Connector 184"/>
          <p:cNvCxnSpPr/>
          <p:nvPr/>
        </p:nvCxnSpPr>
        <p:spPr>
          <a:xfrm>
            <a:off x="3751780" y="2351880"/>
            <a:ext cx="15714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6233952" y="3669863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/>
          <p:cNvSpPr/>
          <p:nvPr/>
        </p:nvSpPr>
        <p:spPr>
          <a:xfrm>
            <a:off x="6464797" y="3726756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/>
          <p:cNvSpPr/>
          <p:nvPr/>
        </p:nvSpPr>
        <p:spPr>
          <a:xfrm>
            <a:off x="6405514" y="3498181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/>
          <p:cNvSpPr/>
          <p:nvPr/>
        </p:nvSpPr>
        <p:spPr>
          <a:xfrm>
            <a:off x="6501557" y="4097934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/>
          <p:cNvSpPr/>
          <p:nvPr/>
        </p:nvSpPr>
        <p:spPr>
          <a:xfrm>
            <a:off x="6325451" y="4229632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/>
          <p:cNvSpPr/>
          <p:nvPr/>
        </p:nvSpPr>
        <p:spPr>
          <a:xfrm>
            <a:off x="6516330" y="4305000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/>
          <p:cNvSpPr/>
          <p:nvPr/>
        </p:nvSpPr>
        <p:spPr>
          <a:xfrm>
            <a:off x="6694851" y="4208281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Cross 192"/>
          <p:cNvSpPr/>
          <p:nvPr/>
        </p:nvSpPr>
        <p:spPr>
          <a:xfrm rot="2734294">
            <a:off x="6872283" y="3951156"/>
            <a:ext cx="153909" cy="15390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Cross 193"/>
          <p:cNvSpPr/>
          <p:nvPr/>
        </p:nvSpPr>
        <p:spPr>
          <a:xfrm rot="2734294">
            <a:off x="6845150" y="3633010"/>
            <a:ext cx="153909" cy="15390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Cross 194"/>
          <p:cNvSpPr/>
          <p:nvPr/>
        </p:nvSpPr>
        <p:spPr>
          <a:xfrm rot="2734294">
            <a:off x="7013368" y="3767012"/>
            <a:ext cx="153909" cy="15390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Cross 195"/>
          <p:cNvSpPr/>
          <p:nvPr/>
        </p:nvSpPr>
        <p:spPr>
          <a:xfrm rot="2734294">
            <a:off x="7067727" y="3516068"/>
            <a:ext cx="153909" cy="15390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TextBox 196"/>
          <p:cNvSpPr txBox="1"/>
          <p:nvPr/>
        </p:nvSpPr>
        <p:spPr>
          <a:xfrm>
            <a:off x="7467448" y="4493486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5613168" y="3255763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</a:p>
        </p:txBody>
      </p:sp>
      <p:cxnSp>
        <p:nvCxnSpPr>
          <p:cNvPr id="199" name="Straight Arrow Connector 198"/>
          <p:cNvCxnSpPr/>
          <p:nvPr/>
        </p:nvCxnSpPr>
        <p:spPr>
          <a:xfrm flipV="1">
            <a:off x="6019998" y="3283683"/>
            <a:ext cx="0" cy="137396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/>
          <p:cNvCxnSpPr/>
          <p:nvPr/>
        </p:nvCxnSpPr>
        <p:spPr>
          <a:xfrm>
            <a:off x="5945105" y="4552204"/>
            <a:ext cx="153649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Cross 200"/>
          <p:cNvSpPr/>
          <p:nvPr/>
        </p:nvSpPr>
        <p:spPr>
          <a:xfrm rot="2734294">
            <a:off x="7231017" y="3722067"/>
            <a:ext cx="153909" cy="15390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Arrow Connector 202"/>
          <p:cNvCxnSpPr/>
          <p:nvPr/>
        </p:nvCxnSpPr>
        <p:spPr>
          <a:xfrm>
            <a:off x="3733800" y="3174715"/>
            <a:ext cx="1589400" cy="5462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flipV="1">
            <a:off x="6162511" y="227310"/>
            <a:ext cx="994841" cy="952374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6093472" y="2101646"/>
            <a:ext cx="1251950" cy="77635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6508220" y="3239574"/>
            <a:ext cx="483357" cy="1230474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1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/>
      <p:bldP spid="151" grpId="0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8" grpId="0"/>
      <p:bldP spid="169" grpId="0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/>
      <p:bldP spid="198" grpId="0"/>
      <p:bldP spid="20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One-</a:t>
            </a:r>
            <a:r>
              <a:rPr lang="en-US" sz="2800" b="1" dirty="0" err="1"/>
              <a:t>vs</a:t>
            </a:r>
            <a:r>
              <a:rPr lang="en-US" sz="2800" b="1" dirty="0"/>
              <a:t>-all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47750"/>
            <a:ext cx="822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Train a logistic regression classifier               for each class    to predict the probability that           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2347615"/>
            <a:ext cx="7315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On a new input    , to make a prediction, pick the class    that maximizes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212" y="1047750"/>
            <a:ext cx="970788" cy="4853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022" y="1625610"/>
            <a:ext cx="96012" cy="2400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1617445"/>
            <a:ext cx="754761" cy="3093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2561659"/>
            <a:ext cx="178689" cy="16002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32" y="2925237"/>
            <a:ext cx="96012" cy="24003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463" y="3399090"/>
            <a:ext cx="1696212" cy="60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384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OvO</a:t>
            </a:r>
            <a:r>
              <a:rPr lang="en-US" sz="2800" b="1" dirty="0"/>
              <a:t>: One-vs-One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3B0DC38-CDB3-4008-84E4-FE9D3649DD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971551"/>
                <a:ext cx="8229600" cy="388619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000" dirty="0"/>
                  <a:t>Given a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000" dirty="0"/>
                  <a:t> class problem, train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−1)/2</m:t>
                    </m:r>
                  </m:oMath>
                </a14:m>
                <a:r>
                  <a:rPr lang="en-US" sz="2000" dirty="0"/>
                  <a:t> binary classifiers, one for each pair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of classes (training set restricted to classes </a:t>
                </a:r>
                <a:r>
                  <a:rPr 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/>
                  <a:t>and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 </a:t>
                </a:r>
                <a:r>
                  <a:rPr lang="en-US" sz="2000" dirty="0">
                    <a:latin typeface="+mj-lt"/>
                    <a:cs typeface="Times New Roman" panose="02020603050405020304" pitchFamily="18" charset="0"/>
                  </a:rPr>
                  <a:t>only</a:t>
                </a:r>
                <a:r>
                  <a:rPr lang="en-US" sz="2000" dirty="0"/>
                  <a:t>)</a:t>
                </a:r>
              </a:p>
              <a:p>
                <a:r>
                  <a:rPr lang="en-US" sz="2000" dirty="0"/>
                  <a:t>E.g. classes </a:t>
                </a:r>
                <a:r>
                  <a:rPr lang="en-US" sz="2000" i="1" dirty="0" err="1">
                    <a:latin typeface="Cambria Math" panose="02040503050406030204" pitchFamily="18" charset="0"/>
                  </a:rPr>
                  <a:t>a,b,c</a:t>
                </a:r>
                <a:r>
                  <a:rPr lang="en-US" sz="2000" dirty="0"/>
                  <a:t> </a:t>
                </a:r>
                <a:r>
                  <a:rPr lang="en-US" sz="2000" dirty="0">
                    <a:sym typeface="Wingdings" panose="05000000000000000000" pitchFamily="2" charset="2"/>
                  </a:rPr>
                  <a:t> </a:t>
                </a:r>
                <a:r>
                  <a:rPr lang="en-US" sz="2000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a</a:t>
                </a:r>
                <a:r>
                  <a:rPr lang="en-US" sz="2000" dirty="0">
                    <a:sym typeface="Wingdings" panose="05000000000000000000" pitchFamily="2" charset="2"/>
                  </a:rPr>
                  <a:t> vs </a:t>
                </a:r>
                <a:r>
                  <a:rPr lang="en-US" sz="2000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b</a:t>
                </a:r>
                <a:r>
                  <a:rPr lang="en-US" sz="2000" dirty="0">
                    <a:sym typeface="Wingdings" panose="05000000000000000000" pitchFamily="2" charset="2"/>
                  </a:rPr>
                  <a:t>, </a:t>
                </a:r>
                <a:r>
                  <a:rPr lang="en-US" sz="2000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a</a:t>
                </a:r>
                <a:r>
                  <a:rPr lang="en-US" sz="2000" dirty="0">
                    <a:sym typeface="Wingdings" panose="05000000000000000000" pitchFamily="2" charset="2"/>
                  </a:rPr>
                  <a:t> vs </a:t>
                </a:r>
                <a:r>
                  <a:rPr lang="en-US" sz="2000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c</a:t>
                </a:r>
                <a:r>
                  <a:rPr lang="en-US" sz="2000" dirty="0">
                    <a:sym typeface="Wingdings" panose="05000000000000000000" pitchFamily="2" charset="2"/>
                  </a:rPr>
                  <a:t>, </a:t>
                </a:r>
                <a:r>
                  <a:rPr lang="en-US" sz="2000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b</a:t>
                </a:r>
                <a:r>
                  <a:rPr lang="en-US" sz="2000" dirty="0">
                    <a:sym typeface="Wingdings" panose="05000000000000000000" pitchFamily="2" charset="2"/>
                  </a:rPr>
                  <a:t> vs </a:t>
                </a:r>
                <a:r>
                  <a:rPr lang="en-US" sz="2000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c</a:t>
                </a:r>
              </a:p>
              <a:p>
                <a:r>
                  <a:rPr lang="en-US" sz="20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At test/prediction time all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−1)/2</m:t>
                    </m:r>
                  </m:oMath>
                </a14:m>
                <a:r>
                  <a:rPr lang="en-US" sz="2000" dirty="0"/>
                  <a:t> classifiers are applied to the test example and the class receiving the majority vote is selected (somehow breaking ties)</a:t>
                </a:r>
              </a:p>
              <a:p>
                <a:r>
                  <a:rPr lang="en-US" sz="2000" dirty="0"/>
                  <a:t>Comparison:</a:t>
                </a:r>
              </a:p>
              <a:p>
                <a:pPr lvl="1"/>
                <a:r>
                  <a:rPr lang="en-US" sz="1600" dirty="0" err="1"/>
                  <a:t>OvA</a:t>
                </a:r>
                <a:r>
                  <a:rPr lang="en-US" sz="1600" dirty="0"/>
                  <a:t> uses a few </a:t>
                </a:r>
                <a:r>
                  <a:rPr lang="en-US" sz="1600" dirty="0" err="1"/>
                  <a:t>classifers</a:t>
                </a:r>
                <a:r>
                  <a:rPr lang="en-US" sz="1600" dirty="0"/>
                  <a:t> than </a:t>
                </a:r>
                <a:r>
                  <a:rPr lang="en-US" sz="1600" dirty="0" err="1"/>
                  <a:t>OvO</a:t>
                </a:r>
                <a:endParaRPr lang="en-US" sz="1600" dirty="0"/>
              </a:p>
              <a:p>
                <a:pPr lvl="1"/>
                <a:r>
                  <a:rPr lang="en-US" sz="1600" dirty="0" err="1"/>
                  <a:t>OvA</a:t>
                </a:r>
                <a:r>
                  <a:rPr lang="en-US" sz="1600" dirty="0"/>
                  <a:t> usually deal with unbalanced training sets, while in </a:t>
                </a:r>
                <a:r>
                  <a:rPr lang="en-US" sz="1600" dirty="0" err="1"/>
                  <a:t>OvO</a:t>
                </a:r>
                <a:r>
                  <a:rPr lang="en-US" sz="1600" dirty="0"/>
                  <a:t> training sets may be really small</a:t>
                </a:r>
              </a:p>
              <a:p>
                <a:pPr lvl="1"/>
                <a:r>
                  <a:rPr lang="en-US" sz="1600" dirty="0"/>
                  <a:t>Both suffer from ambiguities if some classes receive the same number of votes</a:t>
                </a:r>
              </a:p>
              <a:p>
                <a:r>
                  <a:rPr lang="en-US" sz="2000" dirty="0"/>
                  <a:t>Some classifier do not need </a:t>
                </a:r>
                <a:r>
                  <a:rPr lang="en-US" sz="2000" dirty="0" err="1"/>
                  <a:t>OvA</a:t>
                </a:r>
                <a:r>
                  <a:rPr lang="en-US" sz="2000" dirty="0"/>
                  <a:t> or </a:t>
                </a:r>
                <a:r>
                  <a:rPr lang="en-US" sz="2000" dirty="0" err="1"/>
                  <a:t>OvO</a:t>
                </a:r>
                <a:r>
                  <a:rPr lang="en-US" sz="2000" dirty="0"/>
                  <a:t>, since they can naturally deal with multiclass </a:t>
                </a:r>
                <a:r>
                  <a:rPr lang="en-US" sz="2000"/>
                  <a:t>problems (NN</a:t>
                </a:r>
                <a:r>
                  <a:rPr lang="en-US" sz="2000" dirty="0"/>
                  <a:t>, Naïve Bayes, k-NN, etc..)</a:t>
                </a:r>
              </a:p>
              <a:p>
                <a:endParaRPr 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3B0DC38-CDB3-4008-84E4-FE9D3649DD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971551"/>
                <a:ext cx="8229600" cy="3886199"/>
              </a:xfrm>
              <a:blipFill>
                <a:blip r:embed="rId2"/>
                <a:stretch>
                  <a:fillRect l="-667" t="-1724" r="-1185" b="-1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61999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39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y \in \{0,1\}&#10;$&#10;&#10;\end{document}"/>
  <p:tag name="IGUANATEXSIZE" val="3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lt; 0.5&#10;$&#10;&#10;\end{document}"/>
  <p:tag name="IGUANATEXSIZE" val="3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\ge 0.5&#10;$&#10;&#10;\end{document}"/>
  <p:tag name="IGUANATEXSIZE" val="3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#10;$&#10;&#10;\end{document}"/>
  <p:tag name="IGUANATEXSIZE" val="3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0 \le h_\theta(x) \le 1&#10;$&#10;&#10;\end{document}"/>
  <p:tag name="IGUANATEXSIZE" val="3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#10;$&#10;&#10;\end{document}"/>
  <p:tag name="IGUANATEXSIZE" val="3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 = g(\;\theta^Tx\;)&#10;$&#10;&#10;\end{document}"/>
  <p:tag name="IGUANATEXSIZE" val="3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g(z) = \frac{1}{1+e^{-z}}&#10;$&#10;&#10;\end{document}"/>
  <p:tag name="IGUANATEXSIZE" val="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0 \le h_\theta(x) \le 1&#10;$&#10;&#10;\end{document}"/>
  <p:tag name="IGUANATEXSIZE" val="3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#10;$&#10;&#10;\end{document}"/>
  <p:tag name="IGUANATEXSIZE" val="3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displaystyle&#10;x = \left[ &#10;\begin{array}{c}&#10;x_0 \\&#10;x_1 &#10;\end{array}&#10;\right]&#10;$&#10;$&#10;= \left[ &#10;\begin{array}{c}&#10;1 \\&#10;\mathrm{tumorSize}&#10;\end{array}&#10;\right]&#10;$&#10;&#10;&#10;\end{document}"/>
  <p:tag name="IGUANATEXSIZE" val="3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 =0.7&#10;$&#10;&#10;\end{document}"/>
  <p:tag name="IGUANATEXSIZE" val="3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 \displaystyle&#10;P(y=0 |x;\theta) + P(y=1 |x;\theta) = 1&#10;$&#10;&#10;&#10;$ \displaystyle&#10;P(y=0 |x;\theta) = 1 - P(y=1 |x;\theta) &#10;$&#10;&#10;&#10;\end{document}"/>
  <p:tag name="IGUANATEXSIZE" val="3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\theta&#10;$&#10;&#10;\end{document}"/>
  <p:tag name="IGUANATEXSIZE" val="3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 (x) = g(\theta^Tx)&#10;$&#10;&#10;\end{document}"/>
  <p:tag name="IGUANATEXSIZE" val="2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z) = \frac{1}{1+e^{-z}}&#10;$&#10;&#10;\end{document}"/>
  <p:tag name="IGUANATEXSIZE" val="2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1&#10;$&#10;&#10;\end{document}"/>
  <p:tag name="IGUANATEXSIZE" val="2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\geq 0.5&#10;$&#10;&#10;\end{document}"/>
  <p:tag name="IGUANATEXSIZE" val="2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0&#10;$&#10;&#10;\end{document}"/>
  <p:tag name="IGUANATEXSIZE" val="2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&lt; 0.5&#10;$&#10;&#10;\end{document}"/>
  <p:tag name="IGUANATEXSIZE" val="2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 (x) = g(\theta_0 + \theta_1 x_1 + \theta_2 x_2)&#10;$&#10;&#10;\end{document}"/>
  <p:tag name="IGUANATEXSIZE" val="2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1&#10;$&#10;&#10;\end{document}"/>
  <p:tag name="IGUANATEXSIZE" val="2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-3 + x_1 + x_2 \geq 0&#10;$&#10;&#10;\end{document}"/>
  <p:tag name="IGUANATEXSIZE" val="2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 (x) = g(\theta_0 + \theta_1 x_1 + \theta_2 x_2&#10;$&#10;&#10;\end{document}"/>
  <p:tag name="IGUANATEXSIZE" val="2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 \theta_3 x_1^2 + \theta_4 x_2^2)&#10;$&#10;&#10;\end{document}"/>
  <p:tag name="IGUANATEXSIZE" val="2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1&#10;$&#10;&#10;\end{document}"/>
  <p:tag name="IGUANATEXSIZE" val="2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-1 + x_1^2 + x_2^2 \geq 0&#10;$&#10;&#10;\end{document}"/>
  <p:tag name="IGUANATEXSIZE" val="2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 (x) = g(\theta_0 + \theta_1 x_1 + \theta_2 x_2 + \theta_3 x_1^2&#10;$&#10;&#10;\end{document}"/>
  <p:tag name="IGUANATEXSIZE" val="2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 \theta_4 x_1^2 x_2 + \theta_5 x_1^2 x_2^2 + \theta_6 x_1^3 x_2 + \dots)&#10;$&#10;&#10;\end{document}"/>
  <p:tag name="IGUANATEXSIZE" val="2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\{ (x^{(1)},y^{(1)}), (x^{(2)},y^{(2)}), \cdots, (x^{(m)},y^{(m)})\}&#10;$&#10;&#10;\end{document}"/>
  <p:tag name="IGUANATEXSIZE" val="3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displaystyle&#10;x \in \left[ &#10;\begin{array}{c}&#10;x_0 \\&#10;x_1 \\&#10;\cdots \\&#10;x_n&#10;\end{array}&#10;\right]&#10;$&#10;&#10;&#10;\end{document}"/>
  <p:tag name="IGUANATEXSIZE" val="3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x_0 = 1, y\in\{0,1\}&#10;$&#10;&#10;&#10;\end{document}"/>
  <p:tag name="IGUANATEXSIZE" val="3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 = \frac{1}{1+e^{-\theta^Tx}}&#10;$&#10;&#10;\end{document}"/>
  <p:tag name="IGUANATEXSIZE" val="3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\theta&#10;$&#10;&#10;\end{document}"/>
  <p:tag name="IGUANATEXSIZE" val="3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m} \sum\limits^{m}_{i=1} \frac{1}{2} \left( h_\theta(x^{(i)}) - y^{(i)} \right)^2&#10;$&#10;% \delta_i^{(l)} = \left(\sum_j W_{ji}^{(l)} \delta_j^{(l+1)}\right) f'(z_i^{(l)})&#10;&#10;&#10;&#10;\end{document}"/>
  <p:tag name="IGUANATEXSIZE" val="2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\theta&#10;$&#10;&#10;\end{document}"/>
  <p:tag name="IGUANATEXSIZE" val="3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J(\theta)&#10;$&#10;&#10;\end{document}"/>
  <p:tag name="IGUANATEXSIZE" val="2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\theta&#10;$&#10;&#10;\end{document}"/>
  <p:tag name="IGUANATEXSIZE" val="3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J(\theta)&#10;$&#10;&#10;\end{document}"/>
  <p:tag name="IGUANATEXSIZE" val="2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athrm{Cost}(h_\theta(x),y) = &#10;\left\{ \begin{array}{rl}&#10;- \mathrm{log}(h_\theta(x)) &amp;\mbox{if $y = 1$} \\&#10;- \mathrm{log}(1-h_\theta(x)) &amp;\mbox{if $y = 0$} &#10;\end{array} \right.&#10;$&#10;% \delta_i^{(l)} = \left(\sum_j W_{ji}^{(l)} \delta_j^{(l+1)}\right) f'(z_i^{(l)})&#10;&#10;&#10;&#10;\end{document}"/>
  <p:tag name="IGUANATEXSIZE" val="2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Cost = 0 if &#10;$ \displaystyle&#10;y = 1, h_\theta(x) = 1&#10;$&#10;&#10;\begin{tabular}{ll}&#10;But as &amp; &#10;$ \displaystyle&#10;h_\theta(x) \rightarrow 0&#10;$&#10;\\&#10;&amp;&#10;$ \displaystyle&#10;Cost \rightarrow \infty&#10;$&#10;\end{tabular}&#10;&#10;\hspace{3mm}&#10;&#10;Captures intuition that if $h_\theta(x) = 0$,&#10;&#10;(predict $P(y=1|x;\theta) = 0)$, but $y=1$, &#10;&#10;we'll penalize learning algorithm by a very &#10;&#10;large cost.&#10;&#10;\end{document}"/>
  <p:tag name="IGUANATEXSIZE" val="2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athrm{Cost}(h_\theta(x),y) = &#10;\left\{ \begin{array}{rl}&#10;- \mathrm{log}(h_\theta(x)) &amp;\mbox{if $y = 1$} \\&#10;- \mathrm{log}(1-h_\theta(x)) &amp;\mbox{if $y = 0$} &#10;\end{array} \right.&#10;$&#10;% \delta_i^{(l)} = \left(\sum_j W_{ji}^{(l)} \delta_j^{(l+1)}\right) f'(z_i^{(l)})&#10;&#10;&#10;&#10;\end{document}"/>
  <p:tag name="IGUANATEXSIZE" val="2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athrm{Cost}(h_\theta(x),y) = &#10;\left\{ \begin{array}{rl}&#10;- \mathrm{log}(h_\theta(x)) &amp;\mbox{if $y = 1$} \\&#10;- \mathrm{log}(1-h_\theta(x)) &amp;\mbox{if $y = 0$} &#10;\end{array} \right.&#10;$&#10;% \delta_i^{(l)} = \left(\sum_j W_{ji}^{(l)} \delta_j^{(l+1)}\right) f'(z_i^{(l)})&#10;&#10;&#10;&#10;\end{document}"/>
  <p:tag name="IGUANATEXSIZE" val="2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m} \sum\limits^{m}_{i=1} \mathrm{Cost}(h_\theta(x^{(i)}),y^{(i)}) &#10;$&#10;% \delta_i^{(l)} = \left(\sum_j W_{ji}^{(l)} \delta_j^{(l+1)}\right) f'(z_i^{(l)})&#10;&#10;&#10;&#10;\end{document}"/>
  <p:tag name="IGUANATEXSIZE" val="2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Note: $&#10;y = 0 $ or 1 always&#10;&#10;&#10;\end{document}"/>
  <p:tag name="IGUANATEXSIZE" val="3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 = -\frac{1}{m}[ \sum\limits^{m}_{i=1} y^{(i)} \log {h_\theta(x^{(i)})}+ (1-y^{(i)}) \log {(1 - h_\theta(x^{(i)})})]&#10;$&#10;% \delta_i^{(l)} = \left(\sum_j W_{ji}^{(l)} \delta_j^{(l+1)}\right) f'(z_i^{(l)})&#10;&#10;&#10;&#10;\end{document}"/>
  <p:tag name="IGUANATEXSIZE" val="2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m} \sum\limits^{m}_{i=1} \mathrm{Cost}(h_\theta(x^{(i)}),y^{(i)}) &#10;$&#10;% \delta_i^{(l)} = \left(\sum_j W_{ji}^{(l)} \delta_j^{(l+1)}\right) f'(z_i^{(l)})&#10;&#10;&#10;&#10;\end{document}"/>
  <p:tag name="IGUANATEXSIZE" val="2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&#10;$&#10;&#10;&#10;&#10;\end{document}"/>
  <p:tag name="IGUANATEXSIZE" val="2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\[&#10;\min_\theta J(\theta)&#10;\]&#10;&#10;&#10;&#10;\end{document}"/>
  <p:tag name="IGUANATEXSIZE" val="2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&#10;$&#10;&#10;&#10;&#10;\end{document}"/>
  <p:tag name="IGUANATEXSIZE" val="2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frac{1}{1 + e^{- \theta^Tx}}&#10;$&#10;&#10;&#10;&#10;\end{document}"/>
  <p:tag name="IGUANATEXSIZE" val="2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in_\theta J(\theta)&#10;$&#10;&#10;&#10;&#10;\end{document}"/>
  <p:tag name="IGUANATEXSIZE" val="2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-\frac{1}{m}[ \sum\limits^{m}_{i=1} y^{(i)} \log {h_\theta(x^{(i)})}+ (1-y^{(i)}) \log {(1 - h_\theta(x^{(i)})})]&#10;$&#10;% \delta_i^{(l)} = \left(\sum_j W_{ji}^{(l)} \delta_j^{(l+1)}\right) f'(z_i^{(l)})&#10;&#10;&#10;&#10;\end{document}"/>
  <p:tag name="IGUANATEXSIZE" val="2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$&#10;&#10;\end{document}"/>
  <p:tag name="IGUANATEXSIZE" val="2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}$&#10;&#10;\end{document}"/>
  <p:tag name="IGUANATEXSIZE" val="2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theta_j := \theta_j - \alpha &#10;\frac{\partial}{\partial \theta_j} J(\theta)&#10;$&#10;&#10;\end{document}"/>
  <p:tag name="IGUANATEXSIZE" val="2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theta_j$&#10;\end{document}"/>
  <p:tag name="IGUANATEXSIZE" val="2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theta_j := \theta_j - \alpha \sum\limits^{m}_{i=1} (h_\theta (x^{(i)}) - y^{(i)}) x_j^{(i)}&#10;$&#10;&#10;\end{document}"/>
  <p:tag name="IGUANATEXSIZE" val="2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in_\theta J(\theta)&#10;$&#10;&#10;&#10;&#10;\end{document}"/>
  <p:tag name="IGUANATEXSIZE" val="2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-\frac{1}{m}[ \sum\limits^{m}_{i=1} y^{(i)} \log {h_\theta(x^{(i)})}+ (1-y^{(i)}) \log {(1 - h_\theta(x^{(i)})})]&#10;$&#10;% \delta_i^{(l)} = \left(\sum_j W_{ji}^{(l)} \delta_j^{(l+1)}\right) f'(z_i^{(l)})&#10;&#10;&#10;&#10;\end{document}"/>
  <p:tag name="IGUANATEXSIZE" val="2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theta_j$&#10;\end{document}"/>
  <p:tag name="IGUANATEXSIZE" val="2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$&#10;&#10;\end{document}"/>
  <p:tag name="IGUANATEXSIZE" val="2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}$&#10;&#10;\end{document}"/>
  <p:tag name="IGUANATEXSIZE" val="2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&#10;$&#10;&#10;&#10;&#10;\end{document}"/>
  <p:tag name="IGUANATEXSIZE" val="2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in_\theta J(\theta)&#10;$&#10;&#10;&#10;&#10;\end{document}"/>
  <p:tag name="IGUANATEXSIZE" val="2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&#10;$&#10;&#10;&#10;&#10;\end{document}"/>
  <p:tag name="IGUANATEXSIZE" val="2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&#10;$&#10;&#10;&#10;&#10;\end{document}"/>
  <p:tag name="IGUANATEXSIZE" val="2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j}J(\theta)&#10;$&#10;&#10;&#10;&#10;\end{document}"/>
  <p:tag name="IGUANATEXSIZE" val="2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 = 0, 1, \dots, n&#10;$&#10;&#10;&#10;&#10;\end{document}"/>
  <p:tag name="IGUANATEXSIZE" val="2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$&#10;&#10;\end{document}"/>
  <p:tag name="IGUANATEXSIZE" val="2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}$&#10;&#10;\end{document}"/>
  <p:tag name="IGUANATEXSIZE" val="2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theta_j := \theta_j - \alpha &#10;\frac{\partial}{\partial \theta_j} J(\theta)&#10;$&#10;&#10;\end{document}"/>
  <p:tag name="IGUANATEXSIZE" val="2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&#10;$&#10;&#10;&#10;&#10;\end{document}"/>
  <p:tag name="IGUANATEXSIZE" val="2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&#10;$&#10;&#10;&#10;&#10;\end{document}"/>
  <p:tag name="IGUANATEXSIZE" val="2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j}J(\theta)&#10;$&#10;&#10;&#10;&#10;\end{document}"/>
  <p:tag name="IGUANATEXSIZE" val="2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 = 0, 1, \dots, n&#10;$&#10;&#10;&#10;&#10;\end{document}"/>
  <p:tag name="IGUANATEXSIZE" val="2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alpha&#10;$&#10;&#10;&#10;&#10;\end{document}"/>
  <p:tag name="IGUANATEXSIZE" val="2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^{(i)}(x) = P(y=i|x;\theta)&#10;$&#10;&#10;&#10;\end{document}"/>
  <p:tag name="IGUANATEXSIZE" val="2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  (i=1,2,3)$&#10;&#10;&#10;\end{document}"/>
  <p:tag name="IGUANATEXSIZE" val="2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^{(i)}(x)&#10;$&#10;\end{document}"/>
  <p:tag name="IGUANATEXSIZE" val="28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i&#10;$&#10;\end{document}"/>
  <p:tag name="IGUANATEXSIZE" val="28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i&#10;$&#10;\end{document}"/>
  <p:tag name="IGUANATEXSIZE" val="2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&#10;$&#10;\end{document}"/>
  <p:tag name="IGUANATEXSIZE" val="28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i&#10;$&#10;\end{document}"/>
  <p:tag name="IGUANATEXSIZE" val="28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displaystyle&#10;\max_i h_\theta^{(i)}(x)&#10;$&#10;\end{document}"/>
  <p:tag name="IGUANATEXSIZE" val="28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2773</TotalTime>
  <Words>899</Words>
  <Application>Microsoft Office PowerPoint</Application>
  <PresentationFormat>On-screen Show (16:9)</PresentationFormat>
  <Paragraphs>193</Paragraphs>
  <Slides>30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Arial</vt:lpstr>
      <vt:lpstr>Calibri</vt:lpstr>
      <vt:lpstr>Cambria Math</vt:lpstr>
      <vt:lpstr>Symbol</vt:lpstr>
      <vt:lpstr>Times New Roman</vt:lpstr>
      <vt:lpstr>Wingdings</vt:lpstr>
      <vt:lpstr>1_Lecture</vt:lpstr>
      <vt:lpstr>2_Office Theme</vt:lpstr>
      <vt:lpstr>3_Office Theme</vt:lpstr>
      <vt:lpstr>2_Lecture</vt:lpstr>
      <vt:lpstr>3_Lecture</vt:lpstr>
      <vt:lpstr>4_Lecture</vt:lpstr>
      <vt:lpstr>Classification</vt:lpstr>
      <vt:lpstr>PowerPoint Presentation</vt:lpstr>
      <vt:lpstr>PowerPoint Presentation</vt:lpstr>
      <vt:lpstr>PowerPoint Presentation</vt:lpstr>
      <vt:lpstr>Hypothesis Representation</vt:lpstr>
      <vt:lpstr>PowerPoint Presentation</vt:lpstr>
      <vt:lpstr>PowerPoint Presentation</vt:lpstr>
      <vt:lpstr>Decision boundary</vt:lpstr>
      <vt:lpstr>PowerPoint Presentation</vt:lpstr>
      <vt:lpstr>PowerPoint Presentation</vt:lpstr>
      <vt:lpstr>PowerPoint Presentation</vt:lpstr>
      <vt:lpstr>Cost function</vt:lpstr>
      <vt:lpstr>PowerPoint Presentation</vt:lpstr>
      <vt:lpstr>PowerPoint Presentation</vt:lpstr>
      <vt:lpstr>PowerPoint Presentation</vt:lpstr>
      <vt:lpstr>PowerPoint Presentation</vt:lpstr>
      <vt:lpstr>Simplified cost function and gradient descent</vt:lpstr>
      <vt:lpstr>PowerPoint Presentation</vt:lpstr>
      <vt:lpstr>PowerPoint Presentation</vt:lpstr>
      <vt:lpstr>PowerPoint Presentation</vt:lpstr>
      <vt:lpstr>PowerPoint Presentation</vt:lpstr>
      <vt:lpstr>Advanced  optimization</vt:lpstr>
      <vt:lpstr>PowerPoint Presentation</vt:lpstr>
      <vt:lpstr>PowerPoint Presentation</vt:lpstr>
      <vt:lpstr>Multi-class classification: One-vs-all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Luigi Portinale</cp:lastModifiedBy>
  <cp:revision>257</cp:revision>
  <dcterms:created xsi:type="dcterms:W3CDTF">2010-07-08T21:59:02Z</dcterms:created>
  <dcterms:modified xsi:type="dcterms:W3CDTF">2024-01-19T09:38:08Z</dcterms:modified>
</cp:coreProperties>
</file>