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charts/chart15.xml" ContentType="application/vnd.openxmlformats-officedocument.drawingml.chart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charts/chart16.xml" ContentType="application/vnd.openxmlformats-officedocument.drawingml.chart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6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9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10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</p:sldMasterIdLst>
  <p:notesMasterIdLst>
    <p:notesMasterId r:id="rId54"/>
  </p:notesMasterIdLst>
  <p:sldIdLst>
    <p:sldId id="563" r:id="rId4"/>
    <p:sldId id="479" r:id="rId5"/>
    <p:sldId id="565" r:id="rId6"/>
    <p:sldId id="566" r:id="rId7"/>
    <p:sldId id="567" r:id="rId8"/>
    <p:sldId id="568" r:id="rId9"/>
    <p:sldId id="569" r:id="rId10"/>
    <p:sldId id="570" r:id="rId11"/>
    <p:sldId id="572" r:id="rId12"/>
    <p:sldId id="573" r:id="rId13"/>
    <p:sldId id="574" r:id="rId14"/>
    <p:sldId id="575" r:id="rId15"/>
    <p:sldId id="618" r:id="rId16"/>
    <p:sldId id="577" r:id="rId17"/>
    <p:sldId id="578" r:id="rId18"/>
    <p:sldId id="579" r:id="rId19"/>
    <p:sldId id="609" r:id="rId20"/>
    <p:sldId id="613" r:id="rId21"/>
    <p:sldId id="612" r:id="rId22"/>
    <p:sldId id="615" r:id="rId23"/>
    <p:sldId id="580" r:id="rId24"/>
    <p:sldId id="581" r:id="rId25"/>
    <p:sldId id="582" r:id="rId26"/>
    <p:sldId id="583" r:id="rId27"/>
    <p:sldId id="584" r:id="rId28"/>
    <p:sldId id="586" r:id="rId29"/>
    <p:sldId id="623" r:id="rId30"/>
    <p:sldId id="624" r:id="rId31"/>
    <p:sldId id="589" r:id="rId32"/>
    <p:sldId id="625" r:id="rId33"/>
    <p:sldId id="591" r:id="rId34"/>
    <p:sldId id="592" r:id="rId35"/>
    <p:sldId id="626" r:id="rId36"/>
    <p:sldId id="594" r:id="rId37"/>
    <p:sldId id="595" r:id="rId38"/>
    <p:sldId id="596" r:id="rId39"/>
    <p:sldId id="597" r:id="rId40"/>
    <p:sldId id="598" r:id="rId41"/>
    <p:sldId id="599" r:id="rId42"/>
    <p:sldId id="600" r:id="rId43"/>
    <p:sldId id="601" r:id="rId44"/>
    <p:sldId id="602" r:id="rId45"/>
    <p:sldId id="603" r:id="rId46"/>
    <p:sldId id="604" r:id="rId47"/>
    <p:sldId id="605" r:id="rId48"/>
    <p:sldId id="606" r:id="rId49"/>
    <p:sldId id="607" r:id="rId50"/>
    <p:sldId id="628" r:id="rId51"/>
    <p:sldId id="325" r:id="rId52"/>
    <p:sldId id="313" r:id="rId53"/>
  </p:sldIdLst>
  <p:sldSz cx="9144000" cy="5143500" type="screen16x9"/>
  <p:notesSz cx="6858000" cy="9144000"/>
  <p:custDataLst>
    <p:tags r:id="rId5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4660"/>
  </p:normalViewPr>
  <p:slideViewPr>
    <p:cSldViewPr>
      <p:cViewPr varScale="1">
        <p:scale>
          <a:sx n="79" d="100"/>
          <a:sy n="79" d="100"/>
        </p:scale>
        <p:origin x="938" y="4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notesViewPr>
    <p:cSldViewPr>
      <p:cViewPr varScale="1">
        <p:scale>
          <a:sx n="57" d="100"/>
          <a:sy n="57" d="100"/>
        </p:scale>
        <p:origin x="283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ags" Target="tags/tag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heme" Target="theme/theme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viewProps" Target="view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B76-4A8B-B694-DEB10C5710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9169448"/>
        <c:axId val="339169840"/>
      </c:scatterChart>
      <c:valAx>
        <c:axId val="339169448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crossAx val="339169840"/>
        <c:crosses val="autoZero"/>
        <c:crossBetween val="midCat"/>
      </c:valAx>
      <c:valAx>
        <c:axId val="339169840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339169448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it-IT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8"/>
            <c:spPr>
              <a:noFill/>
              <a:ln w="12700">
                <a:solidFill>
                  <a:srgbClr val="C00000"/>
                </a:solidFill>
              </a:ln>
            </c:spPr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27-4A5E-B8C3-9169D04FB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9171408"/>
        <c:axId val="339171800"/>
      </c:scatterChart>
      <c:valAx>
        <c:axId val="339171408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crossAx val="339171800"/>
        <c:crosses val="autoZero"/>
        <c:crossBetween val="midCat"/>
      </c:valAx>
      <c:valAx>
        <c:axId val="339171800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339171408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it-IT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141125279591279"/>
          <c:y val="7.5982377202849644E-2"/>
          <c:w val="0.73059536136026726"/>
          <c:h val="0.69671541057367825"/>
        </c:manualLayout>
      </c:layout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8"/>
            <c:spPr>
              <a:noFill/>
              <a:ln w="12700">
                <a:solidFill>
                  <a:srgbClr val="C00000"/>
                </a:solidFill>
              </a:ln>
            </c:spPr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93C-4007-AEC3-42C76673A4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028088"/>
        <c:axId val="340028480"/>
      </c:scatterChart>
      <c:valAx>
        <c:axId val="340028088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crossAx val="340028480"/>
        <c:crosses val="autoZero"/>
        <c:crossBetween val="midCat"/>
      </c:valAx>
      <c:valAx>
        <c:axId val="340028480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340028088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it-IT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1D6-40C9-A44F-74D1595F11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029656"/>
        <c:axId val="340030048"/>
      </c:scatterChart>
      <c:valAx>
        <c:axId val="340029656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40030048"/>
        <c:crosses val="autoZero"/>
        <c:crossBetween val="midCat"/>
        <c:majorUnit val="1"/>
      </c:valAx>
      <c:valAx>
        <c:axId val="34003004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40029656"/>
        <c:crosses val="autoZero"/>
        <c:crossBetween val="midCat"/>
        <c:majorUnit val="1"/>
      </c:valAx>
      <c:spPr>
        <a:ln w="12700">
          <a:noFill/>
        </a:ln>
      </c:spPr>
    </c:plotArea>
    <c:plotVisOnly val="1"/>
    <c:dispBlanksAs val="gap"/>
    <c:showDLblsOverMax val="0"/>
  </c:chart>
  <c:txPr>
    <a:bodyPr/>
    <a:lstStyle/>
    <a:p>
      <a:pPr>
        <a:defRPr sz="2000"/>
      </a:pPr>
      <a:endParaRPr lang="it-IT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7C1-464C-800A-C074304655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030832"/>
        <c:axId val="340031224"/>
      </c:scatterChart>
      <c:valAx>
        <c:axId val="340030832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40031224"/>
        <c:crosses val="autoZero"/>
        <c:crossBetween val="midCat"/>
        <c:majorUnit val="1"/>
      </c:valAx>
      <c:valAx>
        <c:axId val="340031224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40030832"/>
        <c:crosses val="autoZero"/>
        <c:crossBetween val="midCat"/>
        <c:majorUnit val="1"/>
      </c:valAx>
      <c:spPr>
        <a:ln w="12700">
          <a:noFill/>
        </a:ln>
      </c:spPr>
    </c:plotArea>
    <c:plotVisOnly val="1"/>
    <c:dispBlanksAs val="gap"/>
    <c:showDLblsOverMax val="0"/>
  </c:chart>
  <c:txPr>
    <a:bodyPr/>
    <a:lstStyle/>
    <a:p>
      <a:pPr>
        <a:defRPr sz="2000"/>
      </a:pPr>
      <a:endParaRPr lang="it-IT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482-4901-A77E-DE4A213C43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032008"/>
        <c:axId val="340032400"/>
      </c:scatterChart>
      <c:valAx>
        <c:axId val="340032008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40032400"/>
        <c:crosses val="autoZero"/>
        <c:crossBetween val="midCat"/>
        <c:majorUnit val="1"/>
      </c:valAx>
      <c:valAx>
        <c:axId val="340032400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40032008"/>
        <c:crosses val="autoZero"/>
        <c:crossBetween val="midCat"/>
        <c:majorUnit val="1"/>
      </c:valAx>
      <c:spPr>
        <a:ln w="12700">
          <a:noFill/>
        </a:ln>
      </c:spPr>
    </c:plotArea>
    <c:plotVisOnly val="1"/>
    <c:dispBlanksAs val="gap"/>
    <c:showDLblsOverMax val="0"/>
  </c:chart>
  <c:txPr>
    <a:bodyPr/>
    <a:lstStyle/>
    <a:p>
      <a:pPr>
        <a:defRPr sz="2000"/>
      </a:pPr>
      <a:endParaRPr lang="it-IT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B3-4592-AF27-2EC3C69AFB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034360"/>
        <c:axId val="340034752"/>
      </c:scatterChart>
      <c:valAx>
        <c:axId val="340034360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40034752"/>
        <c:crosses val="autoZero"/>
        <c:crossBetween val="midCat"/>
        <c:majorUnit val="1"/>
      </c:valAx>
      <c:valAx>
        <c:axId val="340034752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40034360"/>
        <c:crosses val="autoZero"/>
        <c:crossBetween val="midCat"/>
        <c:majorUnit val="1"/>
      </c:valAx>
      <c:spPr>
        <a:ln w="12700">
          <a:noFill/>
        </a:ln>
      </c:spPr>
    </c:plotArea>
    <c:plotVisOnly val="1"/>
    <c:dispBlanksAs val="gap"/>
    <c:showDLblsOverMax val="0"/>
  </c:chart>
  <c:txPr>
    <a:bodyPr/>
    <a:lstStyle/>
    <a:p>
      <a:pPr>
        <a:defRPr sz="2000"/>
      </a:pPr>
      <a:endParaRPr lang="it-IT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B9-4F3E-A069-8D90E7E714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035536"/>
        <c:axId val="339849056"/>
      </c:scatterChart>
      <c:valAx>
        <c:axId val="340035536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39849056"/>
        <c:crosses val="autoZero"/>
        <c:crossBetween val="midCat"/>
        <c:majorUnit val="1"/>
      </c:valAx>
      <c:valAx>
        <c:axId val="33984905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40035536"/>
        <c:crosses val="autoZero"/>
        <c:crossBetween val="midCat"/>
        <c:majorUnit val="1"/>
      </c:valAx>
      <c:spPr>
        <a:ln w="12700">
          <a:noFill/>
        </a:ln>
      </c:spPr>
    </c:plotArea>
    <c:plotVisOnly val="1"/>
    <c:dispBlanksAs val="gap"/>
    <c:showDLblsOverMax val="0"/>
  </c:chart>
  <c:txPr>
    <a:bodyPr/>
    <a:lstStyle/>
    <a:p>
      <a:pPr>
        <a:defRPr sz="2000"/>
      </a:pPr>
      <a:endParaRPr lang="it-IT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CC9-436A-AE70-766F404CD062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CC9-436A-AE70-766F404CD062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CC9-436A-AE70-766F404CD062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CC9-436A-AE70-766F404CD062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FCC9-436A-AE70-766F404CD062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CC9-436A-AE70-766F404CD062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FCC9-436A-AE70-766F404CD062}"/>
            </c:ext>
          </c:extLst>
        </c:ser>
        <c:ser>
          <c:idx val="0"/>
          <c:order val="0"/>
          <c:spPr>
            <a:ln w="0">
              <a:noFill/>
            </a:ln>
          </c:spPr>
          <c:marker>
            <c:symbol val="x"/>
            <c:size val="13"/>
            <c:spPr>
              <a:ln w="19050">
                <a:solidFill>
                  <a:schemeClr val="accent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FCC9-436A-AE70-766F404CD0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9850232"/>
        <c:axId val="339850624"/>
      </c:scatterChart>
      <c:valAx>
        <c:axId val="339850232"/>
        <c:scaling>
          <c:orientation val="minMax"/>
          <c:max val="3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39850624"/>
        <c:crosses val="autoZero"/>
        <c:crossBetween val="midCat"/>
        <c:majorUnit val="1"/>
      </c:valAx>
      <c:valAx>
        <c:axId val="339850624"/>
        <c:scaling>
          <c:orientation val="minMax"/>
          <c:max val="3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39850232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it-IT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A2B-46C0-93E3-B7CC8D0EAD1E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A2B-46C0-93E3-B7CC8D0EAD1E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A2B-46C0-93E3-B7CC8D0EAD1E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CA2B-46C0-93E3-B7CC8D0EAD1E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CA2B-46C0-93E3-B7CC8D0EAD1E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CA2B-46C0-93E3-B7CC8D0EAD1E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CA2B-46C0-93E3-B7CC8D0EAD1E}"/>
            </c:ext>
          </c:extLst>
        </c:ser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CA2B-46C0-93E3-B7CC8D0EAD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033576"/>
        <c:axId val="339851408"/>
      </c:scatterChart>
      <c:valAx>
        <c:axId val="340033576"/>
        <c:scaling>
          <c:orientation val="minMax"/>
          <c:max val="2.5"/>
          <c:min val="-0.5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39851408"/>
        <c:crosses val="autoZero"/>
        <c:crossBetween val="midCat"/>
        <c:majorUnit val="0.5"/>
      </c:valAx>
      <c:valAx>
        <c:axId val="339851408"/>
        <c:scaling>
          <c:orientation val="minMax"/>
          <c:max val="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40033576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it-IT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F4E-4F8C-9D71-5FC3D6825D03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F4E-4F8C-9D71-5FC3D6825D03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F4E-4F8C-9D71-5FC3D6825D03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F4E-4F8C-9D71-5FC3D6825D03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6F4E-4F8C-9D71-5FC3D6825D03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6F4E-4F8C-9D71-5FC3D6825D03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6F4E-4F8C-9D71-5FC3D6825D03}"/>
            </c:ext>
          </c:extLst>
        </c:ser>
        <c:ser>
          <c:idx val="0"/>
          <c:order val="0"/>
          <c:spPr>
            <a:ln w="0">
              <a:noFill/>
            </a:ln>
          </c:spPr>
          <c:marker>
            <c:symbol val="x"/>
            <c:size val="13"/>
            <c:spPr>
              <a:ln w="19050">
                <a:solidFill>
                  <a:schemeClr val="accent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6F4E-4F8C-9D71-5FC3D6825D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9852976"/>
        <c:axId val="339853368"/>
      </c:scatterChart>
      <c:valAx>
        <c:axId val="339852976"/>
        <c:scaling>
          <c:orientation val="minMax"/>
          <c:max val="3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39853368"/>
        <c:crosses val="autoZero"/>
        <c:crossBetween val="midCat"/>
        <c:majorUnit val="1"/>
      </c:valAx>
      <c:valAx>
        <c:axId val="339853368"/>
        <c:scaling>
          <c:orientation val="minMax"/>
          <c:max val="3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39852976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it-IT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E11-4664-9090-8C7538FD6FF4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E11-4664-9090-8C7538FD6FF4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E11-4664-9090-8C7538FD6FF4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E11-4664-9090-8C7538FD6FF4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EE11-4664-9090-8C7538FD6FF4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EE11-4664-9090-8C7538FD6FF4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EE11-4664-9090-8C7538FD6FF4}"/>
            </c:ext>
          </c:extLst>
        </c:ser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EE11-4664-9090-8C7538FD6F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9854152"/>
        <c:axId val="339854544"/>
      </c:scatterChart>
      <c:valAx>
        <c:axId val="339854152"/>
        <c:scaling>
          <c:orientation val="minMax"/>
          <c:max val="2.5"/>
          <c:min val="-0.5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39854544"/>
        <c:crosses val="autoZero"/>
        <c:crossBetween val="midCat"/>
        <c:majorUnit val="0.5"/>
      </c:valAx>
      <c:valAx>
        <c:axId val="339854544"/>
        <c:scaling>
          <c:orientation val="minMax"/>
          <c:max val="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39854152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it-IT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E19-4F43-AA08-D3B6E3DF8EC4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E19-4F43-AA08-D3B6E3DF8EC4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E19-4F43-AA08-D3B6E3DF8EC4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8E19-4F43-AA08-D3B6E3DF8EC4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8E19-4F43-AA08-D3B6E3DF8EC4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8E19-4F43-AA08-D3B6E3DF8EC4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8E19-4F43-AA08-D3B6E3DF8EC4}"/>
            </c:ext>
          </c:extLst>
        </c:ser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8E19-4F43-AA08-D3B6E3DF8E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9855328"/>
        <c:axId val="339855720"/>
      </c:scatterChart>
      <c:valAx>
        <c:axId val="339855328"/>
        <c:scaling>
          <c:orientation val="minMax"/>
          <c:max val="2.5"/>
          <c:min val="-0.5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39855720"/>
        <c:crosses val="autoZero"/>
        <c:crossBetween val="midCat"/>
        <c:majorUnit val="0.5"/>
      </c:valAx>
      <c:valAx>
        <c:axId val="339855720"/>
        <c:scaling>
          <c:orientation val="minMax"/>
          <c:max val="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39855328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it-IT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4EC-46C6-BE57-D65FB82E52AB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4EC-46C6-BE57-D65FB82E52AB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4EC-46C6-BE57-D65FB82E52AB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4EC-46C6-BE57-D65FB82E52AB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4EC-46C6-BE57-D65FB82E52AB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D4EC-46C6-BE57-D65FB82E52AB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D4EC-46C6-BE57-D65FB82E52AB}"/>
            </c:ext>
          </c:extLst>
        </c:ser>
        <c:ser>
          <c:idx val="0"/>
          <c:order val="0"/>
          <c:spPr>
            <a:ln w="0">
              <a:noFill/>
            </a:ln>
          </c:spPr>
          <c:marker>
            <c:symbol val="x"/>
            <c:size val="13"/>
            <c:spPr>
              <a:ln w="19050">
                <a:solidFill>
                  <a:schemeClr val="accent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D4EC-46C6-BE57-D65FB82E52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9856504"/>
        <c:axId val="340238416"/>
      </c:scatterChart>
      <c:valAx>
        <c:axId val="339856504"/>
        <c:scaling>
          <c:orientation val="minMax"/>
          <c:max val="3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40238416"/>
        <c:crosses val="autoZero"/>
        <c:crossBetween val="midCat"/>
        <c:majorUnit val="1"/>
      </c:valAx>
      <c:valAx>
        <c:axId val="340238416"/>
        <c:scaling>
          <c:orientation val="minMax"/>
          <c:max val="3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39856504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it-IT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65D-4722-A7A4-B08B0D85BDDC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65D-4722-A7A4-B08B0D85BDDC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65D-4722-A7A4-B08B0D85BDDC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765D-4722-A7A4-B08B0D85BDDC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65D-4722-A7A4-B08B0D85BDDC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65D-4722-A7A4-B08B0D85BDDC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765D-4722-A7A4-B08B0D85BDDC}"/>
            </c:ext>
          </c:extLst>
        </c:ser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765D-4722-A7A4-B08B0D85BD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239200"/>
        <c:axId val="340239592"/>
      </c:scatterChart>
      <c:valAx>
        <c:axId val="340239200"/>
        <c:scaling>
          <c:orientation val="minMax"/>
          <c:max val="2.5"/>
          <c:min val="-0.5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40239592"/>
        <c:crosses val="autoZero"/>
        <c:crossBetween val="midCat"/>
        <c:majorUnit val="0.5"/>
      </c:valAx>
      <c:valAx>
        <c:axId val="340239592"/>
        <c:scaling>
          <c:orientation val="minMax"/>
          <c:max val="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40239200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it-IT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noFill/>
              <a:ln w="12700">
                <a:solidFill>
                  <a:srgbClr val="C00000"/>
                </a:solidFill>
              </a:ln>
            </c:spPr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DFF-4AF2-B12E-E5D4B7386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0241552"/>
        <c:axId val="340241944"/>
      </c:scatterChart>
      <c:valAx>
        <c:axId val="340241552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5400"/>
        </c:spPr>
        <c:crossAx val="340241944"/>
        <c:crosses val="autoZero"/>
        <c:crossBetween val="midCat"/>
      </c:valAx>
      <c:valAx>
        <c:axId val="340241944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spPr>
          <a:ln w="25400"/>
        </c:spPr>
        <c:crossAx val="340241552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it-IT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64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220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61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4BCD14-5A93-4938-87CE-709050061C51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23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754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1B15-6F5C-47EB-9972-9BA42C6AE2E6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24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108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51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4BCD14-5A93-4938-87CE-709050061C51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35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44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1B15-6F5C-47EB-9972-9BA42C6AE2E6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36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354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38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147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7.xml"/><Relationship Id="rId7" Type="http://schemas.openxmlformats.org/officeDocument/2006/relationships/chart" Target="../charts/chart4.xml"/><Relationship Id="rId12" Type="http://schemas.openxmlformats.org/officeDocument/2006/relationships/chart" Target="../charts/chart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11" Type="http://schemas.openxmlformats.org/officeDocument/2006/relationships/chart" Target="../charts/chart5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7.png"/><Relationship Id="rId4" Type="http://schemas.openxmlformats.org/officeDocument/2006/relationships/tags" Target="../tags/tag8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11.xml"/><Relationship Id="rId7" Type="http://schemas.openxmlformats.org/officeDocument/2006/relationships/image" Target="../media/image9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2.png"/><Relationship Id="rId4" Type="http://schemas.openxmlformats.org/officeDocument/2006/relationships/tags" Target="../tags/tag12.xml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image" Target="../media/image15.png"/><Relationship Id="rId18" Type="http://schemas.openxmlformats.org/officeDocument/2006/relationships/chart" Target="../charts/chart7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tags" Target="../tags/tag14.xml"/><Relationship Id="rId16" Type="http://schemas.openxmlformats.org/officeDocument/2006/relationships/image" Target="../media/image18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8.png"/><Relationship Id="rId5" Type="http://schemas.openxmlformats.org/officeDocument/2006/relationships/tags" Target="../tags/tag17.xml"/><Relationship Id="rId15" Type="http://schemas.openxmlformats.org/officeDocument/2006/relationships/image" Target="../media/image17.png"/><Relationship Id="rId10" Type="http://schemas.openxmlformats.org/officeDocument/2006/relationships/image" Target="../media/image3.png"/><Relationship Id="rId19" Type="http://schemas.openxmlformats.org/officeDocument/2006/relationships/chart" Target="../charts/chart8.xml"/><Relationship Id="rId4" Type="http://schemas.openxmlformats.org/officeDocument/2006/relationships/tags" Target="../tags/tag16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21.png"/><Relationship Id="rId18" Type="http://schemas.openxmlformats.org/officeDocument/2006/relationships/image" Target="../media/image25.png"/><Relationship Id="rId3" Type="http://schemas.openxmlformats.org/officeDocument/2006/relationships/tags" Target="../tags/tag23.xml"/><Relationship Id="rId21" Type="http://schemas.openxmlformats.org/officeDocument/2006/relationships/image" Target="../media/image18.png"/><Relationship Id="rId7" Type="http://schemas.openxmlformats.org/officeDocument/2006/relationships/tags" Target="../tags/tag27.xml"/><Relationship Id="rId12" Type="http://schemas.openxmlformats.org/officeDocument/2006/relationships/image" Target="../media/image20.png"/><Relationship Id="rId17" Type="http://schemas.openxmlformats.org/officeDocument/2006/relationships/chart" Target="../charts/chart10.xml"/><Relationship Id="rId2" Type="http://schemas.openxmlformats.org/officeDocument/2006/relationships/tags" Target="../tags/tag22.xml"/><Relationship Id="rId16" Type="http://schemas.openxmlformats.org/officeDocument/2006/relationships/image" Target="../media/image24.png"/><Relationship Id="rId20" Type="http://schemas.openxmlformats.org/officeDocument/2006/relationships/image" Target="../media/image26.pn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chart" Target="../charts/chart9.xml"/><Relationship Id="rId5" Type="http://schemas.openxmlformats.org/officeDocument/2006/relationships/tags" Target="../tags/tag25.xml"/><Relationship Id="rId15" Type="http://schemas.openxmlformats.org/officeDocument/2006/relationships/image" Target="../media/image23.png"/><Relationship Id="rId10" Type="http://schemas.openxmlformats.org/officeDocument/2006/relationships/slideLayout" Target="../slideLayouts/slideLayout7.xml"/><Relationship Id="rId19" Type="http://schemas.openxmlformats.org/officeDocument/2006/relationships/image" Target="../media/image250.png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image" Target="../media/image27.png"/><Relationship Id="rId18" Type="http://schemas.openxmlformats.org/officeDocument/2006/relationships/image" Target="../media/image25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20.png"/><Relationship Id="rId17" Type="http://schemas.openxmlformats.org/officeDocument/2006/relationships/chart" Target="../charts/chart12.xml"/><Relationship Id="rId2" Type="http://schemas.openxmlformats.org/officeDocument/2006/relationships/tags" Target="../tags/tag31.xml"/><Relationship Id="rId16" Type="http://schemas.openxmlformats.org/officeDocument/2006/relationships/image" Target="../media/image21.png"/><Relationship Id="rId20" Type="http://schemas.openxmlformats.org/officeDocument/2006/relationships/image" Target="../media/image28.png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chart" Target="../charts/chart11.xml"/><Relationship Id="rId5" Type="http://schemas.openxmlformats.org/officeDocument/2006/relationships/tags" Target="../tags/tag34.xml"/><Relationship Id="rId15" Type="http://schemas.openxmlformats.org/officeDocument/2006/relationships/image" Target="../media/image24.png"/><Relationship Id="rId10" Type="http://schemas.openxmlformats.org/officeDocument/2006/relationships/slideLayout" Target="../slideLayouts/slideLayout7.xml"/><Relationship Id="rId19" Type="http://schemas.openxmlformats.org/officeDocument/2006/relationships/image" Target="../media/image18.png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image" Target="../media/image23.png"/><Relationship Id="rId18" Type="http://schemas.openxmlformats.org/officeDocument/2006/relationships/image" Target="../media/image21.png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image" Target="../media/image25.png"/><Relationship Id="rId17" Type="http://schemas.openxmlformats.org/officeDocument/2006/relationships/chart" Target="../charts/chart14.xml"/><Relationship Id="rId2" Type="http://schemas.openxmlformats.org/officeDocument/2006/relationships/tags" Target="../tags/tag40.xml"/><Relationship Id="rId16" Type="http://schemas.openxmlformats.org/officeDocument/2006/relationships/image" Target="../media/image24.png"/><Relationship Id="rId20" Type="http://schemas.openxmlformats.org/officeDocument/2006/relationships/image" Target="../media/image30.png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chart" Target="../charts/chart13.xml"/><Relationship Id="rId5" Type="http://schemas.openxmlformats.org/officeDocument/2006/relationships/tags" Target="../tags/tag43.xml"/><Relationship Id="rId15" Type="http://schemas.openxmlformats.org/officeDocument/2006/relationships/image" Target="../media/image29.png"/><Relationship Id="rId10" Type="http://schemas.openxmlformats.org/officeDocument/2006/relationships/slideLayout" Target="../slideLayouts/slideLayout7.xml"/><Relationship Id="rId19" Type="http://schemas.openxmlformats.org/officeDocument/2006/relationships/image" Target="../media/image18.png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50.xml"/><Relationship Id="rId7" Type="http://schemas.openxmlformats.org/officeDocument/2006/relationships/image" Target="../media/image25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chart" Target="../charts/chart15.xml"/><Relationship Id="rId11" Type="http://schemas.openxmlformats.org/officeDocument/2006/relationships/image" Target="../media/image3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9.png"/><Relationship Id="rId4" Type="http://schemas.openxmlformats.org/officeDocument/2006/relationships/tags" Target="../tags/tag51.xml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tags" Target="../tags/tag54.xml"/><Relationship Id="rId7" Type="http://schemas.openxmlformats.org/officeDocument/2006/relationships/image" Target="../media/image8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5.xml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6.png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image" Target="../media/image35.png"/><Relationship Id="rId17" Type="http://schemas.openxmlformats.org/officeDocument/2006/relationships/image" Target="../media/image37.png"/><Relationship Id="rId2" Type="http://schemas.openxmlformats.org/officeDocument/2006/relationships/tags" Target="../tags/tag57.xml"/><Relationship Id="rId16" Type="http://schemas.openxmlformats.org/officeDocument/2006/relationships/chart" Target="../charts/chart16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34.png"/><Relationship Id="rId5" Type="http://schemas.openxmlformats.org/officeDocument/2006/relationships/tags" Target="../tags/tag60.xml"/><Relationship Id="rId15" Type="http://schemas.openxmlformats.org/officeDocument/2006/relationships/image" Target="../media/image23.png"/><Relationship Id="rId10" Type="http://schemas.openxmlformats.org/officeDocument/2006/relationships/image" Target="../media/image33.png"/><Relationship Id="rId4" Type="http://schemas.openxmlformats.org/officeDocument/2006/relationships/tags" Target="../tags/tag59.xml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65.xml"/><Relationship Id="rId7" Type="http://schemas.openxmlformats.org/officeDocument/2006/relationships/image" Target="../media/image40.png"/><Relationship Id="rId12" Type="http://schemas.openxmlformats.org/officeDocument/2006/relationships/image" Target="../media/image41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39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66.xml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69.xml"/><Relationship Id="rId7" Type="http://schemas.openxmlformats.org/officeDocument/2006/relationships/image" Target="../media/image43.png"/><Relationship Id="rId12" Type="http://schemas.openxmlformats.org/officeDocument/2006/relationships/image" Target="../media/image44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42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70.xml"/><Relationship Id="rId9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73.xml"/><Relationship Id="rId7" Type="http://schemas.openxmlformats.org/officeDocument/2006/relationships/image" Target="../media/image46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45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74.xml"/><Relationship Id="rId9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77.xml"/><Relationship Id="rId7" Type="http://schemas.openxmlformats.org/officeDocument/2006/relationships/image" Target="../media/image48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47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78.xml"/><Relationship Id="rId9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tags" Target="../tags/tag81.xml"/><Relationship Id="rId7" Type="http://schemas.openxmlformats.org/officeDocument/2006/relationships/image" Target="../media/image35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83.xml"/><Relationship Id="rId10" Type="http://schemas.openxmlformats.org/officeDocument/2006/relationships/image" Target="../media/image50.png"/><Relationship Id="rId4" Type="http://schemas.openxmlformats.org/officeDocument/2006/relationships/tags" Target="../tags/tag82.xml"/><Relationship Id="rId9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tags" Target="../tags/tag86.xml"/><Relationship Id="rId7" Type="http://schemas.openxmlformats.org/officeDocument/2006/relationships/image" Target="../media/image53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52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7.xml"/><Relationship Id="rId9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7" Type="http://schemas.openxmlformats.org/officeDocument/2006/relationships/image" Target="../media/image64.png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image" Target="../media/image63.png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tags" Target="../tags/tag95.xml"/><Relationship Id="rId7" Type="http://schemas.openxmlformats.org/officeDocument/2006/relationships/image" Target="../media/image65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23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9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7" Type="http://schemas.openxmlformats.org/officeDocument/2006/relationships/image" Target="../media/image25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image" Target="../media/image23.png"/><Relationship Id="rId5" Type="http://schemas.openxmlformats.org/officeDocument/2006/relationships/image" Target="../media/image66.png"/><Relationship Id="rId4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7" Type="http://schemas.openxmlformats.org/officeDocument/2006/relationships/image" Target="../media/image68.png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image" Target="../media/image3.png"/><Relationship Id="rId5" Type="http://schemas.openxmlformats.org/officeDocument/2006/relationships/image" Target="../media/image67.png"/><Relationship Id="rId4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tags" Target="../tags/tag105.xml"/><Relationship Id="rId7" Type="http://schemas.openxmlformats.org/officeDocument/2006/relationships/image" Target="../media/image23.pn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08.xml"/><Relationship Id="rId7" Type="http://schemas.openxmlformats.org/officeDocument/2006/relationships/image" Target="../media/image76.pn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75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109.xml"/><Relationship Id="rId9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12.xml"/><Relationship Id="rId7" Type="http://schemas.openxmlformats.org/officeDocument/2006/relationships/image" Target="../media/image40.png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image" Target="../media/image77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113.xml"/><Relationship Id="rId9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16.xml"/><Relationship Id="rId7" Type="http://schemas.openxmlformats.org/officeDocument/2006/relationships/image" Target="../media/image79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78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117.xml"/><Relationship Id="rId9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20.xml"/><Relationship Id="rId7" Type="http://schemas.openxmlformats.org/officeDocument/2006/relationships/image" Target="../media/image81.png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image" Target="../media/image80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121.xml"/><Relationship Id="rId9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24.xml"/><Relationship Id="rId7" Type="http://schemas.openxmlformats.org/officeDocument/2006/relationships/image" Target="../media/image46.png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image" Target="../media/image82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125.xml"/><Relationship Id="rId9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28.xml"/><Relationship Id="rId7" Type="http://schemas.openxmlformats.org/officeDocument/2006/relationships/image" Target="../media/image43.png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image" Target="../media/image83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129.xml"/><Relationship Id="rId9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32.xml"/><Relationship Id="rId7" Type="http://schemas.openxmlformats.org/officeDocument/2006/relationships/image" Target="../media/image85.png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image" Target="../media/image84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133.xml"/><Relationship Id="rId9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36.xml"/><Relationship Id="rId7" Type="http://schemas.openxmlformats.org/officeDocument/2006/relationships/image" Target="../media/image48.png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image" Target="../media/image86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137.xml"/><Relationship Id="rId9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40.xml"/><Relationship Id="rId7" Type="http://schemas.openxmlformats.org/officeDocument/2006/relationships/image" Target="../media/image88.png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image" Target="../media/image87.png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5.png"/><Relationship Id="rId4" Type="http://schemas.openxmlformats.org/officeDocument/2006/relationships/tags" Target="../tags/tag141.xml"/><Relationship Id="rId9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3.png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notesSlide" Target="../notesSlides/notesSlide10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95.png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image" Target="../media/image94.png"/><Relationship Id="rId2" Type="http://schemas.openxmlformats.org/officeDocument/2006/relationships/tags" Target="../tags/tag145.xml"/><Relationship Id="rId16" Type="http://schemas.openxmlformats.org/officeDocument/2006/relationships/image" Target="../media/image98.png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image" Target="../media/image92.png"/><Relationship Id="rId5" Type="http://schemas.openxmlformats.org/officeDocument/2006/relationships/tags" Target="../tags/tag148.xml"/><Relationship Id="rId15" Type="http://schemas.openxmlformats.org/officeDocument/2006/relationships/image" Target="../media/image97.png"/><Relationship Id="rId10" Type="http://schemas.openxmlformats.org/officeDocument/2006/relationships/image" Target="../media/image91.png"/><Relationship Id="rId4" Type="http://schemas.openxmlformats.org/officeDocument/2006/relationships/tags" Target="../tags/tag147.xml"/><Relationship Id="rId9" Type="http://schemas.openxmlformats.org/officeDocument/2006/relationships/notesSlide" Target="../notesSlides/notesSlide11.xml"/><Relationship Id="rId1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Univariate Linear 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224865" y="2241561"/>
            <a:ext cx="4495800" cy="1625589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84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6120269"/>
              </p:ext>
            </p:extLst>
          </p:nvPr>
        </p:nvGraphicFramePr>
        <p:xfrm>
          <a:off x="3267052" y="133350"/>
          <a:ext cx="5318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4464366"/>
              </p:ext>
            </p:extLst>
          </p:nvPr>
        </p:nvGraphicFramePr>
        <p:xfrm>
          <a:off x="3267052" y="133350"/>
          <a:ext cx="5318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3422" y="209550"/>
            <a:ext cx="23519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Housing Prices</a:t>
            </a:r>
          </a:p>
          <a:p>
            <a:pPr algn="ctr"/>
            <a:r>
              <a:rPr lang="en-US" sz="2800" b="1" dirty="0"/>
              <a:t>(Portland, 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71421"/>
            <a:ext cx="1575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Price</a:t>
            </a:r>
          </a:p>
          <a:p>
            <a:pPr algn="ctr"/>
            <a:r>
              <a:rPr lang="en-US" sz="2400" dirty="0"/>
              <a:t>(in 1000s of dollars)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9212" y="2800350"/>
            <a:ext cx="1519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Size (feet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3270945"/>
            <a:ext cx="40005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Supervised Learning</a:t>
            </a:r>
          </a:p>
          <a:p>
            <a:endParaRPr lang="en-US" sz="1000" dirty="0"/>
          </a:p>
          <a:p>
            <a:r>
              <a:rPr lang="en-US" sz="2400" dirty="0"/>
              <a:t>Correct answer for each training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7200" y="3270945"/>
            <a:ext cx="411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Regression Problem</a:t>
            </a:r>
          </a:p>
          <a:p>
            <a:endParaRPr lang="en-US" sz="1000" dirty="0"/>
          </a:p>
          <a:p>
            <a:r>
              <a:rPr lang="en-US" sz="2400" dirty="0"/>
              <a:t>Prediction of continuous values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114800" y="3347145"/>
            <a:ext cx="0" cy="151060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4533900" y="362609"/>
            <a:ext cx="3581400" cy="160020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81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3422" y="2495550"/>
            <a:ext cx="5411225" cy="15850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Notation:</a:t>
            </a:r>
          </a:p>
          <a:p>
            <a:r>
              <a:rPr lang="en-US" sz="100" dirty="0"/>
              <a:t> </a:t>
            </a:r>
            <a:endParaRPr lang="en-US" sz="2000" dirty="0"/>
          </a:p>
          <a:p>
            <a:r>
              <a:rPr lang="en-US" sz="2400" dirty="0"/>
              <a:t>   </a:t>
            </a:r>
            <a:r>
              <a:rPr lang="en-US" sz="2400" b="1" dirty="0"/>
              <a:t>m</a:t>
            </a:r>
            <a:r>
              <a:rPr lang="en-US" sz="2400" dirty="0"/>
              <a:t> = Number of training examples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x</a:t>
            </a:r>
            <a:r>
              <a:rPr lang="en-US" sz="2400" dirty="0"/>
              <a:t>’s = “input” variable / features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y</a:t>
            </a:r>
            <a:r>
              <a:rPr lang="en-US" sz="2400" dirty="0"/>
              <a:t> = “output” variable / “target” variable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750445"/>
              </p:ext>
            </p:extLst>
          </p:nvPr>
        </p:nvGraphicFramePr>
        <p:xfrm>
          <a:off x="3276600" y="209550"/>
          <a:ext cx="5334000" cy="2324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9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2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Size in</a:t>
                      </a:r>
                      <a:r>
                        <a:rPr lang="en-US" sz="2400" b="1" u="none" strike="noStrike" baseline="0" dirty="0">
                          <a:effectLst/>
                        </a:rPr>
                        <a:t> </a:t>
                      </a:r>
                      <a:r>
                        <a:rPr lang="en-US" sz="2400" b="1" u="none" strike="noStrike" dirty="0">
                          <a:effectLst/>
                        </a:rPr>
                        <a:t>feet</a:t>
                      </a:r>
                      <a:r>
                        <a:rPr lang="en-US" sz="2400" b="1" u="none" strike="noStrike" baseline="30000" dirty="0">
                          <a:effectLst/>
                        </a:rPr>
                        <a:t>2</a:t>
                      </a:r>
                      <a:r>
                        <a:rPr lang="en-US" sz="2400" b="1" u="none" strike="noStrike" dirty="0">
                          <a:effectLst/>
                        </a:rPr>
                        <a:t> (</a:t>
                      </a:r>
                      <a:r>
                        <a:rPr lang="en-US" sz="2400" b="0" u="none" strike="noStrike" dirty="0">
                          <a:effectLst/>
                        </a:rPr>
                        <a:t>x</a:t>
                      </a:r>
                      <a:r>
                        <a:rPr lang="en-US" sz="2400" b="1" u="none" strike="noStrike" dirty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Price ($) in 1000's (</a:t>
                      </a:r>
                      <a:r>
                        <a:rPr lang="en-US" sz="2400" b="0" u="none" strike="noStrike" dirty="0">
                          <a:effectLst/>
                        </a:rPr>
                        <a:t>y</a:t>
                      </a:r>
                      <a:r>
                        <a:rPr lang="en-US" sz="2400" b="1" u="none" strike="noStrike" dirty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2104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1416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232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1534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315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852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178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3422" y="209550"/>
            <a:ext cx="235192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Training set </a:t>
            </a:r>
            <a:r>
              <a:rPr lang="en-US" sz="2800" b="1" dirty="0"/>
              <a:t>of</a:t>
            </a:r>
          </a:p>
          <a:p>
            <a:pPr algn="ctr"/>
            <a:r>
              <a:rPr lang="en-US" sz="2800" b="1" dirty="0"/>
              <a:t>housing prices</a:t>
            </a:r>
          </a:p>
          <a:p>
            <a:pPr algn="ctr"/>
            <a:r>
              <a:rPr lang="en-US" sz="2800" b="1" dirty="0"/>
              <a:t>(Portland, 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70640" y="3019156"/>
            <a:ext cx="2587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Univariate analysis: 1 input variable</a:t>
            </a:r>
            <a:endParaRPr lang="it-IT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4324350"/>
            <a:ext cx="617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/>
              <a:t>a single training example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GB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/>
              <a:t>i-</a:t>
            </a:r>
            <a:r>
              <a:rPr lang="en-GB" sz="2000" i="1" dirty="0" err="1"/>
              <a:t>th</a:t>
            </a:r>
            <a:r>
              <a:rPr lang="en-GB" sz="2000" dirty="0"/>
              <a:t> training example</a:t>
            </a:r>
            <a:endParaRPr lang="it-IT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172200" y="4093904"/>
            <a:ext cx="205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=2104</a:t>
            </a:r>
          </a:p>
          <a:p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=1416</a:t>
            </a:r>
          </a:p>
          <a:p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=232</a:t>
            </a: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1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4800600" y="438150"/>
            <a:ext cx="0" cy="41148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48288" y="399486"/>
            <a:ext cx="2533112" cy="609600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488" y="1618686"/>
            <a:ext cx="3142712" cy="586556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Learning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3844" y="2837886"/>
            <a:ext cx="762000" cy="586556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807553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Size of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2807553"/>
            <a:ext cx="14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Estimated price</a:t>
            </a:r>
          </a:p>
        </p:txBody>
      </p:sp>
      <p:cxnSp>
        <p:nvCxnSpPr>
          <p:cNvPr id="12" name="Straight Arrow Connector 11"/>
          <p:cNvCxnSpPr>
            <a:stCxn id="5" idx="2"/>
            <a:endCxn id="6" idx="0"/>
          </p:cNvCxnSpPr>
          <p:nvPr/>
        </p:nvCxnSpPr>
        <p:spPr>
          <a:xfrm>
            <a:off x="2314844" y="1009086"/>
            <a:ext cx="0" cy="60960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>
            <a:off x="2314844" y="2205242"/>
            <a:ext cx="0" cy="632644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7" idx="1"/>
          </p:cNvCxnSpPr>
          <p:nvPr/>
        </p:nvCxnSpPr>
        <p:spPr>
          <a:xfrm>
            <a:off x="1143000" y="3131164"/>
            <a:ext cx="790844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3"/>
          </p:cNvCxnSpPr>
          <p:nvPr/>
        </p:nvCxnSpPr>
        <p:spPr>
          <a:xfrm>
            <a:off x="2695844" y="3131164"/>
            <a:ext cx="733156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152756" y="178089"/>
            <a:ext cx="2996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do we represent </a:t>
            </a:r>
          </a:p>
          <a:p>
            <a:r>
              <a:rPr lang="en-US" sz="2400" b="1" dirty="0"/>
              <a:t>hypothesis </a:t>
            </a:r>
            <a:r>
              <a:rPr lang="en-US" sz="2400" b="1" i="1" dirty="0"/>
              <a:t>h</a:t>
            </a:r>
            <a:r>
              <a:rPr lang="en-US" sz="2400" b="1" dirty="0"/>
              <a:t>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46147" y="3867150"/>
            <a:ext cx="38930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Linear regression with one variable.</a:t>
            </a:r>
          </a:p>
          <a:p>
            <a:r>
              <a:rPr lang="en-US" sz="2000" dirty="0"/>
              <a:t>Univariate linear regression.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348673" y="1249354"/>
                <a:ext cx="260449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673" y="1249354"/>
                <a:ext cx="2604498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327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5257800" y="1771086"/>
            <a:ext cx="3436266" cy="2133600"/>
            <a:chOff x="11162397" y="-601830"/>
            <a:chExt cx="5318760" cy="2743200"/>
          </a:xfrm>
        </p:grpSpPr>
        <p:graphicFrame>
          <p:nvGraphicFramePr>
            <p:cNvPr id="21" name="Chart 20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5194788"/>
                </p:ext>
              </p:extLst>
            </p:nvPr>
          </p:nvGraphicFramePr>
          <p:xfrm>
            <a:off x="11162397" y="-601830"/>
            <a:ext cx="531876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22" name="Straight Connector 21"/>
            <p:cNvCxnSpPr/>
            <p:nvPr/>
          </p:nvCxnSpPr>
          <p:spPr>
            <a:xfrm flipV="1">
              <a:off x="12653889" y="-420832"/>
              <a:ext cx="3581399" cy="160020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Arrow Connector 13"/>
          <p:cNvCxnSpPr/>
          <p:nvPr/>
        </p:nvCxnSpPr>
        <p:spPr>
          <a:xfrm>
            <a:off x="6019800" y="1618686"/>
            <a:ext cx="1933371" cy="58655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80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36" grpId="0"/>
      <p:bldP spid="37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191000" y="2190750"/>
            <a:ext cx="4495800" cy="1625589"/>
          </a:xfrm>
        </p:spPr>
        <p:txBody>
          <a:bodyPr anchor="t" anchorCtr="0"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function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5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66800" y="4196775"/>
            <a:ext cx="3766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to choose     ‘s 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1000" y="249019"/>
            <a:ext cx="2427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Training Set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119" y="3028950"/>
            <a:ext cx="3377081" cy="4699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290" y="3616264"/>
            <a:ext cx="315615" cy="4032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2943116"/>
            <a:ext cx="2143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Hypothesis: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0446" y="3581387"/>
            <a:ext cx="30009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‘s:      Parameters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140" y="4302064"/>
            <a:ext cx="315615" cy="403286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749617"/>
              </p:ext>
            </p:extLst>
          </p:nvPr>
        </p:nvGraphicFramePr>
        <p:xfrm>
          <a:off x="3276600" y="209550"/>
          <a:ext cx="5334000" cy="2324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9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2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Size in</a:t>
                      </a:r>
                      <a:r>
                        <a:rPr lang="en-US" sz="2400" b="1" u="none" strike="noStrike" baseline="0" dirty="0">
                          <a:effectLst/>
                        </a:rPr>
                        <a:t> </a:t>
                      </a:r>
                      <a:r>
                        <a:rPr lang="en-US" sz="2400" b="1" u="none" strike="noStrike" dirty="0">
                          <a:effectLst/>
                        </a:rPr>
                        <a:t>feet</a:t>
                      </a:r>
                      <a:r>
                        <a:rPr lang="en-US" sz="2400" b="1" u="none" strike="noStrike" baseline="30000" dirty="0">
                          <a:effectLst/>
                        </a:rPr>
                        <a:t>2</a:t>
                      </a:r>
                      <a:r>
                        <a:rPr lang="en-US" sz="2400" b="1" u="none" strike="noStrike" dirty="0">
                          <a:effectLst/>
                        </a:rPr>
                        <a:t> (</a:t>
                      </a:r>
                      <a:r>
                        <a:rPr lang="en-US" sz="2400" b="0" u="none" strike="noStrike" dirty="0">
                          <a:effectLst/>
                        </a:rPr>
                        <a:t>x</a:t>
                      </a:r>
                      <a:r>
                        <a:rPr lang="en-US" sz="2400" b="1" u="none" strike="noStrike" dirty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Price ($) in 1000's (</a:t>
                      </a:r>
                      <a:r>
                        <a:rPr lang="en-US" sz="2400" b="0" u="none" strike="noStrike" dirty="0">
                          <a:effectLst/>
                        </a:rPr>
                        <a:t>y</a:t>
                      </a:r>
                      <a:r>
                        <a:rPr lang="en-US" sz="2400" b="1" u="none" strike="noStrike" dirty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2104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1416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232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1534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315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852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178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26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12826"/>
            <a:ext cx="2201418" cy="306324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9726303"/>
              </p:ext>
            </p:extLst>
          </p:nvPr>
        </p:nvGraphicFramePr>
        <p:xfrm>
          <a:off x="215306" y="1056513"/>
          <a:ext cx="2832694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545586"/>
            <a:ext cx="1044702" cy="62636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3545586"/>
            <a:ext cx="1044702" cy="62636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3545586"/>
            <a:ext cx="1044702" cy="626364"/>
          </a:xfrm>
          <a:prstGeom prst="rect">
            <a:avLst/>
          </a:prstGeom>
        </p:spPr>
      </p:pic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3835419"/>
              </p:ext>
            </p:extLst>
          </p:nvPr>
        </p:nvGraphicFramePr>
        <p:xfrm>
          <a:off x="3273508" y="1056513"/>
          <a:ext cx="2832694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9571369"/>
              </p:ext>
            </p:extLst>
          </p:nvPr>
        </p:nvGraphicFramePr>
        <p:xfrm>
          <a:off x="6268804" y="1056513"/>
          <a:ext cx="2832694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609600" y="2114550"/>
            <a:ext cx="2201418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733800" y="2114550"/>
            <a:ext cx="2286001" cy="76200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181600" y="2377506"/>
            <a:ext cx="0" cy="49904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657600" y="2377506"/>
            <a:ext cx="1524000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712077" y="1561338"/>
            <a:ext cx="2057400" cy="796356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8153400" y="1809750"/>
            <a:ext cx="0" cy="1002696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683502" y="1809750"/>
            <a:ext cx="1469898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084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V="1">
            <a:off x="858666" y="433685"/>
            <a:ext cx="0" cy="2133601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630066" y="2338685"/>
            <a:ext cx="29718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4538" y="1119485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1666" y="2262485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1011066" y="984142"/>
            <a:ext cx="1811743" cy="1108886"/>
            <a:chOff x="1981200" y="760007"/>
            <a:chExt cx="1811743" cy="1108886"/>
          </a:xfrm>
        </p:grpSpPr>
        <p:grpSp>
          <p:nvGrpSpPr>
            <p:cNvPr id="25" name="Group 24"/>
            <p:cNvGrpSpPr/>
            <p:nvPr/>
          </p:nvGrpSpPr>
          <p:grpSpPr>
            <a:xfrm flipV="1">
              <a:off x="1981200" y="1733550"/>
              <a:ext cx="135343" cy="135343"/>
              <a:chOff x="5370863" y="1729085"/>
              <a:chExt cx="914400" cy="91440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/>
            <p:cNvGrpSpPr/>
            <p:nvPr/>
          </p:nvGrpSpPr>
          <p:grpSpPr>
            <a:xfrm flipV="1">
              <a:off x="2438400" y="1675773"/>
              <a:ext cx="135343" cy="135343"/>
              <a:chOff x="5370863" y="1729085"/>
              <a:chExt cx="914400" cy="9144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/>
            <p:cNvGrpSpPr/>
            <p:nvPr/>
          </p:nvGrpSpPr>
          <p:grpSpPr>
            <a:xfrm flipV="1">
              <a:off x="2535773" y="1358615"/>
              <a:ext cx="135343" cy="135343"/>
              <a:chOff x="5370863" y="1729085"/>
              <a:chExt cx="914400" cy="914400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/>
            <p:cNvGrpSpPr/>
            <p:nvPr/>
          </p:nvGrpSpPr>
          <p:grpSpPr>
            <a:xfrm flipV="1">
              <a:off x="3062986" y="1276350"/>
              <a:ext cx="135343" cy="135343"/>
              <a:chOff x="5370863" y="1729085"/>
              <a:chExt cx="914400" cy="914400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/>
            <p:cNvGrpSpPr/>
            <p:nvPr/>
          </p:nvGrpSpPr>
          <p:grpSpPr>
            <a:xfrm flipV="1">
              <a:off x="3429000" y="1058510"/>
              <a:ext cx="135343" cy="135343"/>
              <a:chOff x="5370863" y="1729085"/>
              <a:chExt cx="914400" cy="9144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/>
            <p:cNvGrpSpPr/>
            <p:nvPr/>
          </p:nvGrpSpPr>
          <p:grpSpPr>
            <a:xfrm flipV="1">
              <a:off x="3657600" y="760007"/>
              <a:ext cx="135343" cy="135343"/>
              <a:chOff x="5370863" y="1729085"/>
              <a:chExt cx="914400" cy="914400"/>
            </a:xfrm>
          </p:grpSpPr>
          <p:cxnSp>
            <p:nvCxnSpPr>
              <p:cNvPr id="41" name="Straight Connector 40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5"/>
          <p:cNvGrpSpPr/>
          <p:nvPr/>
        </p:nvGrpSpPr>
        <p:grpSpPr>
          <a:xfrm>
            <a:off x="152400" y="3130064"/>
            <a:ext cx="4801737" cy="1384995"/>
            <a:chOff x="532262" y="3130064"/>
            <a:chExt cx="4801737" cy="1384995"/>
          </a:xfrm>
        </p:grpSpPr>
        <p:grpSp>
          <p:nvGrpSpPr>
            <p:cNvPr id="49" name="Group 48"/>
            <p:cNvGrpSpPr/>
            <p:nvPr/>
          </p:nvGrpSpPr>
          <p:grpSpPr>
            <a:xfrm>
              <a:off x="532262" y="3130064"/>
              <a:ext cx="4801737" cy="1384995"/>
              <a:chOff x="837062" y="2368064"/>
              <a:chExt cx="4801737" cy="1384995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837062" y="2368064"/>
                <a:ext cx="4801737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3275" indent="-803275"/>
                <a:r>
                  <a:rPr lang="en-US" sz="2800" dirty="0"/>
                  <a:t>Idea: Choose             so that                    	          is close to     for our training examples </a:t>
                </a:r>
              </a:p>
            </p:txBody>
          </p:sp>
          <p:pic>
            <p:nvPicPr>
              <p:cNvPr id="46" name="Picture 45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8460" y="2441595"/>
                <a:ext cx="789354" cy="335895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37257" y="2886668"/>
                <a:ext cx="831342" cy="375084"/>
              </a:xfrm>
              <a:prstGeom prst="rect">
                <a:avLst/>
              </a:prstGeom>
            </p:spPr>
          </p:pic>
        </p:grpSp>
        <p:pic>
          <p:nvPicPr>
            <p:cNvPr id="2" name="Picture 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1144" y="3760157"/>
              <a:ext cx="180023" cy="24574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3869" y="4057587"/>
              <a:ext cx="808673" cy="382905"/>
            </a:xfrm>
            <a:prstGeom prst="rect">
              <a:avLst/>
            </a:prstGeom>
          </p:spPr>
        </p:pic>
      </p:grpSp>
      <p:cxnSp>
        <p:nvCxnSpPr>
          <p:cNvPr id="45" name="Straight Connector 44"/>
          <p:cNvCxnSpPr/>
          <p:nvPr/>
        </p:nvCxnSpPr>
        <p:spPr>
          <a:xfrm flipV="1">
            <a:off x="1033545" y="982116"/>
            <a:ext cx="1989607" cy="1108423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791200" y="2724150"/>
                <a:ext cx="1947200" cy="5954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sz="24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it-IT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it-IT" sz="2400" dirty="0"/>
                            <m:t>)</m:t>
                          </m:r>
                          <m:r>
                            <m:rPr>
                              <m:nor/>
                            </m:rPr>
                            <a:rPr lang="en-GB" sz="2400" b="0" i="0" dirty="0" smtClean="0"/>
                            <m:t>]</m:t>
                          </m:r>
                        </m:e>
                      </m:func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724150"/>
                <a:ext cx="1947200" cy="595484"/>
              </a:xfrm>
              <a:prstGeom prst="rect">
                <a:avLst/>
              </a:prstGeom>
              <a:blipFill rotWithShape="0">
                <a:blip r:embed="rId10"/>
                <a:stretch>
                  <a:fillRect l="-3135" r="-4702" b="-71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092943" y="918582"/>
                <a:ext cx="4520212" cy="5235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it-IT" sz="24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GB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it-IT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943" y="918582"/>
                <a:ext cx="4520212" cy="523541"/>
              </a:xfrm>
              <a:prstGeom prst="rect">
                <a:avLst/>
              </a:prstGeom>
              <a:blipFill rotWithShape="0">
                <a:blip r:embed="rId11"/>
                <a:stretch>
                  <a:fillRect l="-674" t="-3488" b="-197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349075" y="44321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u="sng" dirty="0"/>
              <a:t>COST FUNCTION</a:t>
            </a:r>
            <a:endParaRPr lang="it-IT" sz="2000" u="sng" dirty="0"/>
          </a:p>
        </p:txBody>
      </p:sp>
      <p:sp>
        <p:nvSpPr>
          <p:cNvPr id="15" name="TextBox 14"/>
          <p:cNvSpPr txBox="1"/>
          <p:nvPr/>
        </p:nvSpPr>
        <p:spPr>
          <a:xfrm>
            <a:off x="5222790" y="3529324"/>
            <a:ext cx="3365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Minimize squared errors!</a:t>
            </a:r>
            <a:endParaRPr lang="it-IT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88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895350"/>
            <a:ext cx="2261483" cy="3146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4800" y="361950"/>
            <a:ext cx="1651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Hypothesis: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59" y="1985145"/>
            <a:ext cx="662241" cy="28180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4800" y="1478062"/>
            <a:ext cx="1687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Parameters: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041141"/>
            <a:ext cx="3810000" cy="5354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4800" y="2594174"/>
            <a:ext cx="197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Cost Function: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817" y="3919133"/>
            <a:ext cx="2435263" cy="48141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4800" y="3827039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Goal: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5105400" y="566800"/>
            <a:ext cx="0" cy="39624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963" y="819150"/>
            <a:ext cx="1799412" cy="35563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885950"/>
            <a:ext cx="268054" cy="30255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2957238"/>
            <a:ext cx="3741419" cy="5773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902045"/>
            <a:ext cx="2133600" cy="49850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48400" y="57150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/>
              <a:t>Simplified</a:t>
            </a:r>
          </a:p>
        </p:txBody>
      </p:sp>
      <p:graphicFrame>
        <p:nvGraphicFramePr>
          <p:cNvPr id="18" name="Char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668246"/>
              </p:ext>
            </p:extLst>
          </p:nvPr>
        </p:nvGraphicFramePr>
        <p:xfrm>
          <a:off x="6159315" y="1155736"/>
          <a:ext cx="2276917" cy="1929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cxnSp>
        <p:nvCxnSpPr>
          <p:cNvPr id="21" name="Straight Connector 20"/>
          <p:cNvCxnSpPr>
            <a:cxnSpLocks noChangeAspect="1"/>
          </p:cNvCxnSpPr>
          <p:nvPr/>
        </p:nvCxnSpPr>
        <p:spPr>
          <a:xfrm flipV="1">
            <a:off x="6619607" y="1985145"/>
            <a:ext cx="1559069" cy="51969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har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517075"/>
              </p:ext>
            </p:extLst>
          </p:nvPr>
        </p:nvGraphicFramePr>
        <p:xfrm>
          <a:off x="2253864" y="1155736"/>
          <a:ext cx="2276917" cy="1929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cxnSp>
        <p:nvCxnSpPr>
          <p:cNvPr id="23" name="Straight Connector 22"/>
          <p:cNvCxnSpPr>
            <a:cxnSpLocks noChangeAspect="1"/>
          </p:cNvCxnSpPr>
          <p:nvPr/>
        </p:nvCxnSpPr>
        <p:spPr>
          <a:xfrm flipV="1">
            <a:off x="2736638" y="1605895"/>
            <a:ext cx="1559069" cy="51969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24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Graphic spid="18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2828426"/>
              </p:ext>
            </p:extLst>
          </p:nvPr>
        </p:nvGraphicFramePr>
        <p:xfrm>
          <a:off x="533400" y="1169225"/>
          <a:ext cx="3169920" cy="268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78" y="209550"/>
            <a:ext cx="678942" cy="3063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8600" y="2102675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54601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731520" y="1143000"/>
            <a:ext cx="3063240" cy="2354580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259891"/>
            <a:ext cx="543154" cy="24505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331275"/>
            <a:ext cx="640080" cy="20848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2728" y="578675"/>
            <a:ext cx="346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, this is a function of x)</a:t>
            </a:r>
          </a:p>
        </p:txBody>
      </p:sp>
      <p:pic>
        <p:nvPicPr>
          <p:cNvPr id="33" name="Picture 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095" y="666750"/>
            <a:ext cx="184709" cy="208483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>
            <a:off x="4648200" y="209550"/>
            <a:ext cx="0" cy="39624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662940" cy="3063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145934" y="578675"/>
            <a:ext cx="3080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      )</a:t>
            </a:r>
          </a:p>
        </p:txBody>
      </p:sp>
      <p:pic>
        <p:nvPicPr>
          <p:cNvPr id="37" name="Picture 3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291" y="666750"/>
            <a:ext cx="184709" cy="208483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4956048" y="1104900"/>
            <a:ext cx="3883152" cy="2914650"/>
            <a:chOff x="4956048" y="1104900"/>
            <a:chExt cx="3883152" cy="2914650"/>
          </a:xfrm>
        </p:grpSpPr>
        <p:graphicFrame>
          <p:nvGraphicFramePr>
            <p:cNvPr id="40" name="Chart 39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21781722"/>
                </p:ext>
              </p:extLst>
            </p:nvPr>
          </p:nvGraphicFramePr>
          <p:xfrm>
            <a:off x="5334000" y="1104900"/>
            <a:ext cx="3505200" cy="2686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7"/>
            </a:graphicData>
          </a:graphic>
        </p:graphicFrame>
        <p:pic>
          <p:nvPicPr>
            <p:cNvPr id="48" name="Picture 47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6048" y="2132859"/>
              <a:ext cx="530352" cy="245059"/>
            </a:xfrm>
            <a:prstGeom prst="rect">
              <a:avLst/>
            </a:prstGeom>
          </p:spPr>
        </p:pic>
        <p:pic>
          <p:nvPicPr>
            <p:cNvPr id="47" name="Picture 46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2276" y="3811067"/>
              <a:ext cx="184709" cy="20848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218010" y="4702954"/>
                <a:ext cx="6578917" cy="3928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((1−1)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(1−1)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/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(1−1)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010" y="4702954"/>
                <a:ext cx="6578917" cy="392864"/>
              </a:xfrm>
              <a:prstGeom prst="rect">
                <a:avLst/>
              </a:prstGeom>
              <a:blipFill rotWithShape="0">
                <a:blip r:embed="rId19"/>
                <a:stretch>
                  <a:fillRect l="-1576" t="-107692" r="-278" b="-1707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21719" y="2564340"/>
                <a:ext cx="6804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719" y="2564340"/>
                <a:ext cx="680443" cy="276999"/>
              </a:xfrm>
              <a:prstGeom prst="rect">
                <a:avLst/>
              </a:prstGeom>
              <a:blipFill rotWithShape="0">
                <a:blip r:embed="rId20"/>
                <a:stretch>
                  <a:fillRect l="-4464" r="-8036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970" y="4125515"/>
            <a:ext cx="3741419" cy="5773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54777" y="3017896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80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16" grpId="0"/>
      <p:bldP spid="17" grpId="0"/>
      <p:bldP spid="30" grpId="0"/>
      <p:bldP spid="36" grpId="0"/>
      <p:bldP spid="3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Chart 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696626"/>
              </p:ext>
            </p:extLst>
          </p:nvPr>
        </p:nvGraphicFramePr>
        <p:xfrm>
          <a:off x="533400" y="1169225"/>
          <a:ext cx="3169920" cy="268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78" y="209550"/>
            <a:ext cx="678942" cy="3063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8600" y="2102675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54601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833252" y="2266950"/>
            <a:ext cx="2870068" cy="1093768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40" y="2331276"/>
            <a:ext cx="835762" cy="20848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2728" y="578675"/>
            <a:ext cx="346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, this is a function of x)</a:t>
            </a:r>
          </a:p>
        </p:txBody>
      </p:sp>
      <p:pic>
        <p:nvPicPr>
          <p:cNvPr id="33" name="Picture 3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095" y="666750"/>
            <a:ext cx="184709" cy="208483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>
            <a:off x="4648200" y="258790"/>
            <a:ext cx="0" cy="39624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5145934" y="209550"/>
            <a:ext cx="3080843" cy="738457"/>
            <a:chOff x="5145934" y="209550"/>
            <a:chExt cx="3080843" cy="738457"/>
          </a:xfrm>
        </p:grpSpPr>
        <p:pic>
          <p:nvPicPr>
            <p:cNvPr id="38" name="Picture 37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0784" y="209550"/>
              <a:ext cx="662940" cy="306324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145934" y="578675"/>
              <a:ext cx="30808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(function of the parameter      )</a:t>
              </a:r>
            </a:p>
          </p:txBody>
        </p:sp>
        <p:pic>
          <p:nvPicPr>
            <p:cNvPr id="37" name="Picture 36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6291" y="666750"/>
              <a:ext cx="184709" cy="208483"/>
            </a:xfrm>
            <a:prstGeom prst="rect">
              <a:avLst/>
            </a:prstGeom>
          </p:spPr>
        </p:pic>
      </p:grpSp>
      <p:pic>
        <p:nvPicPr>
          <p:cNvPr id="45" name="Picture 4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259891"/>
            <a:ext cx="543154" cy="245059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4956048" y="1104900"/>
            <a:ext cx="3883152" cy="2914650"/>
            <a:chOff x="4956048" y="1104900"/>
            <a:chExt cx="3883152" cy="2914650"/>
          </a:xfrm>
        </p:grpSpPr>
        <p:graphicFrame>
          <p:nvGraphicFramePr>
            <p:cNvPr id="50" name="Chart 49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33916439"/>
                </p:ext>
              </p:extLst>
            </p:nvPr>
          </p:nvGraphicFramePr>
          <p:xfrm>
            <a:off x="5334000" y="1104900"/>
            <a:ext cx="3505200" cy="2686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7"/>
            </a:graphicData>
          </a:graphic>
        </p:graphicFrame>
        <p:pic>
          <p:nvPicPr>
            <p:cNvPr id="51" name="Picture 5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6048" y="2132859"/>
              <a:ext cx="530352" cy="245059"/>
            </a:xfrm>
            <a:prstGeom prst="rect">
              <a:avLst/>
            </a:prstGeom>
          </p:spPr>
        </p:pic>
        <p:pic>
          <p:nvPicPr>
            <p:cNvPr id="52" name="Picture 5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2276" y="3811067"/>
              <a:ext cx="184709" cy="208483"/>
            </a:xfrm>
            <a:prstGeom prst="rect">
              <a:avLst/>
            </a:prstGeom>
          </p:spPr>
        </p:pic>
      </p:grpSp>
      <p:sp>
        <p:nvSpPr>
          <p:cNvPr id="23" name="TextBox 22"/>
          <p:cNvSpPr txBox="1"/>
          <p:nvPr/>
        </p:nvSpPr>
        <p:spPr>
          <a:xfrm>
            <a:off x="6954777" y="3017896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970" y="4125515"/>
            <a:ext cx="3741419" cy="577317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1828800" y="2647950"/>
            <a:ext cx="0" cy="369946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636520" y="2057929"/>
            <a:ext cx="0" cy="63997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505200" y="1367994"/>
            <a:ext cx="0" cy="963282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218010" y="4702954"/>
                <a:ext cx="7713843" cy="3928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((0.5−1)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/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.5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≈0.58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010" y="4702954"/>
                <a:ext cx="7713843" cy="392864"/>
              </a:xfrm>
              <a:prstGeom prst="rect">
                <a:avLst/>
              </a:prstGeom>
              <a:blipFill rotWithShape="0">
                <a:blip r:embed="rId20"/>
                <a:stretch>
                  <a:fillRect l="-1344" t="-107692" r="-237" b="-1707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6457363" y="2705587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41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/>
          <p:cNvGrpSpPr/>
          <p:nvPr/>
        </p:nvGrpSpPr>
        <p:grpSpPr>
          <a:xfrm>
            <a:off x="4956048" y="1104900"/>
            <a:ext cx="3883152" cy="2914650"/>
            <a:chOff x="4956048" y="1104900"/>
            <a:chExt cx="3883152" cy="2914650"/>
          </a:xfrm>
        </p:grpSpPr>
        <p:graphicFrame>
          <p:nvGraphicFramePr>
            <p:cNvPr id="69" name="Chart 68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47985067"/>
                </p:ext>
              </p:extLst>
            </p:nvPr>
          </p:nvGraphicFramePr>
          <p:xfrm>
            <a:off x="5334000" y="1104900"/>
            <a:ext cx="3505200" cy="2686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pic>
          <p:nvPicPr>
            <p:cNvPr id="70" name="Picture 69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6048" y="2132859"/>
              <a:ext cx="530352" cy="245059"/>
            </a:xfrm>
            <a:prstGeom prst="rect">
              <a:avLst/>
            </a:prstGeom>
          </p:spPr>
        </p:pic>
        <p:pic>
          <p:nvPicPr>
            <p:cNvPr id="71" name="Picture 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2276" y="3811067"/>
              <a:ext cx="184709" cy="208483"/>
            </a:xfrm>
            <a:prstGeom prst="rect">
              <a:avLst/>
            </a:prstGeom>
          </p:spPr>
        </p:pic>
      </p:grp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78" y="209550"/>
            <a:ext cx="678942" cy="3063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8600" y="2102675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54601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833252" y="3276119"/>
            <a:ext cx="3412612" cy="1334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40" y="2331277"/>
            <a:ext cx="649224" cy="20848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2728" y="578675"/>
            <a:ext cx="346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, this is a function of x)</a:t>
            </a:r>
          </a:p>
        </p:txBody>
      </p:sp>
      <p:pic>
        <p:nvPicPr>
          <p:cNvPr id="33" name="Picture 3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095" y="666750"/>
            <a:ext cx="184709" cy="208483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>
            <a:off x="4648200" y="45275"/>
            <a:ext cx="0" cy="39624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5145934" y="209550"/>
            <a:ext cx="3080843" cy="738457"/>
            <a:chOff x="5145934" y="209550"/>
            <a:chExt cx="3080843" cy="738457"/>
          </a:xfrm>
        </p:grpSpPr>
        <p:pic>
          <p:nvPicPr>
            <p:cNvPr id="38" name="Picture 37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0784" y="209550"/>
              <a:ext cx="662940" cy="306324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145934" y="578675"/>
              <a:ext cx="30808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(function of the parameter      )</a:t>
              </a:r>
            </a:p>
          </p:txBody>
        </p:sp>
        <p:pic>
          <p:nvPicPr>
            <p:cNvPr id="37" name="Picture 3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6291" y="666750"/>
              <a:ext cx="184709" cy="208483"/>
            </a:xfrm>
            <a:prstGeom prst="rect">
              <a:avLst/>
            </a:prstGeom>
          </p:spPr>
        </p:pic>
      </p:grpSp>
      <p:graphicFrame>
        <p:nvGraphicFramePr>
          <p:cNvPr id="59" name="Chart 5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1574275"/>
              </p:ext>
            </p:extLst>
          </p:nvPr>
        </p:nvGraphicFramePr>
        <p:xfrm>
          <a:off x="533400" y="1169225"/>
          <a:ext cx="3169920" cy="268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pic>
        <p:nvPicPr>
          <p:cNvPr id="60" name="Picture 5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336" y="3010948"/>
            <a:ext cx="543154" cy="245059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>
            <a:off x="3505200" y="1367994"/>
            <a:ext cx="0" cy="1908125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636520" y="2058119"/>
            <a:ext cx="0" cy="1231346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828800" y="2724150"/>
            <a:ext cx="0" cy="565315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115" y="4026991"/>
            <a:ext cx="3741419" cy="5773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218010" y="4702954"/>
                <a:ext cx="7008522" cy="3928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((0−1)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/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≈2.33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010" y="4702954"/>
                <a:ext cx="7008522" cy="392864"/>
              </a:xfrm>
              <a:prstGeom prst="rect">
                <a:avLst/>
              </a:prstGeom>
              <a:blipFill rotWithShape="0">
                <a:blip r:embed="rId20"/>
                <a:stretch>
                  <a:fillRect l="-1480" t="-107692" r="-261" b="-1707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6954777" y="3017896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57363" y="2705587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92499" y="1611020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64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29118" y="1504950"/>
            <a:ext cx="3883152" cy="2914650"/>
            <a:chOff x="4956048" y="1104900"/>
            <a:chExt cx="3883152" cy="2914650"/>
          </a:xfrm>
        </p:grpSpPr>
        <p:graphicFrame>
          <p:nvGraphicFramePr>
            <p:cNvPr id="3" name="Chart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698274486"/>
                </p:ext>
              </p:extLst>
            </p:nvPr>
          </p:nvGraphicFramePr>
          <p:xfrm>
            <a:off x="5334000" y="1104900"/>
            <a:ext cx="3505200" cy="2686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pic>
          <p:nvPicPr>
            <p:cNvPr id="4" name="Picture 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6048" y="2132859"/>
              <a:ext cx="530352" cy="245059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2276" y="3811067"/>
              <a:ext cx="184709" cy="208483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847" y="242128"/>
            <a:ext cx="662940" cy="3063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27847" y="3417946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30433" y="3105637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65569" y="2011070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03664" y="2011070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8773" y="3105637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40678" y="871966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06514" y="883519"/>
            <a:ext cx="424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2904565" y="1039906"/>
            <a:ext cx="2545976" cy="2590985"/>
          </a:xfrm>
          <a:custGeom>
            <a:avLst/>
            <a:gdLst>
              <a:gd name="connsiteX0" fmla="*/ 0 w 2545976"/>
              <a:gd name="connsiteY0" fmla="*/ 0 h 2590985"/>
              <a:gd name="connsiteX1" fmla="*/ 421341 w 2545976"/>
              <a:gd name="connsiteY1" fmla="*/ 1192306 h 2590985"/>
              <a:gd name="connsiteX2" fmla="*/ 887506 w 2545976"/>
              <a:gd name="connsiteY2" fmla="*/ 2286000 h 2590985"/>
              <a:gd name="connsiteX3" fmla="*/ 1389529 w 2545976"/>
              <a:gd name="connsiteY3" fmla="*/ 2590800 h 2590985"/>
              <a:gd name="connsiteX4" fmla="*/ 1819835 w 2545976"/>
              <a:gd name="connsiteY4" fmla="*/ 2259106 h 2590985"/>
              <a:gd name="connsiteX5" fmla="*/ 2259106 w 2545976"/>
              <a:gd name="connsiteY5" fmla="*/ 1183341 h 2590985"/>
              <a:gd name="connsiteX6" fmla="*/ 2545976 w 2545976"/>
              <a:gd name="connsiteY6" fmla="*/ 35859 h 2590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5976" h="2590985">
                <a:moveTo>
                  <a:pt x="0" y="0"/>
                </a:moveTo>
                <a:cubicBezTo>
                  <a:pt x="136711" y="405653"/>
                  <a:pt x="273423" y="811306"/>
                  <a:pt x="421341" y="1192306"/>
                </a:cubicBezTo>
                <a:cubicBezTo>
                  <a:pt x="569259" y="1573306"/>
                  <a:pt x="726141" y="2052918"/>
                  <a:pt x="887506" y="2286000"/>
                </a:cubicBezTo>
                <a:cubicBezTo>
                  <a:pt x="1048871" y="2519082"/>
                  <a:pt x="1234141" y="2595282"/>
                  <a:pt x="1389529" y="2590800"/>
                </a:cubicBezTo>
                <a:cubicBezTo>
                  <a:pt x="1544917" y="2586318"/>
                  <a:pt x="1674906" y="2493683"/>
                  <a:pt x="1819835" y="2259106"/>
                </a:cubicBezTo>
                <a:cubicBezTo>
                  <a:pt x="1964765" y="2024530"/>
                  <a:pt x="2138082" y="1553882"/>
                  <a:pt x="2259106" y="1183341"/>
                </a:cubicBezTo>
                <a:cubicBezTo>
                  <a:pt x="2380130" y="812800"/>
                  <a:pt x="2463053" y="424329"/>
                  <a:pt x="2545976" y="3585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4" name="Picture 2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2306357"/>
            <a:ext cx="2133600" cy="498505"/>
          </a:xfrm>
          <a:prstGeom prst="rect">
            <a:avLst/>
          </a:prstGeom>
        </p:spPr>
      </p:pic>
      <p:cxnSp>
        <p:nvCxnSpPr>
          <p:cNvPr id="27" name="Straight Arrow Connector 26"/>
          <p:cNvCxnSpPr/>
          <p:nvPr/>
        </p:nvCxnSpPr>
        <p:spPr>
          <a:xfrm flipH="1" flipV="1">
            <a:off x="4321859" y="3729970"/>
            <a:ext cx="1808300" cy="92205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200090" y="4513529"/>
                <a:ext cx="7062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090" y="4513529"/>
                <a:ext cx="706219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6897" r="-7759" b="-152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24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468" y="895350"/>
            <a:ext cx="2580532" cy="3590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2258" y="786885"/>
            <a:ext cx="2143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Hypothesis: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530" y="1877915"/>
            <a:ext cx="755670" cy="3215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2258" y="1719890"/>
            <a:ext cx="2189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Parameters: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530" y="2571750"/>
            <a:ext cx="5360670" cy="7533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2258" y="2615685"/>
            <a:ext cx="2578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Cost Function: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530" y="3701415"/>
            <a:ext cx="2765679" cy="5467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2258" y="3587175"/>
            <a:ext cx="1063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Goal:</a:t>
            </a:r>
          </a:p>
        </p:txBody>
      </p:sp>
    </p:spTree>
    <p:extLst>
      <p:ext uri="{BB962C8B-B14F-4D97-AF65-F5344CB8AC3E}">
        <p14:creationId xmlns:p14="http://schemas.microsoft.com/office/powerpoint/2010/main" val="357850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18" y="4400550"/>
            <a:ext cx="2484882" cy="3063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>
            <a:off x="5105400" y="566800"/>
            <a:ext cx="0" cy="39624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66" name="Picture 6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039" y="1336091"/>
            <a:ext cx="530352" cy="245059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494" y="3734867"/>
            <a:ext cx="184709" cy="208483"/>
          </a:xfrm>
          <a:prstGeom prst="rect">
            <a:avLst/>
          </a:prstGeom>
        </p:spPr>
      </p:pic>
      <p:graphicFrame>
        <p:nvGraphicFramePr>
          <p:cNvPr id="54" name="Chart 5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3933837"/>
              </p:ext>
            </p:extLst>
          </p:nvPr>
        </p:nvGraphicFramePr>
        <p:xfrm>
          <a:off x="955296" y="1200150"/>
          <a:ext cx="4114800" cy="2909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0" y="2001619"/>
            <a:ext cx="1013739" cy="64633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dirty="0"/>
              <a:t>Price ($) </a:t>
            </a:r>
          </a:p>
          <a:p>
            <a:pPr algn="ctr"/>
            <a:r>
              <a:rPr lang="en-US" dirty="0"/>
              <a:t>in 1000’s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0" y="3943350"/>
            <a:ext cx="160717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dirty="0"/>
              <a:t>Size in feet</a:t>
            </a:r>
            <a:r>
              <a:rPr lang="en-US" baseline="30000" dirty="0"/>
              <a:t>2</a:t>
            </a:r>
            <a:r>
              <a:rPr lang="en-US" dirty="0"/>
              <a:t> (x)</a:t>
            </a:r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1013739" y="2535013"/>
            <a:ext cx="3863061" cy="1047215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5872039" y="1220029"/>
            <a:ext cx="0" cy="2629966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643439" y="3582228"/>
            <a:ext cx="2971800" cy="0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/>
          <p:cNvSpPr/>
          <p:nvPr/>
        </p:nvSpPr>
        <p:spPr>
          <a:xfrm>
            <a:off x="5776789" y="1657350"/>
            <a:ext cx="2457450" cy="1760585"/>
          </a:xfrm>
          <a:custGeom>
            <a:avLst/>
            <a:gdLst>
              <a:gd name="connsiteX0" fmla="*/ 0 w 2457450"/>
              <a:gd name="connsiteY0" fmla="*/ 0 h 1760585"/>
              <a:gd name="connsiteX1" fmla="*/ 354330 w 2457450"/>
              <a:gd name="connsiteY1" fmla="*/ 1245870 h 1760585"/>
              <a:gd name="connsiteX2" fmla="*/ 1200150 w 2457450"/>
              <a:gd name="connsiteY2" fmla="*/ 1760220 h 1760585"/>
              <a:gd name="connsiteX3" fmla="*/ 2000250 w 2457450"/>
              <a:gd name="connsiteY3" fmla="*/ 1303020 h 1760585"/>
              <a:gd name="connsiteX4" fmla="*/ 2457450 w 2457450"/>
              <a:gd name="connsiteY4" fmla="*/ 22860 h 1760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7450" h="1760585">
                <a:moveTo>
                  <a:pt x="0" y="0"/>
                </a:moveTo>
                <a:cubicBezTo>
                  <a:pt x="77152" y="476250"/>
                  <a:pt x="154305" y="952500"/>
                  <a:pt x="354330" y="1245870"/>
                </a:cubicBezTo>
                <a:cubicBezTo>
                  <a:pt x="554355" y="1539240"/>
                  <a:pt x="925830" y="1750695"/>
                  <a:pt x="1200150" y="1760220"/>
                </a:cubicBezTo>
                <a:cubicBezTo>
                  <a:pt x="1474470" y="1769745"/>
                  <a:pt x="1790700" y="1592580"/>
                  <a:pt x="2000250" y="1303020"/>
                </a:cubicBezTo>
                <a:cubicBezTo>
                  <a:pt x="2209800" y="1013460"/>
                  <a:pt x="2333625" y="518160"/>
                  <a:pt x="2457450" y="22860"/>
                </a:cubicBezTo>
              </a:path>
            </a:pathLst>
          </a:custGeom>
          <a:ln w="15748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95816" y="3230975"/>
                <a:ext cx="19483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=50; 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=0.06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816" y="3230975"/>
                <a:ext cx="1948354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2188" r="-2500" b="-177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61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ublic\Documents\ml-class\lectures-slides\assets\2.bow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7150"/>
            <a:ext cx="6310772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955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7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70678" y="4166346"/>
            <a:ext cx="3109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Contour Plots: all points on the same line have the same value of </a:t>
            </a:r>
            <a:r>
              <a:rPr lang="en-GB" i="1" dirty="0"/>
              <a:t>J</a:t>
            </a:r>
            <a:r>
              <a:rPr lang="en-GB" dirty="0"/>
              <a:t>(</a:t>
            </a:r>
            <a:r>
              <a:rPr lang="en-GB" i="1" dirty="0">
                <a:latin typeface="Symbol" panose="05050102010706020507" pitchFamily="18" charset="2"/>
              </a:rPr>
              <a:t>q</a:t>
            </a:r>
            <a:r>
              <a:rPr lang="en-GB" i="1" baseline="-25000" dirty="0"/>
              <a:t>0</a:t>
            </a:r>
            <a:r>
              <a:rPr lang="en-GB" i="1" dirty="0"/>
              <a:t>,</a:t>
            </a:r>
            <a:r>
              <a:rPr lang="en-GB" i="1" dirty="0">
                <a:latin typeface="Symbol" panose="05050102010706020507" pitchFamily="18" charset="2"/>
              </a:rPr>
              <a:t>q</a:t>
            </a:r>
            <a:r>
              <a:rPr lang="en-GB" i="1" baseline="-25000" dirty="0"/>
              <a:t>1</a:t>
            </a:r>
            <a:r>
              <a:rPr lang="en-GB" dirty="0"/>
              <a:t>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397325" y="4473656"/>
                <a:ext cx="20573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=800, 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325" y="4473656"/>
                <a:ext cx="2057358" cy="276999"/>
              </a:xfrm>
              <a:prstGeom prst="rect">
                <a:avLst/>
              </a:prstGeom>
              <a:blipFill>
                <a:blip r:embed="rId12"/>
                <a:stretch>
                  <a:fillRect l="-2071" r="-236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H="1" flipV="1">
            <a:off x="3657600" y="2526165"/>
            <a:ext cx="3412727" cy="2741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581400" y="2800350"/>
            <a:ext cx="3488927" cy="16733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39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397325" y="4473656"/>
                <a:ext cx="1707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=360, 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325" y="4473656"/>
                <a:ext cx="1707903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2500" r="-3214" b="-1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H="1">
            <a:off x="3733800" y="2495550"/>
            <a:ext cx="2816984" cy="19781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3581400" y="2419350"/>
            <a:ext cx="2969384" cy="762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2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16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79263" y="4473656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Very close to the minimum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09694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191000" y="2190750"/>
            <a:ext cx="4495800" cy="1625589"/>
          </a:xfrm>
        </p:spPr>
        <p:txBody>
          <a:bodyPr anchor="t" anchorCtr="0">
            <a:noAutofit/>
          </a:bodyPr>
          <a:lstStyle/>
          <a:p>
            <a:pPr algn="l"/>
            <a:r>
              <a:rPr lang="en-US" sz="6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Gradient descent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89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39843" y="438150"/>
            <a:ext cx="30894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Have some function</a:t>
            </a:r>
          </a:p>
        </p:txBody>
      </p:sp>
      <p:pic>
        <p:nvPicPr>
          <p:cNvPr id="43" name="Picture 4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598" y="525780"/>
            <a:ext cx="1305492" cy="37141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39843" y="1057930"/>
            <a:ext cx="1050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Want 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020" y="1146810"/>
            <a:ext cx="2076037" cy="5682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1787468"/>
            <a:ext cx="7620000" cy="2962513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Outline: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/>
              <a:t>Start with some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/>
              <a:t>Keep changing              to reduce                     until we hopefully end up at a minimum</a:t>
            </a:r>
          </a:p>
        </p:txBody>
      </p:sp>
      <p:pic>
        <p:nvPicPr>
          <p:cNvPr id="48" name="Picture 4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090" y="2819400"/>
            <a:ext cx="796862" cy="339090"/>
          </a:xfrm>
          <a:prstGeom prst="rect">
            <a:avLst/>
          </a:prstGeom>
          <a:ln>
            <a:noFill/>
          </a:ln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860" y="3450560"/>
            <a:ext cx="1330930" cy="378651"/>
          </a:xfrm>
          <a:prstGeom prst="rect">
            <a:avLst/>
          </a:prstGeom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3455670"/>
            <a:ext cx="796862" cy="3390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239370" y="1439956"/>
                <a:ext cx="38519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In general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,⋯</m:t>
                    </m:r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370" y="1439956"/>
                <a:ext cx="3851910" cy="523220"/>
              </a:xfrm>
              <a:prstGeom prst="rect">
                <a:avLst/>
              </a:prstGeom>
              <a:blipFill rotWithShape="0">
                <a:blip r:embed="rId10"/>
                <a:stretch>
                  <a:fillRect l="-3165" t="-10465" b="-3255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4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10778"/>
            <a:ext cx="7677150" cy="4032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AutoShape 7"/>
          <p:cNvSpPr>
            <a:spLocks noChangeArrowheads="1"/>
          </p:cNvSpPr>
          <p:nvPr/>
        </p:nvSpPr>
        <p:spPr bwMode="auto">
          <a:xfrm>
            <a:off x="3790950" y="202406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2" name="AutoShape 8"/>
          <p:cNvSpPr>
            <a:spLocks noChangeArrowheads="1"/>
          </p:cNvSpPr>
          <p:nvPr/>
        </p:nvSpPr>
        <p:spPr bwMode="auto">
          <a:xfrm>
            <a:off x="3829050" y="2241946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3" name="AutoShape 9"/>
          <p:cNvSpPr>
            <a:spLocks noChangeArrowheads="1"/>
          </p:cNvSpPr>
          <p:nvPr/>
        </p:nvSpPr>
        <p:spPr bwMode="auto">
          <a:xfrm>
            <a:off x="3810000" y="24634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4" name="AutoShape 10"/>
          <p:cNvSpPr>
            <a:spLocks noChangeArrowheads="1"/>
          </p:cNvSpPr>
          <p:nvPr/>
        </p:nvSpPr>
        <p:spPr bwMode="auto">
          <a:xfrm>
            <a:off x="3581400" y="26920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5" name="AutoShape 11"/>
          <p:cNvSpPr>
            <a:spLocks noChangeArrowheads="1"/>
          </p:cNvSpPr>
          <p:nvPr/>
        </p:nvSpPr>
        <p:spPr bwMode="auto">
          <a:xfrm>
            <a:off x="3657600" y="29206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6" name="AutoShape 12"/>
          <p:cNvSpPr>
            <a:spLocks noChangeArrowheads="1"/>
          </p:cNvSpPr>
          <p:nvPr/>
        </p:nvSpPr>
        <p:spPr bwMode="auto">
          <a:xfrm>
            <a:off x="3962400" y="297775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7" name="AutoShape 13"/>
          <p:cNvSpPr>
            <a:spLocks noChangeArrowheads="1"/>
          </p:cNvSpPr>
          <p:nvPr/>
        </p:nvSpPr>
        <p:spPr bwMode="auto">
          <a:xfrm>
            <a:off x="4114800" y="31492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8" name="AutoShape 14"/>
          <p:cNvSpPr>
            <a:spLocks noChangeArrowheads="1"/>
          </p:cNvSpPr>
          <p:nvPr/>
        </p:nvSpPr>
        <p:spPr bwMode="auto">
          <a:xfrm>
            <a:off x="4038600" y="33778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477199" name="AutoShape 15"/>
          <p:cNvCxnSpPr>
            <a:cxnSpLocks noChangeShapeType="1"/>
          </p:cNvCxnSpPr>
          <p:nvPr/>
        </p:nvCxnSpPr>
        <p:spPr bwMode="auto">
          <a:xfrm>
            <a:off x="3692525" y="2777727"/>
            <a:ext cx="762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0" name="AutoShape 16"/>
          <p:cNvCxnSpPr>
            <a:cxnSpLocks noChangeShapeType="1"/>
          </p:cNvCxnSpPr>
          <p:nvPr/>
        </p:nvCxnSpPr>
        <p:spPr bwMode="auto">
          <a:xfrm flipH="1">
            <a:off x="3692525" y="2549127"/>
            <a:ext cx="2286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1" name="AutoShape 17"/>
          <p:cNvCxnSpPr>
            <a:cxnSpLocks noChangeShapeType="1"/>
          </p:cNvCxnSpPr>
          <p:nvPr/>
        </p:nvCxnSpPr>
        <p:spPr bwMode="auto">
          <a:xfrm>
            <a:off x="3775075" y="3006327"/>
            <a:ext cx="304800" cy="571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2" name="AutoShape 18"/>
          <p:cNvCxnSpPr>
            <a:cxnSpLocks noChangeShapeType="1"/>
          </p:cNvCxnSpPr>
          <p:nvPr/>
        </p:nvCxnSpPr>
        <p:spPr bwMode="auto">
          <a:xfrm>
            <a:off x="4068763" y="3063477"/>
            <a:ext cx="152400" cy="171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3" name="AutoShape 19"/>
          <p:cNvCxnSpPr>
            <a:cxnSpLocks noChangeShapeType="1"/>
          </p:cNvCxnSpPr>
          <p:nvPr/>
        </p:nvCxnSpPr>
        <p:spPr bwMode="auto">
          <a:xfrm flipH="1">
            <a:off x="4144963" y="3234927"/>
            <a:ext cx="762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7204" name="Line 20"/>
          <p:cNvSpPr>
            <a:spLocks noChangeShapeType="1"/>
          </p:cNvSpPr>
          <p:nvPr/>
        </p:nvSpPr>
        <p:spPr bwMode="auto">
          <a:xfrm>
            <a:off x="3905251" y="2109787"/>
            <a:ext cx="42863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205" name="Line 21"/>
          <p:cNvSpPr>
            <a:spLocks noChangeShapeType="1"/>
          </p:cNvSpPr>
          <p:nvPr/>
        </p:nvSpPr>
        <p:spPr bwMode="auto">
          <a:xfrm flipH="1">
            <a:off x="3924301" y="2334815"/>
            <a:ext cx="23813" cy="21074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0196" name="Text Box 22"/>
          <p:cNvSpPr txBox="1">
            <a:spLocks noChangeArrowheads="1"/>
          </p:cNvSpPr>
          <p:nvPr/>
        </p:nvSpPr>
        <p:spPr bwMode="auto">
          <a:xfrm>
            <a:off x="6772276" y="3714749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0197" name="Text Box 23"/>
          <p:cNvSpPr txBox="1">
            <a:spLocks noChangeArrowheads="1"/>
          </p:cNvSpPr>
          <p:nvPr/>
        </p:nvSpPr>
        <p:spPr bwMode="auto">
          <a:xfrm>
            <a:off x="2751138" y="3999309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596285" y="2379820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J(</a:t>
            </a:r>
            <a:r>
              <a:rPr lang="en-US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r>
              <a:rPr lang="en-US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,</a:t>
            </a:r>
            <a:r>
              <a:rPr lang="en-US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r>
              <a:rPr lang="en-US" dirty="0">
                <a:solidFill>
                  <a:prstClr val="black"/>
                </a:solidFill>
              </a:rPr>
              <a:t>)</a:t>
            </a:r>
            <a:endParaRPr lang="en-US" baseline="-25000" dirty="0">
              <a:solidFill>
                <a:prstClr val="black"/>
              </a:solidFill>
              <a:latin typeface="Symbol" pitchFamily="18" charset="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5436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91" grpId="0" animBg="1"/>
      <p:bldP spid="477192" grpId="0" animBg="1"/>
      <p:bldP spid="477193" grpId="0" animBg="1"/>
      <p:bldP spid="477194" grpId="0" animBg="1"/>
      <p:bldP spid="477195" grpId="0" animBg="1"/>
      <p:bldP spid="477196" grpId="0" animBg="1"/>
      <p:bldP spid="477197" grpId="0" animBg="1"/>
      <p:bldP spid="477198" grpId="0" animBg="1"/>
      <p:bldP spid="477204" grpId="0" animBg="1"/>
      <p:bldP spid="47720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10778"/>
            <a:ext cx="7677150" cy="4032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2751138" y="3993356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6772276" y="3708796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479239" name="AutoShape 7"/>
          <p:cNvSpPr>
            <a:spLocks noChangeArrowheads="1"/>
          </p:cNvSpPr>
          <p:nvPr/>
        </p:nvSpPr>
        <p:spPr bwMode="auto">
          <a:xfrm>
            <a:off x="3986213" y="1925240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0" name="AutoShape 8"/>
          <p:cNvSpPr>
            <a:spLocks noChangeArrowheads="1"/>
          </p:cNvSpPr>
          <p:nvPr/>
        </p:nvSpPr>
        <p:spPr bwMode="auto">
          <a:xfrm>
            <a:off x="4243388" y="215741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1" name="AutoShape 9"/>
          <p:cNvSpPr>
            <a:spLocks noChangeArrowheads="1"/>
          </p:cNvSpPr>
          <p:nvPr/>
        </p:nvSpPr>
        <p:spPr bwMode="auto">
          <a:xfrm>
            <a:off x="4529138" y="2250280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2" name="AutoShape 10"/>
          <p:cNvSpPr>
            <a:spLocks noChangeArrowheads="1"/>
          </p:cNvSpPr>
          <p:nvPr/>
        </p:nvSpPr>
        <p:spPr bwMode="auto">
          <a:xfrm>
            <a:off x="4876800" y="245744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3" name="AutoShape 11"/>
          <p:cNvSpPr>
            <a:spLocks noChangeArrowheads="1"/>
          </p:cNvSpPr>
          <p:nvPr/>
        </p:nvSpPr>
        <p:spPr bwMode="auto">
          <a:xfrm>
            <a:off x="5257800" y="262889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4" name="AutoShape 12"/>
          <p:cNvSpPr>
            <a:spLocks noChangeArrowheads="1"/>
          </p:cNvSpPr>
          <p:nvPr/>
        </p:nvSpPr>
        <p:spPr bwMode="auto">
          <a:xfrm>
            <a:off x="5638800" y="274319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5" name="AutoShape 13"/>
          <p:cNvSpPr>
            <a:spLocks noChangeArrowheads="1"/>
          </p:cNvSpPr>
          <p:nvPr/>
        </p:nvSpPr>
        <p:spPr bwMode="auto">
          <a:xfrm>
            <a:off x="6019800" y="285749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479246" name="AutoShape 14"/>
          <p:cNvCxnSpPr>
            <a:cxnSpLocks noChangeShapeType="1"/>
          </p:cNvCxnSpPr>
          <p:nvPr/>
        </p:nvCxnSpPr>
        <p:spPr bwMode="auto">
          <a:xfrm>
            <a:off x="4976813" y="2543174"/>
            <a:ext cx="381000" cy="171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9247" name="AutoShape 15"/>
          <p:cNvCxnSpPr>
            <a:cxnSpLocks noChangeShapeType="1"/>
          </p:cNvCxnSpPr>
          <p:nvPr/>
        </p:nvCxnSpPr>
        <p:spPr bwMode="auto">
          <a:xfrm>
            <a:off x="5368925" y="2714624"/>
            <a:ext cx="381000" cy="1143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9248" name="AutoShape 16"/>
          <p:cNvCxnSpPr>
            <a:cxnSpLocks noChangeShapeType="1"/>
          </p:cNvCxnSpPr>
          <p:nvPr/>
        </p:nvCxnSpPr>
        <p:spPr bwMode="auto">
          <a:xfrm>
            <a:off x="5749925" y="2828924"/>
            <a:ext cx="381000" cy="1143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9249" name="Line 17"/>
          <p:cNvSpPr>
            <a:spLocks noChangeShapeType="1"/>
          </p:cNvSpPr>
          <p:nvPr/>
        </p:nvSpPr>
        <p:spPr bwMode="auto">
          <a:xfrm>
            <a:off x="4100513" y="2014536"/>
            <a:ext cx="247650" cy="2250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0" name="Line 18"/>
          <p:cNvSpPr>
            <a:spLocks noChangeShapeType="1"/>
          </p:cNvSpPr>
          <p:nvPr/>
        </p:nvSpPr>
        <p:spPr bwMode="auto">
          <a:xfrm>
            <a:off x="4348163" y="2243136"/>
            <a:ext cx="290512" cy="1000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1" name="AutoShape 19"/>
          <p:cNvSpPr>
            <a:spLocks noChangeArrowheads="1"/>
          </p:cNvSpPr>
          <p:nvPr/>
        </p:nvSpPr>
        <p:spPr bwMode="auto">
          <a:xfrm>
            <a:off x="3790950" y="201810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2" name="Line 20"/>
          <p:cNvSpPr>
            <a:spLocks noChangeShapeType="1"/>
          </p:cNvSpPr>
          <p:nvPr/>
        </p:nvSpPr>
        <p:spPr bwMode="auto">
          <a:xfrm>
            <a:off x="4643439" y="2346722"/>
            <a:ext cx="333375" cy="19645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596285" y="2383392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J(</a:t>
            </a:r>
            <a:r>
              <a:rPr lang="en-US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r>
              <a:rPr lang="en-US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,</a:t>
            </a:r>
            <a:r>
              <a:rPr lang="en-US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r>
              <a:rPr lang="en-US" dirty="0">
                <a:solidFill>
                  <a:prstClr val="black"/>
                </a:solidFill>
              </a:rPr>
              <a:t>)</a:t>
            </a:r>
            <a:endParaRPr lang="en-US" baseline="-25000" dirty="0">
              <a:solidFill>
                <a:prstClr val="black"/>
              </a:solidFill>
              <a:latin typeface="Symbol" pitchFamily="18" charset="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7416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9" grpId="0" animBg="1"/>
      <p:bldP spid="479240" grpId="0" animBg="1"/>
      <p:bldP spid="479241" grpId="0" animBg="1"/>
      <p:bldP spid="479242" grpId="0" animBg="1"/>
      <p:bldP spid="479243" grpId="0" animBg="1"/>
      <p:bldP spid="479244" grpId="0" animBg="1"/>
      <p:bldP spid="479245" grpId="0" animBg="1"/>
      <p:bldP spid="479249" grpId="0" animBg="1"/>
      <p:bldP spid="479250" grpId="0" animBg="1"/>
      <p:bldP spid="479251" grpId="0" animBg="1"/>
      <p:bldP spid="47925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4263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Gradient descent algorithm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83" y="1147899"/>
            <a:ext cx="3230117" cy="12714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650" y="1642819"/>
            <a:ext cx="2731770" cy="306324"/>
          </a:xfrm>
          <a:prstGeom prst="rect">
            <a:avLst/>
          </a:prstGeom>
        </p:spPr>
      </p:pic>
      <p:cxnSp>
        <p:nvCxnSpPr>
          <p:cNvPr id="30" name="Straight Connector 29"/>
          <p:cNvCxnSpPr/>
          <p:nvPr/>
        </p:nvCxnSpPr>
        <p:spPr>
          <a:xfrm>
            <a:off x="609600" y="2800350"/>
            <a:ext cx="7696200" cy="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3465" y="2876550"/>
            <a:ext cx="3905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Correct: Simultaneous update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11" y="3436772"/>
            <a:ext cx="2964485" cy="1192378"/>
          </a:xfrm>
          <a:prstGeom prst="rect">
            <a:avLst/>
          </a:prstGeom>
        </p:spPr>
      </p:pic>
      <p:cxnSp>
        <p:nvCxnSpPr>
          <p:cNvPr id="39" name="Straight Connector 38"/>
          <p:cNvCxnSpPr/>
          <p:nvPr/>
        </p:nvCxnSpPr>
        <p:spPr>
          <a:xfrm>
            <a:off x="4457700" y="2876550"/>
            <a:ext cx="0" cy="190500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04465" y="2876550"/>
            <a:ext cx="1391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Incorrect: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110" y="3436772"/>
            <a:ext cx="2964485" cy="113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3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71440"/>
            <a:ext cx="48399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Gradient descent algorithm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82" y="1476756"/>
            <a:ext cx="3513582" cy="13830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555" y="1975867"/>
            <a:ext cx="2790845" cy="612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0882" y="3409950"/>
                <a:ext cx="1565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learning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rate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82" y="3409950"/>
                <a:ext cx="1565108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953" t="-2174" r="-3125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043036" y="3356272"/>
            <a:ext cx="2468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“size” of the step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456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609600" y="2227487"/>
            <a:ext cx="29718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609600" y="4629150"/>
            <a:ext cx="29718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V="1">
            <a:off x="838200" y="285750"/>
            <a:ext cx="0" cy="217033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838200" y="2687413"/>
            <a:ext cx="0" cy="217033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flipH="1" flipV="1">
            <a:off x="1538887" y="3936087"/>
            <a:ext cx="414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 flipH="1" flipV="1">
            <a:off x="3177891" y="1256618"/>
            <a:ext cx="414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x</a:t>
            </a:r>
            <a:endParaRPr lang="it-IT" b="1" dirty="0">
              <a:solidFill>
                <a:srgbClr val="FF0000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3113879" y="948321"/>
            <a:ext cx="612498" cy="9951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447800" y="3815632"/>
            <a:ext cx="762000" cy="6586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592286" y="1096194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positive</a:t>
            </a:r>
          </a:p>
          <a:p>
            <a:r>
              <a:rPr lang="en-GB" dirty="0"/>
              <a:t>slope</a:t>
            </a:r>
            <a:endParaRPr lang="it-IT" dirty="0"/>
          </a:p>
        </p:txBody>
      </p:sp>
      <p:sp>
        <p:nvSpPr>
          <p:cNvPr id="29" name="TextBox 28"/>
          <p:cNvSpPr txBox="1"/>
          <p:nvPr/>
        </p:nvSpPr>
        <p:spPr>
          <a:xfrm>
            <a:off x="815467" y="3936087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negative</a:t>
            </a:r>
          </a:p>
          <a:p>
            <a:r>
              <a:rPr lang="en-GB" dirty="0"/>
              <a:t>slope</a:t>
            </a:r>
            <a:endParaRPr lang="it-IT" dirty="0"/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2568291" y="2456087"/>
            <a:ext cx="60960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625235" y="4852307"/>
            <a:ext cx="58456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095500" y="133057"/>
                <a:ext cx="5616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133057"/>
                <a:ext cx="561629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13043" t="-2222" r="-15217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3177891" y="2251919"/>
                <a:ext cx="4612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891" y="2251919"/>
                <a:ext cx="46128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209800" y="4667641"/>
                <a:ext cx="4612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4667641"/>
                <a:ext cx="461280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370900" y="563750"/>
                <a:ext cx="3391249" cy="891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900" y="563750"/>
                <a:ext cx="3391249" cy="8911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4887686" y="2042953"/>
            <a:ext cx="3799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the derivative is positive, parameter moves on the left</a:t>
            </a:r>
          </a:p>
          <a:p>
            <a:r>
              <a:rPr lang="en-GB" dirty="0"/>
              <a:t>If the derivative is negative, parameter moves on the right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It goes towards a (local) minimum</a:t>
            </a:r>
            <a:endParaRPr lang="it-IT" dirty="0"/>
          </a:p>
        </p:txBody>
      </p:sp>
      <p:sp>
        <p:nvSpPr>
          <p:cNvPr id="39" name="Down Arrow 38"/>
          <p:cNvSpPr/>
          <p:nvPr/>
        </p:nvSpPr>
        <p:spPr>
          <a:xfrm>
            <a:off x="6596743" y="3405188"/>
            <a:ext cx="3810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Arc 39"/>
          <p:cNvSpPr/>
          <p:nvPr/>
        </p:nvSpPr>
        <p:spPr>
          <a:xfrm rot="5400000">
            <a:off x="741428" y="-761819"/>
            <a:ext cx="3429001" cy="2364946"/>
          </a:xfrm>
          <a:prstGeom prst="arc">
            <a:avLst>
              <a:gd name="adj1" fmla="val 16200000"/>
              <a:gd name="adj2" fmla="val 5416882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Arc 41"/>
          <p:cNvSpPr/>
          <p:nvPr/>
        </p:nvSpPr>
        <p:spPr>
          <a:xfrm rot="5400000">
            <a:off x="720546" y="1480350"/>
            <a:ext cx="3429001" cy="2364946"/>
          </a:xfrm>
          <a:prstGeom prst="arc">
            <a:avLst>
              <a:gd name="adj1" fmla="val 16200000"/>
              <a:gd name="adj2" fmla="val 5416882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94090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 flipV="1">
            <a:off x="5943600" y="285750"/>
            <a:ext cx="0" cy="217033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5715000" y="2227487"/>
            <a:ext cx="29718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V="1">
            <a:off x="5943600" y="2687413"/>
            <a:ext cx="0" cy="217033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5715000" y="4629150"/>
            <a:ext cx="29718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068" y="2343150"/>
            <a:ext cx="249135" cy="2812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068" y="4753508"/>
            <a:ext cx="249135" cy="2812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19215"/>
            <a:ext cx="2816352" cy="6743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1502224"/>
            <a:ext cx="3886200" cy="725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</a:t>
            </a:r>
            <a:r>
              <a:rPr lang="el-GR" sz="2000" dirty="0"/>
              <a:t>α</a:t>
            </a:r>
            <a:r>
              <a:rPr lang="en-US" sz="2000" dirty="0"/>
              <a:t> is too small, gradient descent can be slow.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257550"/>
            <a:ext cx="388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</a:t>
            </a:r>
            <a:r>
              <a:rPr lang="el-GR" sz="2000" dirty="0"/>
              <a:t>α</a:t>
            </a:r>
            <a:r>
              <a:rPr lang="en-US" sz="2000" dirty="0"/>
              <a:t> is too large, gradient descent can overshoot the minimum. It may fail to converge, or even diverge.</a:t>
            </a:r>
          </a:p>
        </p:txBody>
      </p:sp>
      <p:sp>
        <p:nvSpPr>
          <p:cNvPr id="13" name="Arc 12"/>
          <p:cNvSpPr/>
          <p:nvPr/>
        </p:nvSpPr>
        <p:spPr>
          <a:xfrm rot="5400000">
            <a:off x="5676900" y="1607820"/>
            <a:ext cx="3429001" cy="2364946"/>
          </a:xfrm>
          <a:prstGeom prst="arc">
            <a:avLst>
              <a:gd name="adj1" fmla="val 16200000"/>
              <a:gd name="adj2" fmla="val 5416882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Arc 13"/>
          <p:cNvSpPr/>
          <p:nvPr/>
        </p:nvSpPr>
        <p:spPr>
          <a:xfrm rot="5400000">
            <a:off x="5676899" y="-785149"/>
            <a:ext cx="3429001" cy="2364946"/>
          </a:xfrm>
          <a:prstGeom prst="arc">
            <a:avLst>
              <a:gd name="adj1" fmla="val 16200000"/>
              <a:gd name="adj2" fmla="val 5416882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129388" y="123115"/>
                <a:ext cx="5616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388" y="123115"/>
                <a:ext cx="561629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13043" t="-2174" r="-15217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>
            <a:off x="6190563" y="570651"/>
            <a:ext cx="36724" cy="24856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212993" y="766509"/>
            <a:ext cx="53770" cy="23322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277290" y="996032"/>
            <a:ext cx="67019" cy="28038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344309" y="1267795"/>
            <a:ext cx="115676" cy="23442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441623" y="1461143"/>
            <a:ext cx="134038" cy="22159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565465" y="1664140"/>
            <a:ext cx="129598" cy="13426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668470" y="1801157"/>
            <a:ext cx="150435" cy="10292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213681" y="3082279"/>
            <a:ext cx="2244519" cy="40387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6441623" y="3486224"/>
            <a:ext cx="2016577" cy="28635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457923" y="3781412"/>
            <a:ext cx="1771677" cy="30299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6818905" y="4074422"/>
            <a:ext cx="1350137" cy="26651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878411" y="4328466"/>
            <a:ext cx="1046389" cy="12475"/>
          </a:xfrm>
          <a:prstGeom prst="straightConnector1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6861432" y="4340941"/>
            <a:ext cx="848405" cy="0"/>
          </a:xfrm>
          <a:prstGeom prst="straightConnector1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283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 flipV="1">
            <a:off x="1453311" y="520510"/>
            <a:ext cx="0" cy="2475138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1224711" y="2767047"/>
            <a:ext cx="3886200" cy="0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827" y="2926577"/>
            <a:ext cx="184709" cy="208483"/>
          </a:xfrm>
          <a:prstGeom prst="rect">
            <a:avLst/>
          </a:prstGeom>
        </p:spPr>
      </p:pic>
      <p:sp>
        <p:nvSpPr>
          <p:cNvPr id="9" name="Freeform 8"/>
          <p:cNvSpPr/>
          <p:nvPr/>
        </p:nvSpPr>
        <p:spPr>
          <a:xfrm>
            <a:off x="1224711" y="729429"/>
            <a:ext cx="3681350" cy="1778433"/>
          </a:xfrm>
          <a:custGeom>
            <a:avLst/>
            <a:gdLst>
              <a:gd name="connsiteX0" fmla="*/ 0 w 3681350"/>
              <a:gd name="connsiteY0" fmla="*/ 757675 h 1784229"/>
              <a:gd name="connsiteX1" fmla="*/ 356259 w 3681350"/>
              <a:gd name="connsiteY1" fmla="*/ 401415 h 1784229"/>
              <a:gd name="connsiteX2" fmla="*/ 688768 w 3681350"/>
              <a:gd name="connsiteY2" fmla="*/ 698298 h 1784229"/>
              <a:gd name="connsiteX3" fmla="*/ 890649 w 3681350"/>
              <a:gd name="connsiteY3" fmla="*/ 1339565 h 1784229"/>
              <a:gd name="connsiteX4" fmla="*/ 1045028 w 3681350"/>
              <a:gd name="connsiteY4" fmla="*/ 1707700 h 1784229"/>
              <a:gd name="connsiteX5" fmla="*/ 1187532 w 3681350"/>
              <a:gd name="connsiteY5" fmla="*/ 1778952 h 1784229"/>
              <a:gd name="connsiteX6" fmla="*/ 1246909 w 3681350"/>
              <a:gd name="connsiteY6" fmla="*/ 1778952 h 1784229"/>
              <a:gd name="connsiteX7" fmla="*/ 1377537 w 3681350"/>
              <a:gd name="connsiteY7" fmla="*/ 1778952 h 1784229"/>
              <a:gd name="connsiteX8" fmla="*/ 1579418 w 3681350"/>
              <a:gd name="connsiteY8" fmla="*/ 1707700 h 1784229"/>
              <a:gd name="connsiteX9" fmla="*/ 1733797 w 3681350"/>
              <a:gd name="connsiteY9" fmla="*/ 1327690 h 1784229"/>
              <a:gd name="connsiteX10" fmla="*/ 1805049 w 3681350"/>
              <a:gd name="connsiteY10" fmla="*/ 971430 h 1784229"/>
              <a:gd name="connsiteX11" fmla="*/ 1911927 w 3681350"/>
              <a:gd name="connsiteY11" fmla="*/ 555794 h 1784229"/>
              <a:gd name="connsiteX12" fmla="*/ 1983179 w 3681350"/>
              <a:gd name="connsiteY12" fmla="*/ 401415 h 1784229"/>
              <a:gd name="connsiteX13" fmla="*/ 2066306 w 3681350"/>
              <a:gd name="connsiteY13" fmla="*/ 187659 h 1784229"/>
              <a:gd name="connsiteX14" fmla="*/ 2149433 w 3681350"/>
              <a:gd name="connsiteY14" fmla="*/ 92656 h 1784229"/>
              <a:gd name="connsiteX15" fmla="*/ 2244436 w 3681350"/>
              <a:gd name="connsiteY15" fmla="*/ 21404 h 1784229"/>
              <a:gd name="connsiteX16" fmla="*/ 2375065 w 3681350"/>
              <a:gd name="connsiteY16" fmla="*/ 21404 h 1784229"/>
              <a:gd name="connsiteX17" fmla="*/ 2576945 w 3681350"/>
              <a:gd name="connsiteY17" fmla="*/ 270786 h 1784229"/>
              <a:gd name="connsiteX18" fmla="*/ 2719449 w 3681350"/>
              <a:gd name="connsiteY18" fmla="*/ 1066433 h 1784229"/>
              <a:gd name="connsiteX19" fmla="*/ 2909454 w 3681350"/>
              <a:gd name="connsiteY19" fmla="*/ 1517695 h 1784229"/>
              <a:gd name="connsiteX20" fmla="*/ 3384467 w 3681350"/>
              <a:gd name="connsiteY20" fmla="*/ 1315815 h 1784229"/>
              <a:gd name="connsiteX21" fmla="*/ 3681350 w 3681350"/>
              <a:gd name="connsiteY21" fmla="*/ 508293 h 1784229"/>
              <a:gd name="connsiteX0" fmla="*/ 0 w 3681350"/>
              <a:gd name="connsiteY0" fmla="*/ 757675 h 1784229"/>
              <a:gd name="connsiteX1" fmla="*/ 356259 w 3681350"/>
              <a:gd name="connsiteY1" fmla="*/ 401415 h 1784229"/>
              <a:gd name="connsiteX2" fmla="*/ 688768 w 3681350"/>
              <a:gd name="connsiteY2" fmla="*/ 698298 h 1784229"/>
              <a:gd name="connsiteX3" fmla="*/ 890649 w 3681350"/>
              <a:gd name="connsiteY3" fmla="*/ 1339565 h 1784229"/>
              <a:gd name="connsiteX4" fmla="*/ 1187532 w 3681350"/>
              <a:gd name="connsiteY4" fmla="*/ 1778952 h 1784229"/>
              <a:gd name="connsiteX5" fmla="*/ 1246909 w 3681350"/>
              <a:gd name="connsiteY5" fmla="*/ 1778952 h 1784229"/>
              <a:gd name="connsiteX6" fmla="*/ 1377537 w 3681350"/>
              <a:gd name="connsiteY6" fmla="*/ 1778952 h 1784229"/>
              <a:gd name="connsiteX7" fmla="*/ 1579418 w 3681350"/>
              <a:gd name="connsiteY7" fmla="*/ 1707700 h 1784229"/>
              <a:gd name="connsiteX8" fmla="*/ 1733797 w 3681350"/>
              <a:gd name="connsiteY8" fmla="*/ 1327690 h 1784229"/>
              <a:gd name="connsiteX9" fmla="*/ 1805049 w 3681350"/>
              <a:gd name="connsiteY9" fmla="*/ 971430 h 1784229"/>
              <a:gd name="connsiteX10" fmla="*/ 1911927 w 3681350"/>
              <a:gd name="connsiteY10" fmla="*/ 555794 h 1784229"/>
              <a:gd name="connsiteX11" fmla="*/ 1983179 w 3681350"/>
              <a:gd name="connsiteY11" fmla="*/ 401415 h 1784229"/>
              <a:gd name="connsiteX12" fmla="*/ 2066306 w 3681350"/>
              <a:gd name="connsiteY12" fmla="*/ 187659 h 1784229"/>
              <a:gd name="connsiteX13" fmla="*/ 2149433 w 3681350"/>
              <a:gd name="connsiteY13" fmla="*/ 92656 h 1784229"/>
              <a:gd name="connsiteX14" fmla="*/ 2244436 w 3681350"/>
              <a:gd name="connsiteY14" fmla="*/ 21404 h 1784229"/>
              <a:gd name="connsiteX15" fmla="*/ 2375065 w 3681350"/>
              <a:gd name="connsiteY15" fmla="*/ 21404 h 1784229"/>
              <a:gd name="connsiteX16" fmla="*/ 2576945 w 3681350"/>
              <a:gd name="connsiteY16" fmla="*/ 270786 h 1784229"/>
              <a:gd name="connsiteX17" fmla="*/ 2719449 w 3681350"/>
              <a:gd name="connsiteY17" fmla="*/ 1066433 h 1784229"/>
              <a:gd name="connsiteX18" fmla="*/ 2909454 w 3681350"/>
              <a:gd name="connsiteY18" fmla="*/ 1517695 h 1784229"/>
              <a:gd name="connsiteX19" fmla="*/ 3384467 w 3681350"/>
              <a:gd name="connsiteY19" fmla="*/ 1315815 h 1784229"/>
              <a:gd name="connsiteX20" fmla="*/ 3681350 w 3681350"/>
              <a:gd name="connsiteY20" fmla="*/ 508293 h 1784229"/>
              <a:gd name="connsiteX0" fmla="*/ 0 w 3681350"/>
              <a:gd name="connsiteY0" fmla="*/ 757675 h 1814302"/>
              <a:gd name="connsiteX1" fmla="*/ 356259 w 3681350"/>
              <a:gd name="connsiteY1" fmla="*/ 401415 h 1814302"/>
              <a:gd name="connsiteX2" fmla="*/ 688768 w 3681350"/>
              <a:gd name="connsiteY2" fmla="*/ 698298 h 1814302"/>
              <a:gd name="connsiteX3" fmla="*/ 890649 w 3681350"/>
              <a:gd name="connsiteY3" fmla="*/ 1339565 h 1814302"/>
              <a:gd name="connsiteX4" fmla="*/ 1187532 w 3681350"/>
              <a:gd name="connsiteY4" fmla="*/ 1778952 h 1814302"/>
              <a:gd name="connsiteX5" fmla="*/ 1377537 w 3681350"/>
              <a:gd name="connsiteY5" fmla="*/ 1778952 h 1814302"/>
              <a:gd name="connsiteX6" fmla="*/ 1579418 w 3681350"/>
              <a:gd name="connsiteY6" fmla="*/ 1707700 h 1814302"/>
              <a:gd name="connsiteX7" fmla="*/ 1733797 w 3681350"/>
              <a:gd name="connsiteY7" fmla="*/ 1327690 h 1814302"/>
              <a:gd name="connsiteX8" fmla="*/ 1805049 w 3681350"/>
              <a:gd name="connsiteY8" fmla="*/ 971430 h 1814302"/>
              <a:gd name="connsiteX9" fmla="*/ 1911927 w 3681350"/>
              <a:gd name="connsiteY9" fmla="*/ 555794 h 1814302"/>
              <a:gd name="connsiteX10" fmla="*/ 1983179 w 3681350"/>
              <a:gd name="connsiteY10" fmla="*/ 401415 h 1814302"/>
              <a:gd name="connsiteX11" fmla="*/ 2066306 w 3681350"/>
              <a:gd name="connsiteY11" fmla="*/ 187659 h 1814302"/>
              <a:gd name="connsiteX12" fmla="*/ 2149433 w 3681350"/>
              <a:gd name="connsiteY12" fmla="*/ 92656 h 1814302"/>
              <a:gd name="connsiteX13" fmla="*/ 2244436 w 3681350"/>
              <a:gd name="connsiteY13" fmla="*/ 21404 h 1814302"/>
              <a:gd name="connsiteX14" fmla="*/ 2375065 w 3681350"/>
              <a:gd name="connsiteY14" fmla="*/ 21404 h 1814302"/>
              <a:gd name="connsiteX15" fmla="*/ 2576945 w 3681350"/>
              <a:gd name="connsiteY15" fmla="*/ 270786 h 1814302"/>
              <a:gd name="connsiteX16" fmla="*/ 2719449 w 3681350"/>
              <a:gd name="connsiteY16" fmla="*/ 1066433 h 1814302"/>
              <a:gd name="connsiteX17" fmla="*/ 2909454 w 3681350"/>
              <a:gd name="connsiteY17" fmla="*/ 1517695 h 1814302"/>
              <a:gd name="connsiteX18" fmla="*/ 3384467 w 3681350"/>
              <a:gd name="connsiteY18" fmla="*/ 1315815 h 1814302"/>
              <a:gd name="connsiteX19" fmla="*/ 3681350 w 3681350"/>
              <a:gd name="connsiteY19" fmla="*/ 508293 h 1814302"/>
              <a:gd name="connsiteX0" fmla="*/ 0 w 3681350"/>
              <a:gd name="connsiteY0" fmla="*/ 757675 h 1804839"/>
              <a:gd name="connsiteX1" fmla="*/ 356259 w 3681350"/>
              <a:gd name="connsiteY1" fmla="*/ 401415 h 1804839"/>
              <a:gd name="connsiteX2" fmla="*/ 688768 w 3681350"/>
              <a:gd name="connsiteY2" fmla="*/ 698298 h 1804839"/>
              <a:gd name="connsiteX3" fmla="*/ 890649 w 3681350"/>
              <a:gd name="connsiteY3" fmla="*/ 1339565 h 1804839"/>
              <a:gd name="connsiteX4" fmla="*/ 1187532 w 3681350"/>
              <a:gd name="connsiteY4" fmla="*/ 1778952 h 1804839"/>
              <a:gd name="connsiteX5" fmla="*/ 1579418 w 3681350"/>
              <a:gd name="connsiteY5" fmla="*/ 1707700 h 1804839"/>
              <a:gd name="connsiteX6" fmla="*/ 1733797 w 3681350"/>
              <a:gd name="connsiteY6" fmla="*/ 1327690 h 1804839"/>
              <a:gd name="connsiteX7" fmla="*/ 1805049 w 3681350"/>
              <a:gd name="connsiteY7" fmla="*/ 971430 h 1804839"/>
              <a:gd name="connsiteX8" fmla="*/ 1911927 w 3681350"/>
              <a:gd name="connsiteY8" fmla="*/ 555794 h 1804839"/>
              <a:gd name="connsiteX9" fmla="*/ 1983179 w 3681350"/>
              <a:gd name="connsiteY9" fmla="*/ 401415 h 1804839"/>
              <a:gd name="connsiteX10" fmla="*/ 2066306 w 3681350"/>
              <a:gd name="connsiteY10" fmla="*/ 187659 h 1804839"/>
              <a:gd name="connsiteX11" fmla="*/ 2149433 w 3681350"/>
              <a:gd name="connsiteY11" fmla="*/ 92656 h 1804839"/>
              <a:gd name="connsiteX12" fmla="*/ 2244436 w 3681350"/>
              <a:gd name="connsiteY12" fmla="*/ 21404 h 1804839"/>
              <a:gd name="connsiteX13" fmla="*/ 2375065 w 3681350"/>
              <a:gd name="connsiteY13" fmla="*/ 21404 h 1804839"/>
              <a:gd name="connsiteX14" fmla="*/ 2576945 w 3681350"/>
              <a:gd name="connsiteY14" fmla="*/ 270786 h 1804839"/>
              <a:gd name="connsiteX15" fmla="*/ 2719449 w 3681350"/>
              <a:gd name="connsiteY15" fmla="*/ 1066433 h 1804839"/>
              <a:gd name="connsiteX16" fmla="*/ 2909454 w 3681350"/>
              <a:gd name="connsiteY16" fmla="*/ 1517695 h 1804839"/>
              <a:gd name="connsiteX17" fmla="*/ 3384467 w 3681350"/>
              <a:gd name="connsiteY17" fmla="*/ 1315815 h 1804839"/>
              <a:gd name="connsiteX18" fmla="*/ 3681350 w 3681350"/>
              <a:gd name="connsiteY18" fmla="*/ 508293 h 1804839"/>
              <a:gd name="connsiteX0" fmla="*/ 0 w 3681350"/>
              <a:gd name="connsiteY0" fmla="*/ 757675 h 1778952"/>
              <a:gd name="connsiteX1" fmla="*/ 356259 w 3681350"/>
              <a:gd name="connsiteY1" fmla="*/ 401415 h 1778952"/>
              <a:gd name="connsiteX2" fmla="*/ 688768 w 3681350"/>
              <a:gd name="connsiteY2" fmla="*/ 698298 h 1778952"/>
              <a:gd name="connsiteX3" fmla="*/ 890649 w 3681350"/>
              <a:gd name="connsiteY3" fmla="*/ 1339565 h 1778952"/>
              <a:gd name="connsiteX4" fmla="*/ 1187532 w 3681350"/>
              <a:gd name="connsiteY4" fmla="*/ 1778952 h 1778952"/>
              <a:gd name="connsiteX5" fmla="*/ 1733797 w 3681350"/>
              <a:gd name="connsiteY5" fmla="*/ 1327690 h 1778952"/>
              <a:gd name="connsiteX6" fmla="*/ 1805049 w 3681350"/>
              <a:gd name="connsiteY6" fmla="*/ 971430 h 1778952"/>
              <a:gd name="connsiteX7" fmla="*/ 1911927 w 3681350"/>
              <a:gd name="connsiteY7" fmla="*/ 555794 h 1778952"/>
              <a:gd name="connsiteX8" fmla="*/ 1983179 w 3681350"/>
              <a:gd name="connsiteY8" fmla="*/ 401415 h 1778952"/>
              <a:gd name="connsiteX9" fmla="*/ 2066306 w 3681350"/>
              <a:gd name="connsiteY9" fmla="*/ 187659 h 1778952"/>
              <a:gd name="connsiteX10" fmla="*/ 2149433 w 3681350"/>
              <a:gd name="connsiteY10" fmla="*/ 92656 h 1778952"/>
              <a:gd name="connsiteX11" fmla="*/ 2244436 w 3681350"/>
              <a:gd name="connsiteY11" fmla="*/ 21404 h 1778952"/>
              <a:gd name="connsiteX12" fmla="*/ 2375065 w 3681350"/>
              <a:gd name="connsiteY12" fmla="*/ 21404 h 1778952"/>
              <a:gd name="connsiteX13" fmla="*/ 2576945 w 3681350"/>
              <a:gd name="connsiteY13" fmla="*/ 270786 h 1778952"/>
              <a:gd name="connsiteX14" fmla="*/ 2719449 w 3681350"/>
              <a:gd name="connsiteY14" fmla="*/ 1066433 h 1778952"/>
              <a:gd name="connsiteX15" fmla="*/ 2909454 w 3681350"/>
              <a:gd name="connsiteY15" fmla="*/ 1517695 h 1778952"/>
              <a:gd name="connsiteX16" fmla="*/ 3384467 w 3681350"/>
              <a:gd name="connsiteY16" fmla="*/ 1315815 h 1778952"/>
              <a:gd name="connsiteX17" fmla="*/ 3681350 w 3681350"/>
              <a:gd name="connsiteY17" fmla="*/ 508293 h 177895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5611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1983179 w 3681350"/>
              <a:gd name="connsiteY8" fmla="*/ 401415 h 1790382"/>
              <a:gd name="connsiteX9" fmla="*/ 2066306 w 3681350"/>
              <a:gd name="connsiteY9" fmla="*/ 187659 h 1790382"/>
              <a:gd name="connsiteX10" fmla="*/ 2149433 w 3681350"/>
              <a:gd name="connsiteY10" fmla="*/ 92656 h 1790382"/>
              <a:gd name="connsiteX11" fmla="*/ 2244436 w 3681350"/>
              <a:gd name="connsiteY11" fmla="*/ 21404 h 1790382"/>
              <a:gd name="connsiteX12" fmla="*/ 2375065 w 3681350"/>
              <a:gd name="connsiteY12" fmla="*/ 21404 h 1790382"/>
              <a:gd name="connsiteX13" fmla="*/ 2576945 w 3681350"/>
              <a:gd name="connsiteY13" fmla="*/ 270786 h 1790382"/>
              <a:gd name="connsiteX14" fmla="*/ 2719449 w 3681350"/>
              <a:gd name="connsiteY14" fmla="*/ 1066433 h 1790382"/>
              <a:gd name="connsiteX15" fmla="*/ 2909454 w 3681350"/>
              <a:gd name="connsiteY15" fmla="*/ 1517695 h 1790382"/>
              <a:gd name="connsiteX16" fmla="*/ 3384467 w 3681350"/>
              <a:gd name="connsiteY16" fmla="*/ 1315815 h 1790382"/>
              <a:gd name="connsiteX17" fmla="*/ 3681350 w 3681350"/>
              <a:gd name="connsiteY17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5611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1983179 w 3681350"/>
              <a:gd name="connsiteY8" fmla="*/ 401415 h 1790382"/>
              <a:gd name="connsiteX9" fmla="*/ 2066306 w 3681350"/>
              <a:gd name="connsiteY9" fmla="*/ 187659 h 1790382"/>
              <a:gd name="connsiteX10" fmla="*/ 2149433 w 3681350"/>
              <a:gd name="connsiteY10" fmla="*/ 92656 h 1790382"/>
              <a:gd name="connsiteX11" fmla="*/ 2244436 w 3681350"/>
              <a:gd name="connsiteY11" fmla="*/ 21404 h 1790382"/>
              <a:gd name="connsiteX12" fmla="*/ 2375065 w 3681350"/>
              <a:gd name="connsiteY12" fmla="*/ 21404 h 1790382"/>
              <a:gd name="connsiteX13" fmla="*/ 2576945 w 3681350"/>
              <a:gd name="connsiteY13" fmla="*/ 270786 h 1790382"/>
              <a:gd name="connsiteX14" fmla="*/ 2719449 w 3681350"/>
              <a:gd name="connsiteY14" fmla="*/ 1066433 h 1790382"/>
              <a:gd name="connsiteX15" fmla="*/ 2909454 w 3681350"/>
              <a:gd name="connsiteY15" fmla="*/ 1517695 h 1790382"/>
              <a:gd name="connsiteX16" fmla="*/ 3384467 w 3681350"/>
              <a:gd name="connsiteY16" fmla="*/ 1315815 h 1790382"/>
              <a:gd name="connsiteX17" fmla="*/ 3681350 w 3681350"/>
              <a:gd name="connsiteY17" fmla="*/ 508293 h 1790382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5611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5611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33612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7897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7897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1983179 w 3681350"/>
              <a:gd name="connsiteY8" fmla="*/ 401415 h 1790382"/>
              <a:gd name="connsiteX9" fmla="*/ 2066306 w 3681350"/>
              <a:gd name="connsiteY9" fmla="*/ 187659 h 1790382"/>
              <a:gd name="connsiteX10" fmla="*/ 2149433 w 3681350"/>
              <a:gd name="connsiteY10" fmla="*/ 92656 h 1790382"/>
              <a:gd name="connsiteX11" fmla="*/ 2244436 w 3681350"/>
              <a:gd name="connsiteY11" fmla="*/ 21404 h 1790382"/>
              <a:gd name="connsiteX12" fmla="*/ 2375065 w 3681350"/>
              <a:gd name="connsiteY12" fmla="*/ 21404 h 1790382"/>
              <a:gd name="connsiteX13" fmla="*/ 2576945 w 3681350"/>
              <a:gd name="connsiteY13" fmla="*/ 270786 h 1790382"/>
              <a:gd name="connsiteX14" fmla="*/ 2719449 w 3681350"/>
              <a:gd name="connsiteY14" fmla="*/ 1066433 h 1790382"/>
              <a:gd name="connsiteX15" fmla="*/ 2909454 w 3681350"/>
              <a:gd name="connsiteY15" fmla="*/ 1517695 h 1790382"/>
              <a:gd name="connsiteX16" fmla="*/ 3384467 w 3681350"/>
              <a:gd name="connsiteY16" fmla="*/ 1315815 h 1790382"/>
              <a:gd name="connsiteX17" fmla="*/ 3681350 w 3681350"/>
              <a:gd name="connsiteY17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2066306 w 3681350"/>
              <a:gd name="connsiteY8" fmla="*/ 187659 h 1790382"/>
              <a:gd name="connsiteX9" fmla="*/ 2149433 w 3681350"/>
              <a:gd name="connsiteY9" fmla="*/ 92656 h 1790382"/>
              <a:gd name="connsiteX10" fmla="*/ 2244436 w 3681350"/>
              <a:gd name="connsiteY10" fmla="*/ 21404 h 1790382"/>
              <a:gd name="connsiteX11" fmla="*/ 2375065 w 3681350"/>
              <a:gd name="connsiteY11" fmla="*/ 21404 h 1790382"/>
              <a:gd name="connsiteX12" fmla="*/ 2576945 w 3681350"/>
              <a:gd name="connsiteY12" fmla="*/ 270786 h 1790382"/>
              <a:gd name="connsiteX13" fmla="*/ 2719449 w 3681350"/>
              <a:gd name="connsiteY13" fmla="*/ 1066433 h 1790382"/>
              <a:gd name="connsiteX14" fmla="*/ 2909454 w 3681350"/>
              <a:gd name="connsiteY14" fmla="*/ 1517695 h 1790382"/>
              <a:gd name="connsiteX15" fmla="*/ 3384467 w 3681350"/>
              <a:gd name="connsiteY15" fmla="*/ 1315815 h 1790382"/>
              <a:gd name="connsiteX16" fmla="*/ 3681350 w 3681350"/>
              <a:gd name="connsiteY16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2066306 w 3681350"/>
              <a:gd name="connsiteY7" fmla="*/ 187659 h 1790382"/>
              <a:gd name="connsiteX8" fmla="*/ 2149433 w 3681350"/>
              <a:gd name="connsiteY8" fmla="*/ 92656 h 1790382"/>
              <a:gd name="connsiteX9" fmla="*/ 2244436 w 3681350"/>
              <a:gd name="connsiteY9" fmla="*/ 21404 h 1790382"/>
              <a:gd name="connsiteX10" fmla="*/ 2375065 w 3681350"/>
              <a:gd name="connsiteY10" fmla="*/ 21404 h 1790382"/>
              <a:gd name="connsiteX11" fmla="*/ 2576945 w 3681350"/>
              <a:gd name="connsiteY11" fmla="*/ 270786 h 1790382"/>
              <a:gd name="connsiteX12" fmla="*/ 2719449 w 3681350"/>
              <a:gd name="connsiteY12" fmla="*/ 1066433 h 1790382"/>
              <a:gd name="connsiteX13" fmla="*/ 2909454 w 3681350"/>
              <a:gd name="connsiteY13" fmla="*/ 1517695 h 1790382"/>
              <a:gd name="connsiteX14" fmla="*/ 3384467 w 3681350"/>
              <a:gd name="connsiteY14" fmla="*/ 1315815 h 1790382"/>
              <a:gd name="connsiteX15" fmla="*/ 3681350 w 3681350"/>
              <a:gd name="connsiteY15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73629 w 3681350"/>
              <a:gd name="connsiteY6" fmla="*/ 834270 h 1790382"/>
              <a:gd name="connsiteX7" fmla="*/ 2066306 w 3681350"/>
              <a:gd name="connsiteY7" fmla="*/ 187659 h 1790382"/>
              <a:gd name="connsiteX8" fmla="*/ 2149433 w 3681350"/>
              <a:gd name="connsiteY8" fmla="*/ 92656 h 1790382"/>
              <a:gd name="connsiteX9" fmla="*/ 2244436 w 3681350"/>
              <a:gd name="connsiteY9" fmla="*/ 21404 h 1790382"/>
              <a:gd name="connsiteX10" fmla="*/ 2375065 w 3681350"/>
              <a:gd name="connsiteY10" fmla="*/ 21404 h 1790382"/>
              <a:gd name="connsiteX11" fmla="*/ 2576945 w 3681350"/>
              <a:gd name="connsiteY11" fmla="*/ 270786 h 1790382"/>
              <a:gd name="connsiteX12" fmla="*/ 2719449 w 3681350"/>
              <a:gd name="connsiteY12" fmla="*/ 1066433 h 1790382"/>
              <a:gd name="connsiteX13" fmla="*/ 2909454 w 3681350"/>
              <a:gd name="connsiteY13" fmla="*/ 1517695 h 1790382"/>
              <a:gd name="connsiteX14" fmla="*/ 3384467 w 3681350"/>
              <a:gd name="connsiteY14" fmla="*/ 1315815 h 1790382"/>
              <a:gd name="connsiteX15" fmla="*/ 3681350 w 3681350"/>
              <a:gd name="connsiteY15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2066306 w 3681350"/>
              <a:gd name="connsiteY6" fmla="*/ 187659 h 1790382"/>
              <a:gd name="connsiteX7" fmla="*/ 2149433 w 3681350"/>
              <a:gd name="connsiteY7" fmla="*/ 92656 h 1790382"/>
              <a:gd name="connsiteX8" fmla="*/ 2244436 w 3681350"/>
              <a:gd name="connsiteY8" fmla="*/ 21404 h 1790382"/>
              <a:gd name="connsiteX9" fmla="*/ 2375065 w 3681350"/>
              <a:gd name="connsiteY9" fmla="*/ 21404 h 1790382"/>
              <a:gd name="connsiteX10" fmla="*/ 2576945 w 3681350"/>
              <a:gd name="connsiteY10" fmla="*/ 270786 h 1790382"/>
              <a:gd name="connsiteX11" fmla="*/ 2719449 w 3681350"/>
              <a:gd name="connsiteY11" fmla="*/ 1066433 h 1790382"/>
              <a:gd name="connsiteX12" fmla="*/ 2909454 w 3681350"/>
              <a:gd name="connsiteY12" fmla="*/ 1517695 h 1790382"/>
              <a:gd name="connsiteX13" fmla="*/ 3384467 w 3681350"/>
              <a:gd name="connsiteY13" fmla="*/ 1315815 h 1790382"/>
              <a:gd name="connsiteX14" fmla="*/ 3681350 w 3681350"/>
              <a:gd name="connsiteY14" fmla="*/ 508293 h 1790382"/>
              <a:gd name="connsiteX0" fmla="*/ 0 w 3681350"/>
              <a:gd name="connsiteY0" fmla="*/ 762503 h 1795210"/>
              <a:gd name="connsiteX1" fmla="*/ 356259 w 3681350"/>
              <a:gd name="connsiteY1" fmla="*/ 406243 h 1795210"/>
              <a:gd name="connsiteX2" fmla="*/ 688768 w 3681350"/>
              <a:gd name="connsiteY2" fmla="*/ 703126 h 1795210"/>
              <a:gd name="connsiteX3" fmla="*/ 890649 w 3681350"/>
              <a:gd name="connsiteY3" fmla="*/ 1344393 h 1795210"/>
              <a:gd name="connsiteX4" fmla="*/ 1278972 w 3681350"/>
              <a:gd name="connsiteY4" fmla="*/ 1795210 h 1795210"/>
              <a:gd name="connsiteX5" fmla="*/ 1733797 w 3681350"/>
              <a:gd name="connsiteY5" fmla="*/ 1332518 h 1795210"/>
              <a:gd name="connsiteX6" fmla="*/ 2066306 w 3681350"/>
              <a:gd name="connsiteY6" fmla="*/ 192487 h 1795210"/>
              <a:gd name="connsiteX7" fmla="*/ 2244436 w 3681350"/>
              <a:gd name="connsiteY7" fmla="*/ 26232 h 1795210"/>
              <a:gd name="connsiteX8" fmla="*/ 2375065 w 3681350"/>
              <a:gd name="connsiteY8" fmla="*/ 26232 h 1795210"/>
              <a:gd name="connsiteX9" fmla="*/ 2576945 w 3681350"/>
              <a:gd name="connsiteY9" fmla="*/ 275614 h 1795210"/>
              <a:gd name="connsiteX10" fmla="*/ 2719449 w 3681350"/>
              <a:gd name="connsiteY10" fmla="*/ 1071261 h 1795210"/>
              <a:gd name="connsiteX11" fmla="*/ 2909454 w 3681350"/>
              <a:gd name="connsiteY11" fmla="*/ 1522523 h 1795210"/>
              <a:gd name="connsiteX12" fmla="*/ 3384467 w 3681350"/>
              <a:gd name="connsiteY12" fmla="*/ 1320643 h 1795210"/>
              <a:gd name="connsiteX13" fmla="*/ 3681350 w 3681350"/>
              <a:gd name="connsiteY13" fmla="*/ 513121 h 1795210"/>
              <a:gd name="connsiteX0" fmla="*/ 0 w 3681350"/>
              <a:gd name="connsiteY0" fmla="*/ 842948 h 1875655"/>
              <a:gd name="connsiteX1" fmla="*/ 356259 w 3681350"/>
              <a:gd name="connsiteY1" fmla="*/ 486688 h 1875655"/>
              <a:gd name="connsiteX2" fmla="*/ 688768 w 3681350"/>
              <a:gd name="connsiteY2" fmla="*/ 783571 h 1875655"/>
              <a:gd name="connsiteX3" fmla="*/ 890649 w 3681350"/>
              <a:gd name="connsiteY3" fmla="*/ 1424838 h 1875655"/>
              <a:gd name="connsiteX4" fmla="*/ 1278972 w 3681350"/>
              <a:gd name="connsiteY4" fmla="*/ 1875655 h 1875655"/>
              <a:gd name="connsiteX5" fmla="*/ 1733797 w 3681350"/>
              <a:gd name="connsiteY5" fmla="*/ 1412963 h 1875655"/>
              <a:gd name="connsiteX6" fmla="*/ 2244436 w 3681350"/>
              <a:gd name="connsiteY6" fmla="*/ 106677 h 1875655"/>
              <a:gd name="connsiteX7" fmla="*/ 2375065 w 3681350"/>
              <a:gd name="connsiteY7" fmla="*/ 106677 h 1875655"/>
              <a:gd name="connsiteX8" fmla="*/ 2576945 w 3681350"/>
              <a:gd name="connsiteY8" fmla="*/ 356059 h 1875655"/>
              <a:gd name="connsiteX9" fmla="*/ 2719449 w 3681350"/>
              <a:gd name="connsiteY9" fmla="*/ 1151706 h 1875655"/>
              <a:gd name="connsiteX10" fmla="*/ 2909454 w 3681350"/>
              <a:gd name="connsiteY10" fmla="*/ 1602968 h 1875655"/>
              <a:gd name="connsiteX11" fmla="*/ 3384467 w 3681350"/>
              <a:gd name="connsiteY11" fmla="*/ 1401088 h 1875655"/>
              <a:gd name="connsiteX12" fmla="*/ 3681350 w 3681350"/>
              <a:gd name="connsiteY12" fmla="*/ 593566 h 1875655"/>
              <a:gd name="connsiteX0" fmla="*/ 0 w 3681350"/>
              <a:gd name="connsiteY0" fmla="*/ 796203 h 1828910"/>
              <a:gd name="connsiteX1" fmla="*/ 356259 w 3681350"/>
              <a:gd name="connsiteY1" fmla="*/ 439943 h 1828910"/>
              <a:gd name="connsiteX2" fmla="*/ 688768 w 3681350"/>
              <a:gd name="connsiteY2" fmla="*/ 736826 h 1828910"/>
              <a:gd name="connsiteX3" fmla="*/ 890649 w 3681350"/>
              <a:gd name="connsiteY3" fmla="*/ 1378093 h 1828910"/>
              <a:gd name="connsiteX4" fmla="*/ 1278972 w 3681350"/>
              <a:gd name="connsiteY4" fmla="*/ 1828910 h 1828910"/>
              <a:gd name="connsiteX5" fmla="*/ 1733797 w 3681350"/>
              <a:gd name="connsiteY5" fmla="*/ 1366218 h 1828910"/>
              <a:gd name="connsiteX6" fmla="*/ 2375065 w 3681350"/>
              <a:gd name="connsiteY6" fmla="*/ 59932 h 1828910"/>
              <a:gd name="connsiteX7" fmla="*/ 2576945 w 3681350"/>
              <a:gd name="connsiteY7" fmla="*/ 309314 h 1828910"/>
              <a:gd name="connsiteX8" fmla="*/ 2719449 w 3681350"/>
              <a:gd name="connsiteY8" fmla="*/ 1104961 h 1828910"/>
              <a:gd name="connsiteX9" fmla="*/ 2909454 w 3681350"/>
              <a:gd name="connsiteY9" fmla="*/ 1556223 h 1828910"/>
              <a:gd name="connsiteX10" fmla="*/ 3384467 w 3681350"/>
              <a:gd name="connsiteY10" fmla="*/ 1354343 h 1828910"/>
              <a:gd name="connsiteX11" fmla="*/ 3681350 w 3681350"/>
              <a:gd name="connsiteY11" fmla="*/ 546821 h 1828910"/>
              <a:gd name="connsiteX0" fmla="*/ 0 w 3681350"/>
              <a:gd name="connsiteY0" fmla="*/ 772905 h 1805612"/>
              <a:gd name="connsiteX1" fmla="*/ 356259 w 3681350"/>
              <a:gd name="connsiteY1" fmla="*/ 416645 h 1805612"/>
              <a:gd name="connsiteX2" fmla="*/ 688768 w 3681350"/>
              <a:gd name="connsiteY2" fmla="*/ 713528 h 1805612"/>
              <a:gd name="connsiteX3" fmla="*/ 890649 w 3681350"/>
              <a:gd name="connsiteY3" fmla="*/ 1354795 h 1805612"/>
              <a:gd name="connsiteX4" fmla="*/ 1278972 w 3681350"/>
              <a:gd name="connsiteY4" fmla="*/ 1805612 h 1805612"/>
              <a:gd name="connsiteX5" fmla="*/ 1733797 w 3681350"/>
              <a:gd name="connsiteY5" fmla="*/ 1342920 h 1805612"/>
              <a:gd name="connsiteX6" fmla="*/ 2375065 w 3681350"/>
              <a:gd name="connsiteY6" fmla="*/ 36634 h 1805612"/>
              <a:gd name="connsiteX7" fmla="*/ 2576945 w 3681350"/>
              <a:gd name="connsiteY7" fmla="*/ 286016 h 1805612"/>
              <a:gd name="connsiteX8" fmla="*/ 2719449 w 3681350"/>
              <a:gd name="connsiteY8" fmla="*/ 1081663 h 1805612"/>
              <a:gd name="connsiteX9" fmla="*/ 2909454 w 3681350"/>
              <a:gd name="connsiteY9" fmla="*/ 1532925 h 1805612"/>
              <a:gd name="connsiteX10" fmla="*/ 3384467 w 3681350"/>
              <a:gd name="connsiteY10" fmla="*/ 1331045 h 1805612"/>
              <a:gd name="connsiteX11" fmla="*/ 3681350 w 3681350"/>
              <a:gd name="connsiteY11" fmla="*/ 523523 h 1805612"/>
              <a:gd name="connsiteX0" fmla="*/ 0 w 3681350"/>
              <a:gd name="connsiteY0" fmla="*/ 736509 h 1769216"/>
              <a:gd name="connsiteX1" fmla="*/ 356259 w 3681350"/>
              <a:gd name="connsiteY1" fmla="*/ 380249 h 1769216"/>
              <a:gd name="connsiteX2" fmla="*/ 688768 w 3681350"/>
              <a:gd name="connsiteY2" fmla="*/ 677132 h 1769216"/>
              <a:gd name="connsiteX3" fmla="*/ 890649 w 3681350"/>
              <a:gd name="connsiteY3" fmla="*/ 1318399 h 1769216"/>
              <a:gd name="connsiteX4" fmla="*/ 1278972 w 3681350"/>
              <a:gd name="connsiteY4" fmla="*/ 1769216 h 1769216"/>
              <a:gd name="connsiteX5" fmla="*/ 1733797 w 3681350"/>
              <a:gd name="connsiteY5" fmla="*/ 1306524 h 1769216"/>
              <a:gd name="connsiteX6" fmla="*/ 2375065 w 3681350"/>
              <a:gd name="connsiteY6" fmla="*/ 238 h 1769216"/>
              <a:gd name="connsiteX7" fmla="*/ 2576945 w 3681350"/>
              <a:gd name="connsiteY7" fmla="*/ 249620 h 1769216"/>
              <a:gd name="connsiteX8" fmla="*/ 2719449 w 3681350"/>
              <a:gd name="connsiteY8" fmla="*/ 1045267 h 1769216"/>
              <a:gd name="connsiteX9" fmla="*/ 2909454 w 3681350"/>
              <a:gd name="connsiteY9" fmla="*/ 1496529 h 1769216"/>
              <a:gd name="connsiteX10" fmla="*/ 3384467 w 3681350"/>
              <a:gd name="connsiteY10" fmla="*/ 1294649 h 1769216"/>
              <a:gd name="connsiteX11" fmla="*/ 3681350 w 3681350"/>
              <a:gd name="connsiteY11" fmla="*/ 487127 h 1769216"/>
              <a:gd name="connsiteX0" fmla="*/ 0 w 3681350"/>
              <a:gd name="connsiteY0" fmla="*/ 737904 h 1770611"/>
              <a:gd name="connsiteX1" fmla="*/ 356259 w 3681350"/>
              <a:gd name="connsiteY1" fmla="*/ 381644 h 1770611"/>
              <a:gd name="connsiteX2" fmla="*/ 688768 w 3681350"/>
              <a:gd name="connsiteY2" fmla="*/ 678527 h 1770611"/>
              <a:gd name="connsiteX3" fmla="*/ 890649 w 3681350"/>
              <a:gd name="connsiteY3" fmla="*/ 1319794 h 1770611"/>
              <a:gd name="connsiteX4" fmla="*/ 1278972 w 3681350"/>
              <a:gd name="connsiteY4" fmla="*/ 1770611 h 1770611"/>
              <a:gd name="connsiteX5" fmla="*/ 1733797 w 3681350"/>
              <a:gd name="connsiteY5" fmla="*/ 1307919 h 1770611"/>
              <a:gd name="connsiteX6" fmla="*/ 2375065 w 3681350"/>
              <a:gd name="connsiteY6" fmla="*/ 1633 h 1770611"/>
              <a:gd name="connsiteX7" fmla="*/ 2719449 w 3681350"/>
              <a:gd name="connsiteY7" fmla="*/ 1046662 h 1770611"/>
              <a:gd name="connsiteX8" fmla="*/ 2909454 w 3681350"/>
              <a:gd name="connsiteY8" fmla="*/ 1497924 h 1770611"/>
              <a:gd name="connsiteX9" fmla="*/ 3384467 w 3681350"/>
              <a:gd name="connsiteY9" fmla="*/ 1296044 h 1770611"/>
              <a:gd name="connsiteX10" fmla="*/ 3681350 w 3681350"/>
              <a:gd name="connsiteY10" fmla="*/ 488522 h 1770611"/>
              <a:gd name="connsiteX0" fmla="*/ 0 w 3681350"/>
              <a:gd name="connsiteY0" fmla="*/ 737908 h 1770615"/>
              <a:gd name="connsiteX1" fmla="*/ 356259 w 3681350"/>
              <a:gd name="connsiteY1" fmla="*/ 381648 h 1770615"/>
              <a:gd name="connsiteX2" fmla="*/ 688768 w 3681350"/>
              <a:gd name="connsiteY2" fmla="*/ 678531 h 1770615"/>
              <a:gd name="connsiteX3" fmla="*/ 890649 w 3681350"/>
              <a:gd name="connsiteY3" fmla="*/ 1319798 h 1770615"/>
              <a:gd name="connsiteX4" fmla="*/ 1278972 w 3681350"/>
              <a:gd name="connsiteY4" fmla="*/ 1770615 h 1770615"/>
              <a:gd name="connsiteX5" fmla="*/ 1733797 w 3681350"/>
              <a:gd name="connsiteY5" fmla="*/ 1307923 h 1770615"/>
              <a:gd name="connsiteX6" fmla="*/ 2375065 w 3681350"/>
              <a:gd name="connsiteY6" fmla="*/ 1637 h 1770615"/>
              <a:gd name="connsiteX7" fmla="*/ 2719449 w 3681350"/>
              <a:gd name="connsiteY7" fmla="*/ 1046666 h 1770615"/>
              <a:gd name="connsiteX8" fmla="*/ 3000894 w 3681350"/>
              <a:gd name="connsiteY8" fmla="*/ 1509358 h 1770615"/>
              <a:gd name="connsiteX9" fmla="*/ 3384467 w 3681350"/>
              <a:gd name="connsiteY9" fmla="*/ 1296048 h 1770615"/>
              <a:gd name="connsiteX10" fmla="*/ 3681350 w 3681350"/>
              <a:gd name="connsiteY10" fmla="*/ 488526 h 1770615"/>
              <a:gd name="connsiteX0" fmla="*/ 0 w 3681350"/>
              <a:gd name="connsiteY0" fmla="*/ 737908 h 1770615"/>
              <a:gd name="connsiteX1" fmla="*/ 356259 w 3681350"/>
              <a:gd name="connsiteY1" fmla="*/ 381648 h 1770615"/>
              <a:gd name="connsiteX2" fmla="*/ 688768 w 3681350"/>
              <a:gd name="connsiteY2" fmla="*/ 678531 h 1770615"/>
              <a:gd name="connsiteX3" fmla="*/ 890649 w 3681350"/>
              <a:gd name="connsiteY3" fmla="*/ 1319798 h 1770615"/>
              <a:gd name="connsiteX4" fmla="*/ 1278972 w 3681350"/>
              <a:gd name="connsiteY4" fmla="*/ 1770615 h 1770615"/>
              <a:gd name="connsiteX5" fmla="*/ 1733797 w 3681350"/>
              <a:gd name="connsiteY5" fmla="*/ 1307923 h 1770615"/>
              <a:gd name="connsiteX6" fmla="*/ 2375065 w 3681350"/>
              <a:gd name="connsiteY6" fmla="*/ 1637 h 1770615"/>
              <a:gd name="connsiteX7" fmla="*/ 2719449 w 3681350"/>
              <a:gd name="connsiteY7" fmla="*/ 1046666 h 1770615"/>
              <a:gd name="connsiteX8" fmla="*/ 3000894 w 3681350"/>
              <a:gd name="connsiteY8" fmla="*/ 1509358 h 1770615"/>
              <a:gd name="connsiteX9" fmla="*/ 3384467 w 3681350"/>
              <a:gd name="connsiteY9" fmla="*/ 1296048 h 1770615"/>
              <a:gd name="connsiteX10" fmla="*/ 3681350 w 3681350"/>
              <a:gd name="connsiteY10" fmla="*/ 488526 h 1770615"/>
              <a:gd name="connsiteX0" fmla="*/ 0 w 3681350"/>
              <a:gd name="connsiteY0" fmla="*/ 746138 h 1778845"/>
              <a:gd name="connsiteX1" fmla="*/ 356259 w 3681350"/>
              <a:gd name="connsiteY1" fmla="*/ 389878 h 1778845"/>
              <a:gd name="connsiteX2" fmla="*/ 688768 w 3681350"/>
              <a:gd name="connsiteY2" fmla="*/ 686761 h 1778845"/>
              <a:gd name="connsiteX3" fmla="*/ 890649 w 3681350"/>
              <a:gd name="connsiteY3" fmla="*/ 1328028 h 1778845"/>
              <a:gd name="connsiteX4" fmla="*/ 1278972 w 3681350"/>
              <a:gd name="connsiteY4" fmla="*/ 1778845 h 1778845"/>
              <a:gd name="connsiteX5" fmla="*/ 1733797 w 3681350"/>
              <a:gd name="connsiteY5" fmla="*/ 1316153 h 1778845"/>
              <a:gd name="connsiteX6" fmla="*/ 2375065 w 3681350"/>
              <a:gd name="connsiteY6" fmla="*/ 9867 h 1778845"/>
              <a:gd name="connsiteX7" fmla="*/ 2662299 w 3681350"/>
              <a:gd name="connsiteY7" fmla="*/ 757716 h 1778845"/>
              <a:gd name="connsiteX8" fmla="*/ 3000894 w 3681350"/>
              <a:gd name="connsiteY8" fmla="*/ 1517588 h 1778845"/>
              <a:gd name="connsiteX9" fmla="*/ 3384467 w 3681350"/>
              <a:gd name="connsiteY9" fmla="*/ 1304278 h 1778845"/>
              <a:gd name="connsiteX10" fmla="*/ 3681350 w 3681350"/>
              <a:gd name="connsiteY10" fmla="*/ 496756 h 1778845"/>
              <a:gd name="connsiteX0" fmla="*/ 0 w 3681350"/>
              <a:gd name="connsiteY0" fmla="*/ 747440 h 1780147"/>
              <a:gd name="connsiteX1" fmla="*/ 356259 w 3681350"/>
              <a:gd name="connsiteY1" fmla="*/ 391180 h 1780147"/>
              <a:gd name="connsiteX2" fmla="*/ 688768 w 3681350"/>
              <a:gd name="connsiteY2" fmla="*/ 688063 h 1780147"/>
              <a:gd name="connsiteX3" fmla="*/ 890649 w 3681350"/>
              <a:gd name="connsiteY3" fmla="*/ 1329330 h 1780147"/>
              <a:gd name="connsiteX4" fmla="*/ 1278972 w 3681350"/>
              <a:gd name="connsiteY4" fmla="*/ 1780147 h 1780147"/>
              <a:gd name="connsiteX5" fmla="*/ 1733797 w 3681350"/>
              <a:gd name="connsiteY5" fmla="*/ 1317455 h 1780147"/>
              <a:gd name="connsiteX6" fmla="*/ 2375065 w 3681350"/>
              <a:gd name="connsiteY6" fmla="*/ 11169 h 1780147"/>
              <a:gd name="connsiteX7" fmla="*/ 2662299 w 3681350"/>
              <a:gd name="connsiteY7" fmla="*/ 759018 h 1780147"/>
              <a:gd name="connsiteX8" fmla="*/ 3000894 w 3681350"/>
              <a:gd name="connsiteY8" fmla="*/ 1518890 h 1780147"/>
              <a:gd name="connsiteX9" fmla="*/ 3384467 w 3681350"/>
              <a:gd name="connsiteY9" fmla="*/ 1305580 h 1780147"/>
              <a:gd name="connsiteX10" fmla="*/ 3681350 w 3681350"/>
              <a:gd name="connsiteY10" fmla="*/ 498058 h 1780147"/>
              <a:gd name="connsiteX0" fmla="*/ 0 w 3681350"/>
              <a:gd name="connsiteY0" fmla="*/ 747440 h 1780147"/>
              <a:gd name="connsiteX1" fmla="*/ 356259 w 3681350"/>
              <a:gd name="connsiteY1" fmla="*/ 391180 h 1780147"/>
              <a:gd name="connsiteX2" fmla="*/ 688768 w 3681350"/>
              <a:gd name="connsiteY2" fmla="*/ 688063 h 1780147"/>
              <a:gd name="connsiteX3" fmla="*/ 890649 w 3681350"/>
              <a:gd name="connsiteY3" fmla="*/ 1329330 h 1780147"/>
              <a:gd name="connsiteX4" fmla="*/ 1278972 w 3681350"/>
              <a:gd name="connsiteY4" fmla="*/ 1780147 h 1780147"/>
              <a:gd name="connsiteX5" fmla="*/ 1733797 w 3681350"/>
              <a:gd name="connsiteY5" fmla="*/ 1317455 h 1780147"/>
              <a:gd name="connsiteX6" fmla="*/ 2375065 w 3681350"/>
              <a:gd name="connsiteY6" fmla="*/ 11169 h 1780147"/>
              <a:gd name="connsiteX7" fmla="*/ 2662299 w 3681350"/>
              <a:gd name="connsiteY7" fmla="*/ 759018 h 1780147"/>
              <a:gd name="connsiteX8" fmla="*/ 3000894 w 3681350"/>
              <a:gd name="connsiteY8" fmla="*/ 1518890 h 1780147"/>
              <a:gd name="connsiteX9" fmla="*/ 3384467 w 3681350"/>
              <a:gd name="connsiteY9" fmla="*/ 1305580 h 1780147"/>
              <a:gd name="connsiteX10" fmla="*/ 3681350 w 3681350"/>
              <a:gd name="connsiteY10" fmla="*/ 498058 h 1780147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688768 w 3681350"/>
              <a:gd name="connsiteY2" fmla="*/ 686349 h 1778433"/>
              <a:gd name="connsiteX3" fmla="*/ 890649 w 3681350"/>
              <a:gd name="connsiteY3" fmla="*/ 1327616 h 1778433"/>
              <a:gd name="connsiteX4" fmla="*/ 1278972 w 3681350"/>
              <a:gd name="connsiteY4" fmla="*/ 1778433 h 1778433"/>
              <a:gd name="connsiteX5" fmla="*/ 1733797 w 3681350"/>
              <a:gd name="connsiteY5" fmla="*/ 1315741 h 1778433"/>
              <a:gd name="connsiteX6" fmla="*/ 2375065 w 3681350"/>
              <a:gd name="connsiteY6" fmla="*/ 9455 h 1778433"/>
              <a:gd name="connsiteX7" fmla="*/ 2708019 w 3681350"/>
              <a:gd name="connsiteY7" fmla="*/ 791594 h 1778433"/>
              <a:gd name="connsiteX8" fmla="*/ 3000894 w 3681350"/>
              <a:gd name="connsiteY8" fmla="*/ 1517176 h 1778433"/>
              <a:gd name="connsiteX9" fmla="*/ 3384467 w 3681350"/>
              <a:gd name="connsiteY9" fmla="*/ 1303866 h 1778433"/>
              <a:gd name="connsiteX10" fmla="*/ 3681350 w 3681350"/>
              <a:gd name="connsiteY10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688768 w 3681350"/>
              <a:gd name="connsiteY2" fmla="*/ 686349 h 1778433"/>
              <a:gd name="connsiteX3" fmla="*/ 890649 w 3681350"/>
              <a:gd name="connsiteY3" fmla="*/ 1327616 h 1778433"/>
              <a:gd name="connsiteX4" fmla="*/ 1278972 w 3681350"/>
              <a:gd name="connsiteY4" fmla="*/ 1778433 h 1778433"/>
              <a:gd name="connsiteX5" fmla="*/ 1733797 w 3681350"/>
              <a:gd name="connsiteY5" fmla="*/ 1315741 h 1778433"/>
              <a:gd name="connsiteX6" fmla="*/ 2375065 w 3681350"/>
              <a:gd name="connsiteY6" fmla="*/ 9455 h 1778433"/>
              <a:gd name="connsiteX7" fmla="*/ 2708019 w 3681350"/>
              <a:gd name="connsiteY7" fmla="*/ 791594 h 1778433"/>
              <a:gd name="connsiteX8" fmla="*/ 3000894 w 3681350"/>
              <a:gd name="connsiteY8" fmla="*/ 1517176 h 1778433"/>
              <a:gd name="connsiteX9" fmla="*/ 3384467 w 3681350"/>
              <a:gd name="connsiteY9" fmla="*/ 1303866 h 1778433"/>
              <a:gd name="connsiteX10" fmla="*/ 3681350 w 3681350"/>
              <a:gd name="connsiteY10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890649 w 3681350"/>
              <a:gd name="connsiteY2" fmla="*/ 1327616 h 1778433"/>
              <a:gd name="connsiteX3" fmla="*/ 1278972 w 3681350"/>
              <a:gd name="connsiteY3" fmla="*/ 1778433 h 1778433"/>
              <a:gd name="connsiteX4" fmla="*/ 1733797 w 3681350"/>
              <a:gd name="connsiteY4" fmla="*/ 1315741 h 1778433"/>
              <a:gd name="connsiteX5" fmla="*/ 2375065 w 3681350"/>
              <a:gd name="connsiteY5" fmla="*/ 9455 h 1778433"/>
              <a:gd name="connsiteX6" fmla="*/ 2708019 w 3681350"/>
              <a:gd name="connsiteY6" fmla="*/ 791594 h 1778433"/>
              <a:gd name="connsiteX7" fmla="*/ 3000894 w 3681350"/>
              <a:gd name="connsiteY7" fmla="*/ 1517176 h 1778433"/>
              <a:gd name="connsiteX8" fmla="*/ 3384467 w 3681350"/>
              <a:gd name="connsiteY8" fmla="*/ 1303866 h 1778433"/>
              <a:gd name="connsiteX9" fmla="*/ 3681350 w 3681350"/>
              <a:gd name="connsiteY9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856359 w 3681350"/>
              <a:gd name="connsiteY2" fmla="*/ 1007576 h 1778433"/>
              <a:gd name="connsiteX3" fmla="*/ 1278972 w 3681350"/>
              <a:gd name="connsiteY3" fmla="*/ 1778433 h 1778433"/>
              <a:gd name="connsiteX4" fmla="*/ 1733797 w 3681350"/>
              <a:gd name="connsiteY4" fmla="*/ 1315741 h 1778433"/>
              <a:gd name="connsiteX5" fmla="*/ 2375065 w 3681350"/>
              <a:gd name="connsiteY5" fmla="*/ 9455 h 1778433"/>
              <a:gd name="connsiteX6" fmla="*/ 2708019 w 3681350"/>
              <a:gd name="connsiteY6" fmla="*/ 791594 h 1778433"/>
              <a:gd name="connsiteX7" fmla="*/ 3000894 w 3681350"/>
              <a:gd name="connsiteY7" fmla="*/ 1517176 h 1778433"/>
              <a:gd name="connsiteX8" fmla="*/ 3384467 w 3681350"/>
              <a:gd name="connsiteY8" fmla="*/ 1303866 h 1778433"/>
              <a:gd name="connsiteX9" fmla="*/ 3681350 w 3681350"/>
              <a:gd name="connsiteY9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856359 w 3681350"/>
              <a:gd name="connsiteY2" fmla="*/ 1007576 h 1778433"/>
              <a:gd name="connsiteX3" fmla="*/ 1278972 w 3681350"/>
              <a:gd name="connsiteY3" fmla="*/ 1778433 h 1778433"/>
              <a:gd name="connsiteX4" fmla="*/ 1733797 w 3681350"/>
              <a:gd name="connsiteY4" fmla="*/ 1315741 h 1778433"/>
              <a:gd name="connsiteX5" fmla="*/ 2375065 w 3681350"/>
              <a:gd name="connsiteY5" fmla="*/ 9455 h 1778433"/>
              <a:gd name="connsiteX6" fmla="*/ 2708019 w 3681350"/>
              <a:gd name="connsiteY6" fmla="*/ 791594 h 1778433"/>
              <a:gd name="connsiteX7" fmla="*/ 3000894 w 3681350"/>
              <a:gd name="connsiteY7" fmla="*/ 1517176 h 1778433"/>
              <a:gd name="connsiteX8" fmla="*/ 3384467 w 3681350"/>
              <a:gd name="connsiteY8" fmla="*/ 1303866 h 1778433"/>
              <a:gd name="connsiteX9" fmla="*/ 3681350 w 3681350"/>
              <a:gd name="connsiteY9" fmla="*/ 496344 h 177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81350" h="1778433">
                <a:moveTo>
                  <a:pt x="0" y="745726"/>
                </a:moveTo>
                <a:cubicBezTo>
                  <a:pt x="120732" y="572544"/>
                  <a:pt x="213533" y="345824"/>
                  <a:pt x="356259" y="389466"/>
                </a:cubicBezTo>
                <a:cubicBezTo>
                  <a:pt x="498985" y="433108"/>
                  <a:pt x="702574" y="661782"/>
                  <a:pt x="856359" y="1007576"/>
                </a:cubicBezTo>
                <a:cubicBezTo>
                  <a:pt x="1010144" y="1353370"/>
                  <a:pt x="1048145" y="1762352"/>
                  <a:pt x="1278972" y="1778433"/>
                </a:cubicBezTo>
                <a:cubicBezTo>
                  <a:pt x="1522367" y="1753594"/>
                  <a:pt x="1551115" y="1610571"/>
                  <a:pt x="1733797" y="1315741"/>
                </a:cubicBezTo>
                <a:cubicBezTo>
                  <a:pt x="1916479" y="1020911"/>
                  <a:pt x="2212695" y="96813"/>
                  <a:pt x="2375065" y="9455"/>
                </a:cubicBezTo>
                <a:cubicBezTo>
                  <a:pt x="2537435" y="-77903"/>
                  <a:pt x="2603714" y="460297"/>
                  <a:pt x="2708019" y="791594"/>
                </a:cubicBezTo>
                <a:cubicBezTo>
                  <a:pt x="2812324" y="1122891"/>
                  <a:pt x="2888153" y="1431797"/>
                  <a:pt x="3000894" y="1517176"/>
                </a:cubicBezTo>
                <a:cubicBezTo>
                  <a:pt x="3113635" y="1602555"/>
                  <a:pt x="3255818" y="1472100"/>
                  <a:pt x="3384467" y="1303866"/>
                </a:cubicBezTo>
                <a:cubicBezTo>
                  <a:pt x="3513116" y="1135632"/>
                  <a:pt x="3597233" y="815988"/>
                  <a:pt x="3681350" y="496344"/>
                </a:cubicBezTo>
              </a:path>
            </a:pathLst>
          </a:cu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444411" y="2468165"/>
            <a:ext cx="17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at local optima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434" y="2561197"/>
            <a:ext cx="199226" cy="224869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H="1" flipV="1">
            <a:off x="4272711" y="2328852"/>
            <a:ext cx="838200" cy="232345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192231" y="2685095"/>
            <a:ext cx="1" cy="185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" y="3306365"/>
            <a:ext cx="1922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Current value of 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454" y="3391194"/>
            <a:ext cx="199226" cy="224869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 flipV="1">
            <a:off x="2520111" y="2870835"/>
            <a:ext cx="1524000" cy="43553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1" y="3181351"/>
            <a:ext cx="3276599" cy="78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88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49" y="1352551"/>
            <a:ext cx="3077652" cy="7398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3350"/>
            <a:ext cx="716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Gradient descent can converge to a local minimum, even with the learning rate </a:t>
            </a:r>
            <a:r>
              <a:rPr lang="el-GR" sz="2800" dirty="0"/>
              <a:t>α</a:t>
            </a:r>
            <a:r>
              <a:rPr lang="en-US" sz="2800" dirty="0"/>
              <a:t> fixed.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600" y="2332494"/>
            <a:ext cx="40405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As we approach a local minimum, gradient descent will automatically take smaller steps. So, no need to decrease </a:t>
            </a:r>
            <a:r>
              <a:rPr lang="el-GR" sz="2800" dirty="0"/>
              <a:t>α</a:t>
            </a:r>
            <a:r>
              <a:rPr lang="en-US" sz="2800" dirty="0"/>
              <a:t> over time. 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5037582" y="1417851"/>
            <a:ext cx="0" cy="2966991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861504" y="4156241"/>
            <a:ext cx="3658764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359" y="4268267"/>
            <a:ext cx="184709" cy="2084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495550"/>
            <a:ext cx="530352" cy="245059"/>
          </a:xfrm>
          <a:prstGeom prst="rect">
            <a:avLst/>
          </a:prstGeom>
        </p:spPr>
      </p:pic>
      <p:sp>
        <p:nvSpPr>
          <p:cNvPr id="9" name="Arc 8"/>
          <p:cNvSpPr/>
          <p:nvPr/>
        </p:nvSpPr>
        <p:spPr>
          <a:xfrm rot="5400000">
            <a:off x="4961277" y="794866"/>
            <a:ext cx="3019656" cy="3042307"/>
          </a:xfrm>
          <a:prstGeom prst="arc">
            <a:avLst>
              <a:gd name="adj1" fmla="val 16200000"/>
              <a:gd name="adj2" fmla="val 1283001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620000" y="2495550"/>
            <a:ext cx="372260" cy="83820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7315200" y="3318041"/>
            <a:ext cx="304800" cy="25390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7162800" y="3571944"/>
            <a:ext cx="153471" cy="99378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034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158342" y="2223408"/>
            <a:ext cx="5029200" cy="1625589"/>
          </a:xfrm>
        </p:spPr>
        <p:txBody>
          <a:bodyPr anchor="t" anchorCtr="0"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Gradient descent for 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39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666750"/>
            <a:ext cx="360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Gradient descent algorithm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04950"/>
            <a:ext cx="3513582" cy="1915668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374" y="1579626"/>
            <a:ext cx="2201418" cy="30632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724400" y="662285"/>
            <a:ext cx="3256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Linear Regression Model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774" y="2343150"/>
            <a:ext cx="4246626" cy="59679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4495800" y="566800"/>
            <a:ext cx="0" cy="39624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904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45880" y="971550"/>
                <a:ext cx="8224111" cy="84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it-IT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it-IT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80" y="971550"/>
                <a:ext cx="8224111" cy="84029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45880" y="2724150"/>
                <a:ext cx="8599149" cy="840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it-IT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it-IT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80" y="2724150"/>
                <a:ext cx="8599149" cy="84029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6757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1000" y="800040"/>
            <a:ext cx="4263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Gradient descent algorithm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07642"/>
            <a:ext cx="5454396" cy="21168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7490" y="2049780"/>
            <a:ext cx="20692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update </a:t>
            </a:r>
          </a:p>
          <a:p>
            <a:pPr algn="ctr"/>
            <a:r>
              <a:rPr lang="en-US" sz="2400" dirty="0"/>
              <a:t>and</a:t>
            </a:r>
          </a:p>
          <a:p>
            <a:pPr algn="ctr"/>
            <a:r>
              <a:rPr lang="en-US" sz="2400" dirty="0"/>
              <a:t>simultaneously</a:t>
            </a:r>
          </a:p>
          <a:p>
            <a:pPr algn="ctr"/>
            <a:endParaRPr lang="en-US" sz="2400" dirty="0"/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869" y="2470693"/>
            <a:ext cx="284815" cy="31194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193" y="2472049"/>
            <a:ext cx="273966" cy="309229"/>
          </a:xfrm>
          <a:prstGeom prst="rect">
            <a:avLst/>
          </a:prstGeom>
        </p:spPr>
      </p:pic>
      <p:sp>
        <p:nvSpPr>
          <p:cNvPr id="16" name="Right Brace 15"/>
          <p:cNvSpPr/>
          <p:nvPr/>
        </p:nvSpPr>
        <p:spPr>
          <a:xfrm>
            <a:off x="6172200" y="2114550"/>
            <a:ext cx="152400" cy="1219200"/>
          </a:xfrm>
          <a:prstGeom prst="rightBrac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2362200" y="2049780"/>
            <a:ext cx="2895600" cy="73149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ounded Rectangle 9"/>
          <p:cNvSpPr/>
          <p:nvPr/>
        </p:nvSpPr>
        <p:spPr>
          <a:xfrm>
            <a:off x="2369976" y="2798328"/>
            <a:ext cx="3539334" cy="76402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727510" y="1011478"/>
                <a:ext cx="1462708" cy="6660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510" y="1011478"/>
                <a:ext cx="1462708" cy="66608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52195" y="3776384"/>
                <a:ext cx="1457387" cy="664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195" y="3776384"/>
                <a:ext cx="1457387" cy="664349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800600" y="1684504"/>
            <a:ext cx="155740" cy="278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139643" y="3731027"/>
            <a:ext cx="505217" cy="26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67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 animBg="1"/>
      <p:bldP spid="4" grpId="0" animBg="1"/>
      <p:bldP spid="10" grpId="0" animBg="1"/>
      <p:bldP spid="6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20303"/>
            <a:ext cx="7677150" cy="4032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AutoShape 7"/>
          <p:cNvSpPr>
            <a:spLocks noChangeArrowheads="1"/>
          </p:cNvSpPr>
          <p:nvPr/>
        </p:nvSpPr>
        <p:spPr bwMode="auto">
          <a:xfrm>
            <a:off x="3790950" y="202406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2" name="AutoShape 8"/>
          <p:cNvSpPr>
            <a:spLocks noChangeArrowheads="1"/>
          </p:cNvSpPr>
          <p:nvPr/>
        </p:nvSpPr>
        <p:spPr bwMode="auto">
          <a:xfrm>
            <a:off x="3829050" y="2241946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3" name="AutoShape 9"/>
          <p:cNvSpPr>
            <a:spLocks noChangeArrowheads="1"/>
          </p:cNvSpPr>
          <p:nvPr/>
        </p:nvSpPr>
        <p:spPr bwMode="auto">
          <a:xfrm>
            <a:off x="3810000" y="24634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4" name="AutoShape 10"/>
          <p:cNvSpPr>
            <a:spLocks noChangeArrowheads="1"/>
          </p:cNvSpPr>
          <p:nvPr/>
        </p:nvSpPr>
        <p:spPr bwMode="auto">
          <a:xfrm>
            <a:off x="3581400" y="26920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5" name="AutoShape 11"/>
          <p:cNvSpPr>
            <a:spLocks noChangeArrowheads="1"/>
          </p:cNvSpPr>
          <p:nvPr/>
        </p:nvSpPr>
        <p:spPr bwMode="auto">
          <a:xfrm>
            <a:off x="3657600" y="29206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6" name="AutoShape 12"/>
          <p:cNvSpPr>
            <a:spLocks noChangeArrowheads="1"/>
          </p:cNvSpPr>
          <p:nvPr/>
        </p:nvSpPr>
        <p:spPr bwMode="auto">
          <a:xfrm>
            <a:off x="3962400" y="297775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7" name="AutoShape 13"/>
          <p:cNvSpPr>
            <a:spLocks noChangeArrowheads="1"/>
          </p:cNvSpPr>
          <p:nvPr/>
        </p:nvSpPr>
        <p:spPr bwMode="auto">
          <a:xfrm>
            <a:off x="4114800" y="31492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8" name="AutoShape 14"/>
          <p:cNvSpPr>
            <a:spLocks noChangeArrowheads="1"/>
          </p:cNvSpPr>
          <p:nvPr/>
        </p:nvSpPr>
        <p:spPr bwMode="auto">
          <a:xfrm>
            <a:off x="4038600" y="33778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477199" name="AutoShape 15"/>
          <p:cNvCxnSpPr>
            <a:cxnSpLocks noChangeShapeType="1"/>
          </p:cNvCxnSpPr>
          <p:nvPr/>
        </p:nvCxnSpPr>
        <p:spPr bwMode="auto">
          <a:xfrm>
            <a:off x="3692525" y="2777727"/>
            <a:ext cx="762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0" name="AutoShape 16"/>
          <p:cNvCxnSpPr>
            <a:cxnSpLocks noChangeShapeType="1"/>
          </p:cNvCxnSpPr>
          <p:nvPr/>
        </p:nvCxnSpPr>
        <p:spPr bwMode="auto">
          <a:xfrm flipH="1">
            <a:off x="3692525" y="2549127"/>
            <a:ext cx="2286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1" name="AutoShape 17"/>
          <p:cNvCxnSpPr>
            <a:cxnSpLocks noChangeShapeType="1"/>
          </p:cNvCxnSpPr>
          <p:nvPr/>
        </p:nvCxnSpPr>
        <p:spPr bwMode="auto">
          <a:xfrm>
            <a:off x="3775075" y="3006327"/>
            <a:ext cx="304800" cy="571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2" name="AutoShape 18"/>
          <p:cNvCxnSpPr>
            <a:cxnSpLocks noChangeShapeType="1"/>
          </p:cNvCxnSpPr>
          <p:nvPr/>
        </p:nvCxnSpPr>
        <p:spPr bwMode="auto">
          <a:xfrm>
            <a:off x="4068763" y="3063477"/>
            <a:ext cx="152400" cy="171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3" name="AutoShape 19"/>
          <p:cNvCxnSpPr>
            <a:cxnSpLocks noChangeShapeType="1"/>
          </p:cNvCxnSpPr>
          <p:nvPr/>
        </p:nvCxnSpPr>
        <p:spPr bwMode="auto">
          <a:xfrm flipH="1">
            <a:off x="4144963" y="3234927"/>
            <a:ext cx="762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7204" name="Line 20"/>
          <p:cNvSpPr>
            <a:spLocks noChangeShapeType="1"/>
          </p:cNvSpPr>
          <p:nvPr/>
        </p:nvSpPr>
        <p:spPr bwMode="auto">
          <a:xfrm>
            <a:off x="3905251" y="2109787"/>
            <a:ext cx="42863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205" name="Line 21"/>
          <p:cNvSpPr>
            <a:spLocks noChangeShapeType="1"/>
          </p:cNvSpPr>
          <p:nvPr/>
        </p:nvSpPr>
        <p:spPr bwMode="auto">
          <a:xfrm flipH="1">
            <a:off x="3924301" y="2334815"/>
            <a:ext cx="23813" cy="21074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0196" name="Text Box 22"/>
          <p:cNvSpPr txBox="1">
            <a:spLocks noChangeArrowheads="1"/>
          </p:cNvSpPr>
          <p:nvPr/>
        </p:nvSpPr>
        <p:spPr bwMode="auto">
          <a:xfrm>
            <a:off x="6772276" y="3714749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0197" name="Text Box 23"/>
          <p:cNvSpPr txBox="1">
            <a:spLocks noChangeArrowheads="1"/>
          </p:cNvSpPr>
          <p:nvPr/>
        </p:nvSpPr>
        <p:spPr bwMode="auto">
          <a:xfrm>
            <a:off x="2751138" y="3999309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596285" y="2379820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J(</a:t>
            </a:r>
            <a:r>
              <a:rPr lang="en-US" dirty="0"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 dirty="0">
                <a:latin typeface="Symbol" pitchFamily="18" charset="2"/>
                <a:sym typeface="Symbol" pitchFamily="18" charset="2"/>
              </a:rPr>
              <a:t>0</a:t>
            </a:r>
            <a:r>
              <a:rPr lang="en-US" dirty="0">
                <a:latin typeface="Symbol" pitchFamily="18" charset="2"/>
                <a:sym typeface="Symbol" pitchFamily="18" charset="2"/>
              </a:rPr>
              <a:t>,</a:t>
            </a:r>
            <a:r>
              <a:rPr lang="en-US" baseline="-25000" dirty="0">
                <a:latin typeface="Symbol" pitchFamily="18" charset="2"/>
                <a:sym typeface="Symbol" pitchFamily="18" charset="2"/>
              </a:rPr>
              <a:t>1</a:t>
            </a:r>
            <a:r>
              <a:rPr lang="en-US" dirty="0"/>
              <a:t>)</a:t>
            </a:r>
            <a:endParaRPr lang="en-US" baseline="-25000" dirty="0">
              <a:latin typeface="Symbol" pitchFamily="18" charset="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1280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91" grpId="0" animBg="1"/>
      <p:bldP spid="477192" grpId="0" animBg="1"/>
      <p:bldP spid="477193" grpId="0" animBg="1"/>
      <p:bldP spid="477194" grpId="0" animBg="1"/>
      <p:bldP spid="477195" grpId="0" animBg="1"/>
      <p:bldP spid="477196" grpId="0" animBg="1"/>
      <p:bldP spid="477197" grpId="0" animBg="1"/>
      <p:bldP spid="477198" grpId="0" animBg="1"/>
      <p:bldP spid="477204" grpId="0" animBg="1"/>
      <p:bldP spid="47720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14350"/>
            <a:ext cx="7677150" cy="4032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2751138" y="3993356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6772276" y="3708796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479239" name="AutoShape 7"/>
          <p:cNvSpPr>
            <a:spLocks noChangeArrowheads="1"/>
          </p:cNvSpPr>
          <p:nvPr/>
        </p:nvSpPr>
        <p:spPr bwMode="auto">
          <a:xfrm>
            <a:off x="3986213" y="1925240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0" name="AutoShape 8"/>
          <p:cNvSpPr>
            <a:spLocks noChangeArrowheads="1"/>
          </p:cNvSpPr>
          <p:nvPr/>
        </p:nvSpPr>
        <p:spPr bwMode="auto">
          <a:xfrm>
            <a:off x="4243388" y="215741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1" name="AutoShape 9"/>
          <p:cNvSpPr>
            <a:spLocks noChangeArrowheads="1"/>
          </p:cNvSpPr>
          <p:nvPr/>
        </p:nvSpPr>
        <p:spPr bwMode="auto">
          <a:xfrm>
            <a:off x="4529138" y="2250280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2" name="AutoShape 10"/>
          <p:cNvSpPr>
            <a:spLocks noChangeArrowheads="1"/>
          </p:cNvSpPr>
          <p:nvPr/>
        </p:nvSpPr>
        <p:spPr bwMode="auto">
          <a:xfrm>
            <a:off x="4876800" y="245744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3" name="AutoShape 11"/>
          <p:cNvSpPr>
            <a:spLocks noChangeArrowheads="1"/>
          </p:cNvSpPr>
          <p:nvPr/>
        </p:nvSpPr>
        <p:spPr bwMode="auto">
          <a:xfrm>
            <a:off x="5257800" y="262889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4" name="AutoShape 12"/>
          <p:cNvSpPr>
            <a:spLocks noChangeArrowheads="1"/>
          </p:cNvSpPr>
          <p:nvPr/>
        </p:nvSpPr>
        <p:spPr bwMode="auto">
          <a:xfrm>
            <a:off x="5638800" y="274319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5" name="AutoShape 13"/>
          <p:cNvSpPr>
            <a:spLocks noChangeArrowheads="1"/>
          </p:cNvSpPr>
          <p:nvPr/>
        </p:nvSpPr>
        <p:spPr bwMode="auto">
          <a:xfrm>
            <a:off x="6019800" y="285749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479246" name="AutoShape 14"/>
          <p:cNvCxnSpPr>
            <a:cxnSpLocks noChangeShapeType="1"/>
          </p:cNvCxnSpPr>
          <p:nvPr/>
        </p:nvCxnSpPr>
        <p:spPr bwMode="auto">
          <a:xfrm>
            <a:off x="4976813" y="2543174"/>
            <a:ext cx="381000" cy="171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9247" name="AutoShape 15"/>
          <p:cNvCxnSpPr>
            <a:cxnSpLocks noChangeShapeType="1"/>
          </p:cNvCxnSpPr>
          <p:nvPr/>
        </p:nvCxnSpPr>
        <p:spPr bwMode="auto">
          <a:xfrm>
            <a:off x="5368925" y="2714624"/>
            <a:ext cx="381000" cy="1143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9248" name="AutoShape 16"/>
          <p:cNvCxnSpPr>
            <a:cxnSpLocks noChangeShapeType="1"/>
          </p:cNvCxnSpPr>
          <p:nvPr/>
        </p:nvCxnSpPr>
        <p:spPr bwMode="auto">
          <a:xfrm>
            <a:off x="5749925" y="2828924"/>
            <a:ext cx="381000" cy="1143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9249" name="Line 17"/>
          <p:cNvSpPr>
            <a:spLocks noChangeShapeType="1"/>
          </p:cNvSpPr>
          <p:nvPr/>
        </p:nvSpPr>
        <p:spPr bwMode="auto">
          <a:xfrm>
            <a:off x="4100513" y="2014536"/>
            <a:ext cx="247650" cy="2250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0" name="Line 18"/>
          <p:cNvSpPr>
            <a:spLocks noChangeShapeType="1"/>
          </p:cNvSpPr>
          <p:nvPr/>
        </p:nvSpPr>
        <p:spPr bwMode="auto">
          <a:xfrm>
            <a:off x="4348163" y="2243136"/>
            <a:ext cx="290512" cy="1000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1" name="AutoShape 19"/>
          <p:cNvSpPr>
            <a:spLocks noChangeArrowheads="1"/>
          </p:cNvSpPr>
          <p:nvPr/>
        </p:nvSpPr>
        <p:spPr bwMode="auto">
          <a:xfrm>
            <a:off x="3790950" y="201810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2" name="Line 20"/>
          <p:cNvSpPr>
            <a:spLocks noChangeShapeType="1"/>
          </p:cNvSpPr>
          <p:nvPr/>
        </p:nvSpPr>
        <p:spPr bwMode="auto">
          <a:xfrm>
            <a:off x="4643439" y="2346722"/>
            <a:ext cx="333375" cy="19645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596285" y="2373867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J(</a:t>
            </a:r>
            <a:r>
              <a:rPr lang="en-US" dirty="0"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 dirty="0">
                <a:latin typeface="Symbol" pitchFamily="18" charset="2"/>
                <a:sym typeface="Symbol" pitchFamily="18" charset="2"/>
              </a:rPr>
              <a:t>0</a:t>
            </a:r>
            <a:r>
              <a:rPr lang="en-US" dirty="0">
                <a:latin typeface="Symbol" pitchFamily="18" charset="2"/>
                <a:sym typeface="Symbol" pitchFamily="18" charset="2"/>
              </a:rPr>
              <a:t>,</a:t>
            </a:r>
            <a:r>
              <a:rPr lang="en-US" baseline="-25000" dirty="0">
                <a:latin typeface="Symbol" pitchFamily="18" charset="2"/>
                <a:sym typeface="Symbol" pitchFamily="18" charset="2"/>
              </a:rPr>
              <a:t>1</a:t>
            </a:r>
            <a:r>
              <a:rPr lang="en-US" dirty="0"/>
              <a:t>)</a:t>
            </a:r>
            <a:endParaRPr lang="en-US" baseline="-25000" dirty="0">
              <a:latin typeface="Symbol" pitchFamily="18" charset="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7432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9" grpId="0" animBg="1"/>
      <p:bldP spid="479240" grpId="0" animBg="1"/>
      <p:bldP spid="479241" grpId="0" animBg="1"/>
      <p:bldP spid="479242" grpId="0" animBg="1"/>
      <p:bldP spid="479243" grpId="0" animBg="1"/>
      <p:bldP spid="479244" grpId="0" animBg="1"/>
      <p:bldP spid="479245" grpId="0" animBg="1"/>
      <p:bldP spid="479249" grpId="0" animBg="1"/>
      <p:bldP spid="479250" grpId="0" animBg="1"/>
      <p:bldP spid="479251" grpId="0" animBg="1"/>
      <p:bldP spid="47925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ublic\Documents\ml-class\lectures-slides\assets\2.bow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09550"/>
            <a:ext cx="6019800" cy="472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248400" y="43815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Convex Function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34648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3" y="880382"/>
            <a:ext cx="4388757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7" cy="3291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328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7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187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901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6775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2834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4108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050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411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68" y="666750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2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809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14350"/>
            <a:ext cx="4535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“Batch” Gradient Descent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28750"/>
            <a:ext cx="7833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“Batch”: Each step of gradient descent uses all the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dirty="0"/>
              <a:t> training examples.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00400" y="2724150"/>
                <a:ext cx="2446375" cy="848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724150"/>
                <a:ext cx="2446375" cy="84856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200400" y="3714750"/>
                <a:ext cx="2798137" cy="848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3714750"/>
                <a:ext cx="2798137" cy="8485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4115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Univariate Linear Regression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224865" y="2241561"/>
            <a:ext cx="4495800" cy="1625589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Matrix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666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9600" y="28575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House sizes: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769308"/>
            <a:ext cx="582930" cy="13075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747415"/>
            <a:ext cx="3173730" cy="3573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67200" y="1428750"/>
            <a:ext cx="3613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predictions=data matrix </a:t>
            </a:r>
            <a:r>
              <a:rPr lang="en-GB" dirty="0">
                <a:cs typeface="Times New Roman" panose="02020603050405020304" pitchFamily="18" charset="0"/>
              </a:rPr>
              <a:t>x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parameters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40055" y="2571750"/>
                <a:ext cx="7311489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it-IT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2104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1416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1534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it-IT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852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it-IT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40+2104 ×0.25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−40+1416 ×0.25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−40+1534× 0.25</m:t>
                              </m:r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−40+852 ×0.25</m:t>
                              </m:r>
                            </m:e>
                          </m:eqAr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486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314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343.5</m:t>
                              </m:r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173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55" y="2571750"/>
                <a:ext cx="7311489" cy="1360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871898" y="1983539"/>
                <a:ext cx="10083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(2104)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898" y="1983539"/>
                <a:ext cx="1008353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5422" t="-2174" r="-7831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>
            <a:off x="7696200" y="2214372"/>
            <a:ext cx="533400" cy="4335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08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9600" y="28575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House sizes:</a:t>
            </a:r>
          </a:p>
        </p:txBody>
      </p:sp>
      <p:pic>
        <p:nvPicPr>
          <p:cNvPr id="43" name="Picture 4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769308"/>
            <a:ext cx="534352" cy="119862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274" y="836477"/>
            <a:ext cx="2720340" cy="30632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81000" y="2190750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Matrix</a:t>
            </a:r>
          </a:p>
        </p:txBody>
      </p:sp>
      <p:pic>
        <p:nvPicPr>
          <p:cNvPr id="37" name="Picture 3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713970"/>
            <a:ext cx="1613916" cy="14584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819400" y="2266950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Matrix</a:t>
            </a:r>
          </a:p>
        </p:txBody>
      </p:sp>
      <p:pic>
        <p:nvPicPr>
          <p:cNvPr id="59" name="Picture 5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018770"/>
            <a:ext cx="2843784" cy="731520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725" y="2413361"/>
            <a:ext cx="2001202" cy="133692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657600" y="275797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Have 3 competing hypotheses: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1761" y="738485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</a:t>
            </a:r>
          </a:p>
        </p:txBody>
      </p:sp>
      <p:pic>
        <p:nvPicPr>
          <p:cNvPr id="56" name="Picture 5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098" y="1305922"/>
            <a:ext cx="2484882" cy="30632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748585" y="120793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</a:t>
            </a:r>
          </a:p>
        </p:txBody>
      </p:sp>
      <p:pic>
        <p:nvPicPr>
          <p:cNvPr id="55" name="Picture 5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274" y="1776114"/>
            <a:ext cx="2720340" cy="30632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741761" y="1678122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</a:t>
            </a:r>
          </a:p>
        </p:txBody>
      </p:sp>
      <p:sp>
        <p:nvSpPr>
          <p:cNvPr id="3" name="Oval 2"/>
          <p:cNvSpPr/>
          <p:nvPr/>
        </p:nvSpPr>
        <p:spPr>
          <a:xfrm>
            <a:off x="5603033" y="2303585"/>
            <a:ext cx="533400" cy="16823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 17"/>
          <p:cNvSpPr/>
          <p:nvPr/>
        </p:nvSpPr>
        <p:spPr>
          <a:xfrm>
            <a:off x="6307626" y="2286243"/>
            <a:ext cx="533400" cy="1682389"/>
          </a:xfrm>
          <a:prstGeom prst="ellipse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 18"/>
          <p:cNvSpPr/>
          <p:nvPr/>
        </p:nvSpPr>
        <p:spPr>
          <a:xfrm>
            <a:off x="7012219" y="2240630"/>
            <a:ext cx="533400" cy="16823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TextBox 3"/>
          <p:cNvSpPr txBox="1"/>
          <p:nvPr/>
        </p:nvSpPr>
        <p:spPr>
          <a:xfrm>
            <a:off x="4393827" y="4095750"/>
            <a:ext cx="1704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Predictions of 1.</a:t>
            </a:r>
            <a:endParaRPr lang="it-IT" dirty="0"/>
          </a:p>
        </p:txBody>
      </p:sp>
      <p:sp>
        <p:nvSpPr>
          <p:cNvPr id="21" name="TextBox 20"/>
          <p:cNvSpPr txBox="1"/>
          <p:nvPr/>
        </p:nvSpPr>
        <p:spPr>
          <a:xfrm>
            <a:off x="5330561" y="4390192"/>
            <a:ext cx="1704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Predictions of 2.</a:t>
            </a:r>
            <a:endParaRPr lang="it-IT" dirty="0"/>
          </a:p>
        </p:txBody>
      </p:sp>
      <p:sp>
        <p:nvSpPr>
          <p:cNvPr id="22" name="TextBox 21"/>
          <p:cNvSpPr txBox="1"/>
          <p:nvPr/>
        </p:nvSpPr>
        <p:spPr>
          <a:xfrm>
            <a:off x="6938614" y="4553899"/>
            <a:ext cx="1704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Predictions of 3.</a:t>
            </a:r>
            <a:endParaRPr lang="it-IT" dirty="0"/>
          </a:p>
        </p:txBody>
      </p:sp>
      <p:cxnSp>
        <p:nvCxnSpPr>
          <p:cNvPr id="6" name="Straight Arrow Connector 5"/>
          <p:cNvCxnSpPr>
            <a:stCxn id="4" idx="0"/>
          </p:cNvCxnSpPr>
          <p:nvPr/>
        </p:nvCxnSpPr>
        <p:spPr>
          <a:xfrm flipV="1">
            <a:off x="5246080" y="3923019"/>
            <a:ext cx="356953" cy="1727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6307626" y="4044732"/>
            <a:ext cx="266700" cy="414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7391400" y="4009384"/>
            <a:ext cx="90740" cy="5872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806471" y="820992"/>
            <a:ext cx="296008" cy="3285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 29"/>
          <p:cNvSpPr/>
          <p:nvPr/>
        </p:nvSpPr>
        <p:spPr>
          <a:xfrm>
            <a:off x="3748599" y="1265279"/>
            <a:ext cx="296008" cy="32856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 30"/>
          <p:cNvSpPr/>
          <p:nvPr/>
        </p:nvSpPr>
        <p:spPr>
          <a:xfrm>
            <a:off x="3748599" y="1734724"/>
            <a:ext cx="296008" cy="3285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588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 animBg="1"/>
      <p:bldP spid="19" grpId="0" animBg="1"/>
      <p:bldP spid="4" grpId="0"/>
      <p:bldP spid="21" grpId="0"/>
      <p:bldP spid="22" grpId="0"/>
      <p:bldP spid="29" grpId="0" animBg="1"/>
      <p:bldP spid="30" grpId="0" animBg="1"/>
      <p:bldP spid="3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9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i&#10;$&#10;% \delta_i^{(l)} = \left(\sum_j W_{ji}^{(l)} \delta_j^{(l+1)}\right) f'(z_i^{(l)})&#10;&#10;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i&#10;$&#10;% \delta_i^{(l)} = \left(\sum_j W_{ji}^{(l)} \delta_j^{(l+1)}\right) f'(z_i^{(l)})&#10;&#10;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1.5$&#10;&#10;$\theta_1 = 0$&#10;&#10;% \delta_i^{(l)} = \left(\sum_j W_{ji}^{(l)} \delta_j^{(l+1)}\right) f'(z_i^{(l)})&#10;&#10;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0$&#10;&#10;$\theta_1 = 0.5$&#10;&#10;% \delta_i^{(l)} = \left(\sum_j W_{ji}^{(l)} \delta_j^{(l+1)}\right) f'(z_i^{(l)})&#10;&#10;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1$&#10;&#10;$\theta_1 = 0.5$&#10;&#10;% \delta_i^{(l)} = \left(\sum_j W_{ji}^{(l)} \delta_j^{(l+1)}\right) f'(z_i^{(l)})&#10;&#10;&#10;&#10;\end{document}"/>
  <p:tag name="IGUANATEXSIZE" val="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&#10;$&#10;% \delta_i^{(l)} = \left(\sum_j W_{ji}^{(l)} \delta_j^{(l+1)}\right) f'(z_i^{(l)})&#10;&#10;&#10;&#10;\end{document}"/>
  <p:tag name="IGUANATEXSIZE" val="3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(x,y)&#10;$&#10;% \delta_i^{(l)} = \left(\sum_j W_{ji}^{(l)} \delta_j^{(l+1)}\right) f'(z_i^{(l)})&#10;&#10;&#10;&#10;\end{document}"/>
  <p:tag name="IGUANATEXSIZE" val="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, \theta_1$&#10;&#10;% \delta_i^{(l)} = \left(\sum_j W_{ji}^{(l)} \delta_j^{(l+1)}\right) f'(z_i^{(l)})&#10;&#10;&#10;&#10;\end{document}"/>
  <p:tag name="IGUANATEXSIZE" val="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= \frac{1}{2m} \sum\limits^{m}_{i=1} \left( h_\theta(x^{(i)}) - y^{(i)} \right)^2&#10;$&#10;% \delta_i^{(l)} = \left(\sum_j W_{ji}^{(l)} \delta_j^{(l+1)}\right) f'(z_i^{(l)})&#10;&#10;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underset{\theta_0,\theta_1}{\mathrm{minimize}} \; J(\theta_0,\theta_1)&#10;$&#10;% \delta_i^{(l)} = \left(\sum_j W_{ji}^{(l)} \delta_j^{(l+1)}\right) f'(z_i^{(l)})&#10;&#10;&#10;&#10;\end{document}"/>
  <p:tag name="IGUANATEXSIZE" val="3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1 x&#10;$&#10;% \delta_i^{(l)} = \left(\sum_j W_{ji}^{(l)} \delta_j^{(l+1)}\right) f'(z_i^{(l)})&#10;&#10;&#10;&#10;\end{document}"/>
  <p:tag name="IGUANATEXSIZE" val="3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3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 = \frac{1}{2m} \sum\limits^{m}_{i=1} \left( h_\theta(x^{(i)}) - y^{(i)} \right)^2&#10;$&#10;% \delta_i^{(l)} = \left(\sum_j W_{ji}^{(l)} \delta_j^{(l+1)}\right) f'(z_i^{(l)})&#10;&#10;&#10;&#10;\end{document}"/>
  <p:tag name="IGUANATEXSIZE" val="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underset{\theta_1}{\mathrm{minimize}} \; J(\theta_1)&#10;$&#10;% \delta_i^{(l)} = \left(\sum_j W_{ji}^{(l)} \delta_j^{(l+1)}\right) f'(z_i^{(l)})&#10;&#10;&#10;&#10;\end{document}"/>
  <p:tag name="IGUANATEXSIZE" val="3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2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 = 1&#10;$&#10;% \delta_i^{(l)} = \left(\sum_j W_{ji}^{(l)} \delta_j^{(l+1)}\right) f'(z_i^{(l)})&#10;&#10;&#10;&#10;\end{document}"/>
  <p:tag name="IGUANATEXSIZE" val="2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3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 = \frac{1}{2m} \sum\limits^{m}_{i=1} \left( h_\theta(x^{(i)}) - y^{(i)} \right)^2&#10;$&#10;% \delta_i^{(l)} = \left(\sum_j W_{ji}^{(l)} \delta_j^{(l+1)}\right) f'(z_i^{(l)})&#10;&#10;&#10;&#10;\end{document}"/>
  <p:tag name="IGUANATEXSIZE" val="2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 = 0.5&#10;$&#10;% \delta_i^{(l)} = \left(\sum_j W_{ji}^{(l)} \delta_j^{(l+1)}\right) f'(z_i^{(l)})&#10;&#10;&#10;&#10;\end{document}"/>
  <p:tag name="IGUANATEXSIZE" val="2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2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 = \frac{1}{2m} \sum\limits^{m}_{i=1} \left( h_\theta(x^{(i)}) - y^{(i)} \right)^2&#10;$&#10;% \delta_i^{(l)} = \left(\sum_j W_{ji}^{(l)} \delta_j^{(l+1)}\right) f'(z_i^{(l)})&#10;&#10;&#10;&#10;\end{document}"/>
  <p:tag name="IGUANATEXSIZE" val="2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2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3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 = 0&#10;$&#10;% \delta_i^{(l)} = \left(\sum_j W_{ji}^{(l)} \delta_j^{(l+1)}\right) f'(z_i^{(l)})&#10;&#10;&#10;&#10;\end{document}"/>
  <p:tag name="IGUANATEXSIZE" val="2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2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 = \frac{1}{2m} \sum\limits^{m}_{i=1} \left( h_\theta(x^{(i)}) - y^{(i)} \right)^2&#10;$&#10;% \delta_i^{(l)} = \left(\sum_j W_{ji}^{(l)} \delta_j^{(l+1)}\right) f'(z_i^{(l)})&#10;&#10;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3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3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underset{\theta_1}{\mathrm{minimize}} \; J(\theta_1)&#10;$&#10;% \delta_i^{(l)} = \left(\sum_j W_{ji}^{(l)} \delta_j^{(l+1)}\right) f'(z_i^{(l)})&#10;&#10;&#10;&#10;\end{document}"/>
  <p:tag name="IGUANATEXSIZE" val="3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3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= \frac{1}{2m} \sum\limits^{m}_{i=1} \left( h_\theta(x^{(i)}) - y^{(i)} \right)^2&#10;$&#10;% \delta_i^{(l)} = \left(\sum_j W_{ji}^{(l)} \delta_j^{(l+1)}\right) f'(z_i^{(l)})&#10;&#10;&#10;&#10;\end{document}"/>
  <p:tag name="IGUANATEXSIZE" val="3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underset{\theta_0,\theta_1}{\mathrm{minimize}} \; J(\theta_0,\theta_1)&#10;$&#10;% \delta_i^{(l)} = \left(\sum_j W_{ji}^{(l)} \delta_j^{(l+1)}\right) f'(z_i^{(l)})&#10;&#10;&#10;&#10;\end{document}"/>
  <p:tag name="IGUANATEXSIZE" val="3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50  + 0.06x&#10;$&#10;% \delta_i^{(l)} = \left(\sum_j W_{ji}^{(l)} \delta_j^{(l+1)}\right) f'(z_i^{(l)})&#10;&#10;&#10;&#10;\end{document}"/>
  <p:tag name="IGUANATEXSIZE" val="3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&#10;$&#10;% \delta_i^{(l)} = \left(\sum_j W_{ji}^{(l)} \delta_j^{(l+1)}\right) f'(z_i^{(l)})&#10;&#10;&#10;&#10;\end{document}"/>
  <p:tag name="IGUANATEXSIZE" val="3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underset{\theta_0,\theta_1}{\mathrm{min}} \; J(\theta_0,\theta_1)&#10;$&#10;% \delta_i^{(l)} = \left(\sum_j W_{ji}^{(l)} \delta_j^{(l+1)}\right) f'(z_i^{(l)})&#10;&#10;&#10;&#10;\end{document}"/>
  <p:tag name="IGUANATEXSIZE" val="3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3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&#10;$&#10;% \delta_i^{(l)} = \left(\sum_j W_{ji}^{(l)} \delta_j^{(l+1)}\right) f'(z_i^{(l)})&#10;&#10;&#10;&#10;\end{document}"/>
  <p:tag name="IGUANATEXSIZE" val="3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3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repeat until convergence \{&#10;&#10;$&#10;\displaystyle&#10;\quad\theta_j := \theta_j - \alpha \frac{\partial}{\partial \theta_j} J(\theta_0,\theta_1)&#10;$&#10;&#10;\}&#10;% \delta_i^{(l)} = \left(\sum_j W_{ji}^{(l)} \delta_j^{(l+1)}\right) f'(z_i^{(l)})&#10;&#10;&#10;&#10;\end{document}"/>
  <p:tag name="IGUANATEXSIZE" val="2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for $j=0$ and $j=1$)&#10;% \delta_i^{(l)} = \left(\sum_j W_{ji}^{(l)} \delta_j^{(l+1)}\right) f'(z_i^{(l)})&#10;&#10;&#10;&#10;\end{document}"/>
  <p:tag name="IGUANATEXSIZE" val="2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{\color{blue}\mathrm{temp}0} := \theta_0 - \alpha \frac{\partial}{\partial \theta_0} J(\theta_0,\theta_1)$ &#10;&#10;${\color{blue}\mathrm{temp}1} := \theta_1 - \alpha \frac{\partial}{\partial \theta_1} J(\theta_0,\theta_1)$ &#10;&#10;$\theta_0 := {\color{blue}\mathrm{temp}0}$&#10;&#10;$\theta_1 := {\color{blue}\mathrm{temp}1}$ &#10;&#10;% \delta_i^{(l)} = \left(\sum_j W_{ji}^{(l)} \delta_j^{(l+1)}\right) f'(z_i^{(l)})&#10;&#10;&#10;&#10;\end{document}"/>
  <p:tag name="IGUANATEXSIZE" val="2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{\color{blue}\mathrm{temp}0} := \theta_0 - \alpha \frac{\partial}{\partial \theta_0} J(\theta_0,\theta_1)$ &#10;&#10;$\theta_0 := {\color{blue}\mathrm{temp}0}$&#10;&#10;${\color{blue}\mathrm{temp}1} := \theta_1 - \alpha \frac{\partial}{\partial \theta_1} J(\theta_0,\theta_1)$ &#10;&#10;$\theta_1 := {\color{blue}\mathrm{temp}1}$ &#10;&#10;% \delta_i^{(l)} = \left(\sum_j W_{ji}^{(l)} \delta_j^{(l+1)}\right) f'(z_i^{(l)})&#10;&#10;&#10;&#10;\end{document}"/>
  <p:tag name="IGUANATEXSIZE" val="2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repeat until convergence \{&#10;&#10;$&#10;\displaystyle&#10;\quad\theta_j := \theta_j - \alpha \frac{\partial}{\partial \theta_j} J(\theta_0,\theta_1)&#10;$ &#10;&#10;\}&#10;% \delta_i^{(l)} = \left(\sum_j W_{ji}^{(l)} \delta_j^{(l+1)}\right) f'(z_i^{(l)})&#10;&#10;&#10;&#10;\end{document}"/>
  <p:tag name="IGUANATEXSIZE" val="3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simultaneously update&#10;&#10;\quad $j=0$ and $j=1$)&#10;% \delta_i^{(l)} = \left(\sum_j W_{ji}^{(l)} \delta_j^{(l+1)}\right) f'(z_i^{(l)})&#10;&#10;&#10;&#10;\end{document}"/>
  <p:tag name="IGUANATEXSIZE" val="3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\partial}{\partial \theta_1} J(\theta_1)&#10;$ &#10;&#10;% \delta_i^{(l)} = \left(\sum_j W_{ji}^{(l)} \delta_j^{(l+1)}\right) f'(z_i^{(l)})&#10;&#10;&#10;&#10;\end{document}"/>
  <p:tag name="IGUANATEXSIZE" val="3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color{red}\theta_1&#10;$&#10;% \delta_i^{(l)} = \left(\sum_j W_{ji}^{(l)} \delta_j^{(l+1)}\right) f'(z_i^{(l)})&#10;&#10;&#10;&#10;\end{document}"/>
  <p:tag name="IGUANATEXSIZE" val="2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color{red}\theta_1&#10;$&#10;% \delta_i^{(l)} = \left(\sum_j W_{ji}^{(l)} \delta_j^{(l+1)}\right) f'(z_i^{(l)})&#10;&#10;&#10;&#10;\end{document}"/>
  <p:tag name="IGUANATEXSIZE" val="2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d}{d \theta_1} J(\theta_1)&#10;$ &#10;&#10;% \delta_i^{(l)} = \left(\sum_j W_{ji}^{(l)} \delta_j^{(l+1)}\right) f'(z_i^{(l)})&#10;&#10;&#10;&#10;\end{document}"/>
  <p:tag name="IGUANATEXSIZE" val="3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d}{d \theta_1} J(\theta_1)&#10;$ &#10;&#10;% \delta_i^{(l)} = \left(\sum_j W_{ji}^{(l)} \delta_j^{(l+1)}\right) f'(z_i^{(l)})&#10;&#10;&#10;&#10;\end{document}"/>
  <p:tag name="IGUANATEXSIZE" val="3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 &#10;&#10;% \delta_i^{(l)} = \left(\sum_j W_{ji}^{(l)} \delta_j^{(l+1)}\right) f'(z_i^{(l)})&#10;&#10;&#10;&#10;\end{document}"/>
  <p:tag name="IGUANATEXSIZE" val="2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repeat until convergence \{&#10;&#10;$&#10;\displaystyle&#10;\quad\theta_j := \theta_j - \alpha \frac{\partial}{\partial \theta_j} J(\theta_0,\theta_1)&#10;$ &#10;&#10;\;\;\quad\quad{(for $j=1$ and $j=0$)}&#10;&#10;\}&#10;% \delta_i^{(l)} = \left(\sum_j W_{ji}^{(l)} \delta_j^{(l+1)}\right) f'(z_i^{(l)})&#10;&#10;&#10;&#10;\end{document}"/>
  <p:tag name="IGUANATEXSIZE" val="3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= \frac{1}{2m} \sum\limits^{m}_{i=1} \left( h_\theta(x^{(i)}) - y^{(i)} \right)^2&#10;$&#10;% \delta_i^{(l)} = \left(\sum_j W_{ji}^{(l)} \delta_j^{(l+1)}\right) f'(z_i^{(l)})&#10;&#10;&#10;&#10;\end{document}"/>
  <p:tag name="IGUANATEXSIZE" val="3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repeat until convergence \{&#10;&#10;$&#10;\quad\theta_0 := \theta_0 - \alpha &#10; \frac{1}{m} \sum\limits^{m}_{i=1} \left( h_\theta(x^{(i)}) - y^{(i)} \right)&#10;$&#10;&#10;$&#10;\quad\theta_1 := \theta_1 - \alpha &#10; \frac{1}{m} \sum\limits^{m}_{i=1} \left( h_\theta(x^{(i)}) - y^{(i)} \right)\cdot x^{(i)}&#10;$&#10;&#10;\}&#10;% \delta_i^{(l)} = \left(\sum_j W_{ji}^{(l)} \delta_j^{(l+1)}\right) f'(z_i^{(l)})&#10;&#10;&#10;&#10;\end{document}"/>
  <p:tag name="IGUANATEXSIZE" val="3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&#10;$&#10;% \delta_i^{(l)} = \left(\sum_j W_{ji}^{(l)} \delta_j^{(l+1)}\right) f'(z_i^{(l)})&#10;&#10;&#10;&#10;\end{document}"/>
  <p:tag name="IGUANATEXSIZE" val="2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begin{array} {c}&#10;2104\\&#10;1416\\&#10;1534\\&#10;852\end{array}&#10;$&#10;\end{document}"/>
  <p:tag name="IGUANATEXSIZE" val="2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(x) = -40 + 0.25x&#10;$&#10;\end{document}"/>
  <p:tag name="IGUANATEXSIZE" val="28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begin{array} {c}&#10;2104\\&#10;1416\\&#10;1534\\&#10;852\end{array}&#10;$&#10;\end{document}"/>
  <p:tag name="IGUANATEXSIZE" val="2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(x) = -40 + 0.25x&#10;$&#10;\end{document}"/>
  <p:tag name="IGUANATEXSIZE" val="24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begin{bmatrix} &#10;1 &amp; 2104\\&#10;1 &amp; 1416\\&#10;1 &amp; 1534\\&#10;1 &amp; 852\end{bmatrix}&#10;\times&#10;$&#10;\end{document}"/>
  <p:tag name="IGUANATEXSIZE" val="2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begin{bmatrix}&#10;-40 &amp; 200 &amp; -150\\&#10;0.25 &amp; 0.1 &amp; 0.4\end{bmatrix}=&#10;$&#10;\end{document}"/>
  <p:tag name="IGUANATEXSIZE" val="24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begin{bmatrix} &#10;   486 &amp;  410 &amp;  692\\&#10;   314 &amp;  342 &amp;  416\\&#10;   344 &amp;  353 &amp;  464\\&#10;   173 &amp;  285 &amp;  191&#10;\end{bmatrix}&#10;$&#10;\end{document}"/>
  <p:tag name="IGUANATEXSIZE" val="2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(x) = 200 + 0.1x&#10;$&#10;\end{document}"/>
  <p:tag name="IGUANATEXSIZE" val="2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(x) = -150 + 0.4x&#10;$&#10;\end{document}"/>
  <p:tag name="IGUANATEXSIZE" val="24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1969</TotalTime>
  <Words>1069</Words>
  <Application>Microsoft Office PowerPoint</Application>
  <PresentationFormat>Presentazione su schermo (16:9)</PresentationFormat>
  <Paragraphs>242</Paragraphs>
  <Slides>50</Slides>
  <Notes>11</Notes>
  <HiddenSlides>2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50</vt:i4>
      </vt:variant>
    </vt:vector>
  </HeadingPairs>
  <TitlesOfParts>
    <vt:vector size="58" baseType="lpstr">
      <vt:lpstr>Arial</vt:lpstr>
      <vt:lpstr>Calibri</vt:lpstr>
      <vt:lpstr>Cambria Math</vt:lpstr>
      <vt:lpstr>Symbol</vt:lpstr>
      <vt:lpstr>Times New Roman</vt:lpstr>
      <vt:lpstr>1_Lecture</vt:lpstr>
      <vt:lpstr>2_Office Theme</vt:lpstr>
      <vt:lpstr>3_Office Theme</vt:lpstr>
      <vt:lpstr>Model</vt:lpstr>
      <vt:lpstr>Presentazione standard di PowerPoint</vt:lpstr>
      <vt:lpstr>Presentazione standard di PowerPoint</vt:lpstr>
      <vt:lpstr>Presentazione standard di PowerPoint</vt:lpstr>
      <vt:lpstr>Cost function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Gradient descent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Gradient descent for  linear regression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Matrix Formulation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Luigi Portinale</cp:lastModifiedBy>
  <cp:revision>174</cp:revision>
  <dcterms:created xsi:type="dcterms:W3CDTF">2010-07-08T21:59:02Z</dcterms:created>
  <dcterms:modified xsi:type="dcterms:W3CDTF">2023-01-12T10:22:48Z</dcterms:modified>
</cp:coreProperties>
</file>