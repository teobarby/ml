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524" r:id="rId17"/>
    <p:sldId id="639" r:id="rId18"/>
    <p:sldId id="633" r:id="rId19"/>
    <p:sldId id="268" r:id="rId20"/>
    <p:sldId id="640" r:id="rId21"/>
    <p:sldId id="269" r:id="rId22"/>
    <p:sldId id="270" r:id="rId23"/>
    <p:sldId id="271" r:id="rId24"/>
    <p:sldId id="273" r:id="rId25"/>
    <p:sldId id="274" r:id="rId26"/>
    <p:sldId id="641" r:id="rId27"/>
  </p:sldIdLst>
  <p:sldSz cx="9144000" cy="5143500" type="screen16x9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CC00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56" autoAdjust="0"/>
    <p:restoredTop sz="99822" autoAdjust="0"/>
  </p:normalViewPr>
  <p:slideViewPr>
    <p:cSldViewPr>
      <p:cViewPr varScale="1">
        <p:scale>
          <a:sx n="98" d="100"/>
          <a:sy n="98" d="100"/>
        </p:scale>
        <p:origin x="252" y="68"/>
      </p:cViewPr>
      <p:guideLst>
        <p:guide orient="horz" pos="2484"/>
        <p:guide pos="2880"/>
      </p:guideLst>
    </p:cSldViewPr>
  </p:slideViewPr>
  <p:outlineViewPr>
    <p:cViewPr>
      <p:scale>
        <a:sx n="33" d="100"/>
        <a:sy n="33" d="100"/>
      </p:scale>
      <p:origin x="0" y="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13F5B65-8304-41AB-B17C-DA78E695AC48}" type="slidenum">
              <a:rPr lang="en-GB" altLang="it-IT" sz="1300" b="0"/>
              <a:pPr eaLnBrk="1" hangingPunct="1"/>
              <a:t>1</a:t>
            </a:fld>
            <a:endParaRPr lang="en-GB" altLang="it-IT" sz="1300" b="0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734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dots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79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57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oleObject" Target="../embeddings/oleObject16.bin"/><Relationship Id="rId18" Type="http://schemas.openxmlformats.org/officeDocument/2006/relationships/oleObject" Target="../embeddings/oleObject19.bin"/><Relationship Id="rId3" Type="http://schemas.openxmlformats.org/officeDocument/2006/relationships/image" Target="../media/image10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5.bin"/><Relationship Id="rId17" Type="http://schemas.openxmlformats.org/officeDocument/2006/relationships/oleObject" Target="../embeddings/oleObject18.bin"/><Relationship Id="rId2" Type="http://schemas.openxmlformats.org/officeDocument/2006/relationships/oleObject" Target="../embeddings/oleObject10.bin"/><Relationship Id="rId16" Type="http://schemas.openxmlformats.org/officeDocument/2006/relationships/image" Target="../media/image12.wmf"/><Relationship Id="rId20" Type="http://schemas.openxmlformats.org/officeDocument/2006/relationships/oleObject" Target="../embeddings/oleObject2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9.wmf"/><Relationship Id="rId5" Type="http://schemas.openxmlformats.org/officeDocument/2006/relationships/image" Target="../media/image3.wmf"/><Relationship Id="rId15" Type="http://schemas.openxmlformats.org/officeDocument/2006/relationships/oleObject" Target="../embeddings/oleObject17.bin"/><Relationship Id="rId10" Type="http://schemas.openxmlformats.org/officeDocument/2006/relationships/oleObject" Target="../embeddings/oleObject14.bin"/><Relationship Id="rId19" Type="http://schemas.openxmlformats.org/officeDocument/2006/relationships/oleObject" Target="../embeddings/oleObject20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5.wmf"/><Relationship Id="rId1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20.png"/><Relationship Id="rId3" Type="http://schemas.openxmlformats.org/officeDocument/2006/relationships/tags" Target="../tags/tag4.xml"/><Relationship Id="rId7" Type="http://schemas.openxmlformats.org/officeDocument/2006/relationships/image" Target="../media/image14.png"/><Relationship Id="rId12" Type="http://schemas.openxmlformats.org/officeDocument/2006/relationships/image" Target="../media/image210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2.xml"/><Relationship Id="rId11" Type="http://schemas.openxmlformats.org/officeDocument/2006/relationships/image" Target="../media/image24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3.png"/><Relationship Id="rId4" Type="http://schemas.openxmlformats.org/officeDocument/2006/relationships/tags" Target="../tags/tag5.xml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32.png"/><Relationship Id="rId3" Type="http://schemas.openxmlformats.org/officeDocument/2006/relationships/tags" Target="../tags/tag8.xml"/><Relationship Id="rId7" Type="http://schemas.openxmlformats.org/officeDocument/2006/relationships/image" Target="../media/image26.jpg"/><Relationship Id="rId12" Type="http://schemas.openxmlformats.org/officeDocument/2006/relationships/image" Target="../media/image3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5.jpg"/><Relationship Id="rId11" Type="http://schemas.openxmlformats.org/officeDocument/2006/relationships/image" Target="../media/image30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9.png"/><Relationship Id="rId4" Type="http://schemas.openxmlformats.org/officeDocument/2006/relationships/tags" Target="../tags/tag9.xml"/><Relationship Id="rId9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35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3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85950" y="1663303"/>
            <a:ext cx="5829300" cy="622697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Bayesian Learning</a:t>
            </a:r>
            <a:endParaRPr lang="en-GB" dirty="0">
              <a:ea typeface="+mj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Naïve Bayes &amp; co.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853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Probabilistic Learning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Important distinction</a:t>
            </a:r>
          </a:p>
          <a:p>
            <a:pPr lvl="1"/>
            <a:r>
              <a:rPr lang="en-GB" dirty="0" err="1"/>
              <a:t>modeling</a:t>
            </a:r>
            <a:r>
              <a:rPr lang="en-GB" dirty="0"/>
              <a:t> </a:t>
            </a:r>
            <a:r>
              <a:rPr lang="en-US" dirty="0"/>
              <a:t>the probability of class memberships given input data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discriminative model</a:t>
            </a:r>
            <a:endParaRPr lang="it-IT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make a probabilistic model of data within each class 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generative model</a:t>
            </a:r>
          </a:p>
          <a:p>
            <a:r>
              <a:rPr lang="en-US" dirty="0">
                <a:sym typeface="Wingdings" panose="05000000000000000000" pitchFamily="2" charset="2"/>
              </a:rPr>
              <a:t>A non probabilistic model is considered discriminative (look for discrimination class given the data)</a:t>
            </a:r>
          </a:p>
        </p:txBody>
      </p:sp>
    </p:spTree>
    <p:extLst>
      <p:ext uri="{BB962C8B-B14F-4D97-AF65-F5344CB8AC3E}">
        <p14:creationId xmlns:p14="http://schemas.microsoft.com/office/powerpoint/2010/main" val="1345258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609443"/>
              </p:ext>
            </p:extLst>
          </p:nvPr>
        </p:nvGraphicFramePr>
        <p:xfrm>
          <a:off x="838200" y="285750"/>
          <a:ext cx="7696200" cy="4572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5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4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731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91439" marR="914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      Probabilistic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Non-Probabilistic</a:t>
                      </a:r>
                    </a:p>
                    <a:p>
                      <a:endParaRPr lang="en-GB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0383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pPr algn="ctr"/>
                      <a:r>
                        <a:rPr lang="en-GB" dirty="0"/>
                        <a:t>          </a:t>
                      </a:r>
                      <a:r>
                        <a:rPr lang="en-GB" sz="2400" b="1" dirty="0">
                          <a:solidFill>
                            <a:schemeClr val="bg1"/>
                          </a:solidFill>
                        </a:rPr>
                        <a:t>Discriminative</a:t>
                      </a:r>
                      <a:r>
                        <a:rPr lang="en-GB" sz="24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GB" sz="2400" b="1" dirty="0">
                        <a:solidFill>
                          <a:schemeClr val="bg1"/>
                        </a:solidFill>
                      </a:endParaRPr>
                    </a:p>
                  </a:txBody>
                  <a:tcPr marL="91439" marR="9143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Networks (soft-max)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……..</a:t>
                      </a:r>
                      <a:endParaRPr lang="en-GB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classifier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endParaRPr lang="en-GB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4298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pPr algn="ctr"/>
                      <a:r>
                        <a:rPr kumimoji="0" lang="en-GB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Generative</a:t>
                      </a:r>
                      <a:endParaRPr lang="en-GB" dirty="0"/>
                    </a:p>
                  </a:txBody>
                  <a:tcPr marL="91439" marR="9143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Naïve Bayes</a:t>
                      </a:r>
                      <a:r>
                        <a:rPr lang="en-GB" sz="20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Model-based (e.g., Bayesian Networks)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 </a:t>
                      </a:r>
                      <a:endParaRPr lang="en-GB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en-GB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GB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29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Bayes Rule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16811" y="1657350"/>
                <a:ext cx="3308598" cy="912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811" y="1657350"/>
                <a:ext cx="3308598" cy="91262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14600" y="3904566"/>
                <a:ext cx="4439485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𝑃𝑜𝑠𝑡𝑒𝑟𝑖𝑜𝑟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𝑃𝑟𝑖𝑜𝑟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×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𝐿𝑖𝑘𝑒𝑙𝑖h𝑜𝑜𝑑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𝐸𝑣𝑖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𝑛𝑐𝑒</m:t>
                          </m:r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3904566"/>
                <a:ext cx="4439485" cy="701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1840511" y="2397823"/>
            <a:ext cx="1752600" cy="858837"/>
            <a:chOff x="393700" y="6219031"/>
            <a:chExt cx="1752600" cy="857310"/>
          </a:xfrm>
        </p:grpSpPr>
        <p:cxnSp>
          <p:nvCxnSpPr>
            <p:cNvPr id="6" name="Straight Arrow Connector 15"/>
            <p:cNvCxnSpPr>
              <a:cxnSpLocks noChangeShapeType="1"/>
            </p:cNvCxnSpPr>
            <p:nvPr/>
          </p:nvCxnSpPr>
          <p:spPr bwMode="auto">
            <a:xfrm flipV="1">
              <a:off x="1231900" y="6219031"/>
              <a:ext cx="457200" cy="45720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" name="TextBox 16"/>
            <p:cNvSpPr txBox="1">
              <a:spLocks noChangeArrowheads="1"/>
            </p:cNvSpPr>
            <p:nvPr/>
          </p:nvSpPr>
          <p:spPr bwMode="auto">
            <a:xfrm>
              <a:off x="393700" y="6676231"/>
              <a:ext cx="1752600" cy="400110"/>
            </a:xfrm>
            <a:prstGeom prst="rect">
              <a:avLst/>
            </a:prstGeom>
            <a:solidFill>
              <a:srgbClr val="C6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sz="2000" dirty="0">
                  <a:solidFill>
                    <a:srgbClr val="FF0000"/>
                  </a:solidFill>
                </a:rPr>
                <a:t>Discriminative</a:t>
              </a:r>
              <a:r>
                <a:rPr lang="en-GB" altLang="en-US" sz="2000" dirty="0"/>
                <a:t> </a:t>
              </a:r>
            </a:p>
          </p:txBody>
        </p:sp>
      </p:grp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5943600" y="959470"/>
            <a:ext cx="2286000" cy="857250"/>
            <a:chOff x="12700" y="4837807"/>
            <a:chExt cx="2286000" cy="855725"/>
          </a:xfrm>
        </p:grpSpPr>
        <p:cxnSp>
          <p:nvCxnSpPr>
            <p:cNvPr id="9" name="Straight Arrow Connector 15"/>
            <p:cNvCxnSpPr>
              <a:cxnSpLocks noChangeShapeType="1"/>
            </p:cNvCxnSpPr>
            <p:nvPr/>
          </p:nvCxnSpPr>
          <p:spPr bwMode="auto">
            <a:xfrm flipH="1">
              <a:off x="12700" y="5246124"/>
              <a:ext cx="1600200" cy="447408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Box 16"/>
            <p:cNvSpPr txBox="1">
              <a:spLocks noChangeArrowheads="1"/>
            </p:cNvSpPr>
            <p:nvPr/>
          </p:nvSpPr>
          <p:spPr bwMode="auto">
            <a:xfrm>
              <a:off x="927100" y="4837807"/>
              <a:ext cx="1371600" cy="400110"/>
            </a:xfrm>
            <a:prstGeom prst="rect">
              <a:avLst/>
            </a:prstGeom>
            <a:solidFill>
              <a:srgbClr val="C6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sz="2000" dirty="0">
                  <a:solidFill>
                    <a:srgbClr val="FF0000"/>
                  </a:solidFill>
                </a:rPr>
                <a:t>Generative</a:t>
              </a:r>
              <a:r>
                <a:rPr lang="en-GB" altLang="en-US" sz="20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007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Discriminative model</a:t>
            </a:r>
            <a:endParaRPr lang="it-IT" sz="3200" dirty="0"/>
          </a:p>
        </p:txBody>
      </p:sp>
      <p:graphicFrame>
        <p:nvGraphicFramePr>
          <p:cNvPr id="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65105"/>
              </p:ext>
            </p:extLst>
          </p:nvPr>
        </p:nvGraphicFramePr>
        <p:xfrm>
          <a:off x="3392488" y="4593608"/>
          <a:ext cx="26193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215806" progId="Equation.3">
                  <p:embed/>
                </p:oleObj>
              </mc:Choice>
              <mc:Fallback>
                <p:oleObj name="Equation" r:id="rId2" imgW="109172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4593608"/>
                        <a:ext cx="26193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2438400" y="1297958"/>
            <a:ext cx="4114800" cy="3216275"/>
            <a:chOff x="3289300" y="3354573"/>
            <a:chExt cx="4114800" cy="3216090"/>
          </a:xfrm>
        </p:grpSpPr>
        <p:sp>
          <p:nvSpPr>
            <p:cNvPr id="5" name="TextBox 4"/>
            <p:cNvSpPr txBox="1"/>
            <p:nvPr/>
          </p:nvSpPr>
          <p:spPr>
            <a:xfrm>
              <a:off x="3289300" y="4008585"/>
              <a:ext cx="4114800" cy="1815996"/>
            </a:xfrm>
            <a:prstGeom prst="rect">
              <a:avLst/>
            </a:prstGeom>
            <a:gradFill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0"/>
            </a:gradFill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endParaRPr lang="en-GB" sz="2800" dirty="0">
                <a:latin typeface="Times New Roman" charset="0"/>
              </a:endParaRPr>
            </a:p>
            <a:p>
              <a:pPr algn="ctr" eaLnBrk="1" hangingPunct="1">
                <a:defRPr/>
              </a:pPr>
              <a:r>
                <a:rPr lang="en-GB" sz="2800" b="1" dirty="0">
                  <a:latin typeface="Times New Roman" charset="0"/>
                </a:rPr>
                <a:t>Discriminative </a:t>
              </a:r>
            </a:p>
            <a:p>
              <a:pPr algn="ctr" eaLnBrk="1" hangingPunct="1">
                <a:defRPr/>
              </a:pPr>
              <a:r>
                <a:rPr lang="en-GB" sz="2800" b="1" dirty="0">
                  <a:latin typeface="Times New Roman" charset="0"/>
                </a:rPr>
                <a:t>Probabilistic Classifier</a:t>
              </a:r>
            </a:p>
            <a:p>
              <a:pPr algn="ctr" eaLnBrk="1" hangingPunct="1">
                <a:defRPr/>
              </a:pPr>
              <a:endParaRPr lang="en-US" sz="2800" dirty="0">
                <a:latin typeface="Times New Roman" charset="0"/>
              </a:endParaRPr>
            </a:p>
          </p:txBody>
        </p:sp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3822700" y="5838031"/>
              <a:ext cx="395288" cy="715963"/>
              <a:chOff x="4037012" y="5838031"/>
              <a:chExt cx="395288" cy="715963"/>
            </a:xfrm>
          </p:grpSpPr>
          <p:sp>
            <p:nvSpPr>
              <p:cNvPr id="21" name="Up Arrow 13"/>
              <p:cNvSpPr>
                <a:spLocks noChangeArrowheads="1"/>
              </p:cNvSpPr>
              <p:nvPr/>
            </p:nvSpPr>
            <p:spPr bwMode="auto">
              <a:xfrm>
                <a:off x="4127500" y="5838031"/>
                <a:ext cx="152400" cy="3048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defTabSz="1042988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defTabSz="1042988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defTabSz="1042988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defTabSz="1042988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defTabSz="1042988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0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2" name="Object 9"/>
              <p:cNvGraphicFramePr>
                <a:graphicFrameLocks noChangeAspect="1"/>
              </p:cNvGraphicFramePr>
              <p:nvPr/>
            </p:nvGraphicFramePr>
            <p:xfrm>
              <a:off x="4037012" y="6066631"/>
              <a:ext cx="395288" cy="487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203024" progId="Equation.3">
                      <p:embed/>
                    </p:oleObj>
                  </mc:Choice>
                  <mc:Fallback>
                    <p:oleObj name="Equation" r:id="rId4" imgW="164957" imgH="2030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7012" y="6066631"/>
                            <a:ext cx="395288" cy="4873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Group 16"/>
            <p:cNvGrpSpPr>
              <a:grpSpLocks/>
            </p:cNvGrpSpPr>
            <p:nvPr/>
          </p:nvGrpSpPr>
          <p:grpSpPr bwMode="auto">
            <a:xfrm>
              <a:off x="4492625" y="5838031"/>
              <a:ext cx="427038" cy="716757"/>
              <a:chOff x="4021137" y="5838031"/>
              <a:chExt cx="427038" cy="716757"/>
            </a:xfrm>
          </p:grpSpPr>
          <p:sp>
            <p:nvSpPr>
              <p:cNvPr id="19" name="Up Arrow 17"/>
              <p:cNvSpPr>
                <a:spLocks noChangeArrowheads="1"/>
              </p:cNvSpPr>
              <p:nvPr/>
            </p:nvSpPr>
            <p:spPr bwMode="auto">
              <a:xfrm>
                <a:off x="4127500" y="5838031"/>
                <a:ext cx="152400" cy="3048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defTabSz="1042988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defTabSz="1042988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defTabSz="1042988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defTabSz="1042988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defTabSz="1042988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0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0" name="Object 11"/>
              <p:cNvGraphicFramePr>
                <a:graphicFrameLocks noChangeAspect="1"/>
              </p:cNvGraphicFramePr>
              <p:nvPr/>
            </p:nvGraphicFramePr>
            <p:xfrm>
              <a:off x="4021137" y="6065838"/>
              <a:ext cx="427038" cy="488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77569" imgH="202936" progId="Equation.3">
                      <p:embed/>
                    </p:oleObj>
                  </mc:Choice>
                  <mc:Fallback>
                    <p:oleObj name="Equation" r:id="rId6" imgW="177569" imgH="20293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1137" y="6065838"/>
                            <a:ext cx="427038" cy="4889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6613525" y="5838031"/>
              <a:ext cx="425450" cy="732632"/>
              <a:chOff x="4022725" y="5838031"/>
              <a:chExt cx="425450" cy="732632"/>
            </a:xfrm>
          </p:grpSpPr>
          <p:sp>
            <p:nvSpPr>
              <p:cNvPr id="17" name="Up Arrow 20"/>
              <p:cNvSpPr>
                <a:spLocks noChangeArrowheads="1"/>
              </p:cNvSpPr>
              <p:nvPr/>
            </p:nvSpPr>
            <p:spPr bwMode="auto">
              <a:xfrm>
                <a:off x="4127500" y="5838031"/>
                <a:ext cx="152400" cy="3048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defTabSz="1042988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defTabSz="1042988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defTabSz="1042988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defTabSz="1042988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defTabSz="1042988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defTabSz="1042988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0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18" name="Object 12"/>
              <p:cNvGraphicFramePr>
                <a:graphicFrameLocks noChangeAspect="1"/>
              </p:cNvGraphicFramePr>
              <p:nvPr/>
            </p:nvGraphicFramePr>
            <p:xfrm>
              <a:off x="4022725" y="6051550"/>
              <a:ext cx="425450" cy="519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77569" imgH="215619" progId="Equation.3">
                      <p:embed/>
                    </p:oleObj>
                  </mc:Choice>
                  <mc:Fallback>
                    <p:oleObj name="Equation" r:id="rId8" imgW="177569" imgH="21561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2725" y="6051550"/>
                            <a:ext cx="425450" cy="5191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Up Arrow 24"/>
            <p:cNvSpPr>
              <a:spLocks noChangeArrowheads="1"/>
            </p:cNvSpPr>
            <p:nvPr/>
          </p:nvSpPr>
          <p:spPr bwMode="auto">
            <a:xfrm>
              <a:off x="3746500" y="3704431"/>
              <a:ext cx="152400" cy="304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0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" name="Object 14"/>
            <p:cNvGraphicFramePr>
              <a:graphicFrameLocks noChangeAspect="1"/>
            </p:cNvGraphicFramePr>
            <p:nvPr/>
          </p:nvGraphicFramePr>
          <p:xfrm>
            <a:off x="3289300" y="3354573"/>
            <a:ext cx="914400" cy="3498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33169" imgH="203112" progId="Equation.3">
                    <p:embed/>
                  </p:oleObj>
                </mc:Choice>
                <mc:Fallback>
                  <p:oleObj name="Equation" r:id="rId10" imgW="533169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9300" y="3354573"/>
                          <a:ext cx="914400" cy="3498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Up Arrow 26"/>
            <p:cNvSpPr>
              <a:spLocks noChangeArrowheads="1"/>
            </p:cNvSpPr>
            <p:nvPr/>
          </p:nvSpPr>
          <p:spPr bwMode="auto">
            <a:xfrm>
              <a:off x="4737100" y="3704431"/>
              <a:ext cx="152400" cy="304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000">
                <a:latin typeface="Times New Roman" panose="02020603050405020304" pitchFamily="18" charset="0"/>
              </a:endParaRPr>
            </a:p>
          </p:txBody>
        </p:sp>
        <p:sp>
          <p:nvSpPr>
            <p:cNvPr id="12" name="Up Arrow 27"/>
            <p:cNvSpPr>
              <a:spLocks noChangeArrowheads="1"/>
            </p:cNvSpPr>
            <p:nvPr/>
          </p:nvSpPr>
          <p:spPr bwMode="auto">
            <a:xfrm>
              <a:off x="6642100" y="3704431"/>
              <a:ext cx="152400" cy="304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0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" name="Object 15"/>
            <p:cNvGraphicFramePr>
              <a:graphicFrameLocks noChangeAspect="1"/>
            </p:cNvGraphicFramePr>
            <p:nvPr/>
          </p:nvGraphicFramePr>
          <p:xfrm>
            <a:off x="4356100" y="3357894"/>
            <a:ext cx="927101" cy="346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45626" imgH="203024" progId="Equation.3">
                    <p:embed/>
                  </p:oleObj>
                </mc:Choice>
                <mc:Fallback>
                  <p:oleObj name="Equation" r:id="rId12" imgW="545626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6100" y="3357894"/>
                          <a:ext cx="927101" cy="346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6"/>
            <p:cNvGraphicFramePr>
              <a:graphicFrameLocks noChangeAspect="1"/>
            </p:cNvGraphicFramePr>
            <p:nvPr/>
          </p:nvGraphicFramePr>
          <p:xfrm>
            <a:off x="6261100" y="3362641"/>
            <a:ext cx="914400" cy="341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45626" imgH="203024" progId="Equation.3">
                    <p:embed/>
                  </p:oleObj>
                </mc:Choice>
                <mc:Fallback>
                  <p:oleObj name="Equation" r:id="rId14" imgW="545626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61100" y="3362641"/>
                          <a:ext cx="914400" cy="3417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7"/>
            <p:cNvGraphicFramePr>
              <a:graphicFrameLocks noChangeAspect="1"/>
            </p:cNvGraphicFramePr>
            <p:nvPr/>
          </p:nvGraphicFramePr>
          <p:xfrm>
            <a:off x="5346700" y="5985676"/>
            <a:ext cx="838200" cy="233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91847" imgH="114201" progId="Equation.3">
                    <p:embed/>
                  </p:oleObj>
                </mc:Choice>
                <mc:Fallback>
                  <p:oleObj name="Equation" r:id="rId16" imgW="291847" imgH="1142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6700" y="5985676"/>
                          <a:ext cx="838200" cy="233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8"/>
            <p:cNvGraphicFramePr>
              <a:graphicFrameLocks noChangeAspect="1"/>
            </p:cNvGraphicFramePr>
            <p:nvPr/>
          </p:nvGraphicFramePr>
          <p:xfrm>
            <a:off x="5346700" y="3704431"/>
            <a:ext cx="838200" cy="233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91847" imgH="114201" progId="Equation.3">
                    <p:embed/>
                  </p:oleObj>
                </mc:Choice>
                <mc:Fallback>
                  <p:oleObj name="Equation" r:id="rId18" imgW="291847" imgH="1142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6700" y="3704431"/>
                          <a:ext cx="838200" cy="233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12101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Generative Model</a:t>
            </a:r>
            <a:endParaRPr lang="it-IT" sz="3200" dirty="0"/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393700" y="1352550"/>
            <a:ext cx="2984500" cy="2057400"/>
            <a:chOff x="850900" y="3708400"/>
            <a:chExt cx="3276600" cy="2586831"/>
          </a:xfrm>
        </p:grpSpPr>
        <p:sp>
          <p:nvSpPr>
            <p:cNvPr id="4" name="TextBox 3"/>
            <p:cNvSpPr txBox="1"/>
            <p:nvPr/>
          </p:nvSpPr>
          <p:spPr>
            <a:xfrm>
              <a:off x="850900" y="4315188"/>
              <a:ext cx="3276600" cy="1159682"/>
            </a:xfrm>
            <a:prstGeom prst="rect">
              <a:avLst/>
            </a:prstGeom>
            <a:gradFill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0"/>
            </a:gradFill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GB" sz="1800" b="1" dirty="0">
                  <a:latin typeface="Times New Roman" charset="0"/>
                </a:rPr>
                <a:t>Generative</a:t>
              </a:r>
            </a:p>
            <a:p>
              <a:pPr algn="ctr" eaLnBrk="1" hangingPunct="1">
                <a:defRPr/>
              </a:pPr>
              <a:r>
                <a:rPr lang="en-GB" sz="1800" b="1" dirty="0">
                  <a:latin typeface="Times New Roman" charset="0"/>
                </a:rPr>
                <a:t>Probabilistic Model</a:t>
              </a:r>
            </a:p>
            <a:p>
              <a:pPr algn="ctr" eaLnBrk="1" hangingPunct="1">
                <a:defRPr/>
              </a:pPr>
              <a:r>
                <a:rPr lang="en-GB" sz="1800" b="1" dirty="0">
                  <a:latin typeface="Times New Roman" charset="0"/>
                </a:rPr>
                <a:t>for Class </a:t>
              </a:r>
              <a:r>
                <a:rPr lang="en-GB" sz="1800" b="1" i="1" dirty="0">
                  <a:latin typeface="Times New Roman" charset="0"/>
                </a:rPr>
                <a:t>1</a:t>
              </a:r>
              <a:endParaRPr lang="en-US" sz="1800" b="1" i="1" dirty="0">
                <a:latin typeface="Times New Roman" charset="0"/>
              </a:endParaRPr>
            </a:p>
          </p:txBody>
        </p:sp>
        <p:sp>
          <p:nvSpPr>
            <p:cNvPr id="5" name="Up Arrow 17"/>
            <p:cNvSpPr>
              <a:spLocks noChangeArrowheads="1"/>
            </p:cNvSpPr>
            <p:nvPr/>
          </p:nvSpPr>
          <p:spPr bwMode="auto">
            <a:xfrm>
              <a:off x="2374900" y="4009231"/>
              <a:ext cx="152400" cy="304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0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" name="Object 10"/>
            <p:cNvGraphicFramePr>
              <a:graphicFrameLocks noChangeAspect="1"/>
            </p:cNvGraphicFramePr>
            <p:nvPr/>
          </p:nvGraphicFramePr>
          <p:xfrm>
            <a:off x="1993900" y="3708400"/>
            <a:ext cx="906463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33169" imgH="203112" progId="Equation.3">
                    <p:embed/>
                  </p:oleObj>
                </mc:Choice>
                <mc:Fallback>
                  <p:oleObj name="Equation" r:id="rId2" imgW="533169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3900" y="3708400"/>
                          <a:ext cx="906463" cy="346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29"/>
            <p:cNvGrpSpPr>
              <a:grpSpLocks/>
            </p:cNvGrpSpPr>
            <p:nvPr/>
          </p:nvGrpSpPr>
          <p:grpSpPr bwMode="auto">
            <a:xfrm>
              <a:off x="911225" y="5562599"/>
              <a:ext cx="3216275" cy="732632"/>
              <a:chOff x="1155700" y="6187889"/>
              <a:chExt cx="3216275" cy="732632"/>
            </a:xfrm>
          </p:grpSpPr>
          <p:grpSp>
            <p:nvGrpSpPr>
              <p:cNvPr id="8" name="Group 15"/>
              <p:cNvGrpSpPr>
                <a:grpSpLocks/>
              </p:cNvGrpSpPr>
              <p:nvPr/>
            </p:nvGrpSpPr>
            <p:grpSpPr bwMode="auto">
              <a:xfrm>
                <a:off x="1155700" y="6187889"/>
                <a:ext cx="395288" cy="715963"/>
                <a:chOff x="4037012" y="5838031"/>
                <a:chExt cx="395288" cy="715963"/>
              </a:xfrm>
            </p:grpSpPr>
            <p:sp>
              <p:nvSpPr>
                <p:cNvPr id="16" name="Up Arrow 27"/>
                <p:cNvSpPr>
                  <a:spLocks noChangeArrowheads="1"/>
                </p:cNvSpPr>
                <p:nvPr/>
              </p:nvSpPr>
              <p:spPr bwMode="auto">
                <a:xfrm>
                  <a:off x="4127500" y="5838031"/>
                  <a:ext cx="152400" cy="304800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defTabSz="1042988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defTabSz="1042988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defTabSz="1042988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defTabSz="1042988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defTabSz="1042988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50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17" name="Object 9"/>
                <p:cNvGraphicFramePr>
                  <a:graphicFrameLocks noChangeAspect="1"/>
                </p:cNvGraphicFramePr>
                <p:nvPr/>
              </p:nvGraphicFramePr>
              <p:xfrm>
                <a:off x="4037012" y="6066631"/>
                <a:ext cx="395288" cy="4873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164957" imgH="203024" progId="Equation.3">
                        <p:embed/>
                      </p:oleObj>
                    </mc:Choice>
                    <mc:Fallback>
                      <p:oleObj name="Equation" r:id="rId4" imgW="164957" imgH="20302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37012" y="6066631"/>
                              <a:ext cx="395288" cy="4873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CC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accent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" name="Group 16"/>
              <p:cNvGrpSpPr>
                <a:grpSpLocks/>
              </p:cNvGrpSpPr>
              <p:nvPr/>
            </p:nvGrpSpPr>
            <p:grpSpPr bwMode="auto">
              <a:xfrm>
                <a:off x="1825625" y="6187889"/>
                <a:ext cx="427038" cy="716757"/>
                <a:chOff x="4021137" y="5838031"/>
                <a:chExt cx="427038" cy="716757"/>
              </a:xfrm>
            </p:grpSpPr>
            <p:sp>
              <p:nvSpPr>
                <p:cNvPr id="14" name="Up Arrow 25"/>
                <p:cNvSpPr>
                  <a:spLocks noChangeArrowheads="1"/>
                </p:cNvSpPr>
                <p:nvPr/>
              </p:nvSpPr>
              <p:spPr bwMode="auto">
                <a:xfrm>
                  <a:off x="4127500" y="5838031"/>
                  <a:ext cx="152400" cy="304800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defTabSz="1042988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defTabSz="1042988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defTabSz="1042988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defTabSz="1042988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defTabSz="1042988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50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15" name="Object 7"/>
                <p:cNvGraphicFramePr>
                  <a:graphicFrameLocks noChangeAspect="1"/>
                </p:cNvGraphicFramePr>
                <p:nvPr/>
              </p:nvGraphicFramePr>
              <p:xfrm>
                <a:off x="4021137" y="6065838"/>
                <a:ext cx="427038" cy="488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177569" imgH="202936" progId="Equation.3">
                        <p:embed/>
                      </p:oleObj>
                    </mc:Choice>
                    <mc:Fallback>
                      <p:oleObj name="Equation" r:id="rId6" imgW="177569" imgH="202936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1137" y="6065838"/>
                              <a:ext cx="427038" cy="4889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CC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accent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0" name="Group 19"/>
              <p:cNvGrpSpPr>
                <a:grpSpLocks/>
              </p:cNvGrpSpPr>
              <p:nvPr/>
            </p:nvGrpSpPr>
            <p:grpSpPr bwMode="auto">
              <a:xfrm>
                <a:off x="3946525" y="6187889"/>
                <a:ext cx="425450" cy="732632"/>
                <a:chOff x="4022725" y="5838031"/>
                <a:chExt cx="425450" cy="732632"/>
              </a:xfrm>
            </p:grpSpPr>
            <p:sp>
              <p:nvSpPr>
                <p:cNvPr id="12" name="Up Arrow 23"/>
                <p:cNvSpPr>
                  <a:spLocks noChangeArrowheads="1"/>
                </p:cNvSpPr>
                <p:nvPr/>
              </p:nvSpPr>
              <p:spPr bwMode="auto">
                <a:xfrm>
                  <a:off x="4127500" y="5838031"/>
                  <a:ext cx="152400" cy="304800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defTabSz="1042988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defTabSz="1042988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defTabSz="1042988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defTabSz="1042988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defTabSz="1042988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50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13" name="Object 8"/>
                <p:cNvGraphicFramePr>
                  <a:graphicFrameLocks noChangeAspect="1"/>
                </p:cNvGraphicFramePr>
                <p:nvPr/>
              </p:nvGraphicFramePr>
              <p:xfrm>
                <a:off x="4022725" y="6051550"/>
                <a:ext cx="425450" cy="5191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177569" imgH="215619" progId="Equation.3">
                        <p:embed/>
                      </p:oleObj>
                    </mc:Choice>
                    <mc:Fallback>
                      <p:oleObj name="Equation" r:id="rId8" imgW="177569" imgH="215619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2725" y="6051550"/>
                              <a:ext cx="425450" cy="5191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CC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accent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1" name="Object 12"/>
              <p:cNvGraphicFramePr>
                <a:graphicFrameLocks noChangeAspect="1"/>
              </p:cNvGraphicFramePr>
              <p:nvPr/>
            </p:nvGraphicFramePr>
            <p:xfrm>
              <a:off x="2679700" y="6335534"/>
              <a:ext cx="838200" cy="233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91847" imgH="114201" progId="Equation.3">
                      <p:embed/>
                    </p:oleObj>
                  </mc:Choice>
                  <mc:Fallback>
                    <p:oleObj name="Equation" r:id="rId10" imgW="291847" imgH="11420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79700" y="6335534"/>
                            <a:ext cx="838200" cy="2333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713924"/>
              </p:ext>
            </p:extLst>
          </p:nvPr>
        </p:nvGraphicFramePr>
        <p:xfrm>
          <a:off x="3478213" y="2190750"/>
          <a:ext cx="420687" cy="11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1847" imgH="114201" progId="Equation.3">
                  <p:embed/>
                </p:oleObj>
              </mc:Choice>
              <mc:Fallback>
                <p:oleObj name="Equation" r:id="rId12" imgW="291847" imgH="1142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2190750"/>
                        <a:ext cx="420687" cy="11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480221"/>
              </p:ext>
            </p:extLst>
          </p:nvPr>
        </p:nvGraphicFramePr>
        <p:xfrm>
          <a:off x="2451100" y="3638550"/>
          <a:ext cx="23622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91726" imgH="215806" progId="Equation.3">
                  <p:embed/>
                </p:oleObj>
              </mc:Choice>
              <mc:Fallback>
                <p:oleObj name="Equation" r:id="rId13" imgW="109172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638550"/>
                        <a:ext cx="23622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30"/>
          <p:cNvGrpSpPr>
            <a:grpSpLocks/>
          </p:cNvGrpSpPr>
          <p:nvPr/>
        </p:nvGrpSpPr>
        <p:grpSpPr bwMode="auto">
          <a:xfrm>
            <a:off x="3962400" y="1352550"/>
            <a:ext cx="2984500" cy="2057400"/>
            <a:chOff x="850900" y="3708400"/>
            <a:chExt cx="3276600" cy="2586831"/>
          </a:xfrm>
        </p:grpSpPr>
        <p:sp>
          <p:nvSpPr>
            <p:cNvPr id="21" name="TextBox 20"/>
            <p:cNvSpPr txBox="1"/>
            <p:nvPr/>
          </p:nvSpPr>
          <p:spPr>
            <a:xfrm>
              <a:off x="850900" y="4315188"/>
              <a:ext cx="3276600" cy="1159682"/>
            </a:xfrm>
            <a:prstGeom prst="rect">
              <a:avLst/>
            </a:prstGeom>
            <a:gradFill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0"/>
            </a:gradFill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GB" sz="1800" b="1" dirty="0">
                  <a:latin typeface="Times New Roman" charset="0"/>
                </a:rPr>
                <a:t>Generative</a:t>
              </a:r>
            </a:p>
            <a:p>
              <a:pPr algn="ctr" eaLnBrk="1" hangingPunct="1">
                <a:defRPr/>
              </a:pPr>
              <a:r>
                <a:rPr lang="en-GB" sz="1800" b="1" dirty="0">
                  <a:latin typeface="Times New Roman" charset="0"/>
                </a:rPr>
                <a:t>Probabilistic Model</a:t>
              </a:r>
            </a:p>
            <a:p>
              <a:pPr algn="ctr" eaLnBrk="1" hangingPunct="1">
                <a:defRPr/>
              </a:pPr>
              <a:r>
                <a:rPr lang="en-GB" sz="1800" b="1" dirty="0">
                  <a:latin typeface="Times New Roman" charset="0"/>
                </a:rPr>
                <a:t>for </a:t>
              </a:r>
              <a:r>
                <a:rPr lang="en-GB" sz="1800" b="1">
                  <a:latin typeface="Times New Roman" charset="0"/>
                </a:rPr>
                <a:t>Class </a:t>
              </a:r>
              <a:r>
                <a:rPr lang="en-GB" sz="1800" b="1" i="1" dirty="0">
                  <a:latin typeface="Times New Roman" charset="0"/>
                </a:rPr>
                <a:t>L</a:t>
              </a:r>
              <a:endParaRPr lang="en-US" sz="1800" b="1" i="1" dirty="0">
                <a:latin typeface="Times New Roman" charset="0"/>
              </a:endParaRPr>
            </a:p>
          </p:txBody>
        </p:sp>
        <p:sp>
          <p:nvSpPr>
            <p:cNvPr id="22" name="Up Arrow 17"/>
            <p:cNvSpPr>
              <a:spLocks noChangeArrowheads="1"/>
            </p:cNvSpPr>
            <p:nvPr/>
          </p:nvSpPr>
          <p:spPr bwMode="auto">
            <a:xfrm>
              <a:off x="2374900" y="4009231"/>
              <a:ext cx="152400" cy="304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0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3" name="Object 55"/>
            <p:cNvGraphicFramePr>
              <a:graphicFrameLocks noChangeAspect="1"/>
            </p:cNvGraphicFramePr>
            <p:nvPr/>
          </p:nvGraphicFramePr>
          <p:xfrm>
            <a:off x="1993900" y="3708400"/>
            <a:ext cx="906463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533169" imgH="203112" progId="Equation.3">
                    <p:embed/>
                  </p:oleObj>
                </mc:Choice>
                <mc:Fallback>
                  <p:oleObj name="Equation" r:id="rId15" imgW="533169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3900" y="3708400"/>
                          <a:ext cx="906463" cy="346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" name="Group 29"/>
            <p:cNvGrpSpPr>
              <a:grpSpLocks/>
            </p:cNvGrpSpPr>
            <p:nvPr/>
          </p:nvGrpSpPr>
          <p:grpSpPr bwMode="auto">
            <a:xfrm>
              <a:off x="911225" y="5562599"/>
              <a:ext cx="3216275" cy="732632"/>
              <a:chOff x="1155700" y="6187889"/>
              <a:chExt cx="3216275" cy="732632"/>
            </a:xfrm>
          </p:grpSpPr>
          <p:grpSp>
            <p:nvGrpSpPr>
              <p:cNvPr id="25" name="Group 15"/>
              <p:cNvGrpSpPr>
                <a:grpSpLocks/>
              </p:cNvGrpSpPr>
              <p:nvPr/>
            </p:nvGrpSpPr>
            <p:grpSpPr bwMode="auto">
              <a:xfrm>
                <a:off x="1155700" y="6187889"/>
                <a:ext cx="395288" cy="715963"/>
                <a:chOff x="4037012" y="5838031"/>
                <a:chExt cx="395288" cy="715963"/>
              </a:xfrm>
            </p:grpSpPr>
            <p:sp>
              <p:nvSpPr>
                <p:cNvPr id="33" name="Up Arrow 27"/>
                <p:cNvSpPr>
                  <a:spLocks noChangeArrowheads="1"/>
                </p:cNvSpPr>
                <p:nvPr/>
              </p:nvSpPr>
              <p:spPr bwMode="auto">
                <a:xfrm>
                  <a:off x="4127500" y="5838031"/>
                  <a:ext cx="152400" cy="304800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defTabSz="1042988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defTabSz="1042988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defTabSz="1042988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defTabSz="1042988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defTabSz="1042988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50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34" name="Object 56"/>
                <p:cNvGraphicFramePr>
                  <a:graphicFrameLocks noChangeAspect="1"/>
                </p:cNvGraphicFramePr>
                <p:nvPr/>
              </p:nvGraphicFramePr>
              <p:xfrm>
                <a:off x="4037012" y="6066631"/>
                <a:ext cx="395288" cy="4873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7" imgW="164957" imgH="203024" progId="Equation.3">
                        <p:embed/>
                      </p:oleObj>
                    </mc:Choice>
                    <mc:Fallback>
                      <p:oleObj name="Equation" r:id="rId17" imgW="164957" imgH="20302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37012" y="6066631"/>
                              <a:ext cx="395288" cy="4873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CC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accent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6" name="Group 16"/>
              <p:cNvGrpSpPr>
                <a:grpSpLocks/>
              </p:cNvGrpSpPr>
              <p:nvPr/>
            </p:nvGrpSpPr>
            <p:grpSpPr bwMode="auto">
              <a:xfrm>
                <a:off x="1825625" y="6187889"/>
                <a:ext cx="427038" cy="716757"/>
                <a:chOff x="4021137" y="5838031"/>
                <a:chExt cx="427038" cy="716757"/>
              </a:xfrm>
            </p:grpSpPr>
            <p:sp>
              <p:nvSpPr>
                <p:cNvPr id="31" name="Up Arrow 25"/>
                <p:cNvSpPr>
                  <a:spLocks noChangeArrowheads="1"/>
                </p:cNvSpPr>
                <p:nvPr/>
              </p:nvSpPr>
              <p:spPr bwMode="auto">
                <a:xfrm>
                  <a:off x="4127500" y="5838031"/>
                  <a:ext cx="152400" cy="304800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defTabSz="1042988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defTabSz="1042988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defTabSz="1042988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defTabSz="1042988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defTabSz="1042988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50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32" name="Object 57"/>
                <p:cNvGraphicFramePr>
                  <a:graphicFrameLocks noChangeAspect="1"/>
                </p:cNvGraphicFramePr>
                <p:nvPr/>
              </p:nvGraphicFramePr>
              <p:xfrm>
                <a:off x="4021137" y="6065838"/>
                <a:ext cx="427038" cy="488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8" imgW="177569" imgH="202936" progId="Equation.3">
                        <p:embed/>
                      </p:oleObj>
                    </mc:Choice>
                    <mc:Fallback>
                      <p:oleObj name="Equation" r:id="rId18" imgW="177569" imgH="202936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1137" y="6065838"/>
                              <a:ext cx="427038" cy="4889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CC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accent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" name="Group 19"/>
              <p:cNvGrpSpPr>
                <a:grpSpLocks/>
              </p:cNvGrpSpPr>
              <p:nvPr/>
            </p:nvGrpSpPr>
            <p:grpSpPr bwMode="auto">
              <a:xfrm>
                <a:off x="3946525" y="6187889"/>
                <a:ext cx="425450" cy="732632"/>
                <a:chOff x="4022725" y="5838031"/>
                <a:chExt cx="425450" cy="732632"/>
              </a:xfrm>
            </p:grpSpPr>
            <p:sp>
              <p:nvSpPr>
                <p:cNvPr id="29" name="Up Arrow 23"/>
                <p:cNvSpPr>
                  <a:spLocks noChangeArrowheads="1"/>
                </p:cNvSpPr>
                <p:nvPr/>
              </p:nvSpPr>
              <p:spPr bwMode="auto">
                <a:xfrm>
                  <a:off x="4127500" y="5838031"/>
                  <a:ext cx="152400" cy="304800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defTabSz="1042988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defTabSz="1042988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defTabSz="1042988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defTabSz="1042988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defTabSz="1042988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defTabSz="10429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50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30" name="Object 58"/>
                <p:cNvGraphicFramePr>
                  <a:graphicFrameLocks noChangeAspect="1"/>
                </p:cNvGraphicFramePr>
                <p:nvPr/>
              </p:nvGraphicFramePr>
              <p:xfrm>
                <a:off x="4022725" y="6051550"/>
                <a:ext cx="425450" cy="5191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9" imgW="177569" imgH="215619" progId="Equation.3">
                        <p:embed/>
                      </p:oleObj>
                    </mc:Choice>
                    <mc:Fallback>
                      <p:oleObj name="Equation" r:id="rId19" imgW="177569" imgH="215619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2725" y="6051550"/>
                              <a:ext cx="425450" cy="5191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CC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accent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28" name="Object 59"/>
              <p:cNvGraphicFramePr>
                <a:graphicFrameLocks noChangeAspect="1"/>
              </p:cNvGraphicFramePr>
              <p:nvPr/>
            </p:nvGraphicFramePr>
            <p:xfrm>
              <a:off x="2679700" y="6335534"/>
              <a:ext cx="838200" cy="233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291847" imgH="114201" progId="Equation.3">
                      <p:embed/>
                    </p:oleObj>
                  </mc:Choice>
                  <mc:Fallback>
                    <p:oleObj name="Equation" r:id="rId20" imgW="291847" imgH="11420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79700" y="6335534"/>
                            <a:ext cx="838200" cy="2333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5" name="TextBox 34"/>
          <p:cNvSpPr txBox="1"/>
          <p:nvPr/>
        </p:nvSpPr>
        <p:spPr>
          <a:xfrm>
            <a:off x="6776610" y="3579769"/>
            <a:ext cx="19403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en-US" dirty="0">
                <a:solidFill>
                  <a:srgbClr val="FF0000"/>
                </a:solidFill>
              </a:rPr>
              <a:t>Each is trained on 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dirty="0">
                <a:solidFill>
                  <a:srgbClr val="FF0000"/>
                </a:solidFill>
              </a:rPr>
              <a:t>only the examples 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dirty="0">
                <a:solidFill>
                  <a:srgbClr val="FF0000"/>
                </a:solidFill>
              </a:rPr>
              <a:t>of the same label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6815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Probabilistic Classification Principle</a:t>
            </a:r>
            <a:endParaRPr lang="it-IT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800" dirty="0">
                    <a:solidFill>
                      <a:srgbClr val="FF0000"/>
                    </a:solidFill>
                  </a:rPr>
                  <a:t>MAP</a:t>
                </a:r>
                <a:r>
                  <a:rPr lang="en-GB" sz="2800" dirty="0"/>
                  <a:t> (</a:t>
                </a:r>
                <a:r>
                  <a:rPr lang="en-GB" sz="2800" dirty="0">
                    <a:solidFill>
                      <a:srgbClr val="FF0000"/>
                    </a:solidFill>
                  </a:rPr>
                  <a:t>M</a:t>
                </a:r>
                <a:r>
                  <a:rPr lang="en-GB" sz="2800" dirty="0"/>
                  <a:t>aximum </a:t>
                </a:r>
                <a:r>
                  <a:rPr lang="en-GB" sz="2800" dirty="0">
                    <a:solidFill>
                      <a:srgbClr val="FF0000"/>
                    </a:solidFill>
                  </a:rPr>
                  <a:t>A</a:t>
                </a:r>
                <a:r>
                  <a:rPr lang="en-GB" sz="2800" dirty="0"/>
                  <a:t> </a:t>
                </a:r>
                <a:r>
                  <a:rPr lang="en-GB" sz="2800" dirty="0">
                    <a:solidFill>
                      <a:srgbClr val="FF0000"/>
                    </a:solidFill>
                  </a:rPr>
                  <a:t>P</a:t>
                </a:r>
                <a:r>
                  <a:rPr lang="en-GB" sz="2800" dirty="0"/>
                  <a:t>osteriori) Rule</a:t>
                </a:r>
              </a:p>
              <a:p>
                <a:pPr lvl="1"/>
                <a:r>
                  <a:rPr lang="en-GB" sz="2400" dirty="0"/>
                  <a:t>Assign </a:t>
                </a:r>
                <a:r>
                  <a:rPr lang="en-GB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sz="2400" dirty="0"/>
                  <a:t> to class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GB" sz="24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en-GB" sz="2400" dirty="0"/>
                  <a:t> such that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it-IT" sz="2400" dirty="0"/>
                  <a:t>is the largest</a:t>
                </a:r>
              </a:p>
              <a:p>
                <a:r>
                  <a:rPr lang="en-GB" sz="2800" dirty="0"/>
                  <a:t>Discriminative: directly apply the MAP rule</a:t>
                </a:r>
              </a:p>
              <a:p>
                <a:r>
                  <a:rPr lang="en-GB" sz="2800" dirty="0"/>
                  <a:t>Generative: compute posterior (through Bayes rule) and apply the MAP rule</a:t>
                </a:r>
                <a:endParaRPr lang="it-IT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79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95600" y="3790950"/>
                <a:ext cx="30583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3790950"/>
                <a:ext cx="305833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992" r="-3187" b="-35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232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Bayes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178008" y="1123950"/>
                <a:ext cx="8719054" cy="36674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2400" dirty="0"/>
                  <a:t> for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=1..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it-IT" sz="2400" dirty="0"/>
              </a:p>
              <a:p>
                <a:r>
                  <a:rPr lang="en-GB" sz="2400" dirty="0">
                    <a:ea typeface="Cambria Math" panose="02040503050406030204" pitchFamily="18" charset="0"/>
                  </a:rPr>
                  <a:t>Learning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2400" dirty="0"/>
                  <a:t> is in general infeasable!</a:t>
                </a:r>
              </a:p>
              <a:p>
                <a:r>
                  <a:rPr lang="it-IT" sz="2400" u="sng" dirty="0"/>
                  <a:t>Naive Bayes</a:t>
                </a:r>
                <a:r>
                  <a:rPr lang="it-IT" sz="2400" dirty="0"/>
                  <a:t>: assume each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2400" dirty="0"/>
                  <a:t> is independent given the class</a:t>
                </a:r>
              </a:p>
              <a:p>
                <a:endParaRPr lang="it-IT" sz="2400" dirty="0"/>
              </a:p>
              <a:p>
                <a:endParaRPr lang="it-IT" sz="2400" dirty="0"/>
              </a:p>
              <a:p>
                <a:r>
                  <a:rPr lang="it-IT" sz="2400" dirty="0"/>
                  <a:t>We can now learn a number of parameters which is linear</a:t>
                </a:r>
                <a:br>
                  <a:rPr lang="it-IT" sz="2400" dirty="0"/>
                </a:br>
                <a:r>
                  <a:rPr lang="it-IT" sz="2400" dirty="0"/>
                  <a:t>in the number of features, instead of being exponential</a:t>
                </a:r>
              </a:p>
              <a:p>
                <a:r>
                  <a:rPr lang="en-GB" sz="2000" dirty="0"/>
                  <a:t>Let </a:t>
                </a:r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</a:t>
                </a:r>
                <a:r>
                  <a:rPr lang="en-GB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GB" sz="2000" dirty="0"/>
                  <a:t> number of instances of class </a:t>
                </a:r>
                <a:r>
                  <a:rPr lang="en-GB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GB" sz="2000" dirty="0"/>
                  <a:t>, and </a:t>
                </a:r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#(</a:t>
                </a:r>
                <a:r>
                  <a:rPr lang="en-GB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x=</a:t>
                </a:r>
                <a:r>
                  <a:rPr lang="en-GB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,c</a:t>
                </a:r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2000" dirty="0"/>
                  <a:t>number of instances of </a:t>
                </a:r>
                <a:br>
                  <a:rPr lang="en-GB" sz="2000" dirty="0"/>
                </a:br>
                <a:r>
                  <a:rPr lang="en-GB" sz="2000" dirty="0"/>
                  <a:t>class </a:t>
                </a:r>
                <a:r>
                  <a:rPr lang="en-GB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en-GB" sz="2000" dirty="0"/>
                  <a:t>with feature </a:t>
                </a:r>
                <a:r>
                  <a:rPr lang="en-GB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sz="2000" dirty="0"/>
                  <a:t> having value </a:t>
                </a:r>
                <a:r>
                  <a:rPr lang="en-GB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it-IT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8008" y="1123950"/>
                <a:ext cx="8719054" cy="3667479"/>
              </a:xfrm>
              <a:prstGeom prst="rect">
                <a:avLst/>
              </a:prstGeom>
              <a:blipFill rotWithShape="0">
                <a:blip r:embed="rId2"/>
                <a:stretch>
                  <a:fillRect l="-1958" t="-2492" r="-1259" b="-33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8000" y="2511386"/>
                <a:ext cx="2828402" cy="787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511386"/>
                <a:ext cx="2828402" cy="78752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090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Naïve Bayes Algorithm (discrete features)</a:t>
            </a:r>
            <a:endParaRPr lang="it-IT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0950" y="971550"/>
                <a:ext cx="8229600" cy="3886200"/>
              </a:xfrm>
            </p:spPr>
            <p:txBody>
              <a:bodyPr>
                <a:normAutofit/>
              </a:bodyPr>
              <a:lstStyle/>
              <a:p>
                <a:r>
                  <a:rPr lang="en-GB" sz="2400" u="sng" dirty="0"/>
                  <a:t>Learning</a:t>
                </a:r>
                <a:r>
                  <a:rPr lang="en-GB" sz="2400" dirty="0"/>
                  <a:t>: given a training set of size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GB" sz="2400" dirty="0"/>
                  <a:t> with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GB" sz="2400" dirty="0"/>
                  <a:t> features and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GB" sz="2400" dirty="0"/>
                  <a:t> classes</a:t>
                </a:r>
              </a:p>
              <a:p>
                <a:pPr lvl="1"/>
                <a:r>
                  <a:rPr lang="en-GB" sz="2000" dirty="0"/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=1…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000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#</m:t>
                        </m:r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it-IT" sz="1600" dirty="0"/>
              </a:p>
              <a:p>
                <a:pPr lvl="2"/>
                <a:r>
                  <a:rPr lang="en-GB" sz="1600" dirty="0"/>
                  <a:t>For every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𝑗𝑙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16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1600" b="0" i="0" smtClean="0">
                        <a:latin typeface="Cambria Math" panose="02040503050406030204" pitchFamily="18" charset="0"/>
                      </a:rPr>
                      <m:t>feature</m:t>
                    </m:r>
                    <m:r>
                      <m:rPr>
                        <m:nor/>
                      </m:rP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=1..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GB" sz="1600" b="0" dirty="0"/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𝑗𝑙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#(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𝑗𝑙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#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it-IT" sz="1200" dirty="0"/>
              </a:p>
              <a:p>
                <a:pPr lvl="1">
                  <a:tabLst>
                    <a:tab pos="2058988" algn="l"/>
                  </a:tabLst>
                </a:pPr>
                <a:r>
                  <a:rPr lang="en-GB" sz="2000" dirty="0"/>
                  <a:t>Output: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it-IT" sz="2000" dirty="0"/>
                  <a:t> generative models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000" dirty="0"/>
              </a:p>
              <a:p>
                <a:pPr>
                  <a:tabLst>
                    <a:tab pos="2058988" algn="l"/>
                  </a:tabLst>
                </a:pPr>
                <a:r>
                  <a:rPr lang="en-GB" sz="2400" u="sng" dirty="0"/>
                  <a:t>Test</a:t>
                </a:r>
                <a:r>
                  <a:rPr lang="en-GB" sz="2400" dirty="0"/>
                  <a:t>: given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it-IT" sz="2400" dirty="0"/>
                  <a:t>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such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that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  <a:tabLst>
                    <a:tab pos="2058988" algn="l"/>
                  </a:tabLst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    </m:t>
                    </m:r>
                    <m:acc>
                      <m:accPr>
                        <m:chr m:val="̂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)…</m:t>
                    </m:r>
                    <m:acc>
                      <m:accPr>
                        <m:chr m:val="̂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400" dirty="0"/>
                  <a:t> is maximum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950" y="971550"/>
                <a:ext cx="8229600" cy="3886200"/>
              </a:xfrm>
              <a:blipFill rotWithShape="0">
                <a:blip r:embed="rId2"/>
                <a:stretch>
                  <a:fillRect l="-963" t="-14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680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5109"/>
            <a:ext cx="8229600" cy="857250"/>
          </a:xfrm>
        </p:spPr>
        <p:txBody>
          <a:bodyPr>
            <a:normAutofit/>
          </a:bodyPr>
          <a:lstStyle/>
          <a:p>
            <a:r>
              <a:rPr lang="en-GB" sz="3200" dirty="0"/>
              <a:t>Example</a:t>
            </a:r>
            <a:endParaRPr lang="it-IT" sz="3200" dirty="0"/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872359"/>
            <a:ext cx="5527630" cy="420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0461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15" y="-8693"/>
            <a:ext cx="8229600" cy="857250"/>
          </a:xfrm>
        </p:spPr>
        <p:txBody>
          <a:bodyPr>
            <a:normAutofit/>
          </a:bodyPr>
          <a:lstStyle/>
          <a:p>
            <a:r>
              <a:rPr lang="en-GB" sz="3600" dirty="0"/>
              <a:t>Learning</a:t>
            </a:r>
            <a:endParaRPr lang="it-IT" sz="3600" dirty="0"/>
          </a:p>
        </p:txBody>
      </p:sp>
      <p:graphicFrame>
        <p:nvGraphicFramePr>
          <p:cNvPr id="4" name="Group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28174"/>
              </p:ext>
            </p:extLst>
          </p:nvPr>
        </p:nvGraphicFramePr>
        <p:xfrm>
          <a:off x="325515" y="773652"/>
          <a:ext cx="3640138" cy="1768474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82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alatino Linotype" pitchFamily="18" charset="0"/>
                        </a:rPr>
                        <a:t>Outlook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Yes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No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Sunny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2/9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3/5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Overcast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4/9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0/5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6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Rain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3/9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2/5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86226"/>
              </p:ext>
            </p:extLst>
          </p:nvPr>
        </p:nvGraphicFramePr>
        <p:xfrm>
          <a:off x="4135515" y="773652"/>
          <a:ext cx="4572000" cy="1768474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82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alatino Linotype" pitchFamily="18" charset="0"/>
                        </a:rPr>
                        <a:t>Temperature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Yes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No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Hot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2/9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2/5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Mild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4/9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2/5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6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Cool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3/9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1/5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Group 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056936"/>
              </p:ext>
            </p:extLst>
          </p:nvPr>
        </p:nvGraphicFramePr>
        <p:xfrm>
          <a:off x="477915" y="2831052"/>
          <a:ext cx="3886200" cy="1374775"/>
        </p:xfrm>
        <a:graphic>
          <a:graphicData uri="http://schemas.openxmlformats.org/drawingml/2006/table">
            <a:tbl>
              <a:tblPr/>
              <a:tblGrid>
                <a:gridCol w="1554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alatino Linotype" pitchFamily="18" charset="0"/>
                        </a:rPr>
                        <a:t>Humidity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Yes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Play=N</a:t>
                      </a: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High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4/5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Normal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6/9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1/5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Group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505934"/>
              </p:ext>
            </p:extLst>
          </p:nvPr>
        </p:nvGraphicFramePr>
        <p:xfrm>
          <a:off x="4668915" y="2831052"/>
          <a:ext cx="3886200" cy="1368425"/>
        </p:xfrm>
        <a:graphic>
          <a:graphicData uri="http://schemas.openxmlformats.org/drawingml/2006/table">
            <a:tbl>
              <a:tblPr/>
              <a:tblGrid>
                <a:gridCol w="135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02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alatino Linotype" pitchFamily="18" charset="0"/>
                        </a:rPr>
                        <a:t>Wind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Yes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Strong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Weak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6/9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Box 119"/>
          <p:cNvSpPr txBox="1">
            <a:spLocks noChangeArrowheads="1"/>
          </p:cNvSpPr>
          <p:nvPr/>
        </p:nvSpPr>
        <p:spPr bwMode="auto">
          <a:xfrm>
            <a:off x="1849515" y="4659852"/>
            <a:ext cx="262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latin typeface="Palatino Linotype" panose="02040502050505030304" pitchFamily="18" charset="0"/>
              </a:rPr>
              <a:t>P</a:t>
            </a:r>
            <a:r>
              <a:rPr lang="en-GB" altLang="en-US" sz="2400">
                <a:latin typeface="Palatino Linotype" panose="02040502050505030304" pitchFamily="18" charset="0"/>
              </a:rPr>
              <a:t>(Play</a:t>
            </a:r>
            <a:r>
              <a:rPr lang="en-GB" altLang="en-US" sz="2400" i="1">
                <a:latin typeface="Palatino Linotype" panose="02040502050505030304" pitchFamily="18" charset="0"/>
              </a:rPr>
              <a:t>=Yes) = </a:t>
            </a:r>
            <a:r>
              <a:rPr lang="en-GB" altLang="en-US" sz="2400">
                <a:latin typeface="Palatino Linotype" panose="02040502050505030304" pitchFamily="18" charset="0"/>
              </a:rPr>
              <a:t>9/14</a:t>
            </a:r>
          </a:p>
        </p:txBody>
      </p:sp>
      <p:sp>
        <p:nvSpPr>
          <p:cNvPr id="9" name="Text Box 120"/>
          <p:cNvSpPr txBox="1">
            <a:spLocks noChangeArrowheads="1"/>
          </p:cNvSpPr>
          <p:nvPr/>
        </p:nvSpPr>
        <p:spPr bwMode="auto">
          <a:xfrm>
            <a:off x="4707015" y="4659852"/>
            <a:ext cx="2552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latin typeface="Palatino Linotype" panose="02040502050505030304" pitchFamily="18" charset="0"/>
              </a:rPr>
              <a:t>P</a:t>
            </a:r>
            <a:r>
              <a:rPr lang="en-GB" altLang="en-US" sz="2400">
                <a:latin typeface="Palatino Linotype" panose="02040502050505030304" pitchFamily="18" charset="0"/>
              </a:rPr>
              <a:t>(Play</a:t>
            </a:r>
            <a:r>
              <a:rPr lang="en-GB" altLang="en-US" sz="2400" i="1">
                <a:latin typeface="Palatino Linotype" panose="02040502050505030304" pitchFamily="18" charset="0"/>
              </a:rPr>
              <a:t>=No) = </a:t>
            </a:r>
            <a:r>
              <a:rPr lang="en-GB" altLang="en-US" sz="2400">
                <a:latin typeface="Palatino Linotype" panose="02040502050505030304" pitchFamily="18" charset="0"/>
              </a:rPr>
              <a:t>5/14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5515" y="240261"/>
                <a:ext cx="2574359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Outlook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𝑆𝑢𝑛𝑛𝑦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𝑌𝑒𝑠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15" y="240261"/>
                <a:ext cx="2574359" cy="284437"/>
              </a:xfrm>
              <a:prstGeom prst="rect">
                <a:avLst/>
              </a:prstGeom>
              <a:blipFill rotWithShape="0">
                <a:blip r:embed="rId2"/>
                <a:stretch>
                  <a:fillRect l="-1655" t="-17021" r="-2600" b="-34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 flipV="1">
            <a:off x="1295400" y="524698"/>
            <a:ext cx="609601" cy="828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79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857250"/>
          </a:xfrm>
        </p:spPr>
        <p:txBody>
          <a:bodyPr/>
          <a:lstStyle/>
          <a:p>
            <a:r>
              <a:rPr lang="en-GB" dirty="0"/>
              <a:t>Test</a:t>
            </a:r>
            <a:endParaRPr lang="it-IT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971550"/>
            <a:ext cx="8229600" cy="339447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Given a new instance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  <a:r>
              <a:rPr lang="en-US" dirty="0"/>
              <a:t>, predict its label 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dirty="0"/>
              <a:t> or 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sz="23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  <a:r>
              <a:rPr lang="en-US" sz="23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=(Outlook=</a:t>
            </a:r>
            <a:r>
              <a:rPr lang="en-US" sz="23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Sunny</a:t>
            </a:r>
            <a:r>
              <a:rPr lang="en-US" sz="23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Temperature=</a:t>
            </a:r>
            <a:r>
              <a:rPr lang="en-US" sz="23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</a:t>
            </a:r>
            <a:r>
              <a:rPr lang="en-US" sz="23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Humidity=</a:t>
            </a:r>
            <a:r>
              <a:rPr lang="en-US" sz="23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23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Wind=</a:t>
            </a:r>
            <a:r>
              <a:rPr lang="en-US" sz="23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en-US" sz="23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/>
              <a:t>Look up tables achieved in the learning phrase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Decision making with the MAP rule</a:t>
            </a:r>
          </a:p>
          <a:p>
            <a:endParaRPr lang="it-IT" dirty="0"/>
          </a:p>
        </p:txBody>
      </p:sp>
      <p:sp>
        <p:nvSpPr>
          <p:cNvPr id="5" name="Text Box 91"/>
          <p:cNvSpPr txBox="1">
            <a:spLocks noChangeArrowheads="1"/>
          </p:cNvSpPr>
          <p:nvPr/>
        </p:nvSpPr>
        <p:spPr bwMode="auto">
          <a:xfrm>
            <a:off x="5029200" y="1962149"/>
            <a:ext cx="3111878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P(Outlook=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S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unny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400" dirty="0">
                <a:latin typeface="Palatino Linotype" panose="02040502050505030304" pitchFamily="18" charset="0"/>
              </a:rPr>
              <a:t>=</a:t>
            </a:r>
            <a:r>
              <a:rPr lang="en-GB" altLang="en-US" sz="1400" i="1" dirty="0">
                <a:latin typeface="Palatino Linotype" panose="02040502050505030304" pitchFamily="18" charset="0"/>
              </a:rPr>
              <a:t>No</a:t>
            </a:r>
            <a:r>
              <a:rPr lang="en-GB" altLang="en-US" sz="1400" dirty="0">
                <a:latin typeface="Palatino Linotype" panose="02040502050505030304" pitchFamily="18" charset="0"/>
              </a:rPr>
              <a:t>) = 3/5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P(Temperature=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Cool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400" dirty="0">
                <a:latin typeface="Palatino Linotype" panose="02040502050505030304" pitchFamily="18" charset="0"/>
              </a:rPr>
              <a:t>=</a:t>
            </a:r>
            <a:r>
              <a:rPr lang="en-GB" altLang="en-US" sz="1400" i="1" dirty="0">
                <a:latin typeface="Palatino Linotype" panose="02040502050505030304" pitchFamily="18" charset="0"/>
              </a:rPr>
              <a:t>=No</a:t>
            </a:r>
            <a:r>
              <a:rPr lang="en-GB" altLang="en-US" sz="1400" dirty="0">
                <a:latin typeface="Palatino Linotype" panose="02040502050505030304" pitchFamily="18" charset="0"/>
              </a:rPr>
              <a:t>) = 1/5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P(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Huminity</a:t>
            </a:r>
            <a:r>
              <a:rPr lang="en-GB" altLang="en-US" sz="1400" dirty="0">
                <a:latin typeface="Palatino Linotype" panose="02040502050505030304" pitchFamily="18" charset="0"/>
              </a:rPr>
              <a:t>=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High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400" dirty="0">
                <a:latin typeface="Palatino Linotype" panose="02040502050505030304" pitchFamily="18" charset="0"/>
              </a:rPr>
              <a:t>=</a:t>
            </a:r>
            <a:r>
              <a:rPr lang="en-GB" altLang="en-US" sz="1400" i="1" dirty="0">
                <a:latin typeface="Palatino Linotype" panose="02040502050505030304" pitchFamily="18" charset="0"/>
              </a:rPr>
              <a:t>No</a:t>
            </a:r>
            <a:r>
              <a:rPr lang="en-GB" altLang="en-US" sz="1400" dirty="0">
                <a:latin typeface="Palatino Linotype" panose="02040502050505030304" pitchFamily="18" charset="0"/>
              </a:rPr>
              <a:t>) = 4/5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P(Wind=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Strong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400" dirty="0">
                <a:latin typeface="Palatino Linotype" panose="02040502050505030304" pitchFamily="18" charset="0"/>
              </a:rPr>
              <a:t>=</a:t>
            </a:r>
            <a:r>
              <a:rPr lang="en-GB" altLang="en-US" sz="1400" i="1" dirty="0">
                <a:latin typeface="Palatino Linotype" panose="02040502050505030304" pitchFamily="18" charset="0"/>
              </a:rPr>
              <a:t>No</a:t>
            </a:r>
            <a:r>
              <a:rPr lang="en-GB" altLang="en-US" sz="1400" dirty="0">
                <a:latin typeface="Palatino Linotype" panose="02040502050505030304" pitchFamily="18" charset="0"/>
              </a:rPr>
              <a:t>) = 3/5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P(Play=</a:t>
            </a:r>
            <a:r>
              <a:rPr lang="en-GB" altLang="en-US" sz="1400" i="1" dirty="0">
                <a:latin typeface="Palatino Linotype" panose="02040502050505030304" pitchFamily="18" charset="0"/>
              </a:rPr>
              <a:t>No</a:t>
            </a:r>
            <a:r>
              <a:rPr lang="en-GB" altLang="en-US" sz="1400" dirty="0">
                <a:latin typeface="Palatino Linotype" panose="02040502050505030304" pitchFamily="18" charset="0"/>
              </a:rPr>
              <a:t>) = 5/14</a:t>
            </a:r>
          </a:p>
        </p:txBody>
      </p:sp>
      <p:sp>
        <p:nvSpPr>
          <p:cNvPr id="6" name="Text Box 93"/>
          <p:cNvSpPr txBox="1">
            <a:spLocks noChangeArrowheads="1"/>
          </p:cNvSpPr>
          <p:nvPr/>
        </p:nvSpPr>
        <p:spPr bwMode="auto">
          <a:xfrm>
            <a:off x="1066800" y="1962149"/>
            <a:ext cx="304391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P(Outlook=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Sunny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400" dirty="0">
                <a:latin typeface="Palatino Linotype" panose="02040502050505030304" pitchFamily="18" charset="0"/>
              </a:rPr>
              <a:t>=</a:t>
            </a:r>
            <a:r>
              <a:rPr lang="en-GB" altLang="en-US" sz="1400" i="1" dirty="0">
                <a:latin typeface="Palatino Linotype" panose="02040502050505030304" pitchFamily="18" charset="0"/>
              </a:rPr>
              <a:t>Yes</a:t>
            </a:r>
            <a:r>
              <a:rPr lang="en-GB" altLang="en-US" sz="1400" dirty="0">
                <a:latin typeface="Palatino Linotype" panose="02040502050505030304" pitchFamily="18" charset="0"/>
              </a:rPr>
              <a:t>) = 2/9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P(Temperature=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Cool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400" dirty="0">
                <a:latin typeface="Palatino Linotype" panose="02040502050505030304" pitchFamily="18" charset="0"/>
              </a:rPr>
              <a:t>=</a:t>
            </a:r>
            <a:r>
              <a:rPr lang="en-GB" altLang="en-US" sz="1400" i="1" dirty="0">
                <a:latin typeface="Palatino Linotype" panose="02040502050505030304" pitchFamily="18" charset="0"/>
              </a:rPr>
              <a:t>Yes</a:t>
            </a:r>
            <a:r>
              <a:rPr lang="en-GB" altLang="en-US" sz="1400" dirty="0">
                <a:latin typeface="Palatino Linotype" panose="02040502050505030304" pitchFamily="18" charset="0"/>
              </a:rPr>
              <a:t>) = 3/9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P(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Huminity</a:t>
            </a:r>
            <a:r>
              <a:rPr lang="en-GB" altLang="en-US" sz="1400" dirty="0">
                <a:latin typeface="Palatino Linotype" panose="02040502050505030304" pitchFamily="18" charset="0"/>
              </a:rPr>
              <a:t>=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High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400" dirty="0">
                <a:latin typeface="Palatino Linotype" panose="02040502050505030304" pitchFamily="18" charset="0"/>
              </a:rPr>
              <a:t>=</a:t>
            </a:r>
            <a:r>
              <a:rPr lang="en-GB" altLang="en-US" sz="1400" i="1" dirty="0">
                <a:latin typeface="Palatino Linotype" panose="02040502050505030304" pitchFamily="18" charset="0"/>
              </a:rPr>
              <a:t>Yes</a:t>
            </a:r>
            <a:r>
              <a:rPr lang="en-GB" altLang="en-US" sz="1400" dirty="0">
                <a:latin typeface="Palatino Linotype" panose="02040502050505030304" pitchFamily="18" charset="0"/>
              </a:rPr>
              <a:t>) = 3/9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P(Wind=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Strong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|Play</a:t>
            </a:r>
            <a:r>
              <a:rPr lang="en-GB" altLang="en-US" sz="1400" dirty="0">
                <a:latin typeface="Palatino Linotype" panose="02040502050505030304" pitchFamily="18" charset="0"/>
              </a:rPr>
              <a:t>=</a:t>
            </a:r>
            <a:r>
              <a:rPr lang="en-GB" altLang="en-US" sz="1400" i="1" dirty="0">
                <a:latin typeface="Palatino Linotype" panose="02040502050505030304" pitchFamily="18" charset="0"/>
              </a:rPr>
              <a:t>Yes</a:t>
            </a:r>
            <a:r>
              <a:rPr lang="en-GB" altLang="en-US" sz="1400" dirty="0">
                <a:latin typeface="Palatino Linotype" panose="02040502050505030304" pitchFamily="18" charset="0"/>
              </a:rPr>
              <a:t>) = 3/9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P(Play=</a:t>
            </a:r>
            <a:r>
              <a:rPr lang="en-GB" altLang="en-US" sz="1400" i="1" dirty="0">
                <a:latin typeface="Palatino Linotype" panose="02040502050505030304" pitchFamily="18" charset="0"/>
              </a:rPr>
              <a:t>Yes</a:t>
            </a:r>
            <a:r>
              <a:rPr lang="en-GB" altLang="en-US" sz="1400" dirty="0">
                <a:latin typeface="Palatino Linotype" panose="02040502050505030304" pitchFamily="18" charset="0"/>
              </a:rPr>
              <a:t>) = 9/14</a:t>
            </a:r>
          </a:p>
        </p:txBody>
      </p:sp>
      <p:sp>
        <p:nvSpPr>
          <p:cNvPr id="7" name="Text Box 94"/>
          <p:cNvSpPr txBox="1">
            <a:spLocks noChangeArrowheads="1"/>
          </p:cNvSpPr>
          <p:nvPr/>
        </p:nvSpPr>
        <p:spPr bwMode="auto">
          <a:xfrm>
            <a:off x="990600" y="3980860"/>
            <a:ext cx="8534400" cy="137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solidFill>
                  <a:schemeClr val="accent2"/>
                </a:solidFill>
                <a:latin typeface="Palatino Linotype" panose="02040502050505030304" pitchFamily="18" charset="0"/>
              </a:rPr>
              <a:t>P(</a:t>
            </a:r>
            <a:r>
              <a:rPr lang="en-GB" altLang="en-US" sz="1400" i="1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Yes</a:t>
            </a:r>
            <a:r>
              <a:rPr lang="en-GB" altLang="en-US" sz="1400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|</a:t>
            </a:r>
            <a:r>
              <a:rPr lang="en-GB" altLang="en-US" sz="1400" b="1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GB" altLang="en-US" sz="1400" dirty="0">
                <a:solidFill>
                  <a:schemeClr val="accent2"/>
                </a:solidFill>
                <a:latin typeface="Palatino Linotype" panose="02040502050505030304" pitchFamily="18" charset="0"/>
              </a:rPr>
              <a:t>’) ≈</a:t>
            </a:r>
            <a:r>
              <a:rPr lang="en-GB" altLang="en-US" sz="1400" dirty="0">
                <a:latin typeface="Palatino Linotype" panose="02040502050505030304" pitchFamily="18" charset="0"/>
              </a:rPr>
              <a:t> [P(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Sunny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|Y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es</a:t>
            </a:r>
            <a:r>
              <a:rPr lang="en-GB" altLang="en-US" sz="1400" dirty="0">
                <a:latin typeface="Palatino Linotype" panose="02040502050505030304" pitchFamily="18" charset="0"/>
              </a:rPr>
              <a:t>)P(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Cool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Yes</a:t>
            </a:r>
            <a:r>
              <a:rPr lang="en-GB" altLang="en-US" sz="1400" dirty="0">
                <a:latin typeface="Palatino Linotype" panose="02040502050505030304" pitchFamily="18" charset="0"/>
              </a:rPr>
              <a:t>)P(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High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|Y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es</a:t>
            </a:r>
            <a:r>
              <a:rPr lang="en-GB" altLang="en-US" sz="1400" dirty="0">
                <a:latin typeface="Palatino Linotype" panose="02040502050505030304" pitchFamily="18" charset="0"/>
              </a:rPr>
              <a:t>)P(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Strong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Yes</a:t>
            </a:r>
            <a:r>
              <a:rPr lang="en-GB" altLang="en-US" sz="1400" dirty="0">
                <a:latin typeface="Palatino Linotype" panose="02040502050505030304" pitchFamily="18" charset="0"/>
              </a:rPr>
              <a:t>)]P(Play=</a:t>
            </a:r>
            <a:r>
              <a:rPr lang="en-GB" altLang="en-US" sz="1400" i="1" dirty="0">
                <a:latin typeface="Palatino Linotype" panose="02040502050505030304" pitchFamily="18" charset="0"/>
              </a:rPr>
              <a:t>Yes</a:t>
            </a:r>
            <a:r>
              <a:rPr lang="en-GB" altLang="en-US" sz="1400" dirty="0">
                <a:latin typeface="Palatino Linotype" panose="02040502050505030304" pitchFamily="18" charset="0"/>
              </a:rPr>
              <a:t>) = 0.0053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Palatino Linotype" panose="02040502050505030304" pitchFamily="18" charset="0"/>
              </a:rPr>
              <a:t> </a:t>
            </a:r>
            <a:r>
              <a:rPr lang="en-GB" altLang="en-US" sz="1400" dirty="0">
                <a:solidFill>
                  <a:schemeClr val="accent2"/>
                </a:solidFill>
                <a:latin typeface="Palatino Linotype" panose="02040502050505030304" pitchFamily="18" charset="0"/>
              </a:rPr>
              <a:t>P(</a:t>
            </a:r>
            <a:r>
              <a:rPr lang="en-GB" altLang="en-US" sz="1400" i="1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No</a:t>
            </a:r>
            <a:r>
              <a:rPr lang="en-GB" altLang="en-US" sz="1400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|</a:t>
            </a:r>
            <a:r>
              <a:rPr lang="en-GB" altLang="en-US" sz="1400" b="1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GB" altLang="en-US" sz="1400" dirty="0">
                <a:solidFill>
                  <a:schemeClr val="accent2"/>
                </a:solidFill>
                <a:latin typeface="Palatino Linotype" panose="02040502050505030304" pitchFamily="18" charset="0"/>
              </a:rPr>
              <a:t>’) ≈ </a:t>
            </a:r>
            <a:r>
              <a:rPr lang="en-GB" altLang="en-US" sz="1400" dirty="0">
                <a:latin typeface="Palatino Linotype" panose="02040502050505030304" pitchFamily="18" charset="0"/>
              </a:rPr>
              <a:t>[P(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Sunny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|N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o</a:t>
            </a:r>
            <a:r>
              <a:rPr lang="en-GB" altLang="en-US" sz="1400" dirty="0">
                <a:latin typeface="Palatino Linotype" panose="02040502050505030304" pitchFamily="18" charset="0"/>
              </a:rPr>
              <a:t>) P(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Cool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|N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o</a:t>
            </a:r>
            <a:r>
              <a:rPr lang="en-GB" altLang="en-US" sz="1400" dirty="0">
                <a:latin typeface="Palatino Linotype" panose="02040502050505030304" pitchFamily="18" charset="0"/>
              </a:rPr>
              <a:t>)P(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High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No</a:t>
            </a:r>
            <a:r>
              <a:rPr lang="en-GB" altLang="en-US" sz="1400" dirty="0">
                <a:latin typeface="Palatino Linotype" panose="02040502050505030304" pitchFamily="18" charset="0"/>
              </a:rPr>
              <a:t>)P(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Strong</a:t>
            </a:r>
            <a:r>
              <a:rPr lang="en-GB" altLang="en-US" sz="1400" dirty="0" err="1">
                <a:latin typeface="Palatino Linotype" panose="02040502050505030304" pitchFamily="18" charset="0"/>
              </a:rPr>
              <a:t>|</a:t>
            </a:r>
            <a:r>
              <a:rPr lang="en-GB" altLang="en-US" sz="1400" i="1" dirty="0" err="1">
                <a:latin typeface="Palatino Linotype" panose="02040502050505030304" pitchFamily="18" charset="0"/>
              </a:rPr>
              <a:t>No</a:t>
            </a:r>
            <a:r>
              <a:rPr lang="en-GB" altLang="en-US" sz="1400" dirty="0">
                <a:latin typeface="Palatino Linotype" panose="02040502050505030304" pitchFamily="18" charset="0"/>
              </a:rPr>
              <a:t>)]P(Play=</a:t>
            </a:r>
            <a:r>
              <a:rPr lang="en-GB" altLang="en-US" sz="1400" i="1" dirty="0">
                <a:latin typeface="Palatino Linotype" panose="02040502050505030304" pitchFamily="18" charset="0"/>
              </a:rPr>
              <a:t>No</a:t>
            </a:r>
            <a:r>
              <a:rPr lang="en-GB" altLang="en-US" sz="1400" dirty="0">
                <a:latin typeface="Palatino Linotype" panose="02040502050505030304" pitchFamily="18" charset="0"/>
              </a:rPr>
              <a:t>) = 0.0206</a:t>
            </a:r>
          </a:p>
          <a:p>
            <a:pPr eaLnBrk="1" hangingPunct="1">
              <a:lnSpc>
                <a:spcPct val="50000"/>
              </a:lnSpc>
              <a:spcBef>
                <a:spcPct val="0"/>
              </a:spcBef>
              <a:buFontTx/>
              <a:buNone/>
            </a:pPr>
            <a:endParaRPr lang="en-GB" altLang="en-US" sz="1400" dirty="0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en-US" sz="1400" dirty="0">
                <a:solidFill>
                  <a:schemeClr val="accent2"/>
                </a:solidFill>
                <a:latin typeface="Palatino Linotype" panose="02040502050505030304" pitchFamily="18" charset="0"/>
              </a:rPr>
              <a:t>         Given the fact</a:t>
            </a:r>
            <a:r>
              <a:rPr lang="en-GB" altLang="en-US" sz="1400" b="1" dirty="0">
                <a:solidFill>
                  <a:schemeClr val="accent2"/>
                </a:solidFill>
                <a:latin typeface="Palatino Linotype" panose="02040502050505030304" pitchFamily="18" charset="0"/>
              </a:rPr>
              <a:t> </a:t>
            </a:r>
            <a:r>
              <a:rPr lang="en-GB" altLang="en-US" sz="1400" dirty="0">
                <a:solidFill>
                  <a:schemeClr val="accent2"/>
                </a:solidFill>
                <a:latin typeface="Palatino Linotype" panose="02040502050505030304" pitchFamily="18" charset="0"/>
              </a:rPr>
              <a:t>P(</a:t>
            </a:r>
            <a:r>
              <a:rPr lang="en-GB" altLang="en-US" sz="1400" i="1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Yes</a:t>
            </a:r>
            <a:r>
              <a:rPr lang="en-GB" altLang="en-US" sz="1400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|</a:t>
            </a:r>
            <a:r>
              <a:rPr lang="en-GB" altLang="en-US" sz="1400" b="1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GB" altLang="en-US" sz="1400" dirty="0">
                <a:solidFill>
                  <a:schemeClr val="accent2"/>
                </a:solidFill>
                <a:latin typeface="Palatino Linotype" panose="02040502050505030304" pitchFamily="18" charset="0"/>
              </a:rPr>
              <a:t>’) &lt; P(</a:t>
            </a:r>
            <a:r>
              <a:rPr lang="en-GB" altLang="en-US" sz="1400" i="1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No</a:t>
            </a:r>
            <a:r>
              <a:rPr lang="en-GB" altLang="en-US" sz="1400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|</a:t>
            </a:r>
            <a:r>
              <a:rPr lang="en-GB" altLang="en-US" sz="1400" b="1" dirty="0" err="1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GB" altLang="en-US" sz="1400" dirty="0">
                <a:solidFill>
                  <a:schemeClr val="accent2"/>
                </a:solidFill>
                <a:latin typeface="Palatino Linotype" panose="02040502050505030304" pitchFamily="18" charset="0"/>
              </a:rPr>
              <a:t>’), we label </a:t>
            </a:r>
            <a:r>
              <a:rPr lang="en-GB" altLang="en-US" sz="1400" b="1" dirty="0">
                <a:solidFill>
                  <a:schemeClr val="accent2"/>
                </a:solidFill>
                <a:latin typeface="Palatino Linotype" panose="02040502050505030304" pitchFamily="18" charset="0"/>
              </a:rPr>
              <a:t>x</a:t>
            </a:r>
            <a:r>
              <a:rPr lang="en-GB" altLang="en-US" sz="1400" dirty="0">
                <a:solidFill>
                  <a:schemeClr val="accent2"/>
                </a:solidFill>
                <a:latin typeface="Palatino Linotype" panose="02040502050505030304" pitchFamily="18" charset="0"/>
              </a:rPr>
              <a:t>’ to be “</a:t>
            </a:r>
            <a:r>
              <a:rPr lang="en-GB" altLang="en-US" sz="1400" i="1" dirty="0">
                <a:solidFill>
                  <a:schemeClr val="accent2"/>
                </a:solidFill>
                <a:latin typeface="Palatino Linotype" panose="02040502050505030304" pitchFamily="18" charset="0"/>
              </a:rPr>
              <a:t>No</a:t>
            </a:r>
            <a:r>
              <a:rPr lang="en-GB" altLang="en-US" sz="1400" dirty="0">
                <a:solidFill>
                  <a:schemeClr val="accent2"/>
                </a:solidFill>
                <a:latin typeface="Palatino Linotype" panose="02040502050505030304" pitchFamily="18" charset="0"/>
              </a:rPr>
              <a:t>”.</a:t>
            </a:r>
            <a:r>
              <a:rPr lang="en-GB" altLang="en-US" sz="1400" dirty="0">
                <a:latin typeface="Palatino Linotype" panose="02040502050505030304" pitchFamily="18" charset="0"/>
              </a:rPr>
              <a:t>  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GB" altLang="en-US" sz="20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58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Gaussian (Normal)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7158" y="661501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Say          . If    is a distributed Gaussian with mean    , variance      .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877887"/>
            <a:ext cx="127635" cy="11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351" y="851217"/>
            <a:ext cx="139065" cy="1676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747" y="765492"/>
            <a:ext cx="234315" cy="2266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807402"/>
            <a:ext cx="628650" cy="184785"/>
          </a:xfrm>
          <a:prstGeom prst="rect">
            <a:avLst/>
          </a:prstGeom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259361"/>
            <a:ext cx="544830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3400" y="1224484"/>
                <a:ext cx="16486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sz="2400" dirty="0"/>
                  <a:t>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24484"/>
                <a:ext cx="1648656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815" t="-26667" r="-10370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13020" y="3028950"/>
                <a:ext cx="3687676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20" y="3028950"/>
                <a:ext cx="3687676" cy="62799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843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Gaussian distribution example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3617" y="1047750"/>
            <a:ext cx="2438400" cy="1828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9165" y="3181350"/>
            <a:ext cx="2438400" cy="1828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3716" y="1047750"/>
            <a:ext cx="2438400" cy="1828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3717" y="3181350"/>
            <a:ext cx="2438400" cy="1828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63" y="836677"/>
            <a:ext cx="1454277" cy="2472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399" y="819150"/>
            <a:ext cx="1678495" cy="2472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63" y="2962797"/>
            <a:ext cx="1462659" cy="2493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184" y="2962797"/>
            <a:ext cx="1678495" cy="24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0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Parameter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739933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Dataset: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810459"/>
            <a:ext cx="2443353" cy="3206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900" y="810459"/>
            <a:ext cx="957643" cy="264033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2785071" y="1341461"/>
            <a:ext cx="9588" cy="214651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623654" y="3322661"/>
            <a:ext cx="3820492" cy="1108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665600" y="3281182"/>
            <a:ext cx="0" cy="10875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 rot="2734294">
            <a:off x="4572684" y="3234556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Cross 20"/>
          <p:cNvSpPr/>
          <p:nvPr/>
        </p:nvSpPr>
        <p:spPr>
          <a:xfrm rot="2734294">
            <a:off x="4919072" y="3234559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Cross 21"/>
          <p:cNvSpPr/>
          <p:nvPr/>
        </p:nvSpPr>
        <p:spPr>
          <a:xfrm rot="2734294">
            <a:off x="4178754" y="3238112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Cross 22"/>
          <p:cNvSpPr/>
          <p:nvPr/>
        </p:nvSpPr>
        <p:spPr>
          <a:xfrm rot="2734294">
            <a:off x="3893671" y="3238580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Cross 23"/>
          <p:cNvSpPr/>
          <p:nvPr/>
        </p:nvSpPr>
        <p:spPr>
          <a:xfrm rot="2734294">
            <a:off x="3467784" y="3240100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Cross 24"/>
          <p:cNvSpPr/>
          <p:nvPr/>
        </p:nvSpPr>
        <p:spPr>
          <a:xfrm rot="2734294">
            <a:off x="4305985" y="3234783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" name="Cross 25"/>
          <p:cNvSpPr/>
          <p:nvPr/>
        </p:nvSpPr>
        <p:spPr>
          <a:xfrm rot="2734294">
            <a:off x="5267565" y="3241910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7" name="Cross 26"/>
          <p:cNvSpPr/>
          <p:nvPr/>
        </p:nvSpPr>
        <p:spPr>
          <a:xfrm rot="2734294">
            <a:off x="5561279" y="3240394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Cross 27"/>
          <p:cNvSpPr/>
          <p:nvPr/>
        </p:nvSpPr>
        <p:spPr>
          <a:xfrm rot="2734294">
            <a:off x="6134784" y="3241912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Cross 28"/>
          <p:cNvSpPr/>
          <p:nvPr/>
        </p:nvSpPr>
        <p:spPr>
          <a:xfrm rot="2734294">
            <a:off x="4494382" y="3229012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0" name="Cross 29"/>
          <p:cNvSpPr/>
          <p:nvPr/>
        </p:nvSpPr>
        <p:spPr>
          <a:xfrm rot="2734294">
            <a:off x="4687691" y="3236300"/>
            <a:ext cx="187298" cy="187298"/>
          </a:xfrm>
          <a:prstGeom prst="plus">
            <a:avLst>
              <a:gd name="adj" fmla="val 4657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10358" y="1523466"/>
                <a:ext cx="2658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Assumption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58" y="1523466"/>
                <a:ext cx="2658805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376" t="-4444" r="-1835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1019" y="2017695"/>
            <a:ext cx="27072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How we estimate </a:t>
            </a:r>
            <a:r>
              <a:rPr lang="en-GB" i="1" dirty="0">
                <a:latin typeface="Symbol" panose="05050102010706020507" pitchFamily="18" charset="2"/>
              </a:rPr>
              <a:t>m</a:t>
            </a:r>
            <a:r>
              <a:rPr lang="en-GB" dirty="0"/>
              <a:t> and </a:t>
            </a:r>
            <a:r>
              <a:rPr lang="en-GB" i="1" dirty="0">
                <a:latin typeface="Symbol" panose="05050102010706020507" pitchFamily="18" charset="2"/>
              </a:rPr>
              <a:t>s</a:t>
            </a:r>
            <a:r>
              <a:rPr lang="en-GB" dirty="0"/>
              <a:t>?</a:t>
            </a:r>
          </a:p>
          <a:p>
            <a:r>
              <a:rPr lang="en-GB" dirty="0"/>
              <a:t>Sample mean and</a:t>
            </a:r>
          </a:p>
          <a:p>
            <a:r>
              <a:rPr lang="en-GB" dirty="0"/>
              <a:t>Sample variance</a:t>
            </a:r>
            <a:endParaRPr lang="it-IT" dirty="0"/>
          </a:p>
        </p:txBody>
      </p:sp>
      <p:pic>
        <p:nvPicPr>
          <p:cNvPr id="1026" name="Picture 2" descr="Risultati immagini per normal curve transparent backgrou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179" y="1361099"/>
            <a:ext cx="3390985" cy="186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63424" y="3756233"/>
                <a:ext cx="1884875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24" y="3756233"/>
                <a:ext cx="1884875" cy="100822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543280" y="3771575"/>
                <a:ext cx="2938881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280" y="3771575"/>
                <a:ext cx="2938881" cy="100822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485092" y="3983299"/>
            <a:ext cx="2004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NB: for large 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1600" dirty="0"/>
              <a:t> it is ok</a:t>
            </a:r>
          </a:p>
          <a:p>
            <a:r>
              <a:rPr lang="en-GB" sz="1600" dirty="0"/>
              <a:t>this biased version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304910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3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Naïve Bayes (continuous features)</a:t>
            </a:r>
            <a:endParaRPr lang="it-IT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50" y="971550"/>
            <a:ext cx="8229600" cy="3886200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Estimation of likelihoods by assuming normal distribution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Learning: estimate priors as before, and likelihoods as above</a:t>
            </a:r>
          </a:p>
          <a:p>
            <a:r>
              <a:rPr lang="en-GB" sz="2400" dirty="0"/>
              <a:t>Continuous features will produce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400" dirty="0"/>
              <a:t> normal (Gaussian) models (one for each class)</a:t>
            </a:r>
          </a:p>
          <a:p>
            <a:r>
              <a:rPr lang="en-GB" sz="2400" dirty="0"/>
              <a:t>Testing is as in the discrete case (MAP rule)</a:t>
            </a:r>
            <a:endParaRPr lang="it-IT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36148" y="1518576"/>
                <a:ext cx="7414402" cy="1350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sample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values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feature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instances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class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sample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standard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deviation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values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feature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instances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class</m:t>
                      </m:r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148" y="1518576"/>
                <a:ext cx="7414402" cy="1350241"/>
              </a:xfrm>
              <a:prstGeom prst="rect">
                <a:avLst/>
              </a:prstGeom>
              <a:blipFill rotWithShape="0">
                <a:blip r:embed="rId2"/>
                <a:stretch>
                  <a:fillRect l="-658" r="-164" b="-450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923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1F3C-8786-4FAB-8B72-BBE7A346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89371"/>
          </a:xfrm>
        </p:spPr>
        <p:txBody>
          <a:bodyPr>
            <a:normAutofit/>
          </a:bodyPr>
          <a:lstStyle/>
          <a:p>
            <a:r>
              <a:rPr lang="en-US" sz="3600" dirty="0"/>
              <a:t>A little subtlety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290B7-996D-464C-8110-231A6083B1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The expression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 is not properly correct since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is a density function and does not provide a probability value (remember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000" dirty="0"/>
                  <a:t> where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f(x)</a:t>
                </a:r>
                <a:r>
                  <a:rPr lang="en-US" sz="2000" dirty="0"/>
                  <a:t> is the density </a:t>
                </a:r>
                <a:r>
                  <a:rPr lang="en-US" sz="2000"/>
                  <a:t>of continuous </a:t>
                </a:r>
                <a:r>
                  <a:rPr lang="en-US" sz="2000" dirty="0"/>
                  <a:t>random variable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000" dirty="0"/>
                  <a:t>)</a:t>
                </a:r>
              </a:p>
              <a:p>
                <a:r>
                  <a:rPr lang="en-US" sz="2000" dirty="0"/>
                  <a:t>However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dirty="0"/>
                  <a:t>, and when computing the posterior probability </a:t>
                </a:r>
                <a:r>
                  <a:rPr lang="en-US" sz="2000" dirty="0" err="1"/>
                  <a:t>thorugh</a:t>
                </a:r>
                <a:r>
                  <a:rPr lang="en-US" sz="2000" dirty="0"/>
                  <a:t> Bayes formula the factor </a:t>
                </a:r>
                <a:r>
                  <a:rPr lang="en-US" sz="2000" dirty="0">
                    <a:latin typeface="Symbol" panose="05050102010706020507" pitchFamily="18" charset="2"/>
                  </a:rPr>
                  <a:t>D</a:t>
                </a:r>
                <a:r>
                  <a:rPr lang="en-US" sz="2000" dirty="0"/>
                  <a:t> cancel out.</a:t>
                </a:r>
              </a:p>
              <a:p>
                <a:r>
                  <a:rPr lang="en-US" sz="2000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290B7-996D-464C-8110-231A6083B1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718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1A01C4-4DF7-45AA-AA7E-968CC288B3EE}"/>
              </a:ext>
            </a:extLst>
          </p:cNvPr>
          <p:cNvCxnSpPr/>
          <p:nvPr/>
        </p:nvCxnSpPr>
        <p:spPr>
          <a:xfrm flipH="1">
            <a:off x="6858000" y="3661832"/>
            <a:ext cx="152400" cy="30480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A8DD9B-8F9C-45C3-ACD1-5A71073A16D3}"/>
              </a:ext>
            </a:extLst>
          </p:cNvPr>
          <p:cNvCxnSpPr/>
          <p:nvPr/>
        </p:nvCxnSpPr>
        <p:spPr>
          <a:xfrm flipH="1">
            <a:off x="8305800" y="4019550"/>
            <a:ext cx="152400" cy="30480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772542-32E0-4121-B2EA-D9CC0E13DCF7}"/>
              </a:ext>
            </a:extLst>
          </p:cNvPr>
          <p:cNvCxnSpPr/>
          <p:nvPr/>
        </p:nvCxnSpPr>
        <p:spPr>
          <a:xfrm flipH="1">
            <a:off x="5334000" y="4095750"/>
            <a:ext cx="152400" cy="30480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09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Example: Continuous-valued Features </a:t>
            </a:r>
            <a:br>
              <a:rPr lang="en-US" sz="3600" dirty="0"/>
            </a:br>
            <a:endParaRPr lang="it-IT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394472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sz="2200" dirty="0"/>
              <a:t> is naturally of continuous value.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1700" dirty="0"/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25.2, 19.3, 18.5, 21.7, 20.1, 24.3, 22.8, 23.1, 19.8</a:t>
            </a:r>
          </a:p>
          <a:p>
            <a:pPr marL="0" indent="0">
              <a:buNone/>
            </a:pPr>
            <a:r>
              <a:rPr lang="en-US" sz="1700" dirty="0"/>
              <a:t>          </a:t>
            </a:r>
            <a:r>
              <a:rPr lang="en-US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1700" dirty="0"/>
              <a:t>: </a:t>
            </a:r>
            <a:r>
              <a:rPr 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27.3, 30.1, 17.4, 29.5, 15.1</a:t>
            </a:r>
          </a:p>
          <a:p>
            <a:r>
              <a:rPr lang="en-US" sz="2200" dirty="0"/>
              <a:t>Estimate mean and variance for each class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200" u="sng" dirty="0"/>
              <a:t>Learning Phase</a:t>
            </a:r>
            <a:r>
              <a:rPr lang="en-US" sz="2200" dirty="0"/>
              <a:t>: output two Gaussian models for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|c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it-IT" dirty="0"/>
          </a:p>
        </p:txBody>
      </p:sp>
      <p:graphicFrame>
        <p:nvGraphicFramePr>
          <p:cNvPr id="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573076"/>
              </p:ext>
            </p:extLst>
          </p:nvPr>
        </p:nvGraphicFramePr>
        <p:xfrm>
          <a:off x="914400" y="2419349"/>
          <a:ext cx="2997954" cy="64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600" imgH="457200" progId="Equation.3">
                  <p:embed/>
                </p:oleObj>
              </mc:Choice>
              <mc:Fallback>
                <p:oleObj name="Equation" r:id="rId2" imgW="2133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419349"/>
                        <a:ext cx="2997954" cy="64363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803149"/>
              </p:ext>
            </p:extLst>
          </p:nvPr>
        </p:nvGraphicFramePr>
        <p:xfrm>
          <a:off x="5486400" y="2419349"/>
          <a:ext cx="2213181" cy="608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800" imgH="431800" progId="Equation.3">
                  <p:embed/>
                </p:oleObj>
              </mc:Choice>
              <mc:Fallback>
                <p:oleObj name="Equation" r:id="rId4" imgW="1574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419349"/>
                        <a:ext cx="2213181" cy="608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3716705"/>
            <a:ext cx="4977815" cy="120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16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Char char="•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8A6393-FC27-4874-BA2C-80B30D6F22C3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254762" y="32530"/>
            <a:ext cx="6954105" cy="857385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b="0" dirty="0"/>
            </a:br>
            <a:r>
              <a:rPr lang="en-US" altLang="en-US" sz="3600" b="0" dirty="0"/>
              <a:t>Zero conditional probability</a:t>
            </a:r>
            <a:br>
              <a:rPr lang="en-US" altLang="en-US" b="0" dirty="0"/>
            </a:br>
            <a:r>
              <a:rPr lang="en-US" altLang="en-US" b="0" dirty="0"/>
              <a:t>	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2931" y="913671"/>
            <a:ext cx="6797530" cy="3835556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endParaRPr lang="en-US" altLang="en-US" b="1" dirty="0"/>
          </a:p>
          <a:p>
            <a:pPr marL="362819" indent="-362819">
              <a:lnSpc>
                <a:spcPct val="110000"/>
              </a:lnSpc>
              <a:buNone/>
            </a:pPr>
            <a:r>
              <a:rPr lang="en-US" altLang="en-US" sz="2177" b="1" dirty="0"/>
              <a:t>     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1202931" y="810007"/>
            <a:ext cx="6893634" cy="3939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/>
          <a:lstStyle>
            <a:lvl1pPr marL="533400" indent="-533400"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79488" indent="-45720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423988" indent="-381000" defTabSz="1042988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en-US" sz="1800" dirty="0">
                <a:latin typeface="Cambria Math" panose="02040503050406030204" pitchFamily="18" charset="0"/>
              </a:rPr>
              <a:t>If no example contains a feature value</a:t>
            </a:r>
          </a:p>
          <a:p>
            <a:pPr>
              <a:lnSpc>
                <a:spcPct val="120000"/>
              </a:lnSpc>
            </a:pPr>
            <a:r>
              <a:rPr lang="en-US" altLang="en-US" sz="1800" dirty="0">
                <a:latin typeface="Cambria Math" panose="02040503050406030204" pitchFamily="18" charset="0"/>
              </a:rPr>
              <a:t>In this circumstance, we face a zero conditional probability problem during test </a:t>
            </a:r>
          </a:p>
          <a:p>
            <a:pPr>
              <a:lnSpc>
                <a:spcPct val="120000"/>
              </a:lnSpc>
            </a:pPr>
            <a:endParaRPr lang="en-US" altLang="en-US" sz="1600" dirty="0"/>
          </a:p>
          <a:p>
            <a:pPr>
              <a:lnSpc>
                <a:spcPct val="120000"/>
              </a:lnSpc>
            </a:pPr>
            <a:r>
              <a:rPr lang="en-US" altLang="en-US" sz="1800" dirty="0">
                <a:latin typeface="Cambria Math" panose="02040503050406030204" pitchFamily="18" charset="0"/>
              </a:rPr>
              <a:t>For a remedy, class conditional probabilities re-estimated with</a:t>
            </a:r>
          </a:p>
          <a:p>
            <a:pPr lvl="1" eaLnBrk="1" hangingPunct="1">
              <a:lnSpc>
                <a:spcPct val="120000"/>
              </a:lnSpc>
            </a:pPr>
            <a:endParaRPr lang="en-US" altLang="en-US" sz="1632" dirty="0"/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en-US" sz="1360" dirty="0"/>
              <a:t> </a:t>
            </a:r>
          </a:p>
        </p:txBody>
      </p:sp>
      <p:sp>
        <p:nvSpPr>
          <p:cNvPr id="20489" name="TextBox 1"/>
          <p:cNvSpPr txBox="1">
            <a:spLocks noChangeArrowheads="1"/>
          </p:cNvSpPr>
          <p:nvPr/>
        </p:nvSpPr>
        <p:spPr bwMode="auto">
          <a:xfrm>
            <a:off x="6322735" y="2655607"/>
            <a:ext cx="1606530" cy="42736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177" dirty="0">
                <a:solidFill>
                  <a:srgbClr val="FF0000"/>
                </a:solidFill>
              </a:rPr>
              <a:t>(m-estimate)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08586" y="1931398"/>
                <a:ext cx="6429902" cy="3130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  <m:acc>
                      <m:accPr>
                        <m:chr m:val="̂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/>
                  <a:t>…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</a:rPr>
                      <m:t>=0 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when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586" y="1931398"/>
                <a:ext cx="6429902" cy="313099"/>
              </a:xfrm>
              <a:prstGeom prst="rect">
                <a:avLst/>
              </a:prstGeom>
              <a:blipFill rotWithShape="0">
                <a:blip r:embed="rId2"/>
                <a:stretch>
                  <a:fillRect l="-1328" t="-19608" r="-474" b="-392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19400" y="2633236"/>
                <a:ext cx="3097065" cy="581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#(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𝑚𝑝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633236"/>
                <a:ext cx="3097065" cy="581762"/>
              </a:xfrm>
              <a:prstGeom prst="rect">
                <a:avLst/>
              </a:prstGeom>
              <a:blipFill rotWithShape="0">
                <a:blip r:embed="rId3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47800" y="3362099"/>
                <a:ext cx="754495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prior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estimate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conditional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probability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uniform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over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values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importance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weight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prior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equivalent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sample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size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362099"/>
                <a:ext cx="7544951" cy="553998"/>
              </a:xfrm>
              <a:prstGeom prst="rect">
                <a:avLst/>
              </a:prstGeom>
              <a:blipFill rotWithShape="0">
                <a:blip r:embed="rId4"/>
                <a:stretch>
                  <a:fillRect l="-323" t="-2222" r="-647" b="-17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07846" y="4036423"/>
                <a:ext cx="7531354" cy="655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Cambria Math" panose="02040503050406030204" pitchFamily="18" charset="0"/>
                  </a:rPr>
                  <a:t>It is like assuming you have observed some virtual examples (actually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GB" dirty="0">
                    <a:latin typeface="Cambria Math" panose="02040503050406030204" pitchFamily="18" charset="0"/>
                  </a:rPr>
                  <a:t>) of class</a:t>
                </a:r>
                <a:r>
                  <a:rPr lang="en-GB" dirty="0"/>
                  <a:t>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GB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dirty="0"/>
                  <a:t>, </a:t>
                </a:r>
                <a:r>
                  <a:rPr lang="en-GB" dirty="0">
                    <a:latin typeface="Cambria Math" panose="02040503050406030204" pitchFamily="18" charset="0"/>
                  </a:rPr>
                  <a:t>and among them there are </a:t>
                </a:r>
                <a:r>
                  <a:rPr lang="en-GB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mp</a:t>
                </a:r>
                <a:r>
                  <a:rPr lang="en-GB" dirty="0"/>
                  <a:t> </a:t>
                </a:r>
                <a:r>
                  <a:rPr lang="en-GB" dirty="0">
                    <a:latin typeface="Cambria Math" panose="02040503050406030204" pitchFamily="18" charset="0"/>
                  </a:rPr>
                  <a:t>virtual examples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846" y="4036423"/>
                <a:ext cx="7531354" cy="655244"/>
              </a:xfrm>
              <a:prstGeom prst="rect">
                <a:avLst/>
              </a:prstGeom>
              <a:blipFill rotWithShape="0">
                <a:blip r:embed="rId5"/>
                <a:stretch>
                  <a:fillRect l="-729" t="-5556" r="-972" b="-138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56994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Supplementary</a:t>
            </a:r>
            <a:endParaRPr lang="it-IT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382000" cy="3394472"/>
              </a:xfrm>
            </p:spPr>
            <p:txBody>
              <a:bodyPr>
                <a:normAutofit/>
              </a:bodyPr>
              <a:lstStyle/>
              <a:p>
                <a:r>
                  <a:rPr lang="en-GB" sz="2000" dirty="0"/>
                  <a:t>The m-estimate is also called </a:t>
                </a:r>
                <a:r>
                  <a:rPr lang="en-GB" sz="2000" dirty="0">
                    <a:solidFill>
                      <a:srgbClr val="FF0000"/>
                    </a:solidFill>
                  </a:rPr>
                  <a:t>Laplace smoothing</a:t>
                </a:r>
              </a:p>
              <a:p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𝑚𝑝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it-IT" sz="2000" dirty="0"/>
                  <a:t> and consider the prior to be uniform (in case of categorical variable </a:t>
                </a:r>
                <a:r>
                  <a:rPr lang="it-IT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it-IT" sz="2000" dirty="0"/>
                  <a:t> is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</m:t>
                    </m:r>
                    <m:d>
                      <m:dPr>
                        <m:begChr m:val="|"/>
                        <m:endChr m:val="|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t-IT" sz="2000" dirty="0"/>
                  <a:t>: cardinality (number of values) of </a:t>
                </a:r>
                <a:r>
                  <a:rPr lang="it-IT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it-IT" sz="2000" dirty="0"/>
                  <a:t> </a:t>
                </a:r>
              </a:p>
              <a:p>
                <a:r>
                  <a:rPr lang="en-GB" sz="2000" dirty="0"/>
                  <a:t>The estimate takes the form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#(</m:t>
                        </m:r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GB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#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den>
                    </m:f>
                  </m:oMath>
                </a14:m>
                <a:r>
                  <a:rPr lang="it-IT" sz="2000" dirty="0"/>
                  <a:t> with only parameter </a:t>
                </a:r>
                <a:r>
                  <a:rPr lang="it-IT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</a:p>
              <a:p>
                <a:r>
                  <a:rPr lang="en-GB" sz="2000" dirty="0"/>
                  <a:t>A standard form is for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nor/>
                      </m:rPr>
                      <a:rPr lang="en-GB" sz="2000"/>
                      <m:t>and</m:t>
                    </m:r>
                    <m:r>
                      <m:rPr>
                        <m:nor/>
                      </m:rPr>
                      <a:rPr lang="en-GB" sz="2000"/>
                      <m:t> </m:t>
                    </m:r>
                    <m:r>
                      <m:rPr>
                        <m:nor/>
                      </m:rPr>
                      <a:rPr lang="en-GB" sz="2000"/>
                      <m:t>a</m:t>
                    </m:r>
                    <m:r>
                      <m:rPr>
                        <m:nor/>
                      </m:rPr>
                      <a:rPr lang="en-GB" sz="2000"/>
                      <m:t> </m:t>
                    </m:r>
                    <m:r>
                      <m:rPr>
                        <m:nor/>
                      </m:rPr>
                      <a:rPr lang="en-GB" sz="2000"/>
                      <m:t>binary</m:t>
                    </m:r>
                    <m:r>
                      <m:rPr>
                        <m:nor/>
                      </m:rPr>
                      <a:rPr lang="en-GB" sz="2000"/>
                      <m:t> </m:t>
                    </m:r>
                    <m:r>
                      <m:rPr>
                        <m:nor/>
                      </m:rPr>
                      <a:rPr lang="en-GB" sz="2000"/>
                      <m:t>variable</m:t>
                    </m:r>
                    <m:r>
                      <m:rPr>
                        <m:nor/>
                      </m:rPr>
                      <a:rPr lang="en-GB" sz="2000"/>
                      <m:t>  </m:t>
                    </m:r>
                    <m:acc>
                      <m:accPr>
                        <m:chr m:val="̂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>
                            <a:latin typeface="Cambria Math" panose="02040503050406030204" pitchFamily="18" charset="0"/>
                          </a:rPr>
                          <m:t>#(</m:t>
                        </m:r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GB" sz="200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GB" sz="20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000">
                            <a:latin typeface="Cambria Math" panose="02040503050406030204" pitchFamily="18" charset="0"/>
                          </a:rPr>
                          <m:t>)+1</m:t>
                        </m:r>
                      </m:num>
                      <m:den>
                        <m:r>
                          <a:rPr lang="en-GB" sz="2000">
                            <a:latin typeface="Cambria Math" panose="02040503050406030204" pitchFamily="18" charset="0"/>
                          </a:rPr>
                          <m:t>#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000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it-IT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382000" cy="3394472"/>
              </a:xfrm>
              <a:blipFill rotWithShape="0">
                <a:blip r:embed="rId2"/>
                <a:stretch>
                  <a:fillRect l="-655" t="-10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064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Char char="•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44F6A2-685E-46CB-9679-2ECC287A0159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254762" y="32530"/>
            <a:ext cx="6954105" cy="857385"/>
          </a:xfrm>
        </p:spPr>
        <p:txBody>
          <a:bodyPr>
            <a:normAutofit fontScale="90000"/>
          </a:bodyPr>
          <a:lstStyle/>
          <a:p>
            <a:br>
              <a:rPr lang="en-US" altLang="en-US" b="0" dirty="0"/>
            </a:br>
            <a:r>
              <a:rPr lang="en-US" altLang="en-US" dirty="0"/>
              <a:t>Example:</a:t>
            </a:r>
            <a:br>
              <a:rPr lang="en-US" altLang="en-US" b="0" dirty="0"/>
            </a:br>
            <a:r>
              <a:rPr lang="en-US" altLang="en-US" b="0" dirty="0"/>
              <a:t>	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2931" y="913672"/>
            <a:ext cx="6797530" cy="3989972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endParaRPr lang="en-US" altLang="en-US" b="1"/>
          </a:p>
          <a:p>
            <a:pPr marL="362819" indent="-362819">
              <a:lnSpc>
                <a:spcPct val="110000"/>
              </a:lnSpc>
              <a:buNone/>
            </a:pPr>
            <a:r>
              <a:rPr lang="en-US" altLang="en-US" sz="2177" b="1"/>
              <a:t>     </a:t>
            </a:r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1202931" y="744550"/>
            <a:ext cx="6893634" cy="3939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/>
          <a:lstStyle>
            <a:lvl1pPr marL="533400" indent="-533400"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979488" indent="-45720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423988" indent="-381000" defTabSz="1042988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en-US" sz="1905" dirty="0">
                <a:solidFill>
                  <a:srgbClr val="FF0000"/>
                </a:solidFill>
                <a:latin typeface="Palatino Linotype" panose="02040502050505030304" pitchFamily="18" charset="0"/>
              </a:rPr>
              <a:t>P(outlook=</a:t>
            </a:r>
            <a:r>
              <a:rPr lang="en-US" altLang="en-US" sz="1905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overcast|no</a:t>
            </a:r>
            <a:r>
              <a:rPr lang="en-US" altLang="en-US" sz="1905" dirty="0">
                <a:solidFill>
                  <a:srgbClr val="FF0000"/>
                </a:solidFill>
                <a:latin typeface="Palatino Linotype" panose="02040502050505030304" pitchFamily="18" charset="0"/>
              </a:rPr>
              <a:t>)=0 </a:t>
            </a:r>
            <a:r>
              <a:rPr lang="en-US" altLang="en-US" sz="1632" dirty="0"/>
              <a:t>in the </a:t>
            </a:r>
            <a:r>
              <a:rPr lang="en-US" altLang="en-US" sz="1632" dirty="0">
                <a:latin typeface="+mj-lt"/>
              </a:rPr>
              <a:t>play-tennis</a:t>
            </a:r>
            <a:r>
              <a:rPr lang="en-US" altLang="en-US" sz="1632" dirty="0"/>
              <a:t> dataset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sz="1632" dirty="0"/>
              <a:t>Adding </a:t>
            </a:r>
            <a:r>
              <a:rPr lang="en-US" altLang="en-US" sz="1905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m</a:t>
            </a:r>
            <a:r>
              <a:rPr lang="en-US" altLang="en-US" sz="1632" dirty="0"/>
              <a:t> “virtual” examples (</a:t>
            </a:r>
            <a:r>
              <a:rPr lang="en-US" altLang="en-US" sz="1905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m</a:t>
            </a:r>
            <a:r>
              <a:rPr lang="en-US" altLang="en-US" sz="1632" dirty="0">
                <a:solidFill>
                  <a:srgbClr val="FF0000"/>
                </a:solidFill>
              </a:rPr>
              <a:t>: up to 1% of #training example</a:t>
            </a:r>
            <a:r>
              <a:rPr lang="en-US" altLang="en-US" sz="1632" dirty="0"/>
              <a:t>)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en-US" sz="1360" dirty="0"/>
              <a:t>In this dataset, # of training examples for the “no” class is 5.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en-US" sz="1360" dirty="0"/>
              <a:t>We add </a:t>
            </a:r>
            <a:r>
              <a:rPr lang="en-US" altLang="en-US" sz="1632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m</a:t>
            </a:r>
            <a:r>
              <a:rPr lang="en-US" altLang="en-US" sz="1360" b="1" dirty="0">
                <a:solidFill>
                  <a:srgbClr val="FF0000"/>
                </a:solidFill>
              </a:rPr>
              <a:t>=1</a:t>
            </a:r>
            <a:r>
              <a:rPr lang="en-US" altLang="en-US" sz="1360" dirty="0"/>
              <a:t> “virtual” example in our </a:t>
            </a:r>
            <a:r>
              <a:rPr lang="en-US" altLang="en-US" sz="1632" dirty="0">
                <a:latin typeface="Palatino Linotype" panose="02040502050505030304" pitchFamily="18" charset="0"/>
              </a:rPr>
              <a:t>m</a:t>
            </a:r>
            <a:r>
              <a:rPr lang="en-US" altLang="en-US" sz="1360" dirty="0"/>
              <a:t>-estimate remedy.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sz="1632" dirty="0"/>
              <a:t>The “outlook” feature can takes only 3 values. So </a:t>
            </a:r>
            <a:r>
              <a:rPr lang="en-US" altLang="en-US" sz="1905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p</a:t>
            </a:r>
            <a:r>
              <a:rPr lang="en-US" altLang="en-US" sz="1632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=1/3</a:t>
            </a:r>
            <a:r>
              <a:rPr lang="en-US" altLang="en-US" sz="1632" dirty="0"/>
              <a:t>.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sz="1632" dirty="0"/>
              <a:t>Re-estimate </a:t>
            </a:r>
            <a:r>
              <a:rPr lang="en-US" altLang="en-US" sz="1632" dirty="0">
                <a:solidFill>
                  <a:srgbClr val="FF0000"/>
                </a:solidFill>
                <a:latin typeface="Palatino Linotype" panose="02040502050505030304" pitchFamily="18" charset="0"/>
              </a:rPr>
              <a:t>P(</a:t>
            </a:r>
            <a:r>
              <a:rPr lang="en-US" altLang="en-US" sz="1632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outlook|no</a:t>
            </a:r>
            <a:r>
              <a:rPr lang="en-US" altLang="en-US" sz="1632" dirty="0">
                <a:solidFill>
                  <a:srgbClr val="FF0000"/>
                </a:solidFill>
                <a:latin typeface="Palatino Linotype" panose="02040502050505030304" pitchFamily="18" charset="0"/>
              </a:rPr>
              <a:t>)</a:t>
            </a:r>
            <a:r>
              <a:rPr lang="en-US" altLang="en-US" sz="1632" dirty="0"/>
              <a:t> with the </a:t>
            </a:r>
            <a:r>
              <a:rPr lang="en-US" altLang="en-US" sz="1905" dirty="0">
                <a:latin typeface="Palatino Linotype" panose="02040502050505030304" pitchFamily="18" charset="0"/>
              </a:rPr>
              <a:t>m</a:t>
            </a:r>
            <a:r>
              <a:rPr lang="en-US" altLang="en-US" sz="1632" dirty="0"/>
              <a:t>-estimate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US" altLang="en-US" sz="1632" dirty="0"/>
          </a:p>
          <a:p>
            <a:pPr lvl="2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en-US" sz="1360" dirty="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782" y="3431179"/>
            <a:ext cx="4813931" cy="136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0631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Bayes: summary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dirty="0"/>
              <a:t>A popular </a:t>
            </a:r>
            <a:r>
              <a:rPr lang="en-US" altLang="en-US" dirty="0">
                <a:solidFill>
                  <a:srgbClr val="FF0000"/>
                </a:solidFill>
              </a:rPr>
              <a:t>generative</a:t>
            </a:r>
            <a:r>
              <a:rPr lang="en-US" altLang="en-US" dirty="0"/>
              <a:t> model for classification</a:t>
            </a:r>
          </a:p>
          <a:p>
            <a:r>
              <a:rPr lang="en-US" altLang="en-US" dirty="0"/>
              <a:t>Performance competitive to most of state-of-the-art classifiers even in presence of violating independence assumption</a:t>
            </a:r>
          </a:p>
          <a:p>
            <a:r>
              <a:rPr lang="en-US" altLang="en-US" dirty="0"/>
              <a:t>Many successful applications, e.g., spam mail filtering</a:t>
            </a:r>
          </a:p>
          <a:p>
            <a:r>
              <a:rPr lang="en-GB" altLang="en-US" dirty="0"/>
              <a:t>A good candidate of a base learner in ensemble learning (will see that)</a:t>
            </a:r>
          </a:p>
          <a:p>
            <a:r>
              <a:rPr lang="en-US" altLang="en-US" dirty="0"/>
              <a:t>Apart from classification, naïve Bayes can do more…</a:t>
            </a:r>
            <a:r>
              <a:rPr lang="en-US" altLang="en-US" sz="2800" dirty="0"/>
              <a:t> </a:t>
            </a:r>
            <a:endParaRPr lang="en-US" altLang="en-US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90343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C0DF31-AA56-479B-BB0E-8C015CB54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33550"/>
            <a:ext cx="3209925" cy="2800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BBF306-166A-4D94-867A-C390E9A7E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33550"/>
            <a:ext cx="3124200" cy="28479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FF3A40B7-02F7-4276-8C7C-B94FB8F91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Beyond Naïve Bayes</a:t>
            </a:r>
            <a:br>
              <a:rPr lang="en-US" dirty="0"/>
            </a:br>
            <a:r>
              <a:rPr lang="en-US" dirty="0"/>
              <a:t>Bayesian Network Classifiers</a:t>
            </a:r>
          </a:p>
        </p:txBody>
      </p:sp>
    </p:spTree>
    <p:extLst>
      <p:ext uri="{BB962C8B-B14F-4D97-AF65-F5344CB8AC3E}">
        <p14:creationId xmlns:p14="http://schemas.microsoft.com/office/powerpoint/2010/main" val="29025427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5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x&#10;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\mu&#10;$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\sigma^2&#10;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x \in \mathbb{R}&#10;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mu = 0, \sigma = 1&#10;$&#10;&#10;\end{document}"/>
  <p:tag name="IGUANATEXSIZE" val="2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mu = 0, \sigma = 0.5&#10;$&#10;&#10;\end{document}"/>
  <p:tag name="IGUANATEXSIZE" val="2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mu = 0, \sigma = 2&#10;$&#10;&#10;\end{document}"/>
  <p:tag name="IGUANATEXSIZE" val="2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mu = 3, \sigma = 0.5&#10;$&#10;&#10;\end{document}"/>
  <p:tag name="IGUANATEXSIZE" val="2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 x^{(1)}, x^{(2)}, \dots, x^{(m)} \}&#10;$&#10;&#10;\end{document}"/>
  <p:tag name="IGUANATEXSIZE" val="2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 \in \mathbb{R}&#10;$&#10;&#10;\end{document}"/>
  <p:tag name="IGUANATEXSIZE" val="22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0</TotalTime>
  <Words>1420</Words>
  <Application>Microsoft Office PowerPoint</Application>
  <PresentationFormat>On-screen Show (16:9)</PresentationFormat>
  <Paragraphs>219</Paragraphs>
  <Slides>23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ＭＳ Ｐゴシック</vt:lpstr>
      <vt:lpstr>Arial</vt:lpstr>
      <vt:lpstr>Calibri</vt:lpstr>
      <vt:lpstr>Cambria Math</vt:lpstr>
      <vt:lpstr>Palatino Linotype</vt:lpstr>
      <vt:lpstr>Symbol</vt:lpstr>
      <vt:lpstr>Times New Roman</vt:lpstr>
      <vt:lpstr>Wingdings</vt:lpstr>
      <vt:lpstr>1_Lecture</vt:lpstr>
      <vt:lpstr>2_Office Theme</vt:lpstr>
      <vt:lpstr>3_Office Theme</vt:lpstr>
      <vt:lpstr>2_Lecture</vt:lpstr>
      <vt:lpstr>Equation</vt:lpstr>
      <vt:lpstr>Bayesian Learning</vt:lpstr>
      <vt:lpstr>Probabilistic Learning</vt:lpstr>
      <vt:lpstr>PowerPoint Presentation</vt:lpstr>
      <vt:lpstr>Bayes Rule</vt:lpstr>
      <vt:lpstr>Discriminative model</vt:lpstr>
      <vt:lpstr>Generative Model</vt:lpstr>
      <vt:lpstr>Probabilistic Classification Principle</vt:lpstr>
      <vt:lpstr>Naïve Bayes</vt:lpstr>
      <vt:lpstr>Naïve Bayes Algorithm (discrete features)</vt:lpstr>
      <vt:lpstr>Example</vt:lpstr>
      <vt:lpstr>Learning</vt:lpstr>
      <vt:lpstr>Test</vt:lpstr>
      <vt:lpstr>PowerPoint Presentation</vt:lpstr>
      <vt:lpstr>PowerPoint Presentation</vt:lpstr>
      <vt:lpstr>PowerPoint Presentation</vt:lpstr>
      <vt:lpstr>Naïve Bayes (continuous features)</vt:lpstr>
      <vt:lpstr>A little subtlety</vt:lpstr>
      <vt:lpstr>Example: Continuous-valued Features  </vt:lpstr>
      <vt:lpstr> Zero conditional probability  </vt:lpstr>
      <vt:lpstr>Supplementary</vt:lpstr>
      <vt:lpstr> Example:  </vt:lpstr>
      <vt:lpstr>Naïve Bayes: summary</vt:lpstr>
      <vt:lpstr>Beyond Naïve Bayes Bayesian Network Classifiers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788</cp:revision>
  <dcterms:created xsi:type="dcterms:W3CDTF">2010-07-08T21:59:02Z</dcterms:created>
  <dcterms:modified xsi:type="dcterms:W3CDTF">2025-03-18T11:40:46Z</dcterms:modified>
</cp:coreProperties>
</file>