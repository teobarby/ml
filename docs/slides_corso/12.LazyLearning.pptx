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27"/>
  </p:notesMasterIdLst>
  <p:sldIdLst>
    <p:sldId id="256" r:id="rId5"/>
    <p:sldId id="257" r:id="rId6"/>
    <p:sldId id="271" r:id="rId7"/>
    <p:sldId id="258" r:id="rId8"/>
    <p:sldId id="262" r:id="rId9"/>
    <p:sldId id="263" r:id="rId10"/>
    <p:sldId id="260" r:id="rId11"/>
    <p:sldId id="264" r:id="rId12"/>
    <p:sldId id="259" r:id="rId13"/>
    <p:sldId id="272" r:id="rId14"/>
    <p:sldId id="273" r:id="rId15"/>
    <p:sldId id="261" r:id="rId16"/>
    <p:sldId id="265" r:id="rId17"/>
    <p:sldId id="266" r:id="rId18"/>
    <p:sldId id="274" r:id="rId19"/>
    <p:sldId id="275" r:id="rId20"/>
    <p:sldId id="268" r:id="rId21"/>
    <p:sldId id="276" r:id="rId22"/>
    <p:sldId id="269" r:id="rId23"/>
    <p:sldId id="277" r:id="rId24"/>
    <p:sldId id="278" r:id="rId25"/>
    <p:sldId id="279" r:id="rId26"/>
  </p:sldIdLst>
  <p:sldSz cx="9144000" cy="5143500" type="screen16x9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CC00"/>
    <a:srgbClr val="993366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56" autoAdjust="0"/>
    <p:restoredTop sz="99822" autoAdjust="0"/>
  </p:normalViewPr>
  <p:slideViewPr>
    <p:cSldViewPr>
      <p:cViewPr varScale="1">
        <p:scale>
          <a:sx n="85" d="100"/>
          <a:sy n="85" d="100"/>
        </p:scale>
        <p:origin x="626" y="31"/>
      </p:cViewPr>
      <p:guideLst>
        <p:guide orient="horz" pos="2484"/>
        <p:guide pos="2880"/>
      </p:guideLst>
    </p:cSldViewPr>
  </p:slideViewPr>
  <p:outlineViewPr>
    <p:cViewPr>
      <p:scale>
        <a:sx n="33" d="100"/>
        <a:sy n="33" d="100"/>
      </p:scale>
      <p:origin x="0" y="14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3/14/2023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13F5B65-8304-41AB-B17C-DA78E695AC48}" type="slidenum">
              <a:rPr lang="en-GB" altLang="it-IT" sz="1300" b="0"/>
              <a:pPr eaLnBrk="1" hangingPunct="1"/>
              <a:t>1</a:t>
            </a:fld>
            <a:endParaRPr lang="en-GB" altLang="it-IT" sz="1300" b="0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734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CF26D89-DC30-4012-A8F3-A4B4A568304E}" type="slidenum">
              <a:rPr lang="en-US" altLang="it-IT" sz="1200" i="0">
                <a:latin typeface="Times New Roman" panose="02020603050405020304" pitchFamily="18" charset="0"/>
              </a:rPr>
              <a:pPr eaLnBrk="1" hangingPunct="1"/>
              <a:t>20</a:t>
            </a:fld>
            <a:endParaRPr lang="en-US" altLang="it-IT" sz="1200" i="0">
              <a:latin typeface="Times New Roman" panose="02020603050405020304" pitchFamily="18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7415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4615CFE-A9BC-4160-8FF3-DDD33AA0DACA}" type="slidenum">
              <a:rPr lang="en-US" altLang="it-IT" sz="1200" i="0">
                <a:latin typeface="Times New Roman" panose="02020603050405020304" pitchFamily="18" charset="0"/>
              </a:rPr>
              <a:pPr eaLnBrk="1" hangingPunct="1"/>
              <a:t>21</a:t>
            </a:fld>
            <a:endParaRPr lang="en-US" altLang="it-IT" sz="1200" i="0">
              <a:latin typeface="Times New Roman" panose="02020603050405020304" pitchFamily="18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it-IT">
                <a:latin typeface="Times New Roman" panose="02020603050405020304" pitchFamily="18" charset="0"/>
                <a:ea typeface="ＭＳ Ｐゴシック" panose="020B0600070205080204" pitchFamily="34" charset="-128"/>
              </a:rPr>
              <a:t>Do a single example here.  Shape (Round, Square) 6/10 and 3/5</a:t>
            </a:r>
          </a:p>
        </p:txBody>
      </p:sp>
    </p:spTree>
    <p:extLst>
      <p:ext uri="{BB962C8B-B14F-4D97-AF65-F5344CB8AC3E}">
        <p14:creationId xmlns:p14="http://schemas.microsoft.com/office/powerpoint/2010/main" val="1850619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31A54E8F-3A5E-4935-9FD2-B2F0FC4EBB43}" type="slidenum">
              <a:rPr lang="en-US" altLang="it-IT" sz="1200" i="0">
                <a:latin typeface="Times New Roman" panose="02020603050405020304" pitchFamily="18" charset="0"/>
              </a:rPr>
              <a:pPr eaLnBrk="1" hangingPunct="1"/>
              <a:t>22</a:t>
            </a:fld>
            <a:endParaRPr lang="en-US" altLang="it-IT" sz="1200" i="0">
              <a:latin typeface="Times New Roman" panose="02020603050405020304" pitchFamily="18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it-IT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909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‹N›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85950" y="1663303"/>
            <a:ext cx="5829300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Instance-Based Learning (Lazy Learning)</a:t>
            </a:r>
            <a:endParaRPr lang="en-GB" dirty="0">
              <a:ea typeface="+mj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K-Nearest </a:t>
            </a:r>
            <a:r>
              <a:rPr lang="en-GB" dirty="0" err="1"/>
              <a:t>Neighbor</a:t>
            </a:r>
            <a:r>
              <a:rPr lang="en-GB" dirty="0"/>
              <a:t> &amp; co.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853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Eager vs Lazy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400" i="1" dirty="0"/>
              <a:t>Eager learning</a:t>
            </a:r>
            <a:r>
              <a:rPr lang="en-GB" sz="2400" dirty="0"/>
              <a:t>: </a:t>
            </a:r>
          </a:p>
          <a:p>
            <a:pPr lvl="1"/>
            <a:r>
              <a:rPr lang="en-US" sz="2000" dirty="0"/>
              <a:t>explicit description (model) of target function on the whole training set</a:t>
            </a:r>
          </a:p>
          <a:p>
            <a:pPr lvl="1"/>
            <a:r>
              <a:rPr lang="en-US" sz="2000" dirty="0"/>
              <a:t>once the model is built, </a:t>
            </a:r>
            <a:r>
              <a:rPr lang="en-US" sz="2000" dirty="0" err="1"/>
              <a:t>traning</a:t>
            </a:r>
            <a:r>
              <a:rPr lang="en-US" sz="2000" dirty="0"/>
              <a:t> set can be thrown away</a:t>
            </a:r>
          </a:p>
          <a:p>
            <a:pPr lvl="1"/>
            <a:r>
              <a:rPr lang="en-US" sz="2000" dirty="0"/>
              <a:t>prediction occurs using the model with a new example as input</a:t>
            </a:r>
          </a:p>
          <a:p>
            <a:r>
              <a:rPr lang="en-GB" sz="2400" i="1" dirty="0"/>
              <a:t>Lazy learning</a:t>
            </a:r>
            <a:r>
              <a:rPr lang="en-GB" sz="2400" dirty="0"/>
              <a:t>:</a:t>
            </a:r>
          </a:p>
          <a:p>
            <a:pPr lvl="1"/>
            <a:r>
              <a:rPr lang="en-GB" sz="2000" dirty="0"/>
              <a:t>learning occurs by storing all the training instances (instance-based)</a:t>
            </a:r>
          </a:p>
          <a:p>
            <a:pPr lvl="1"/>
            <a:r>
              <a:rPr lang="en-GB" sz="2000" dirty="0"/>
              <a:t>prediction occurs by comparing the new instance with the stored ones</a:t>
            </a:r>
          </a:p>
          <a:p>
            <a:pPr lvl="1"/>
            <a:r>
              <a:rPr lang="en-GB" sz="2000" dirty="0"/>
              <a:t>comparison is based on distance/similarity functions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04622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Pros and Cons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dirty="0"/>
              <a:t>Disadvantage of instance-based methods is that the costs of classifying new instances can be high</a:t>
            </a:r>
          </a:p>
          <a:p>
            <a:r>
              <a:rPr lang="en-US" altLang="it-IT" dirty="0"/>
              <a:t>Nearly all computation takes place at classification time rather than learning time</a:t>
            </a:r>
          </a:p>
          <a:p>
            <a:r>
              <a:rPr lang="en-US" altLang="it-IT" dirty="0"/>
              <a:t>Learning is just a matter of storing examples</a:t>
            </a:r>
          </a:p>
        </p:txBody>
      </p:sp>
    </p:spTree>
    <p:extLst>
      <p:ext uri="{BB962C8B-B14F-4D97-AF65-F5344CB8AC3E}">
        <p14:creationId xmlns:p14="http://schemas.microsoft.com/office/powerpoint/2010/main" val="3721072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it-IT" i="1" dirty="0"/>
              <a:t>k</a:t>
            </a:r>
            <a:r>
              <a:rPr lang="en-US" altLang="it-IT" dirty="0"/>
              <a:t>-Nearest Neighbor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4" name="Rectangle 3"/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57200" y="1200151"/>
                <a:ext cx="8153400" cy="3394472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eaLnBrk="1" hangingPunct="1"/>
                <a:r>
                  <a:rPr lang="en-US" altLang="it-IT" sz="2400" dirty="0"/>
                  <a:t>The simplest, most used instance-based learning algorithm is the </a:t>
                </a:r>
                <a:r>
                  <a:rPr lang="en-US" altLang="it-IT" sz="2400" i="1" dirty="0"/>
                  <a:t>k</a:t>
                </a:r>
                <a:r>
                  <a:rPr lang="en-US" altLang="it-IT" sz="2400" dirty="0"/>
                  <a:t>-NN algorithm</a:t>
                </a:r>
              </a:p>
              <a:p>
                <a:r>
                  <a:rPr lang="en-US" altLang="it-IT" sz="2400" i="1" dirty="0"/>
                  <a:t>k</a:t>
                </a:r>
                <a:r>
                  <a:rPr lang="en-US" altLang="it-IT" sz="2400" dirty="0"/>
                  <a:t>-NN assumes that all instances are points in some </a:t>
                </a:r>
                <a:br>
                  <a:rPr lang="en-US" altLang="it-IT" sz="2400" dirty="0"/>
                </a:br>
                <a:r>
                  <a:rPr lang="en-US" altLang="it-IT" sz="2400" i="1" dirty="0"/>
                  <a:t>n</a:t>
                </a:r>
                <a:r>
                  <a:rPr lang="en-US" altLang="it-IT" sz="2400" dirty="0"/>
                  <a:t>-dimensional space and defines neighbors in terms of distance (usually Euclidean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alt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it-IT" sz="2400" dirty="0"/>
                  <a:t>-space)</a:t>
                </a:r>
              </a:p>
              <a:p>
                <a:pPr eaLnBrk="1" hangingPunct="1"/>
                <a:r>
                  <a:rPr lang="en-US" altLang="it-IT" sz="2400" i="1" dirty="0"/>
                  <a:t>k</a:t>
                </a:r>
                <a:r>
                  <a:rPr lang="en-US" altLang="it-IT" sz="2400" dirty="0"/>
                  <a:t> is the number of neighbors considered</a:t>
                </a:r>
              </a:p>
              <a:p>
                <a:pPr eaLnBrk="1" hangingPunct="1"/>
                <a:r>
                  <a:rPr lang="en-US" altLang="it-IT" sz="2400" dirty="0"/>
                  <a:t>Classification/regression: performed by considering the classes/values of the k-NNs</a:t>
                </a:r>
              </a:p>
            </p:txBody>
          </p:sp>
        </mc:Choice>
        <mc:Fallback xmlns="">
          <p:sp>
            <p:nvSpPr>
              <p:cNvPr id="2355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57200" y="1200151"/>
                <a:ext cx="8153400" cy="3394472"/>
              </a:xfrm>
              <a:blipFill>
                <a:blip r:embed="rId2"/>
                <a:stretch>
                  <a:fillRect l="-1271" t="-1795" r="-299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0009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K-NN Algorithm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Given a query instance </a:t>
            </a:r>
            <a:r>
              <a: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800" dirty="0"/>
              <a:t>, retrieve the </a:t>
            </a:r>
            <a:r>
              <a: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800" dirty="0"/>
              <a:t> NNs of </a:t>
            </a:r>
            <a:r>
              <a: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r>
              <a:rPr lang="en-GB" sz="2800" u="sng" dirty="0"/>
              <a:t>Classification</a:t>
            </a:r>
            <a:r>
              <a:rPr lang="en-GB" sz="2800" dirty="0"/>
              <a:t>: assign to </a:t>
            </a:r>
            <a:r>
              <a: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800" dirty="0"/>
              <a:t> the class of the majority of the </a:t>
            </a:r>
            <a:r>
              <a:rPr lang="en-GB" sz="2800" dirty="0" err="1"/>
              <a:t>neighbors</a:t>
            </a:r>
            <a:r>
              <a:rPr lang="en-GB" sz="2800" dirty="0"/>
              <a:t> (breaking ties </a:t>
            </a:r>
            <a:r>
              <a:rPr lang="en-GB" sz="2800" dirty="0" err="1"/>
              <a:t>arbitrarly</a:t>
            </a:r>
            <a:r>
              <a:rPr lang="en-GB" sz="2800" dirty="0"/>
              <a:t>)</a:t>
            </a:r>
          </a:p>
          <a:p>
            <a:r>
              <a:rPr lang="en-GB" sz="2800" u="sng" dirty="0"/>
              <a:t>Regression</a:t>
            </a:r>
            <a:r>
              <a:rPr lang="en-GB" sz="2800" dirty="0"/>
              <a:t>: assign to </a:t>
            </a:r>
            <a:r>
              <a: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800" dirty="0"/>
              <a:t> the average value of the </a:t>
            </a:r>
            <a:r>
              <a:rPr lang="en-GB" sz="2800" dirty="0" err="1"/>
              <a:t>neighbors’</a:t>
            </a:r>
            <a:r>
              <a:rPr lang="en-GB" sz="2800" dirty="0"/>
              <a:t> values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338952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it-IT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082011"/>
              </p:ext>
            </p:extLst>
          </p:nvPr>
        </p:nvGraphicFramePr>
        <p:xfrm>
          <a:off x="762000" y="1504950"/>
          <a:ext cx="4127911" cy="286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2895600" imgH="2006600" progId="Word.Picture.8">
                  <p:embed/>
                </p:oleObj>
              </mc:Choice>
              <mc:Fallback>
                <p:oleObj name="Picture" r:id="rId2" imgW="2895600" imgH="200660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04950"/>
                        <a:ext cx="4127911" cy="286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38800" y="1962150"/>
            <a:ext cx="1943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GB" dirty="0"/>
              <a:t> has class 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dirty="0"/>
              <a:t> if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dirty="0"/>
              <a:t>=1</a:t>
            </a:r>
            <a:br>
              <a:rPr lang="en-GB" dirty="0"/>
            </a:b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/>
              <a:t>has class </a:t>
            </a: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dirty="0"/>
              <a:t> if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dirty="0"/>
              <a:t>=5</a:t>
            </a:r>
            <a:endParaRPr lang="it-IT" dirty="0"/>
          </a:p>
        </p:txBody>
      </p:sp>
      <p:sp>
        <p:nvSpPr>
          <p:cNvPr id="7" name="TextBox 6"/>
          <p:cNvSpPr txBox="1"/>
          <p:nvPr/>
        </p:nvSpPr>
        <p:spPr>
          <a:xfrm>
            <a:off x="4419600" y="3888779"/>
            <a:ext cx="4567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this example standard Euclidean</a:t>
            </a:r>
            <a:br>
              <a:rPr lang="en-GB" dirty="0"/>
            </a:br>
            <a:r>
              <a:rPr lang="en-GB" dirty="0"/>
              <a:t>distance is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Different notion of distances can be applied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6838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Distance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3950"/>
                <a:ext cx="8229600" cy="3394472"/>
              </a:xfrm>
            </p:spPr>
            <p:txBody>
              <a:bodyPr>
                <a:normAutofit/>
              </a:bodyPr>
              <a:lstStyle/>
              <a:p>
                <a:r>
                  <a:rPr lang="en-GB" sz="2800" dirty="0"/>
                  <a:t>Minkowsky Distance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GB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GB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it-IT" sz="2800" dirty="0"/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it-IT" sz="2400" dirty="0"/>
                  <a:t> Manhattan distance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it-IT" sz="2400" dirty="0"/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it-IT" sz="2400" dirty="0"/>
                  <a:t> Euclidean distance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</m:oMath>
                </a14:m>
                <a:endParaRPr lang="it-IT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3950"/>
                <a:ext cx="8229600" cy="3394472"/>
              </a:xfrm>
              <a:blipFill rotWithShape="0">
                <a:blip r:embed="rId2"/>
                <a:stretch>
                  <a:fillRect l="-1333" t="-14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033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Effect of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it-IT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788670" y="3339225"/>
            <a:ext cx="3657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788670" y="1510425"/>
            <a:ext cx="0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1703070" y="1815225"/>
            <a:ext cx="1524000" cy="838200"/>
          </a:xfrm>
          <a:prstGeom prst="line">
            <a:avLst/>
          </a:prstGeom>
          <a:ln w="12700">
            <a:tailEnd type="stealth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03070" y="2653425"/>
            <a:ext cx="1524000" cy="0"/>
          </a:xfrm>
          <a:prstGeom prst="line">
            <a:avLst/>
          </a:prstGeom>
          <a:ln w="127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3227070" y="1815225"/>
            <a:ext cx="0" cy="838200"/>
          </a:xfrm>
          <a:prstGeom prst="straightConnector1">
            <a:avLst/>
          </a:prstGeom>
          <a:ln w="127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93411" y="3813449"/>
            <a:ext cx="1143000" cy="15479"/>
          </a:xfrm>
          <a:prstGeom prst="line">
            <a:avLst/>
          </a:prstGeom>
          <a:ln w="12700">
            <a:tailEnd type="stealth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93411" y="4297559"/>
            <a:ext cx="1143000" cy="0"/>
          </a:xfrm>
          <a:prstGeom prst="line">
            <a:avLst/>
          </a:prstGeom>
          <a:ln w="127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52428" y="3636522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Euclidean</a:t>
            </a:r>
            <a:endParaRPr lang="it-IT" dirty="0"/>
          </a:p>
        </p:txBody>
      </p:sp>
      <p:sp>
        <p:nvSpPr>
          <p:cNvPr id="21" name="TextBox 20"/>
          <p:cNvSpPr txBox="1"/>
          <p:nvPr/>
        </p:nvSpPr>
        <p:spPr>
          <a:xfrm>
            <a:off x="2286000" y="4112893"/>
            <a:ext cx="1224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Manhattan</a:t>
            </a:r>
            <a:endParaRPr lang="it-IT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705" y="907323"/>
            <a:ext cx="1754531" cy="224967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933097"/>
            <a:ext cx="1476190" cy="200952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528" y="3128796"/>
            <a:ext cx="1523810" cy="1961905"/>
          </a:xfrm>
          <a:prstGeom prst="rect">
            <a:avLst/>
          </a:prstGeom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F8DE091-6996-4272-AF84-99DF83E7C0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224091"/>
              </p:ext>
            </p:extLst>
          </p:nvPr>
        </p:nvGraphicFramePr>
        <p:xfrm>
          <a:off x="7183253" y="3127924"/>
          <a:ext cx="1379537" cy="185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1379160" imgH="1855440" progId="Paint.Picture">
                  <p:embed/>
                </p:oleObj>
              </mc:Choice>
              <mc:Fallback>
                <p:oleObj name="Bitmap Image" r:id="rId5" imgW="1379160" imgH="18554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83253" y="3127924"/>
                        <a:ext cx="1379537" cy="1855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7476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Voronoi</a:t>
            </a:r>
            <a:r>
              <a:rPr lang="en-GB" dirty="0"/>
              <a:t> Diagrams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3581400" cy="3394472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Given a set of points, a </a:t>
            </a:r>
            <a:r>
              <a:rPr lang="en-GB" sz="2400" dirty="0" err="1"/>
              <a:t>Voronoi</a:t>
            </a:r>
            <a:r>
              <a:rPr lang="en-GB" sz="2400" dirty="0"/>
              <a:t> Diagrams describes the areas including points that are closer to any given point</a:t>
            </a:r>
            <a:endParaRPr lang="it-IT" sz="2400" dirty="0"/>
          </a:p>
          <a:p>
            <a:r>
              <a:rPr lang="en-GB" sz="2400" dirty="0"/>
              <a:t>Given a point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/>
              <a:t>, each point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sz="2400" dirty="0"/>
              <a:t> in the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/>
              <a:t>’s area has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/>
              <a:t> as nearest </a:t>
            </a:r>
            <a:r>
              <a:rPr lang="en-GB" sz="2400" dirty="0" err="1"/>
              <a:t>neighbor</a:t>
            </a:r>
            <a:endParaRPr lang="en-GB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074488"/>
            <a:ext cx="4573002" cy="364579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248400" y="2917546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 6"/>
          <p:cNvSpPr/>
          <p:nvPr/>
        </p:nvSpPr>
        <p:spPr>
          <a:xfrm>
            <a:off x="6400800" y="3069946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val 7"/>
          <p:cNvSpPr/>
          <p:nvPr/>
        </p:nvSpPr>
        <p:spPr>
          <a:xfrm>
            <a:off x="7086600" y="2905709"/>
            <a:ext cx="76200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TextBox 8"/>
          <p:cNvSpPr txBox="1"/>
          <p:nvPr/>
        </p:nvSpPr>
        <p:spPr>
          <a:xfrm>
            <a:off x="6628818" y="2955646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it-IT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85304" y="2656268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it-IT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2704" y="3069946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it-IT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86109" y="2628710"/>
            <a:ext cx="30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it-IT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166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1-Nearest </a:t>
            </a:r>
            <a:r>
              <a:rPr lang="en-GB" dirty="0" err="1"/>
              <a:t>Neighbor</a:t>
            </a:r>
            <a:endParaRPr lang="it-IT" dirty="0"/>
          </a:p>
        </p:txBody>
      </p:sp>
      <p:pic>
        <p:nvPicPr>
          <p:cNvPr id="5" name="Picture 3" descr="n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557338"/>
            <a:ext cx="3942160" cy="345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69961" y="1931559"/>
            <a:ext cx="13863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sv-SE" altLang="it-IT" dirty="0">
                <a:latin typeface="Tahoma" panose="020B0604030504040204" pitchFamily="34" charset="0"/>
              </a:rPr>
              <a:t>query point</a:t>
            </a:r>
            <a:endParaRPr lang="en-US" altLang="it-IT" baseline="-25000" dirty="0">
              <a:latin typeface="Tahoma" panose="020B0604030504040204" pitchFamily="34" charset="0"/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2588257" y="2245320"/>
            <a:ext cx="2441936" cy="931929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t-IT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977519" y="2555075"/>
            <a:ext cx="18796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sv-SE" altLang="it-IT" dirty="0">
                <a:latin typeface="Tahoma" panose="020B0604030504040204" pitchFamily="34" charset="0"/>
              </a:rPr>
              <a:t>nearest neighbor</a:t>
            </a:r>
            <a:endParaRPr lang="en-US" altLang="it-IT" baseline="-25000" dirty="0">
              <a:latin typeface="Tahoma" panose="020B0604030504040204" pitchFamily="34" charset="0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2979361" y="2912495"/>
            <a:ext cx="1818257" cy="620525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2645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3-Nearest </a:t>
            </a:r>
            <a:r>
              <a:rPr lang="en-GB" dirty="0" err="1"/>
              <a:t>Neighbor</a:t>
            </a:r>
            <a:endParaRPr lang="it-IT" dirty="0"/>
          </a:p>
        </p:txBody>
      </p:sp>
      <p:grpSp>
        <p:nvGrpSpPr>
          <p:cNvPr id="10" name="Group 9"/>
          <p:cNvGrpSpPr/>
          <p:nvPr/>
        </p:nvGrpSpPr>
        <p:grpSpPr>
          <a:xfrm>
            <a:off x="1111211" y="1428750"/>
            <a:ext cx="6356389" cy="3536950"/>
            <a:chOff x="-257571" y="1341438"/>
            <a:chExt cx="8888809" cy="5148262"/>
          </a:xfrm>
        </p:grpSpPr>
        <p:pic>
          <p:nvPicPr>
            <p:cNvPr id="3" name="Picture 3" descr="nn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6238" y="1341438"/>
              <a:ext cx="5715000" cy="51482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288925" y="2243137"/>
              <a:ext cx="2051556" cy="537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sv-SE" altLang="it-IT" dirty="0">
                  <a:latin typeface="Tahoma" panose="020B0604030504040204" pitchFamily="34" charset="0"/>
                </a:rPr>
                <a:t>query point </a:t>
              </a:r>
              <a:endParaRPr lang="en-US" altLang="it-IT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>
              <a:off x="2286000" y="2514600"/>
              <a:ext cx="3654425" cy="1274763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it-IT"/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-257571" y="3395445"/>
              <a:ext cx="3090066" cy="537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sv-SE" altLang="it-IT" dirty="0">
                  <a:latin typeface="Tahoma" panose="020B0604030504040204" pitchFamily="34" charset="0"/>
                </a:rPr>
                <a:t>3 nearest neighbors</a:t>
              </a:r>
              <a:endParaRPr lang="en-US" altLang="it-IT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3563938" y="4076700"/>
              <a:ext cx="243840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it-IT"/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2819400" y="3733800"/>
              <a:ext cx="2689225" cy="703263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it-IT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3635375" y="3716338"/>
              <a:ext cx="2971800" cy="7620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2106480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Boundaries</a:t>
            </a:r>
            <a:endParaRPr lang="it-IT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76350"/>
            <a:ext cx="3556779" cy="35060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76350"/>
            <a:ext cx="4343400" cy="367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96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/>
          <a:lstStyle/>
          <a:p>
            <a:r>
              <a:rPr lang="en-GB" dirty="0"/>
              <a:t>Effect of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it-IT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28" y="895350"/>
            <a:ext cx="6396143" cy="31690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324350"/>
            <a:ext cx="7206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altLang="zh-CN" sz="2400" dirty="0"/>
              <a:t>If k is too small, sensitive to noise points (overfitting)</a:t>
            </a:r>
          </a:p>
        </p:txBody>
      </p:sp>
    </p:spTree>
    <p:extLst>
      <p:ext uri="{BB962C8B-B14F-4D97-AF65-F5344CB8AC3E}">
        <p14:creationId xmlns:p14="http://schemas.microsoft.com/office/powerpoint/2010/main" val="2179460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167235"/>
              </p:ext>
            </p:extLst>
          </p:nvPr>
        </p:nvGraphicFramePr>
        <p:xfrm>
          <a:off x="2819400" y="1099988"/>
          <a:ext cx="3738563" cy="317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582512" imgH="5298053" progId="Visio.Drawing.6">
                  <p:embed/>
                </p:oleObj>
              </mc:Choice>
              <mc:Fallback>
                <p:oleObj name="Visio" r:id="rId2" imgW="6582512" imgH="529805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099988"/>
                        <a:ext cx="3738563" cy="317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857250"/>
          </a:xfrm>
        </p:spPr>
        <p:txBody>
          <a:bodyPr/>
          <a:lstStyle/>
          <a:p>
            <a:r>
              <a:rPr lang="en-GB" dirty="0"/>
              <a:t>Effect of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it-IT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8419" y="4404836"/>
            <a:ext cx="87005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If k is too large, neighborhood may include points from other classes</a:t>
            </a:r>
          </a:p>
          <a:p>
            <a:endParaRPr lang="it-IT" dirty="0"/>
          </a:p>
        </p:txBody>
      </p:sp>
      <p:sp>
        <p:nvSpPr>
          <p:cNvPr id="7" name="7-Point Star 6"/>
          <p:cNvSpPr/>
          <p:nvPr/>
        </p:nvSpPr>
        <p:spPr>
          <a:xfrm>
            <a:off x="2286000" y="1581150"/>
            <a:ext cx="5257800" cy="2209800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3200" dirty="0"/>
              <a:t> can be </a:t>
            </a:r>
            <a:r>
              <a:rPr lang="en-GB" sz="3200" dirty="0" err="1"/>
              <a:t>choosen</a:t>
            </a:r>
            <a:r>
              <a:rPr lang="en-GB" sz="3200" dirty="0"/>
              <a:t> by cross-validation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78749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5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Scale Effects</a:t>
            </a:r>
          </a:p>
        </p:txBody>
      </p:sp>
      <p:sp>
        <p:nvSpPr>
          <p:cNvPr id="29698" name="Content Placeholder 6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Different features may have different measurement scales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E.g., patient weight in kg (range [50,200]) vs. blood protein values in ng/dL (range [-3,3])</a:t>
            </a:r>
          </a:p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Consequences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Patient weight will have a much greater influence on the distance between samples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May bias the performance of the classifier</a:t>
            </a:r>
          </a:p>
        </p:txBody>
      </p:sp>
    </p:spTree>
    <p:extLst>
      <p:ext uri="{BB962C8B-B14F-4D97-AF65-F5344CB8AC3E}">
        <p14:creationId xmlns:p14="http://schemas.microsoft.com/office/powerpoint/2010/main" val="1125353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 scaling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GB" sz="2800" dirty="0"/>
                  <a:t>Rescaling ([0,1])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it-IT" dirty="0"/>
              </a:p>
              <a:p>
                <a:r>
                  <a:rPr lang="en-GB" sz="2800" dirty="0"/>
                  <a:t>Mean normalization (0 mean)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num>
                      <m:den>
                        <m:func>
                          <m:func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it-IT" dirty="0"/>
              </a:p>
              <a:p>
                <a:r>
                  <a:rPr lang="en-GB" sz="2800" dirty="0"/>
                  <a:t>Standardization or z-score (0 mean, 1 </a:t>
                </a:r>
                <a:r>
                  <a:rPr lang="en-GB" sz="2800" dirty="0" err="1"/>
                  <a:t>s.d.</a:t>
                </a:r>
                <a:r>
                  <a:rPr lang="en-GB" sz="2800" dirty="0"/>
                  <a:t>)</a:t>
                </a:r>
                <a:br>
                  <a:rPr lang="en-GB" sz="2800" dirty="0"/>
                </a:br>
                <a:br>
                  <a:rPr lang="en-GB" sz="2800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endParaRPr lang="it-IT" sz="2800" dirty="0"/>
              </a:p>
              <a:p>
                <a:pPr marL="0" indent="0">
                  <a:buNone/>
                </a:pPr>
                <a:endParaRPr lang="it-IT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it-IT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sample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mean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sample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standard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deviation</m:t>
                      </m:r>
                      <m:r>
                        <m:rPr>
                          <m:nor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614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Weighting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makes sense to weight the contribution of each neighbour with respect to its distance to the query</a:t>
            </a:r>
          </a:p>
          <a:p>
            <a:r>
              <a:rPr lang="en-GB" dirty="0"/>
              <a:t>Closest </a:t>
            </a:r>
            <a:r>
              <a:rPr lang="en-GB" dirty="0" err="1"/>
              <a:t>neighbors</a:t>
            </a:r>
            <a:r>
              <a:rPr lang="en-GB" dirty="0"/>
              <a:t> have larger </a:t>
            </a:r>
            <a:r>
              <a:rPr lang="en-GB" dirty="0" err="1"/>
              <a:t>weitghs</a:t>
            </a:r>
            <a:endParaRPr lang="en-GB" dirty="0"/>
          </a:p>
          <a:p>
            <a:r>
              <a:rPr lang="en-GB" u="sng" dirty="0"/>
              <a:t>Classification</a:t>
            </a:r>
            <a:r>
              <a:rPr lang="en-GB" dirty="0"/>
              <a:t>: </a:t>
            </a:r>
            <a:r>
              <a:rPr lang="en-GB" dirty="0" err="1"/>
              <a:t>weigthed</a:t>
            </a:r>
            <a:r>
              <a:rPr lang="en-GB" dirty="0"/>
              <a:t> voting</a:t>
            </a:r>
          </a:p>
          <a:p>
            <a:r>
              <a:rPr lang="en-GB" u="sng" dirty="0"/>
              <a:t>Regression</a:t>
            </a:r>
            <a:r>
              <a:rPr lang="en-GB" dirty="0"/>
              <a:t>: weighted average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92034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Weighted voting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23950"/>
                <a:ext cx="8229600" cy="373379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sz="24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𝑖𝑞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b="0" dirty="0"/>
                  <a:t> be the weight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b="0" dirty="0"/>
                  <a:t> </a:t>
                </a:r>
                <a:r>
                  <a:rPr lang="en-GB" sz="2400" b="0" dirty="0" err="1"/>
                  <a:t>wrt</a:t>
                </a:r>
                <a:r>
                  <a:rPr lang="en-GB" sz="2400" b="0" dirty="0"/>
                  <a:t> 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GB" sz="2400" b="0" dirty="0"/>
              </a:p>
              <a:p>
                <a:r>
                  <a:rPr lang="en-GB" sz="2400" dirty="0"/>
                  <a:t>Possible definitions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𝑖𝑞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sz="2000" b="0" dirty="0"/>
                  <a:t>   (standard definition)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𝑖𝑞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b="0" dirty="0"/>
                  <a:t>  (when</a:t>
                </a:r>
                <a14:m>
                  <m:oMath xmlns:m="http://schemas.openxmlformats.org/officeDocument/2006/math"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[0,1])</m:t>
                    </m:r>
                  </m:oMath>
                </a14:m>
                <a:endParaRPr lang="en-GB" sz="2000" b="0" dirty="0"/>
              </a:p>
              <a:p>
                <a:r>
                  <a:rPr lang="en-GB" sz="2400" dirty="0"/>
                  <a:t>Given a query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sz="2400" b="0" dirty="0"/>
                  <a:t>let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b="0" dirty="0"/>
                  <a:t> be the class of instance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b="0" dirty="0"/>
                  <a:t>:</a:t>
                </a:r>
                <a:br>
                  <a:rPr lang="en-GB" sz="2400" b="0" dirty="0"/>
                </a:b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𝑠𝑐𝑜𝑟𝑒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  <m:sup/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𝑖𝑞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𝑖𝑞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GB" sz="2400" b="0" dirty="0"/>
              </a:p>
              <a:p>
                <a:endParaRPr lang="en-GB" sz="2400" dirty="0"/>
              </a:p>
              <a:p>
                <a:r>
                  <a:rPr lang="en-GB" sz="2400" dirty="0"/>
                  <a:t>Class with highest score is assigned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br>
                  <a:rPr lang="en-GB" sz="2400" b="0" dirty="0"/>
                </a:br>
                <a:br>
                  <a:rPr lang="en-GB" sz="2400" b="0" dirty="0"/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GB" sz="24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lim>
                            </m:limLow>
                          </m:fName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𝑠𝑐𝑜𝑟𝑒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func>
                      </m:e>
                    </m:func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23950"/>
                <a:ext cx="8229600" cy="3733799"/>
              </a:xfrm>
              <a:blipFill rotWithShape="0">
                <a:blip r:embed="rId2"/>
                <a:stretch>
                  <a:fillRect l="-667" t="-1958" b="-3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3602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Curse of dimensionality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382000" cy="3657599"/>
          </a:xfrm>
        </p:spPr>
        <p:txBody>
          <a:bodyPr>
            <a:normAutofit fontScale="92500" lnSpcReduction="20000"/>
          </a:bodyPr>
          <a:lstStyle/>
          <a:p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400" dirty="0"/>
              <a:t>-NN breaks down in high dimensional spaces (when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GB" sz="2400" dirty="0"/>
              <a:t> is large)</a:t>
            </a:r>
          </a:p>
          <a:p>
            <a:r>
              <a:rPr lang="en-GB" sz="2400" dirty="0"/>
              <a:t>Number of NN largely increase with the increase of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endParaRPr lang="en-GB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 irrelevant features can mislead the classifier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 feature selection, learning feature weights</a:t>
            </a:r>
            <a:endParaRPr lang="it-IT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038350"/>
            <a:ext cx="3835707" cy="171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09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Issues with Distance Metrics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Most distance measures were designed for linear/real-valued attributes</a:t>
            </a:r>
          </a:p>
          <a:p>
            <a:pPr eaLnBrk="1" hangingPunct="1"/>
            <a:r>
              <a:rPr lang="en-US" altLang="it-IT">
                <a:ea typeface="ＭＳ Ｐゴシック" panose="020B0600070205080204" pitchFamily="34" charset="-128"/>
              </a:rPr>
              <a:t>Two important questions in the context of machine learning: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How best to handle nominal attributes</a:t>
            </a:r>
          </a:p>
          <a:p>
            <a:pPr lvl="1" eaLnBrk="1" hangingPunct="1"/>
            <a:r>
              <a:rPr lang="en-US" altLang="it-IT">
                <a:ea typeface="ＭＳ Ｐゴシック" panose="020B0600070205080204" pitchFamily="34" charset="-128"/>
              </a:rPr>
              <a:t>What to do when attribute types are mixed</a:t>
            </a:r>
          </a:p>
          <a:p>
            <a:pPr eaLnBrk="1" hangingPunct="1"/>
            <a:endParaRPr lang="en-US" altLang="it-IT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01197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2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it-IT">
                <a:ea typeface="ＭＳ Ｐゴシック" panose="020B0600070205080204" pitchFamily="34" charset="-128"/>
              </a:rPr>
              <a:t>Distance for Nominal Attributes</a:t>
            </a:r>
          </a:p>
        </p:txBody>
      </p:sp>
      <p:pic>
        <p:nvPicPr>
          <p:cNvPr id="54274" name="Picture 2" descr="Snapshot 2005-11-04 09-14-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942" y="892969"/>
            <a:ext cx="4135040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2400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it-IT">
                <a:ea typeface="ＭＳ Ｐゴシック" panose="020B0600070205080204" pitchFamily="34" charset="-128"/>
              </a:rPr>
              <a:t>Distance for Heterogeneous Data</a:t>
            </a:r>
          </a:p>
        </p:txBody>
      </p:sp>
      <p:pic>
        <p:nvPicPr>
          <p:cNvPr id="55298" name="Picture 3" descr="Snapshot 2005-11-03 15-46-3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947" y="1212056"/>
            <a:ext cx="6080522" cy="240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9" name="TextBox 3"/>
          <p:cNvSpPr txBox="1">
            <a:spLocks noChangeArrowheads="1"/>
          </p:cNvSpPr>
          <p:nvPr/>
        </p:nvSpPr>
        <p:spPr bwMode="auto">
          <a:xfrm>
            <a:off x="3139679" y="4148138"/>
            <a:ext cx="45517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it-IT" sz="900">
                <a:latin typeface="Times" panose="02020603050405020304" pitchFamily="18" charset="0"/>
              </a:rPr>
              <a:t>Wilson, D. R. and Martinez, T. R., Improved Heterogeneous Distance Functions, Journal of Artificial Intelligence Research, vol. </a:t>
            </a:r>
            <a:r>
              <a:rPr lang="en-US" altLang="it-IT" sz="900" b="1">
                <a:latin typeface="Times" panose="02020603050405020304" pitchFamily="18" charset="0"/>
              </a:rPr>
              <a:t>6</a:t>
            </a:r>
            <a:r>
              <a:rPr lang="en-US" altLang="it-IT" sz="900">
                <a:latin typeface="Times" panose="02020603050405020304" pitchFamily="18" charset="0"/>
              </a:rPr>
              <a:t>, no. 1, pp. 1-34, 1997</a:t>
            </a:r>
            <a:endParaRPr lang="en-US" altLang="it-IT" sz="900"/>
          </a:p>
        </p:txBody>
      </p:sp>
    </p:spTree>
    <p:extLst>
      <p:ext uri="{BB962C8B-B14F-4D97-AF65-F5344CB8AC3E}">
        <p14:creationId xmlns:p14="http://schemas.microsoft.com/office/powerpoint/2010/main" val="7084906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58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12076</TotalTime>
  <Words>755</Words>
  <Application>Microsoft Office PowerPoint</Application>
  <PresentationFormat>Presentazione su schermo (16:9)</PresentationFormat>
  <Paragraphs>104</Paragraphs>
  <Slides>22</Slides>
  <Notes>4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4</vt:i4>
      </vt:variant>
      <vt:variant>
        <vt:lpstr>Server OLE incorporati</vt:lpstr>
      </vt:variant>
      <vt:variant>
        <vt:i4>3</vt:i4>
      </vt:variant>
      <vt:variant>
        <vt:lpstr>Titoli diapositive</vt:lpstr>
      </vt:variant>
      <vt:variant>
        <vt:i4>22</vt:i4>
      </vt:variant>
    </vt:vector>
  </HeadingPairs>
  <TitlesOfParts>
    <vt:vector size="35" baseType="lpstr">
      <vt:lpstr>Arial</vt:lpstr>
      <vt:lpstr>Calibri</vt:lpstr>
      <vt:lpstr>Cambria Math</vt:lpstr>
      <vt:lpstr>Tahoma</vt:lpstr>
      <vt:lpstr>Times</vt:lpstr>
      <vt:lpstr>Times New Roman</vt:lpstr>
      <vt:lpstr>1_Lecture</vt:lpstr>
      <vt:lpstr>2_Office Theme</vt:lpstr>
      <vt:lpstr>3_Office Theme</vt:lpstr>
      <vt:lpstr>2_Lecture</vt:lpstr>
      <vt:lpstr>Picture</vt:lpstr>
      <vt:lpstr>Bitmap Image</vt:lpstr>
      <vt:lpstr>Visio</vt:lpstr>
      <vt:lpstr>Instance-Based Learning (Lazy Learning)</vt:lpstr>
      <vt:lpstr>Eager vs Lazy</vt:lpstr>
      <vt:lpstr>Pros and Cons</vt:lpstr>
      <vt:lpstr>k-Nearest Neighbor</vt:lpstr>
      <vt:lpstr>K-NN Algorithm</vt:lpstr>
      <vt:lpstr>Example</vt:lpstr>
      <vt:lpstr>Distance</vt:lpstr>
      <vt:lpstr>Effect of p</vt:lpstr>
      <vt:lpstr>Voronoi Diagrams</vt:lpstr>
      <vt:lpstr>1-Nearest Neighbor</vt:lpstr>
      <vt:lpstr>3-Nearest Neighbor</vt:lpstr>
      <vt:lpstr>Decision Boundaries</vt:lpstr>
      <vt:lpstr>Effect of k</vt:lpstr>
      <vt:lpstr>Effect of k</vt:lpstr>
      <vt:lpstr>Scale Effects</vt:lpstr>
      <vt:lpstr>Feature scaling</vt:lpstr>
      <vt:lpstr>Weighting</vt:lpstr>
      <vt:lpstr>Weighted voting</vt:lpstr>
      <vt:lpstr>Curse of dimensionality</vt:lpstr>
      <vt:lpstr>Issues with Distance Metrics</vt:lpstr>
      <vt:lpstr>Distance for Nominal Attributes</vt:lpstr>
      <vt:lpstr>Distance for Heterogeneous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Luigi Portinale</cp:lastModifiedBy>
  <cp:revision>774</cp:revision>
  <dcterms:created xsi:type="dcterms:W3CDTF">2010-07-08T21:59:02Z</dcterms:created>
  <dcterms:modified xsi:type="dcterms:W3CDTF">2023-03-14T11:29:42Z</dcterms:modified>
</cp:coreProperties>
</file>