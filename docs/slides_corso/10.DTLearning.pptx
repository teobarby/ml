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60"/>
  </p:notesMasterIdLst>
  <p:sldIdLst>
    <p:sldId id="256" r:id="rId5"/>
    <p:sldId id="257" r:id="rId6"/>
    <p:sldId id="300" r:id="rId7"/>
    <p:sldId id="258" r:id="rId8"/>
    <p:sldId id="259" r:id="rId9"/>
    <p:sldId id="299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310" r:id="rId37"/>
    <p:sldId id="287" r:id="rId38"/>
    <p:sldId id="288" r:id="rId39"/>
    <p:sldId id="289" r:id="rId40"/>
    <p:sldId id="290" r:id="rId41"/>
    <p:sldId id="291" r:id="rId42"/>
    <p:sldId id="292" r:id="rId43"/>
    <p:sldId id="301" r:id="rId44"/>
    <p:sldId id="293" r:id="rId45"/>
    <p:sldId id="302" r:id="rId46"/>
    <p:sldId id="295" r:id="rId47"/>
    <p:sldId id="303" r:id="rId48"/>
    <p:sldId id="296" r:id="rId49"/>
    <p:sldId id="297" r:id="rId50"/>
    <p:sldId id="304" r:id="rId51"/>
    <p:sldId id="305" r:id="rId52"/>
    <p:sldId id="311" r:id="rId53"/>
    <p:sldId id="312" r:id="rId54"/>
    <p:sldId id="314" r:id="rId55"/>
    <p:sldId id="315" r:id="rId56"/>
    <p:sldId id="313" r:id="rId57"/>
    <p:sldId id="307" r:id="rId58"/>
    <p:sldId id="308" r:id="rId59"/>
  </p:sldIdLst>
  <p:sldSz cx="9144000" cy="5143500" type="screen16x9"/>
  <p:notesSz cx="6858000" cy="9144000"/>
  <p:custDataLst>
    <p:tags r:id="rId6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CC00"/>
    <a:srgbClr val="993366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9822" autoAdjust="0"/>
  </p:normalViewPr>
  <p:slideViewPr>
    <p:cSldViewPr>
      <p:cViewPr varScale="1">
        <p:scale>
          <a:sx n="67" d="100"/>
          <a:sy n="67" d="100"/>
        </p:scale>
        <p:origin x="72" y="564"/>
      </p:cViewPr>
      <p:guideLst>
        <p:guide orient="horz" pos="2484"/>
        <p:guide pos="2880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tags" Target="tags/tag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13F5B65-8304-41AB-B17C-DA78E695AC48}" type="slidenum">
              <a:rPr lang="en-GB" altLang="it-IT" sz="1300" b="0"/>
              <a:pPr eaLnBrk="1" hangingPunct="1"/>
              <a:t>1</a:t>
            </a:fld>
            <a:endParaRPr lang="en-GB" altLang="it-IT" sz="1300" b="0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734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872FA50-A4C3-4A46-847C-D330D6126950}" type="slidenum">
              <a:rPr lang="en-GB" altLang="it-IT" sz="1300" b="0"/>
              <a:pPr eaLnBrk="1" hangingPunct="1"/>
              <a:t>2</a:t>
            </a:fld>
            <a:endParaRPr lang="en-GB" altLang="it-IT" sz="1300" b="0"/>
          </a:p>
        </p:txBody>
      </p:sp>
      <p:sp>
        <p:nvSpPr>
          <p:cNvPr id="34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6778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008B675-0251-41BB-8A2E-C4C562BC4580}" type="slidenum">
              <a:rPr lang="en-GB" altLang="it-IT" sz="1300" b="0"/>
              <a:pPr eaLnBrk="1" hangingPunct="1"/>
              <a:t>4</a:t>
            </a:fld>
            <a:endParaRPr lang="en-GB" altLang="it-IT" sz="1300" b="0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Each node represents a test on an attribute of the instance to be classified and each outgoing arch a possible outcome, leading to a further test.</a:t>
            </a:r>
          </a:p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The leafs correspond to classification actions. A binary classification in this case.</a:t>
            </a:r>
          </a:p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The instance </a:t>
            </a:r>
            <a:r>
              <a:rPr lang="en-US" sz="2000" i="1" dirty="0">
                <a:ea typeface="ＭＳ Ｐゴシック" charset="0"/>
                <a:cs typeface="+mn-cs"/>
              </a:rPr>
              <a:t>&lt;Outlook=Sunny, Temp=Hot, Humidity=High, Wind=Strong&gt; is classified as No.</a:t>
            </a: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757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6133B69-C860-4309-B070-7DAD4CB72672}" type="slidenum">
              <a:rPr lang="en-GB" altLang="it-IT" sz="1300" b="0"/>
              <a:pPr eaLnBrk="1" hangingPunct="1"/>
              <a:t>5</a:t>
            </a:fld>
            <a:endParaRPr lang="en-GB" altLang="it-IT" sz="1300" b="0"/>
          </a:p>
        </p:txBody>
      </p:sp>
      <p:sp>
        <p:nvSpPr>
          <p:cNvPr id="350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0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998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DEC014E-A181-4EDF-B255-234757984B94}" type="slidenum">
              <a:rPr lang="en-GB" altLang="it-IT" sz="1300" b="0"/>
              <a:pPr eaLnBrk="1" hangingPunct="1"/>
              <a:t>7</a:t>
            </a:fld>
            <a:endParaRPr lang="en-GB" altLang="it-IT" sz="1300" b="0"/>
          </a:p>
        </p:txBody>
      </p:sp>
      <p:sp>
        <p:nvSpPr>
          <p:cNvPr id="351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1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4020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41640AA-965F-4970-B95E-B42E208538B4}" type="slidenum">
              <a:rPr lang="en-GB" altLang="it-IT" sz="1300" b="0"/>
              <a:pPr eaLnBrk="1" hangingPunct="1"/>
              <a:t>8</a:t>
            </a:fld>
            <a:endParaRPr lang="en-GB" altLang="it-IT" sz="1300" b="0"/>
          </a:p>
        </p:txBody>
      </p:sp>
      <p:sp>
        <p:nvSpPr>
          <p:cNvPr id="352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7714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AE541E6-CD8A-49D3-965A-A30B6EFFE3F5}" type="slidenum">
              <a:rPr lang="en-GB" altLang="it-IT" sz="1300" b="0"/>
              <a:pPr eaLnBrk="1" hangingPunct="1"/>
              <a:t>9</a:t>
            </a:fld>
            <a:endParaRPr lang="en-GB" altLang="it-IT" sz="1300" b="0"/>
          </a:p>
        </p:txBody>
      </p:sp>
      <p:sp>
        <p:nvSpPr>
          <p:cNvPr id="35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9832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52585CE-7042-4A39-9EB5-3A87FBB85456}" type="slidenum">
              <a:rPr lang="en-GB" altLang="it-IT" sz="1300" b="0"/>
              <a:pPr eaLnBrk="1" hangingPunct="1"/>
              <a:t>10</a:t>
            </a:fld>
            <a:endParaRPr lang="en-GB" altLang="it-IT" sz="1300" b="0"/>
          </a:p>
        </p:txBody>
      </p:sp>
      <p:sp>
        <p:nvSpPr>
          <p:cNvPr id="354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S=[9+, 5-] </a:t>
            </a:r>
            <a:r>
              <a:rPr lang="en-US" dirty="0" err="1">
                <a:ea typeface="ＭＳ Ｐゴシック" charset="0"/>
                <a:cs typeface="+mn-cs"/>
              </a:rPr>
              <a:t>una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collezione</a:t>
            </a:r>
            <a:r>
              <a:rPr lang="en-US" dirty="0">
                <a:ea typeface="ＭＳ Ｐゴシック" charset="0"/>
                <a:cs typeface="+mn-cs"/>
              </a:rPr>
              <a:t> di </a:t>
            </a:r>
            <a:r>
              <a:rPr lang="en-US" dirty="0" err="1">
                <a:ea typeface="ＭＳ Ｐゴシック" charset="0"/>
                <a:cs typeface="+mn-cs"/>
              </a:rPr>
              <a:t>esempi</a:t>
            </a:r>
            <a:r>
              <a:rPr lang="en-US" dirty="0">
                <a:ea typeface="ＭＳ Ｐゴシック" charset="0"/>
                <a:cs typeface="+mn-cs"/>
              </a:rPr>
              <a:t> di cui 9 </a:t>
            </a:r>
            <a:r>
              <a:rPr lang="en-US" dirty="0" err="1">
                <a:ea typeface="ＭＳ Ｐゴシック" charset="0"/>
                <a:cs typeface="+mn-cs"/>
              </a:rPr>
              <a:t>positivi</a:t>
            </a:r>
            <a:r>
              <a:rPr lang="en-US" dirty="0">
                <a:ea typeface="ＭＳ Ｐゴシック" charset="0"/>
                <a:cs typeface="+mn-cs"/>
              </a:rPr>
              <a:t> e 5 </a:t>
            </a:r>
            <a:r>
              <a:rPr lang="en-US" dirty="0" err="1">
                <a:ea typeface="ＭＳ Ｐゴシック" charset="0"/>
                <a:cs typeface="+mn-cs"/>
              </a:rPr>
              <a:t>negativi</a:t>
            </a:r>
            <a:endParaRPr lang="en-US">
              <a:ea typeface="ＭＳ Ｐゴシック" charset="0"/>
              <a:cs typeface="+mn-cs"/>
            </a:endParaRPr>
          </a:p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0486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BFA7CDA-5588-4C57-966D-02D27FD0EF34}" type="slidenum">
              <a:rPr lang="en-GB" altLang="it-IT" sz="1300" b="0"/>
              <a:pPr eaLnBrk="1" hangingPunct="1"/>
              <a:t>11</a:t>
            </a:fld>
            <a:endParaRPr lang="en-GB" altLang="it-IT" sz="1300" b="0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latin typeface="Times New Roman" panose="02020603050405020304" pitchFamily="18" charset="0"/>
              </a:rPr>
              <a:t>Plot di come varia l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it-IT">
                <a:latin typeface="Times New Roman" panose="02020603050405020304" pitchFamily="18" charset="0"/>
              </a:rPr>
              <a:t>entropia al crescere della proporzione degli esempi positivi.</a:t>
            </a:r>
          </a:p>
        </p:txBody>
      </p:sp>
    </p:spTree>
    <p:extLst>
      <p:ext uri="{BB962C8B-B14F-4D97-AF65-F5344CB8AC3E}">
        <p14:creationId xmlns:p14="http://schemas.microsoft.com/office/powerpoint/2010/main" val="1427096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828C55C-DE03-43A6-A6E0-59814FD61DAE}" type="slidenum">
              <a:rPr lang="en-GB" altLang="it-IT" sz="1300" b="0"/>
              <a:pPr eaLnBrk="1" hangingPunct="1"/>
              <a:t>12</a:t>
            </a:fld>
            <a:endParaRPr lang="en-GB" altLang="it-IT" sz="1300" b="0"/>
          </a:p>
        </p:txBody>
      </p:sp>
      <p:sp>
        <p:nvSpPr>
          <p:cNvPr id="40755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75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4913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6EC774C-BF57-4F73-8EC7-1DE769A9F203}" type="slidenum">
              <a:rPr lang="en-GB" altLang="it-IT" sz="1300" b="0"/>
              <a:pPr eaLnBrk="1" hangingPunct="1"/>
              <a:t>13</a:t>
            </a:fld>
            <a:endParaRPr lang="en-GB" altLang="it-IT" sz="1300" b="0"/>
          </a:p>
        </p:txBody>
      </p:sp>
      <p:sp>
        <p:nvSpPr>
          <p:cNvPr id="356354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635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9735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09187A5-2D1C-4B42-B350-B17D1310F508}" type="slidenum">
              <a:rPr lang="en-GB" altLang="it-IT" sz="1300" b="0"/>
              <a:pPr eaLnBrk="1" hangingPunct="1"/>
              <a:t>14</a:t>
            </a:fld>
            <a:endParaRPr lang="en-GB" altLang="it-IT" sz="1300" b="0"/>
          </a:p>
        </p:txBody>
      </p:sp>
      <p:sp>
        <p:nvSpPr>
          <p:cNvPr id="35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latin typeface="Times New Roman" panose="02020603050405020304" pitchFamily="18" charset="0"/>
              </a:rPr>
              <a:t>La riduzione in entropia attesa partizionando sui valori dell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it-IT">
                <a:latin typeface="Times New Roman" panose="02020603050405020304" pitchFamily="18" charset="0"/>
              </a:rPr>
              <a:t> attributo A</a:t>
            </a:r>
          </a:p>
          <a:p>
            <a:pPr eaLnBrk="1" hangingPunct="1"/>
            <a:endParaRPr lang="en-US" altLang="it-IT">
              <a:latin typeface="Times New Roman" panose="02020603050405020304" pitchFamily="18" charset="0"/>
            </a:endParaRPr>
          </a:p>
          <a:p>
            <a:pPr eaLnBrk="1" hangingPunct="1"/>
            <a:endParaRPr lang="en-US" altLang="it-IT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577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54942AF-6368-4AA0-8454-412C1E0F76A1}" type="slidenum">
              <a:rPr lang="en-GB" altLang="it-IT" sz="1300" b="0"/>
              <a:pPr eaLnBrk="1" hangingPunct="1"/>
              <a:t>15</a:t>
            </a:fld>
            <a:endParaRPr lang="en-GB" altLang="it-IT" sz="1300" b="0"/>
          </a:p>
        </p:txBody>
      </p:sp>
      <p:sp>
        <p:nvSpPr>
          <p:cNvPr id="358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8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360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87AEF39E-CA91-4281-972C-F57D1FE7FBFF}" type="slidenum">
              <a:rPr lang="en-GB" altLang="it-IT" sz="1300" b="0"/>
              <a:pPr eaLnBrk="1" hangingPunct="1"/>
              <a:t>16</a:t>
            </a:fld>
            <a:endParaRPr lang="en-GB" altLang="it-IT" sz="1300" b="0"/>
          </a:p>
        </p:txBody>
      </p:sp>
      <p:sp>
        <p:nvSpPr>
          <p:cNvPr id="359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5942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393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2FDFD4D-E36F-426A-BC47-14FF3CE151F6}" type="slidenum">
              <a:rPr lang="en-GB" altLang="it-IT" sz="1300" b="0"/>
              <a:pPr eaLnBrk="1" hangingPunct="1"/>
              <a:t>17</a:t>
            </a:fld>
            <a:endParaRPr lang="en-GB" altLang="it-IT" sz="1300" b="0"/>
          </a:p>
        </p:txBody>
      </p:sp>
      <p:sp>
        <p:nvSpPr>
          <p:cNvPr id="360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0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Target </a:t>
            </a:r>
            <a:r>
              <a:rPr lang="en-US" dirty="0" err="1">
                <a:ea typeface="ＭＳ Ｐゴシック" charset="0"/>
                <a:cs typeface="+mn-cs"/>
              </a:rPr>
              <a:t>attrbute</a:t>
            </a:r>
            <a:r>
              <a:rPr lang="en-US" dirty="0">
                <a:ea typeface="ＭＳ Ｐゴシック" charset="0"/>
                <a:cs typeface="+mn-cs"/>
              </a:rPr>
              <a:t> = </a:t>
            </a:r>
            <a:r>
              <a:rPr lang="en-US" dirty="0" err="1">
                <a:ea typeface="ＭＳ Ｐゴシック" charset="0"/>
                <a:cs typeface="+mn-cs"/>
              </a:rPr>
              <a:t>playtennis</a:t>
            </a:r>
            <a:endParaRPr lang="en-US" dirty="0">
              <a:ea typeface="ＭＳ Ｐゴシック" charset="0"/>
              <a:cs typeface="+mn-cs"/>
            </a:endParaRPr>
          </a:p>
          <a:p>
            <a:pPr eaLnBrk="1" hangingPunct="1"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38019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7CC5DB0-5876-4EF2-B532-9935AFAC18E3}" type="slidenum">
              <a:rPr lang="en-GB" altLang="it-IT" sz="1300" b="0"/>
              <a:pPr eaLnBrk="1" hangingPunct="1"/>
              <a:t>18</a:t>
            </a:fld>
            <a:endParaRPr lang="en-GB" altLang="it-IT" sz="1300" b="0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20264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049EBB2-8F9D-4D79-B6FB-A0C62FFC15AC}" type="slidenum">
              <a:rPr lang="en-GB" altLang="it-IT" sz="1300" b="0"/>
              <a:pPr eaLnBrk="1" hangingPunct="1"/>
              <a:t>19</a:t>
            </a:fld>
            <a:endParaRPr lang="en-GB" altLang="it-IT" sz="1300" b="0"/>
          </a:p>
        </p:txBody>
      </p:sp>
      <p:sp>
        <p:nvSpPr>
          <p:cNvPr id="3624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24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4832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DB27313-518F-44E7-9D87-FDEAA9C3FBE2}" type="slidenum">
              <a:rPr lang="en-GB" altLang="it-IT" sz="1300" b="0"/>
              <a:pPr eaLnBrk="1" hangingPunct="1"/>
              <a:t>20</a:t>
            </a:fld>
            <a:endParaRPr lang="en-GB" altLang="it-IT" sz="1300" b="0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22021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8B5BEB5-95FE-403B-BEF9-60AE8A8C0107}" type="slidenum">
              <a:rPr lang="en-GB" altLang="it-IT" sz="1300" b="0"/>
              <a:pPr eaLnBrk="1" hangingPunct="1"/>
              <a:t>21</a:t>
            </a:fld>
            <a:endParaRPr lang="en-GB" altLang="it-IT" sz="1300" b="0"/>
          </a:p>
        </p:txBody>
      </p:sp>
      <p:sp>
        <p:nvSpPr>
          <p:cNvPr id="34816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4816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1686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CDCFE2B-B8E3-433E-A4EE-CCFB363C5534}" type="slidenum">
              <a:rPr lang="en-GB" altLang="it-IT" sz="1300" b="0"/>
              <a:pPr eaLnBrk="1" hangingPunct="1"/>
              <a:t>23</a:t>
            </a:fld>
            <a:endParaRPr lang="en-GB" altLang="it-IT" sz="1300" b="0"/>
          </a:p>
        </p:txBody>
      </p:sp>
      <p:sp>
        <p:nvSpPr>
          <p:cNvPr id="364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0905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FF1DF2A-22D2-4C45-8ED1-26BBBB731A8D}" type="slidenum">
              <a:rPr lang="en-GB" altLang="it-IT" sz="1300" b="0"/>
              <a:pPr eaLnBrk="1" hangingPunct="1"/>
              <a:t>24</a:t>
            </a:fld>
            <a:endParaRPr lang="en-GB" altLang="it-IT" sz="1300" b="0"/>
          </a:p>
        </p:txBody>
      </p:sp>
      <p:sp>
        <p:nvSpPr>
          <p:cNvPr id="3655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55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78921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54137EC-1C9C-446A-B141-0C5FBE0F8E42}" type="slidenum">
              <a:rPr lang="en-GB" altLang="it-IT" sz="1300" b="0"/>
              <a:pPr eaLnBrk="1" hangingPunct="1"/>
              <a:t>25</a:t>
            </a:fld>
            <a:endParaRPr lang="en-GB" altLang="it-IT" sz="1300" b="0"/>
          </a:p>
        </p:txBody>
      </p:sp>
      <p:sp>
        <p:nvSpPr>
          <p:cNvPr id="425986" name="Rectangle 1026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25987" name="Rectangle 1027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707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CD734F1-EF75-4FF4-AFA7-503C75A00523}" type="slidenum">
              <a:rPr lang="en-GB" altLang="it-IT" sz="1300" b="0"/>
              <a:pPr eaLnBrk="1" hangingPunct="1"/>
              <a:t>26</a:t>
            </a:fld>
            <a:endParaRPr lang="en-GB" altLang="it-IT" sz="1300" b="0"/>
          </a:p>
        </p:txBody>
      </p:sp>
      <p:sp>
        <p:nvSpPr>
          <p:cNvPr id="367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761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6815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A8D38CD-502F-4A50-B15C-57D859C63D4A}" type="slidenum">
              <a:rPr lang="en-GB" altLang="it-IT" sz="1300" b="0"/>
              <a:pPr eaLnBrk="1" hangingPunct="1"/>
              <a:t>27</a:t>
            </a:fld>
            <a:endParaRPr lang="en-GB" altLang="it-IT" sz="1300" b="0"/>
          </a:p>
        </p:txBody>
      </p:sp>
      <p:sp>
        <p:nvSpPr>
          <p:cNvPr id="3840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40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latin typeface="Times New Roman" panose="02020603050405020304" pitchFamily="18" charset="0"/>
              </a:rPr>
              <a:t>L'overfitting pu</a:t>
            </a:r>
            <a:r>
              <a:rPr lang="en-US" altLang="ja-JP">
                <a:latin typeface="Times New Roman" panose="02020603050405020304" pitchFamily="18" charset="0"/>
              </a:rPr>
              <a:t>ò succedere quando c' </a:t>
            </a:r>
            <a:r>
              <a:rPr lang="en-US" altLang="ja-JP">
                <a:latin typeface="Arial" panose="020B0604020202020204" pitchFamily="34" charset="0"/>
              </a:rPr>
              <a:t>è </a:t>
            </a:r>
            <a:r>
              <a:rPr lang="en-US" altLang="ja-JP">
                <a:latin typeface="Times New Roman" panose="02020603050405020304" pitchFamily="18" charset="0"/>
              </a:rPr>
              <a:t>rumore nei dati.</a:t>
            </a:r>
            <a:endParaRPr lang="en-US" altLang="it-IT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3693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B24652D7-35B0-423A-AAF1-AC6FE7D84A80}" type="slidenum">
              <a:rPr lang="en-GB" altLang="it-IT" sz="1300" b="0"/>
              <a:pPr eaLnBrk="1" hangingPunct="1"/>
              <a:t>28</a:t>
            </a:fld>
            <a:endParaRPr lang="en-GB" altLang="it-IT" sz="1300" b="0"/>
          </a:p>
        </p:txBody>
      </p:sp>
      <p:sp>
        <p:nvSpPr>
          <p:cNvPr id="3891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91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it-IT">
                <a:latin typeface="Times New Roman" panose="02020603050405020304" pitchFamily="18" charset="0"/>
              </a:rPr>
              <a:t>L' errore sul training e' minore e quindi ci appare come la migliore ipotesi</a:t>
            </a:r>
          </a:p>
          <a:p>
            <a:pPr eaLnBrk="1" hangingPunct="1"/>
            <a:r>
              <a:rPr lang="en-US" altLang="it-IT">
                <a:latin typeface="Times New Roman" panose="02020603050405020304" pitchFamily="18" charset="0"/>
              </a:rPr>
              <a:t>Ma l' errore nello spazio di tutti I possibili dati </a:t>
            </a:r>
            <a:r>
              <a:rPr lang="en-US" altLang="ja-JP">
                <a:latin typeface="Arial" panose="020B0604020202020204" pitchFamily="34" charset="0"/>
              </a:rPr>
              <a:t>è </a:t>
            </a:r>
            <a:r>
              <a:rPr lang="en-US" altLang="ja-JP">
                <a:latin typeface="Times New Roman" panose="02020603050405020304" pitchFamily="18" charset="0"/>
              </a:rPr>
              <a:t>maggiore.</a:t>
            </a:r>
            <a:endParaRPr lang="en-US" altLang="it-IT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396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22BEFCA-E6DB-4FA8-8283-64F9BB639810}" type="slidenum">
              <a:rPr lang="en-GB" altLang="it-IT" sz="1300" b="0"/>
              <a:pPr eaLnBrk="1" hangingPunct="1"/>
              <a:t>29</a:t>
            </a:fld>
            <a:endParaRPr lang="en-GB" altLang="it-IT" sz="1300" b="0"/>
          </a:p>
        </p:txBody>
      </p:sp>
      <p:sp>
        <p:nvSpPr>
          <p:cNvPr id="38605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60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it-IT">
                <a:latin typeface="Times New Roman" panose="02020603050405020304" pitchFamily="18" charset="0"/>
              </a:rPr>
              <a:t>L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it-IT">
                <a:latin typeface="Times New Roman" panose="02020603050405020304" pitchFamily="18" charset="0"/>
              </a:rPr>
              <a:t> esempio D15 è sbagliato, introduce rumore nei dati.</a:t>
            </a:r>
          </a:p>
        </p:txBody>
      </p:sp>
    </p:spTree>
    <p:extLst>
      <p:ext uri="{BB962C8B-B14F-4D97-AF65-F5344CB8AC3E}">
        <p14:creationId xmlns:p14="http://schemas.microsoft.com/office/powerpoint/2010/main" val="10297724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3D4BF182-FAC2-416F-A322-5B1637EA815C}" type="slidenum">
              <a:rPr lang="en-GB" altLang="it-IT" sz="1300" b="0"/>
              <a:pPr eaLnBrk="1" hangingPunct="1"/>
              <a:t>30</a:t>
            </a:fld>
            <a:endParaRPr lang="en-GB" altLang="it-IT" sz="1300" b="0"/>
          </a:p>
        </p:txBody>
      </p:sp>
      <p:sp>
        <p:nvSpPr>
          <p:cNvPr id="36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6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The example shows that noise can lead to </a:t>
            </a:r>
            <a:r>
              <a:rPr lang="en-US" dirty="0" err="1">
                <a:ea typeface="ＭＳ Ｐゴシック" charset="0"/>
                <a:cs typeface="+mn-cs"/>
              </a:rPr>
              <a:t>overfitting</a:t>
            </a:r>
            <a:r>
              <a:rPr lang="en-US" dirty="0">
                <a:ea typeface="ＭＳ Ｐゴシック" charset="0"/>
                <a:cs typeface="+mn-cs"/>
              </a:rPr>
              <a:t>. </a:t>
            </a:r>
          </a:p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Overfitting</a:t>
            </a:r>
            <a:r>
              <a:rPr lang="en-US" dirty="0">
                <a:ea typeface="ＭＳ Ｐゴシック" charset="0"/>
                <a:cs typeface="+mn-cs"/>
              </a:rPr>
              <a:t> without noise is also possible, especially when </a:t>
            </a:r>
            <a:r>
              <a:rPr lang="en-US" dirty="0" err="1">
                <a:ea typeface="ＭＳ Ｐゴシック" charset="0"/>
                <a:cs typeface="+mn-cs"/>
              </a:rPr>
              <a:t>classifcation</a:t>
            </a:r>
            <a:r>
              <a:rPr lang="en-US" dirty="0">
                <a:ea typeface="ＭＳ Ｐゴシック" charset="0"/>
                <a:cs typeface="+mn-cs"/>
              </a:rPr>
              <a:t> decision on the leafs are based on few examples. Uniform classification may be a coincidence.</a:t>
            </a:r>
          </a:p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This is a potential cause of </a:t>
            </a:r>
            <a:r>
              <a:rPr lang="en-US" dirty="0" err="1">
                <a:ea typeface="ＭＳ Ｐゴシック" charset="0"/>
                <a:cs typeface="+mn-cs"/>
              </a:rPr>
              <a:t>overfitting</a:t>
            </a:r>
            <a:r>
              <a:rPr lang="en-US" dirty="0">
                <a:ea typeface="ＭＳ Ｐゴシック" charset="0"/>
                <a:cs typeface="+mn-cs"/>
              </a:rPr>
              <a:t>.</a:t>
            </a:r>
          </a:p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Overfitting</a:t>
            </a:r>
            <a:r>
              <a:rPr lang="en-US" dirty="0">
                <a:ea typeface="ＭＳ Ｐゴシック" charset="0"/>
                <a:cs typeface="+mn-cs"/>
              </a:rPr>
              <a:t> is a significant problem for DT, reducing the accuracy to 10-25% on many problems.</a:t>
            </a:r>
          </a:p>
        </p:txBody>
      </p:sp>
    </p:spTree>
    <p:extLst>
      <p:ext uri="{BB962C8B-B14F-4D97-AF65-F5344CB8AC3E}">
        <p14:creationId xmlns:p14="http://schemas.microsoft.com/office/powerpoint/2010/main" val="9617670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D5F4D43C-9525-4C9B-AF50-B9377F4F1F39}" type="slidenum">
              <a:rPr lang="en-GB" altLang="it-IT" sz="1300" b="0"/>
              <a:pPr eaLnBrk="1" hangingPunct="1"/>
              <a:t>31</a:t>
            </a:fld>
            <a:endParaRPr lang="en-GB" altLang="it-IT" sz="1300" b="0"/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ID3 is used to learn which medical patients have a form of diabetes. </a:t>
            </a:r>
          </a:p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Horizontal axis reports number of nodes in the tree </a:t>
            </a:r>
          </a:p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Vertical axis the accuracy of the prediction </a:t>
            </a:r>
          </a:p>
          <a:p>
            <a:pPr eaLnBrk="1" hangingPunct="1">
              <a:defRPr/>
            </a:pPr>
            <a:r>
              <a:rPr lang="en-US" dirty="0">
                <a:ea typeface="ＭＳ Ｐゴシック" charset="0"/>
                <a:cs typeface="+mn-cs"/>
              </a:rPr>
              <a:t>The accuracy on the training keeps growing while accuracy on the test data grows up to trees with 25 node then starts decreasing.</a:t>
            </a:r>
          </a:p>
          <a:p>
            <a:pPr eaLnBrk="1" hangingPunct="1">
              <a:defRPr/>
            </a:pP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17756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48704A2-A8E4-459F-A46E-9FB574D400B9}" type="slidenum">
              <a:rPr lang="en-GB" altLang="it-IT" sz="1300" b="0"/>
              <a:pPr eaLnBrk="1" hangingPunct="1"/>
              <a:t>32</a:t>
            </a:fld>
            <a:endParaRPr lang="en-GB" altLang="it-IT" sz="1300" b="0"/>
          </a:p>
        </p:txBody>
      </p:sp>
      <p:sp>
        <p:nvSpPr>
          <p:cNvPr id="37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it-IT">
                <a:latin typeface="Times New Roman" panose="02020603050405020304" pitchFamily="18" charset="0"/>
              </a:rPr>
              <a:t>Usando tutti dati di training, un test statistico può predire l</a:t>
            </a:r>
            <a:r>
              <a:rPr lang="en-US" altLang="en-US">
                <a:latin typeface="Times New Roman" panose="02020603050405020304" pitchFamily="18" charset="0"/>
              </a:rPr>
              <a:t>’</a:t>
            </a:r>
            <a:r>
              <a:rPr lang="en-US" altLang="it-IT">
                <a:latin typeface="Times New Roman" panose="02020603050405020304" pitchFamily="18" charset="0"/>
              </a:rPr>
              <a:t> influenza delle decisioni se espandere (o potare) sulle prestazioni su tutto X.</a:t>
            </a:r>
          </a:p>
          <a:p>
            <a:pPr eaLnBrk="1" hangingPunct="1"/>
            <a:r>
              <a:rPr lang="en-US" altLang="it-IT" i="1">
                <a:latin typeface="Times New Roman" panose="02020603050405020304" pitchFamily="18" charset="0"/>
              </a:rPr>
              <a:t>Minimum description length principle, </a:t>
            </a:r>
            <a:r>
              <a:rPr lang="en-US" altLang="it-IT">
                <a:latin typeface="Times New Roman" panose="02020603050405020304" pitchFamily="18" charset="0"/>
              </a:rPr>
              <a:t>un principio di compattezza della rappresentazione</a:t>
            </a:r>
            <a:r>
              <a:rPr lang="en-US" altLang="it-IT" i="1">
                <a:latin typeface="Times New Roman" panose="02020603050405020304" pitchFamily="18" charset="0"/>
              </a:rPr>
              <a:t>.</a:t>
            </a:r>
            <a:endParaRPr lang="en-US" altLang="it-IT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9554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59C5A75-A73C-4D6A-BD86-BDCA0B3E82D6}" type="slidenum">
              <a:rPr lang="en-GB" altLang="it-IT" sz="1300" b="0"/>
              <a:pPr eaLnBrk="1" hangingPunct="1"/>
              <a:t>34</a:t>
            </a:fld>
            <a:endParaRPr lang="en-GB" altLang="it-IT" sz="1300" b="0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Potatura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sulla</a:t>
            </a:r>
            <a:r>
              <a:rPr lang="en-US" dirty="0">
                <a:ea typeface="ＭＳ Ｐゴシック" charset="0"/>
                <a:cs typeface="+mn-cs"/>
              </a:rPr>
              <a:t> base di </a:t>
            </a:r>
            <a:r>
              <a:rPr lang="en-US" dirty="0" err="1">
                <a:ea typeface="ＭＳ Ｐゴシック" charset="0"/>
                <a:cs typeface="+mn-cs"/>
              </a:rPr>
              <a:t>errori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ridotti</a:t>
            </a:r>
            <a:r>
              <a:rPr lang="en-US" dirty="0">
                <a:ea typeface="ＭＳ Ｐゴシック" charset="0"/>
                <a:cs typeface="+mn-cs"/>
              </a:rPr>
              <a:t>, </a:t>
            </a:r>
            <a:r>
              <a:rPr lang="en-US" dirty="0" err="1">
                <a:ea typeface="ＭＳ Ｐゴシック" charset="0"/>
                <a:cs typeface="+mn-cs"/>
              </a:rPr>
              <a:t>valutati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sul</a:t>
            </a:r>
            <a:r>
              <a:rPr lang="en-US" dirty="0">
                <a:ea typeface="ＭＳ Ｐゴシック" charset="0"/>
                <a:cs typeface="+mn-cs"/>
              </a:rPr>
              <a:t> validation set.</a:t>
            </a:r>
          </a:p>
        </p:txBody>
      </p:sp>
    </p:spTree>
    <p:extLst>
      <p:ext uri="{BB962C8B-B14F-4D97-AF65-F5344CB8AC3E}">
        <p14:creationId xmlns:p14="http://schemas.microsoft.com/office/powerpoint/2010/main" val="2183654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B202C2D-E654-4373-955F-68E22A96A5AB}" type="slidenum">
              <a:rPr lang="en-GB" altLang="it-IT" sz="1300" b="0"/>
              <a:pPr eaLnBrk="1" hangingPunct="1"/>
              <a:t>35</a:t>
            </a:fld>
            <a:endParaRPr lang="en-GB" altLang="it-IT" sz="1300" b="0"/>
          </a:p>
        </p:txBody>
      </p:sp>
      <p:sp>
        <p:nvSpPr>
          <p:cNvPr id="37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ＭＳ Ｐゴシック" charset="0"/>
                <a:cs typeface="+mn-cs"/>
              </a:rPr>
              <a:t>The new line shows accuracy on test data</a:t>
            </a:r>
          </a:p>
        </p:txBody>
      </p:sp>
    </p:spTree>
    <p:extLst>
      <p:ext uri="{BB962C8B-B14F-4D97-AF65-F5344CB8AC3E}">
        <p14:creationId xmlns:p14="http://schemas.microsoft.com/office/powerpoint/2010/main" val="6248955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AD109F7-7A62-4E61-9BFF-B62AB9B314F7}" type="slidenum">
              <a:rPr lang="en-GB" altLang="it-IT" sz="1300" b="0"/>
              <a:pPr eaLnBrk="1" hangingPunct="1"/>
              <a:t>36</a:t>
            </a:fld>
            <a:endParaRPr lang="en-GB" altLang="it-IT" sz="1300" b="0"/>
          </a:p>
        </p:txBody>
      </p:sp>
      <p:sp>
        <p:nvSpPr>
          <p:cNvPr id="37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5157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4D957BD5-EB20-44B3-9ADA-542255C859AD}" type="slidenum">
              <a:rPr lang="en-GB" altLang="it-IT" sz="1300" b="0"/>
              <a:pPr eaLnBrk="1" hangingPunct="1"/>
              <a:t>37</a:t>
            </a:fld>
            <a:endParaRPr lang="en-GB" altLang="it-IT" sz="1300" b="0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6012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0648F84C-8E8F-4770-8D14-FDC300B86F5D}" type="slidenum">
              <a:rPr lang="en-GB" altLang="it-IT" sz="1300" b="0"/>
              <a:pPr eaLnBrk="1" hangingPunct="1"/>
              <a:t>38</a:t>
            </a:fld>
            <a:endParaRPr lang="en-GB" altLang="it-IT" sz="1300" b="0"/>
          </a:p>
        </p:txBody>
      </p:sp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83022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1F2C213B-B100-496A-89DE-DB8C1E0CB1A0}" type="slidenum">
              <a:rPr lang="en-GB" altLang="it-IT" sz="1300" b="0"/>
              <a:pPr eaLnBrk="1" hangingPunct="1"/>
              <a:t>39</a:t>
            </a:fld>
            <a:endParaRPr lang="en-GB" altLang="it-IT" sz="1300" b="0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175894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9B5F3D2-1ABD-4D54-944A-AAED46D400C5}" type="slidenum">
              <a:rPr lang="en-GB" altLang="it-IT" sz="1300" b="0"/>
              <a:pPr eaLnBrk="1" hangingPunct="1"/>
              <a:t>41</a:t>
            </a:fld>
            <a:endParaRPr lang="en-GB" altLang="it-IT" sz="1300" b="0"/>
          </a:p>
        </p:txBody>
      </p:sp>
      <p:sp>
        <p:nvSpPr>
          <p:cNvPr id="37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5095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1C5138F-3C80-4903-8458-A87F29DB0AFF}" type="slidenum">
              <a:rPr lang="en-GB" altLang="it-IT" sz="1300" b="0"/>
              <a:pPr eaLnBrk="1" hangingPunct="1"/>
              <a:t>43</a:t>
            </a:fld>
            <a:endParaRPr lang="en-GB" altLang="it-IT" sz="1300" b="0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Caso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limite</a:t>
            </a:r>
            <a:r>
              <a:rPr lang="en-US" dirty="0">
                <a:ea typeface="ＭＳ Ｐゴシック" charset="0"/>
                <a:cs typeface="+mn-cs"/>
              </a:rPr>
              <a:t> |S1|=0 |S2|=n</a:t>
            </a:r>
          </a:p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SplitInformation</a:t>
            </a:r>
            <a:r>
              <a:rPr lang="en-US" dirty="0">
                <a:ea typeface="ＭＳ Ｐゴシック" charset="0"/>
                <a:cs typeface="+mn-cs"/>
              </a:rPr>
              <a:t> = - [0/n * log 0/n + n/n * log n/n] = - 0 - 0 = 0</a:t>
            </a:r>
          </a:p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GainRatio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indefinito</a:t>
            </a: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7191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1C5138F-3C80-4903-8458-A87F29DB0AFF}" type="slidenum">
              <a:rPr lang="en-GB" altLang="it-IT" sz="1300" b="0"/>
              <a:pPr eaLnBrk="1" hangingPunct="1"/>
              <a:t>44</a:t>
            </a:fld>
            <a:endParaRPr lang="en-GB" altLang="it-IT" sz="1300" b="0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Caso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limite</a:t>
            </a:r>
            <a:r>
              <a:rPr lang="en-US" dirty="0">
                <a:ea typeface="ＭＳ Ｐゴシック" charset="0"/>
                <a:cs typeface="+mn-cs"/>
              </a:rPr>
              <a:t> |S1|=0 |S2|=n</a:t>
            </a:r>
          </a:p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SplitInformation</a:t>
            </a:r>
            <a:r>
              <a:rPr lang="en-US" dirty="0">
                <a:ea typeface="ＭＳ Ｐゴシック" charset="0"/>
                <a:cs typeface="+mn-cs"/>
              </a:rPr>
              <a:t> = - [0/n * log 0/n + n/n * log n/n] = - 0 - 0 = 0</a:t>
            </a:r>
          </a:p>
          <a:p>
            <a:pPr eaLnBrk="1" hangingPunct="1">
              <a:defRPr/>
            </a:pPr>
            <a:r>
              <a:rPr lang="en-US" dirty="0" err="1">
                <a:ea typeface="ＭＳ Ｐゴシック" charset="0"/>
                <a:cs typeface="+mn-cs"/>
              </a:rPr>
              <a:t>GainRatio</a:t>
            </a:r>
            <a:r>
              <a:rPr lang="en-US" dirty="0">
                <a:ea typeface="ＭＳ Ｐゴシック" charset="0"/>
                <a:cs typeface="+mn-cs"/>
              </a:rPr>
              <a:t> </a:t>
            </a:r>
            <a:r>
              <a:rPr lang="en-US" dirty="0" err="1">
                <a:ea typeface="ＭＳ Ｐゴシック" charset="0"/>
                <a:cs typeface="+mn-cs"/>
              </a:rPr>
              <a:t>indefinito</a:t>
            </a:r>
            <a:endParaRPr lang="en-US" dirty="0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4189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E3EAF4F3-BF35-4EFD-9AD6-443DFCBDFC2D}" type="slidenum">
              <a:rPr lang="en-GB" altLang="it-IT" sz="1300" b="0"/>
              <a:pPr eaLnBrk="1" hangingPunct="1"/>
              <a:t>45</a:t>
            </a:fld>
            <a:endParaRPr lang="en-GB" altLang="it-IT" sz="1300" b="0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51593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66788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AC0B2FEF-069D-4706-9248-6EEA6C79198F}" type="slidenum">
              <a:rPr lang="en-GB" altLang="it-IT" sz="1300" b="0"/>
              <a:pPr eaLnBrk="1" hangingPunct="1"/>
              <a:t>46</a:t>
            </a:fld>
            <a:endParaRPr lang="en-GB" altLang="it-IT" sz="1300" b="0"/>
          </a:p>
        </p:txBody>
      </p:sp>
      <p:sp>
        <p:nvSpPr>
          <p:cNvPr id="37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7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0074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1" y="489988"/>
            <a:ext cx="8637588" cy="62324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328614" y="1456135"/>
            <a:ext cx="8208963" cy="30861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fld id="{B2135F13-6ABF-42CC-B118-76893021640E}" type="slidenum">
              <a:rPr lang="en-GB" altLang="it-IT"/>
              <a:pPr/>
              <a:t>‹#›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3294072676"/>
      </p:ext>
    </p:extLst>
  </p:cSld>
  <p:clrMapOvr>
    <a:masterClrMapping/>
  </p:clrMapOvr>
  <p:transition spd="med">
    <p:randomBar dir="vert"/>
    <p:sndAc>
      <p:stSnd>
        <p:snd r:embed="rId1" name="camera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3/17/2025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4" Type="http://schemas.openxmlformats.org/officeDocument/2006/relationships/image" Target="../media/image22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85950" y="1663303"/>
            <a:ext cx="5829300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Decision tree learning </a:t>
            </a:r>
            <a:endParaRPr lang="en-GB">
              <a:ea typeface="+mj-ea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853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50194" y="357187"/>
            <a:ext cx="6478191" cy="577454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300" dirty="0"/>
              <a:t>Inductive inference with decision trees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 sz="2100" i="1" dirty="0"/>
              <a:t>Decision Trees</a:t>
            </a:r>
            <a:r>
              <a:rPr lang="en-US" sz="2100" dirty="0"/>
              <a:t> is one of the most widely used and practical methods of </a:t>
            </a:r>
            <a:r>
              <a:rPr lang="en-US" sz="2100" i="1" dirty="0"/>
              <a:t>inductive inference </a:t>
            </a:r>
            <a:r>
              <a:rPr lang="en-US" sz="2100" dirty="0"/>
              <a:t>(i.e., </a:t>
            </a:r>
            <a:r>
              <a:rPr lang="en-US" sz="2100" u="sng" dirty="0"/>
              <a:t>from examples to general rules</a:t>
            </a:r>
            <a:r>
              <a:rPr lang="en-US" sz="2100" dirty="0"/>
              <a:t>)</a:t>
            </a:r>
            <a:endParaRPr lang="en-US" altLang="ja-JP" sz="2100" dirty="0"/>
          </a:p>
          <a:p>
            <a:pPr eaLnBrk="1" hangingPunct="1">
              <a:buFont typeface="Wingdings" charset="0"/>
              <a:buChar char="§"/>
              <a:defRPr/>
            </a:pPr>
            <a:r>
              <a:rPr lang="en-US" altLang="ja-JP" sz="2100" dirty="0"/>
              <a:t>Features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sz="1800" dirty="0"/>
              <a:t>Method for approximating </a:t>
            </a:r>
            <a:r>
              <a:rPr lang="en-US" sz="1800" i="1" dirty="0"/>
              <a:t>discrete-valued</a:t>
            </a:r>
            <a:r>
              <a:rPr lang="en-US" sz="1800" dirty="0"/>
              <a:t> functions (including </a:t>
            </a:r>
            <a:r>
              <a:rPr lang="en-US" sz="1800" dirty="0" err="1"/>
              <a:t>boolean</a:t>
            </a:r>
            <a:r>
              <a:rPr lang="en-US" sz="1800" dirty="0"/>
              <a:t>) 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altLang="ja-JP" sz="1800" dirty="0"/>
              <a:t>Learned functions are represented as </a:t>
            </a:r>
            <a:r>
              <a:rPr lang="en-US" altLang="ja-JP" sz="1800" i="1" dirty="0"/>
              <a:t>decision trees </a:t>
            </a:r>
            <a:r>
              <a:rPr lang="en-US" altLang="ja-JP" sz="1800" dirty="0"/>
              <a:t>(or </a:t>
            </a:r>
            <a:r>
              <a:rPr lang="en-US" altLang="ja-JP" sz="1800" i="1" dirty="0"/>
              <a:t>if-then-else </a:t>
            </a:r>
            <a:r>
              <a:rPr lang="en-US" altLang="ja-JP" sz="1800" dirty="0"/>
              <a:t>rules</a:t>
            </a:r>
            <a:r>
              <a:rPr lang="en-US" altLang="ja-JP" sz="1800" i="1" dirty="0"/>
              <a:t>)</a:t>
            </a:r>
            <a:endParaRPr lang="en-US" sz="1800" dirty="0"/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sz="1800" dirty="0"/>
              <a:t>Expressive hypotheses space, including disjunction (</a:t>
            </a:r>
            <a:r>
              <a:rPr lang="en-US" sz="1800" u="sng" dirty="0"/>
              <a:t>any Boolean function</a:t>
            </a:r>
            <a:r>
              <a:rPr lang="en-US" sz="1800" dirty="0"/>
              <a:t>)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sz="1800" dirty="0"/>
              <a:t>Robust to noisy data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498740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33600" y="209550"/>
            <a:ext cx="901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Dataset</a:t>
            </a:r>
            <a:endParaRPr lang="it-IT" dirty="0"/>
          </a:p>
        </p:txBody>
      </p:sp>
      <p:sp>
        <p:nvSpPr>
          <p:cNvPr id="6" name="TextBox 5"/>
          <p:cNvSpPr txBox="1"/>
          <p:nvPr/>
        </p:nvSpPr>
        <p:spPr>
          <a:xfrm>
            <a:off x="81662" y="2110085"/>
            <a:ext cx="319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The play tennis problem</a:t>
            </a:r>
            <a:endParaRPr lang="it-IT" sz="24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6337980-738C-9225-6125-A68BEC5B6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628650"/>
            <a:ext cx="5472814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5117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303610"/>
            <a:ext cx="6478191" cy="57745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300" dirty="0"/>
              <a:t>Decision tree representation (</a:t>
            </a:r>
            <a:r>
              <a:rPr lang="en-US" sz="3300" dirty="0" err="1"/>
              <a:t>PlayTennis</a:t>
            </a:r>
            <a:r>
              <a:rPr lang="en-US" sz="3300" dirty="0"/>
              <a:t>)</a:t>
            </a:r>
          </a:p>
        </p:txBody>
      </p:sp>
      <p:pic>
        <p:nvPicPr>
          <p:cNvPr id="329732" name="Picture 4"/>
          <p:cNvPicPr>
            <a:picLocks noGrp="1" noChangeAspect="1" noChangeArrowheads="1"/>
          </p:cNvPicPr>
          <p:nvPr>
            <p:ph type="dgm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6200" y="1172766"/>
            <a:ext cx="5257800" cy="30861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sp>
        <p:nvSpPr>
          <p:cNvPr id="329733" name="Text Box 5"/>
          <p:cNvSpPr txBox="1">
            <a:spLocks noChangeArrowheads="1"/>
          </p:cNvSpPr>
          <p:nvPr/>
        </p:nvSpPr>
        <p:spPr bwMode="auto">
          <a:xfrm>
            <a:off x="3773171" y="4550569"/>
            <a:ext cx="5370829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dirty="0">
                <a:latin typeface="Times New Roman" charset="0"/>
                <a:ea typeface="ＭＳ Ｐゴシック" charset="0"/>
                <a:sym typeface="Symbol" charset="0"/>
              </a:rPr>
              <a:t></a:t>
            </a:r>
            <a:r>
              <a:rPr lang="en-US" sz="1500" i="1" dirty="0">
                <a:latin typeface="Times New Roman" charset="0"/>
                <a:ea typeface="ＭＳ Ｐゴシック" charset="0"/>
              </a:rPr>
              <a:t>Outlook=Sunny, Temp=Hot, Humidity=High, Wind=Strong</a:t>
            </a:r>
            <a:r>
              <a:rPr lang="en-US" sz="1500" dirty="0">
                <a:latin typeface="Times New Roman" charset="0"/>
                <a:ea typeface="ＭＳ Ｐゴシック" charset="0"/>
                <a:sym typeface="Symbol" charset="0"/>
              </a:rPr>
              <a:t>     No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81150"/>
            <a:ext cx="5061719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94687"/>
      </p:ext>
    </p:extLst>
  </p:cSld>
  <p:clrMapOvr>
    <a:masterClrMapping/>
  </p:clrMapOvr>
  <p:transition spd="med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9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029" y="2301479"/>
            <a:ext cx="4057650" cy="2382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352426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Decision trees expressivity</a:t>
            </a:r>
          </a:p>
        </p:txBody>
      </p:sp>
      <p:sp>
        <p:nvSpPr>
          <p:cNvPr id="339971" name="Rectangle 3"/>
          <p:cNvSpPr>
            <a:spLocks noGrp="1" noChangeArrowheads="1"/>
          </p:cNvSpPr>
          <p:nvPr>
            <p:ph idx="1"/>
          </p:nvPr>
        </p:nvSpPr>
        <p:spPr>
          <a:xfrm>
            <a:off x="1439466" y="1059656"/>
            <a:ext cx="6343650" cy="367188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 eaLnBrk="1" hangingPunct="1"/>
            <a:r>
              <a:rPr lang="en-US" altLang="it-IT" sz="1600" dirty="0"/>
              <a:t>Decision trees represent a disjunction of conjunctions on constraints on the value of attributes: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it-IT" sz="1600" dirty="0">
                <a:latin typeface="Times New Roman" panose="02020603050405020304" pitchFamily="18" charset="0"/>
              </a:rPr>
              <a:t>(</a:t>
            </a:r>
            <a:r>
              <a:rPr lang="en-US" altLang="it-IT" sz="1600" i="1" dirty="0">
                <a:latin typeface="Times New Roman" panose="02020603050405020304" pitchFamily="18" charset="0"/>
              </a:rPr>
              <a:t>Outlook = Sunny </a:t>
            </a:r>
            <a:r>
              <a:rPr lang="en-US" altLang="it-IT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it-IT" sz="1600" i="1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00" i="1" dirty="0">
                <a:latin typeface="Times New Roman" panose="02020603050405020304" pitchFamily="18" charset="0"/>
              </a:rPr>
              <a:t>Humidity = Normal</a:t>
            </a:r>
            <a:r>
              <a:rPr lang="en-US" altLang="it-IT" sz="1600" dirty="0">
                <a:latin typeface="Times New Roman" panose="02020603050405020304" pitchFamily="18" charset="0"/>
              </a:rPr>
              <a:t>) </a:t>
            </a:r>
            <a:r>
              <a:rPr lang="en-US" altLang="it-IT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it-IT" sz="1600" dirty="0">
                <a:latin typeface="Times New Roman" panose="02020603050405020304" pitchFamily="18" charset="0"/>
              </a:rPr>
              <a:t>(</a:t>
            </a:r>
            <a:r>
              <a:rPr lang="en-US" altLang="it-IT" sz="1600" i="1" dirty="0">
                <a:latin typeface="Times New Roman" panose="02020603050405020304" pitchFamily="18" charset="0"/>
              </a:rPr>
              <a:t>Outlook = Overcast</a:t>
            </a:r>
            <a:r>
              <a:rPr lang="en-US" altLang="it-IT" sz="1600" dirty="0">
                <a:latin typeface="Times New Roman" panose="02020603050405020304" pitchFamily="18" charset="0"/>
              </a:rPr>
              <a:t>) </a:t>
            </a:r>
            <a:r>
              <a:rPr lang="en-US" altLang="it-IT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it-IT" sz="1600" dirty="0">
                <a:latin typeface="Times New Roman" panose="02020603050405020304" pitchFamily="18" charset="0"/>
              </a:rPr>
              <a:t>(</a:t>
            </a:r>
            <a:r>
              <a:rPr lang="en-US" altLang="it-IT" sz="1600" i="1" dirty="0">
                <a:latin typeface="Times New Roman" panose="02020603050405020304" pitchFamily="18" charset="0"/>
              </a:rPr>
              <a:t>Outlook = Rain </a:t>
            </a:r>
            <a:r>
              <a:rPr lang="en-US" altLang="it-IT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it-IT" sz="1600" i="1" dirty="0">
                <a:latin typeface="Times New Roman" panose="02020603050405020304" pitchFamily="18" charset="0"/>
                <a:sym typeface="Symbol" panose="05050102010706020507" pitchFamily="18" charset="2"/>
              </a:rPr>
              <a:t>Wind = Weak</a:t>
            </a:r>
            <a:r>
              <a:rPr lang="en-US" altLang="it-IT" sz="1600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7457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71550"/>
            <a:ext cx="3880652" cy="3505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76800" y="2038350"/>
                <a:ext cx="3155864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&gt;5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𝑏𝑙𝑢𝑒</m:t>
                      </m:r>
                    </m:oMath>
                    <m:oMath xmlns:m="http://schemas.openxmlformats.org/officeDocument/2006/math"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&gt;3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𝑏𝑙𝑢𝑒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&gt;2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then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𝑔𝑟𝑒𝑦</m:t>
                      </m:r>
                    </m:oMath>
                  </m:oMathPara>
                </a14:m>
                <a:br>
                  <a:rPr lang="en-GB" b="0" i="1" dirty="0">
                    <a:latin typeface="Cambria Math" panose="02040503050406030204" pitchFamily="18" charset="0"/>
                  </a:rPr>
                </a:br>
                <a:r>
                  <a:rPr lang="en-GB" b="0" i="1" dirty="0">
                    <a:latin typeface="Cambria Math" panose="02040503050406030204" pitchFamily="18" charset="0"/>
                  </a:rPr>
                  <a:t>                          </a:t>
                </a:r>
                <a:r>
                  <a:rPr lang="en-GB" b="0" dirty="0">
                    <a:latin typeface="Cambria Math" panose="02040503050406030204" pitchFamily="18" charset="0"/>
                  </a:rPr>
                  <a:t>else</a:t>
                </a:r>
                <a:r>
                  <a:rPr lang="en-GB" b="0" i="1" dirty="0">
                    <a:latin typeface="Cambria Math" panose="02040503050406030204" pitchFamily="18" charset="0"/>
                  </a:rPr>
                  <a:t> blue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    </m:t>
                    </m:r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038350"/>
                <a:ext cx="3155864" cy="1107996"/>
              </a:xfrm>
              <a:prstGeom prst="rect">
                <a:avLst/>
              </a:prstGeom>
              <a:blipFill rotWithShape="0">
                <a:blip r:embed="rId3"/>
                <a:stretch>
                  <a:fillRect b="-109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895600" y="401016"/>
            <a:ext cx="334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Classification Rules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779371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When to use Decision Trees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idx="1"/>
          </p:nvPr>
        </p:nvSpPr>
        <p:spPr>
          <a:xfrm>
            <a:off x="1493044" y="1275160"/>
            <a:ext cx="6156722" cy="30861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Problem characteristics: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Instances can be described by attribute value pairs 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Target function is discrete valued  (classification)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Possibly noisy training data samples</a:t>
            </a:r>
          </a:p>
          <a:p>
            <a:pPr lvl="2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Robust to errors in training data</a:t>
            </a:r>
          </a:p>
          <a:p>
            <a:pPr lvl="2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Missing attribute values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Different </a:t>
            </a:r>
            <a:r>
              <a:rPr lang="en-US" dirty="0">
                <a:solidFill>
                  <a:schemeClr val="accent1"/>
                </a:solidFill>
                <a:ea typeface="+mn-ea"/>
                <a:cs typeface="Tw Cen MT"/>
              </a:rPr>
              <a:t>classification problems</a:t>
            </a:r>
            <a:r>
              <a:rPr lang="en-US" dirty="0">
                <a:ea typeface="+mn-ea"/>
                <a:cs typeface="Tw Cen MT"/>
              </a:rPr>
              <a:t>: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Equipment or medical diagnosis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Credit risk analysis 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Several tasks in 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463844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85888" y="406003"/>
            <a:ext cx="6478191" cy="62388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Top-down induction of Decision Trees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1546622" y="1428750"/>
            <a:ext cx="6156722" cy="3402806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tabLst>
                <a:tab pos="1146572" algn="l"/>
              </a:tabLst>
            </a:pPr>
            <a:r>
              <a:rPr lang="en-US" altLang="it-IT" sz="1650" dirty="0"/>
              <a:t>ID3 (Quinlan, 1986) is a basic algorithm for learning DT's</a:t>
            </a:r>
          </a:p>
          <a:p>
            <a:pPr>
              <a:tabLst>
                <a:tab pos="1146572" algn="l"/>
              </a:tabLst>
            </a:pPr>
            <a:r>
              <a:rPr lang="en-US" altLang="it-IT" sz="1650" dirty="0"/>
              <a:t>Given a training set of examples, the algorithms for building DT performs search in the space of decision trees</a:t>
            </a:r>
          </a:p>
          <a:p>
            <a:pPr>
              <a:tabLst>
                <a:tab pos="1146572" algn="l"/>
              </a:tabLst>
            </a:pPr>
            <a:r>
              <a:rPr lang="en-US" altLang="it-IT" sz="1650" dirty="0"/>
              <a:t>The construction of the tree is </a:t>
            </a:r>
            <a:r>
              <a:rPr lang="en-US" altLang="it-IT" sz="1650" b="1" dirty="0"/>
              <a:t>top-down</a:t>
            </a:r>
            <a:r>
              <a:rPr lang="en-US" altLang="it-IT" sz="1650" dirty="0"/>
              <a:t>. The algorithm is </a:t>
            </a:r>
            <a:r>
              <a:rPr lang="en-US" altLang="it-IT" sz="1650" b="1" dirty="0"/>
              <a:t>greedy</a:t>
            </a:r>
            <a:r>
              <a:rPr lang="en-US" altLang="it-IT" sz="1650" dirty="0"/>
              <a:t>.</a:t>
            </a:r>
          </a:p>
          <a:p>
            <a:pPr>
              <a:tabLst>
                <a:tab pos="1146572" algn="l"/>
              </a:tabLst>
            </a:pPr>
            <a:r>
              <a:rPr lang="en-US" altLang="it-IT" sz="1650" dirty="0"/>
              <a:t>The fundamental question is </a:t>
            </a:r>
            <a:r>
              <a:rPr lang="en-US" altLang="en-US" sz="1650" dirty="0"/>
              <a:t>“</a:t>
            </a:r>
            <a:r>
              <a:rPr lang="en-US" altLang="it-IT" sz="1650" dirty="0"/>
              <a:t>which attribute should be tested next? Which question gives us more information?</a:t>
            </a:r>
            <a:r>
              <a:rPr lang="en-US" altLang="en-US" sz="1650" dirty="0"/>
              <a:t>”</a:t>
            </a:r>
            <a:endParaRPr lang="en-US" altLang="it-IT" sz="1650" dirty="0"/>
          </a:p>
          <a:p>
            <a:pPr>
              <a:tabLst>
                <a:tab pos="1146572" algn="l"/>
              </a:tabLst>
            </a:pPr>
            <a:r>
              <a:rPr lang="en-US" altLang="it-IT" sz="1650" dirty="0"/>
              <a:t>Select the </a:t>
            </a:r>
            <a:r>
              <a:rPr lang="en-US" altLang="it-IT" sz="1650" i="1" dirty="0">
                <a:solidFill>
                  <a:srgbClr val="009999"/>
                </a:solidFill>
              </a:rPr>
              <a:t>best</a:t>
            </a:r>
            <a:r>
              <a:rPr lang="en-US" altLang="it-IT" sz="1650" dirty="0"/>
              <a:t> attribute</a:t>
            </a:r>
          </a:p>
          <a:p>
            <a:pPr>
              <a:tabLst>
                <a:tab pos="1146572" algn="l"/>
              </a:tabLst>
            </a:pPr>
            <a:r>
              <a:rPr lang="en-US" altLang="it-IT" sz="1650" dirty="0"/>
              <a:t>A descendent node is then created for each possible value of this attribute and examples are partitioned according to this value</a:t>
            </a:r>
          </a:p>
          <a:p>
            <a:pPr>
              <a:tabLst>
                <a:tab pos="1146572" algn="l"/>
              </a:tabLst>
            </a:pPr>
            <a:r>
              <a:rPr lang="en-US" altLang="it-IT" sz="1650" dirty="0"/>
              <a:t>The process is repeated for each successor node until all the examples are classified correctly or there are no attributes left</a:t>
            </a:r>
          </a:p>
        </p:txBody>
      </p:sp>
    </p:spTree>
    <p:extLst>
      <p:ext uri="{BB962C8B-B14F-4D97-AF65-F5344CB8AC3E}">
        <p14:creationId xmlns:p14="http://schemas.microsoft.com/office/powerpoint/2010/main" val="1521914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Which attribute is the best classifier?</a:t>
            </a:r>
          </a:p>
        </p:txBody>
      </p:sp>
      <p:sp>
        <p:nvSpPr>
          <p:cNvPr id="311299" name="Rectangle 3"/>
          <p:cNvSpPr>
            <a:spLocks noGrp="1" noChangeArrowheads="1"/>
          </p:cNvSpPr>
          <p:nvPr>
            <p:ph idx="1"/>
          </p:nvPr>
        </p:nvSpPr>
        <p:spPr>
          <a:xfrm>
            <a:off x="1389460" y="2971800"/>
            <a:ext cx="6156722" cy="157043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55000" lnSpcReduction="20000"/>
          </a:bodyPr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A statistical property called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  <a:ea typeface="+mn-ea"/>
                <a:cs typeface="+mn-cs"/>
              </a:rPr>
              <a:t>information gain</a:t>
            </a:r>
            <a:r>
              <a:rPr lang="en-US" dirty="0">
                <a:ea typeface="+mn-ea"/>
                <a:cs typeface="+mn-cs"/>
              </a:rPr>
              <a:t>, measures how well a given attribute </a:t>
            </a:r>
            <a:r>
              <a:rPr lang="en-US" b="1" dirty="0">
                <a:ea typeface="+mn-ea"/>
                <a:cs typeface="+mn-cs"/>
              </a:rPr>
              <a:t>separates</a:t>
            </a:r>
            <a:r>
              <a:rPr lang="en-US" dirty="0">
                <a:ea typeface="+mn-ea"/>
                <a:cs typeface="+mn-cs"/>
              </a:rPr>
              <a:t> the training examples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Information gain uses the notion of </a:t>
            </a:r>
            <a:r>
              <a:rPr lang="en-US" i="1" dirty="0">
                <a:solidFill>
                  <a:srgbClr val="007373"/>
                </a:solidFill>
                <a:ea typeface="+mn-ea"/>
                <a:cs typeface="+mn-cs"/>
              </a:rPr>
              <a:t>entropy</a:t>
            </a:r>
            <a:r>
              <a:rPr lang="en-US" dirty="0">
                <a:ea typeface="+mn-ea"/>
                <a:cs typeface="+mn-cs"/>
              </a:rPr>
              <a:t>, commonly used in information theory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i="1" dirty="0">
                <a:ea typeface="+mn-ea"/>
                <a:cs typeface="+mn-cs"/>
              </a:rPr>
              <a:t>Information gain </a:t>
            </a:r>
            <a:r>
              <a:rPr lang="en-US" dirty="0">
                <a:ea typeface="+mn-ea"/>
                <a:cs typeface="+mn-cs"/>
              </a:rPr>
              <a:t>= </a:t>
            </a:r>
            <a:r>
              <a:rPr lang="en-US" i="1" dirty="0">
                <a:ea typeface="+mn-ea"/>
                <a:cs typeface="+mn-cs"/>
              </a:rPr>
              <a:t>expected reduction of entropy</a:t>
            </a:r>
          </a:p>
        </p:txBody>
      </p:sp>
      <p:pic>
        <p:nvPicPr>
          <p:cNvPr id="3113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1485900"/>
            <a:ext cx="4286250" cy="1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4619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Entropy in binary classification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idx="1"/>
          </p:nvPr>
        </p:nvSpPr>
        <p:spPr>
          <a:xfrm>
            <a:off x="1508094" y="1063229"/>
            <a:ext cx="6286500" cy="37719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it-IT" sz="3100" dirty="0"/>
              <a:t>Entropy </a:t>
            </a:r>
            <a:r>
              <a:rPr lang="en-US" altLang="it-IT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it-IT" sz="3100" dirty="0"/>
              <a:t> measures the </a:t>
            </a:r>
            <a:r>
              <a:rPr lang="en-US" altLang="it-IT" sz="3100" i="1" dirty="0"/>
              <a:t>impurity </a:t>
            </a:r>
            <a:r>
              <a:rPr lang="en-US" altLang="it-IT" sz="3100" dirty="0"/>
              <a:t>of</a:t>
            </a:r>
            <a:r>
              <a:rPr lang="en-US" altLang="it-IT" sz="3100" i="1" dirty="0"/>
              <a:t> </a:t>
            </a:r>
            <a:r>
              <a:rPr lang="en-US" altLang="it-IT" sz="3100" dirty="0"/>
              <a:t>a collection of examples. It depends from the distribution of the random variable</a:t>
            </a:r>
            <a:r>
              <a:rPr lang="en-US" altLang="it-IT" sz="3100" i="1" dirty="0"/>
              <a:t>.</a:t>
            </a:r>
            <a:endParaRPr lang="en-US" altLang="it-IT" sz="3100" dirty="0"/>
          </a:p>
          <a:p>
            <a:pPr lvl="1" eaLnBrk="1" hangingPunct="1">
              <a:lnSpc>
                <a:spcPct val="90000"/>
              </a:lnSpc>
            </a:pPr>
            <a:r>
              <a:rPr lang="en-US" altLang="it-IT" sz="2600" i="1" dirty="0">
                <a:latin typeface="Times New Roman" panose="02020603050405020304" pitchFamily="18" charset="0"/>
              </a:rPr>
              <a:t>S</a:t>
            </a:r>
            <a:r>
              <a:rPr lang="en-US" altLang="it-IT" sz="2600" dirty="0"/>
              <a:t> is a collection of training 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sz="2600" i="1" dirty="0">
                <a:latin typeface="Times New Roman" panose="02020603050405020304" pitchFamily="18" charset="0"/>
              </a:rPr>
              <a:t>p</a:t>
            </a:r>
            <a:r>
              <a:rPr lang="en-US" altLang="it-IT" sz="2600" baseline="-25000" dirty="0">
                <a:latin typeface="Arial" panose="020B0604020202020204" pitchFamily="34" charset="0"/>
              </a:rPr>
              <a:t>+</a:t>
            </a:r>
            <a:r>
              <a:rPr lang="en-US" altLang="it-IT" sz="2600" dirty="0"/>
              <a:t> the proportion of positive examples in </a:t>
            </a:r>
            <a:r>
              <a:rPr lang="en-US" altLang="it-IT" sz="2600" i="1" dirty="0">
                <a:latin typeface="Times New Roman" panose="02020603050405020304" pitchFamily="18" charset="0"/>
              </a:rPr>
              <a:t>S</a:t>
            </a:r>
            <a:endParaRPr lang="en-US" altLang="it-IT" sz="2600" dirty="0"/>
          </a:p>
          <a:p>
            <a:pPr lvl="1" eaLnBrk="1" hangingPunct="1">
              <a:lnSpc>
                <a:spcPct val="90000"/>
              </a:lnSpc>
            </a:pPr>
            <a:r>
              <a:rPr lang="en-US" altLang="it-IT" sz="2600" i="1" dirty="0">
                <a:latin typeface="Times New Roman" panose="02020603050405020304" pitchFamily="18" charset="0"/>
              </a:rPr>
              <a:t>p</a:t>
            </a:r>
            <a:r>
              <a:rPr lang="en-US" altLang="it-IT" sz="2600" baseline="-25000" dirty="0">
                <a:latin typeface="Times" panose="02020603050405020304" pitchFamily="18" charset="0"/>
              </a:rPr>
              <a:t>–</a:t>
            </a:r>
            <a:r>
              <a:rPr lang="en-US" altLang="it-IT" sz="2600" dirty="0"/>
              <a:t> the proportion of negative examples in </a:t>
            </a:r>
            <a:r>
              <a:rPr lang="en-US" altLang="it-IT" sz="2600" i="1" dirty="0">
                <a:latin typeface="Times New Roman" panose="02020603050405020304" pitchFamily="18" charset="0"/>
              </a:rPr>
              <a:t>S</a:t>
            </a:r>
            <a:endParaRPr lang="en-US" altLang="it-IT" sz="2600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350" dirty="0"/>
              <a:t>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350" i="1" dirty="0">
                <a:latin typeface="Times" panose="02020603050405020304" pitchFamily="18" charset="0"/>
              </a:rPr>
              <a:t>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350" i="1" dirty="0">
                <a:latin typeface="Times" panose="02020603050405020304" pitchFamily="18" charset="0"/>
              </a:rPr>
              <a:t>	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it-IT" sz="1350" i="1" dirty="0">
              <a:latin typeface="Times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650" i="1" dirty="0">
                <a:latin typeface="Times" panose="02020603050405020304" pitchFamily="18" charset="0"/>
              </a:rPr>
              <a:t>Entropy </a:t>
            </a:r>
            <a:r>
              <a:rPr lang="en-US" altLang="it-IT" sz="1650" dirty="0">
                <a:latin typeface="Times" panose="02020603050405020304" pitchFamily="18" charset="0"/>
              </a:rPr>
              <a:t>([14+, 0–]) </a:t>
            </a:r>
            <a:r>
              <a:rPr lang="en-US" altLang="it-IT" sz="1650" dirty="0">
                <a:latin typeface="Times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it-IT" sz="1650" dirty="0">
                <a:latin typeface="Times" panose="02020603050405020304" pitchFamily="18" charset="0"/>
              </a:rPr>
              <a:t>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14/14 </a:t>
            </a:r>
            <a:r>
              <a:rPr lang="en-US" altLang="it-IT" sz="1650" i="1" dirty="0">
                <a:latin typeface="Times" panose="02020603050405020304" pitchFamily="18" charset="0"/>
              </a:rPr>
              <a:t>log</a:t>
            </a:r>
            <a:r>
              <a:rPr lang="en-US" altLang="it-IT" sz="1650" baseline="-25000" dirty="0">
                <a:latin typeface="Times" panose="02020603050405020304" pitchFamily="18" charset="0"/>
              </a:rPr>
              <a:t>2</a:t>
            </a:r>
            <a:r>
              <a:rPr lang="en-US" altLang="it-IT" sz="1650" dirty="0">
                <a:latin typeface="Times" panose="02020603050405020304" pitchFamily="18" charset="0"/>
              </a:rPr>
              <a:t> (14/14) 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 0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i="1" dirty="0">
                <a:latin typeface="Times" panose="02020603050405020304" pitchFamily="18" charset="0"/>
              </a:rPr>
              <a:t>log</a:t>
            </a:r>
            <a:r>
              <a:rPr lang="en-US" altLang="it-IT" sz="1650" baseline="-25000" dirty="0">
                <a:latin typeface="Times" panose="02020603050405020304" pitchFamily="18" charset="0"/>
              </a:rPr>
              <a:t>2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(0) = 0</a:t>
            </a:r>
            <a:endParaRPr lang="en-US" altLang="it-IT" sz="1650" i="1" dirty="0">
              <a:latin typeface="Times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650" i="1" dirty="0">
                <a:latin typeface="Times" panose="02020603050405020304" pitchFamily="18" charset="0"/>
              </a:rPr>
              <a:t>Entropy </a:t>
            </a:r>
            <a:r>
              <a:rPr lang="en-US" altLang="it-IT" sz="1650" dirty="0">
                <a:latin typeface="Times" panose="02020603050405020304" pitchFamily="18" charset="0"/>
              </a:rPr>
              <a:t>([9+, 5–]) </a:t>
            </a:r>
            <a:r>
              <a:rPr lang="en-US" altLang="it-IT" sz="1650" dirty="0">
                <a:latin typeface="Times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it-IT" sz="1650" dirty="0">
                <a:latin typeface="Times" panose="02020603050405020304" pitchFamily="18" charset="0"/>
              </a:rPr>
              <a:t>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9/14 </a:t>
            </a:r>
            <a:r>
              <a:rPr lang="en-US" altLang="it-IT" sz="1650" i="1" dirty="0">
                <a:latin typeface="Times" panose="02020603050405020304" pitchFamily="18" charset="0"/>
              </a:rPr>
              <a:t>log</a:t>
            </a:r>
            <a:r>
              <a:rPr lang="en-US" altLang="it-IT" sz="1650" baseline="-25000" dirty="0">
                <a:latin typeface="Times" panose="02020603050405020304" pitchFamily="18" charset="0"/>
              </a:rPr>
              <a:t>2</a:t>
            </a:r>
            <a:r>
              <a:rPr lang="en-US" altLang="it-IT" sz="1650" dirty="0">
                <a:latin typeface="Times" panose="02020603050405020304" pitchFamily="18" charset="0"/>
              </a:rPr>
              <a:t> (9/14) 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 5/14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i="1" dirty="0">
                <a:latin typeface="Times" panose="02020603050405020304" pitchFamily="18" charset="0"/>
              </a:rPr>
              <a:t>log</a:t>
            </a:r>
            <a:r>
              <a:rPr lang="en-US" altLang="it-IT" sz="1650" baseline="-25000" dirty="0">
                <a:latin typeface="Times" panose="02020603050405020304" pitchFamily="18" charset="0"/>
              </a:rPr>
              <a:t>2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(5/14) = 0,94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650" i="1" dirty="0">
                <a:latin typeface="Times" panose="02020603050405020304" pitchFamily="18" charset="0"/>
              </a:rPr>
              <a:t>Entropy </a:t>
            </a:r>
            <a:r>
              <a:rPr lang="en-US" altLang="it-IT" sz="1650" dirty="0">
                <a:latin typeface="Times" panose="02020603050405020304" pitchFamily="18" charset="0"/>
              </a:rPr>
              <a:t>([7+, 7–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]) </a:t>
            </a:r>
            <a:r>
              <a:rPr lang="en-US" altLang="it-IT" sz="1650" dirty="0">
                <a:latin typeface="Times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it-IT" sz="1650" dirty="0">
                <a:latin typeface="Times" panose="02020603050405020304" pitchFamily="18" charset="0"/>
              </a:rPr>
              <a:t>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it-IT" sz="1650" dirty="0">
                <a:latin typeface="Times" panose="02020603050405020304" pitchFamily="18" charset="0"/>
              </a:rPr>
              <a:t>7/14 </a:t>
            </a:r>
            <a:r>
              <a:rPr lang="en-US" altLang="it-IT" sz="1650" i="1" dirty="0">
                <a:latin typeface="Times" panose="02020603050405020304" pitchFamily="18" charset="0"/>
              </a:rPr>
              <a:t>log</a:t>
            </a:r>
            <a:r>
              <a:rPr lang="en-US" altLang="it-IT" sz="1650" baseline="-25000" dirty="0">
                <a:latin typeface="Times" panose="02020603050405020304" pitchFamily="18" charset="0"/>
              </a:rPr>
              <a:t>2</a:t>
            </a:r>
            <a:r>
              <a:rPr lang="en-US" altLang="it-IT" sz="1650" dirty="0">
                <a:latin typeface="Times" panose="02020603050405020304" pitchFamily="18" charset="0"/>
              </a:rPr>
              <a:t> (7/14) 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7/14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i="1" dirty="0">
                <a:latin typeface="Times" panose="02020603050405020304" pitchFamily="18" charset="0"/>
              </a:rPr>
              <a:t>log</a:t>
            </a:r>
            <a:r>
              <a:rPr lang="en-US" altLang="it-IT" sz="1650" baseline="-25000" dirty="0">
                <a:latin typeface="Times" panose="02020603050405020304" pitchFamily="18" charset="0"/>
              </a:rPr>
              <a:t>2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(7/14) = 1/2 +</a:t>
            </a:r>
            <a:r>
              <a:rPr lang="en-US" altLang="it-IT" sz="165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1/2 = 1	         	            	[</a:t>
            </a:r>
            <a:r>
              <a:rPr lang="en-US" altLang="it-IT" sz="1650" i="1" dirty="0">
                <a:latin typeface="Times" panose="02020603050405020304" pitchFamily="18" charset="0"/>
              </a:rPr>
              <a:t>log</a:t>
            </a:r>
            <a:r>
              <a:rPr lang="en-US" altLang="it-IT" sz="1650" baseline="-25000" dirty="0">
                <a:latin typeface="Times" panose="02020603050405020304" pitchFamily="18" charset="0"/>
              </a:rPr>
              <a:t>2</a:t>
            </a:r>
            <a:r>
              <a:rPr lang="en-US" altLang="it-IT" sz="1650" dirty="0">
                <a:latin typeface="Times" panose="02020603050405020304" pitchFamily="18" charset="0"/>
              </a:rPr>
              <a:t>1/2 = –</a:t>
            </a:r>
            <a:r>
              <a:rPr lang="en-US" altLang="it-IT" sz="1650" baseline="-25000" dirty="0">
                <a:latin typeface="Times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it-IT" sz="1650" dirty="0">
                <a:latin typeface="Times" panose="02020603050405020304" pitchFamily="18" charset="0"/>
              </a:rPr>
              <a:t>1]</a:t>
            </a:r>
          </a:p>
          <a:p>
            <a:pPr>
              <a:lnSpc>
                <a:spcPct val="90000"/>
              </a:lnSpc>
              <a:spcBef>
                <a:spcPts val="750"/>
              </a:spcBef>
              <a:buNone/>
            </a:pPr>
            <a:r>
              <a:rPr lang="en-US" altLang="it-IT" sz="1350" dirty="0">
                <a:latin typeface="Arial" panose="020B0604020202020204" pitchFamily="34" charset="0"/>
              </a:rPr>
              <a:t>	</a:t>
            </a:r>
            <a:r>
              <a:rPr lang="en-US" altLang="it-IT" sz="1500" dirty="0"/>
              <a:t>Note: the log of a number &lt; 1 is negative</a:t>
            </a:r>
            <a:r>
              <a:rPr lang="en-US" altLang="it-IT" sz="1500" dirty="0">
                <a:latin typeface="Arial" panose="020B0604020202020204" pitchFamily="34" charset="0"/>
              </a:rPr>
              <a:t>,  0 </a:t>
            </a:r>
            <a:r>
              <a:rPr lang="en-US" altLang="it-IT" sz="1500" dirty="0"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it-IT" sz="1500" dirty="0">
                <a:latin typeface="Arial" panose="020B0604020202020204" pitchFamily="34" charset="0"/>
              </a:rPr>
              <a:t> </a:t>
            </a:r>
            <a:r>
              <a:rPr lang="en-US" altLang="it-IT" sz="1500" i="1" dirty="0">
                <a:latin typeface="Times New Roman" panose="02020603050405020304" pitchFamily="18" charset="0"/>
              </a:rPr>
              <a:t>p</a:t>
            </a:r>
            <a:r>
              <a:rPr lang="en-US" altLang="it-IT" sz="1500" dirty="0">
                <a:latin typeface="Arial" panose="020B0604020202020204" pitchFamily="34" charset="0"/>
              </a:rPr>
              <a:t> </a:t>
            </a:r>
            <a:r>
              <a:rPr lang="en-US" altLang="it-IT" sz="1500" dirty="0"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it-IT" sz="1500" dirty="0">
                <a:latin typeface="Arial" panose="020B0604020202020204" pitchFamily="34" charset="0"/>
              </a:rPr>
              <a:t> 1, 0 </a:t>
            </a:r>
            <a:r>
              <a:rPr lang="en-US" altLang="it-IT" sz="1500" dirty="0"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it-IT" sz="1500" dirty="0">
                <a:latin typeface="Arial" panose="020B0604020202020204" pitchFamily="34" charset="0"/>
              </a:rPr>
              <a:t> </a:t>
            </a:r>
            <a:r>
              <a:rPr lang="en-US" altLang="it-IT" sz="1500" i="1" dirty="0">
                <a:latin typeface="Times New Roman" panose="02020603050405020304" pitchFamily="18" charset="0"/>
              </a:rPr>
              <a:t>entropy</a:t>
            </a:r>
            <a:r>
              <a:rPr lang="en-US" altLang="it-IT" sz="1500" dirty="0">
                <a:latin typeface="Arial" panose="020B0604020202020204" pitchFamily="34" charset="0"/>
              </a:rPr>
              <a:t> </a:t>
            </a:r>
            <a:r>
              <a:rPr lang="en-US" altLang="it-IT" sz="1500" dirty="0">
                <a:latin typeface="Arial" panose="020B0604020202020204" pitchFamily="34" charset="0"/>
                <a:sym typeface="Symbol" panose="05050102010706020507" pitchFamily="18" charset="2"/>
              </a:rPr>
              <a:t></a:t>
            </a:r>
            <a:r>
              <a:rPr lang="en-US" altLang="it-IT" sz="1500" dirty="0">
                <a:latin typeface="Arial" panose="020B0604020202020204" pitchFamily="34" charset="0"/>
              </a:rPr>
              <a:t>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00200" y="3105150"/>
                <a:ext cx="32184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105150"/>
                <a:ext cx="3218445" cy="276999"/>
              </a:xfrm>
              <a:prstGeom prst="rect">
                <a:avLst/>
              </a:prstGeom>
              <a:blipFill>
                <a:blip r:embed="rId3"/>
                <a:stretch>
                  <a:fillRect l="-759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896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490538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Entropy</a:t>
            </a:r>
          </a:p>
        </p:txBody>
      </p:sp>
      <p:pic>
        <p:nvPicPr>
          <p:cNvPr id="331780" name="Picture 4"/>
          <p:cNvPicPr>
            <a:picLocks noGrp="1" noChangeAspect="1" noChangeArrowheads="1"/>
          </p:cNvPicPr>
          <p:nvPr>
            <p:ph type="dgm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362" r="-37362"/>
          <a:stretch>
            <a:fillRect/>
          </a:stretch>
        </p:blipFill>
        <p:spPr>
          <a:xfrm>
            <a:off x="1133476" y="1221581"/>
            <a:ext cx="7003256" cy="350996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646989454"/>
      </p:ext>
    </p:extLst>
  </p:cSld>
  <p:clrMapOvr>
    <a:masterClrMapping/>
  </p:clrMapOvr>
  <p:transition spd="med"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tabLst>
                <a:tab pos="740569" algn="l"/>
              </a:tabLst>
              <a:defRPr/>
            </a:pPr>
            <a:r>
              <a:rPr lang="en-US" dirty="0">
                <a:ea typeface="+mj-ea"/>
              </a:rPr>
              <a:t>Entropy in general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>
          <a:xfrm>
            <a:off x="1439466" y="1329928"/>
            <a:ext cx="6156722" cy="3413522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it-IT" dirty="0">
                <a:sym typeface="Symbol" panose="05050102010706020507" pitchFamily="18" charset="2"/>
              </a:rPr>
              <a:t>Entropy measures the amount of information in a random variable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t-IT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it-IT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dirty="0"/>
              <a:t>for binary classification [two-valued random variable]</a:t>
            </a:r>
            <a:endParaRPr lang="en-US" altLang="it-IT" sz="15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500" dirty="0"/>
              <a:t>		</a:t>
            </a:r>
            <a:r>
              <a:rPr lang="en-US" altLang="it-IT" sz="1350" i="1" dirty="0">
                <a:latin typeface="Times New Roman" panose="02020603050405020304" pitchFamily="18" charset="0"/>
              </a:rPr>
              <a:t>	</a:t>
            </a:r>
            <a:r>
              <a:rPr lang="en-US" altLang="it-IT" sz="1500" dirty="0"/>
              <a:t>	 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it-IT" sz="1500" i="1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it-IT" sz="1500" i="1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it-IT" sz="1500" i="1" dirty="0"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500" dirty="0">
                <a:latin typeface="Times New Roman" panose="02020603050405020304" pitchFamily="18" charset="0"/>
              </a:rPr>
              <a:t>		         </a:t>
            </a:r>
            <a:r>
              <a:rPr lang="en-US" altLang="it-IT" sz="1200" dirty="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it-IT" sz="12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it-IT" sz="12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dirty="0"/>
              <a:t>for classification in </a:t>
            </a:r>
            <a:r>
              <a:rPr lang="en-US" altLang="it-IT" i="1" dirty="0"/>
              <a:t>c </a:t>
            </a:r>
            <a:r>
              <a:rPr lang="en-US" altLang="it-IT" dirty="0"/>
              <a:t>classes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it-IT" dirty="0"/>
              <a:t>	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350" i="1" dirty="0">
                <a:latin typeface="Times New Roman" panose="02020603050405020304" pitchFamily="18" charset="0"/>
              </a:rPr>
              <a:t>		</a:t>
            </a:r>
            <a:endParaRPr lang="en-US" altLang="it-IT" sz="15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i="1" dirty="0">
                <a:latin typeface="Arial" panose="020B0604020202020204" pitchFamily="34" charset="0"/>
                <a:sym typeface="Symbol" panose="05050102010706020507" pitchFamily="18" charset="2"/>
              </a:rPr>
              <a:t>	</a:t>
            </a:r>
            <a:endParaRPr lang="en-US" altLang="it-IT" sz="12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439466" y="2038350"/>
                <a:ext cx="4401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GB" b="0" i="0" smtClean="0">
                          <a:latin typeface="Cambria Math" panose="02040503050406030204" pitchFamily="18" charset="0"/>
                        </a:rPr>
                        <m:t>={+,−}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66" y="2038350"/>
                <a:ext cx="4401461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693" t="-2174" r="-1662" b="-369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439466" y="3105150"/>
                <a:ext cx="5874365" cy="544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f>
                                <m:fPr>
                                  <m:type m:val="skw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={1,…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466" y="3105150"/>
                <a:ext cx="5874365" cy="5442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61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Entropy and information theory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idx="1"/>
          </p:nvPr>
        </p:nvSpPr>
        <p:spPr>
          <a:xfrm>
            <a:off x="1389460" y="1456135"/>
            <a:ext cx="6916340" cy="30861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marL="285750" indent="-285750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Entropy specifies the number the average length (in bits) of the message needed to transmit the outcome of a random variable. This depends on the probability distribution.</a:t>
            </a:r>
          </a:p>
          <a:p>
            <a:pPr marL="285750" indent="-285750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Optimal length code assigns </a:t>
            </a:r>
            <a:r>
              <a:rPr lang="en-US" dirty="0">
                <a:ea typeface="+mn-ea"/>
                <a:cs typeface="+mn-cs"/>
                <a:sym typeface="Symbol" charset="0"/>
              </a:rPr>
              <a:t></a:t>
            </a:r>
            <a:r>
              <a:rPr lang="en-US" sz="2100" dirty="0">
                <a:latin typeface="Arial" charset="0"/>
                <a:sym typeface="Symbol" charset="0"/>
              </a:rPr>
              <a:t></a:t>
            </a:r>
            <a:r>
              <a:rPr lang="en-US" sz="2100" baseline="-25000" dirty="0">
                <a:latin typeface="Arial" charset="0"/>
                <a:sym typeface="Symbol" charset="0"/>
              </a:rPr>
              <a:t>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log</a:t>
            </a:r>
            <a:r>
              <a:rPr lang="en-US" baseline="-25000" dirty="0">
                <a:latin typeface="Arial" charset="0"/>
                <a:ea typeface="+mn-ea"/>
                <a:cs typeface="+mn-cs"/>
              </a:rPr>
              <a:t>2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p</a:t>
            </a:r>
            <a:r>
              <a:rPr lang="en-US" dirty="0">
                <a:ea typeface="+mn-ea"/>
                <a:cs typeface="+mn-cs"/>
                <a:sym typeface="Symbol" charset="0"/>
              </a:rPr>
              <a:t></a:t>
            </a:r>
            <a:r>
              <a:rPr lang="en-US" sz="2400" baseline="-25000" dirty="0">
                <a:latin typeface="Arial" charset="0"/>
              </a:rPr>
              <a:t> </a:t>
            </a:r>
            <a:r>
              <a:rPr lang="en-US" dirty="0">
                <a:ea typeface="+mn-ea"/>
                <a:cs typeface="+mn-cs"/>
              </a:rPr>
              <a:t>bits to messages with probability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p</a:t>
            </a:r>
            <a:r>
              <a:rPr lang="en-US" sz="2100" i="1" dirty="0">
                <a:latin typeface="Times New Roman" charset="0"/>
              </a:rPr>
              <a:t>. </a:t>
            </a:r>
            <a:r>
              <a:rPr lang="en-US" dirty="0">
                <a:ea typeface="+mn-ea"/>
                <a:cs typeface="Tw Cen MT"/>
              </a:rPr>
              <a:t>Most probable messages get shorter codes.</a:t>
            </a:r>
            <a:endParaRPr lang="en-US" i="1" dirty="0">
              <a:ea typeface="+mn-ea"/>
              <a:cs typeface="Tw Cen MT"/>
            </a:endParaRPr>
          </a:p>
          <a:p>
            <a:pPr marL="285750" indent="-285750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Example: 8-sided [unbalanced] die</a:t>
            </a:r>
          </a:p>
          <a:p>
            <a:pPr marL="285750" indent="-285750">
              <a:buNone/>
              <a:defRPr/>
            </a:pPr>
            <a:r>
              <a:rPr lang="en-US" sz="1500" dirty="0">
                <a:latin typeface="Times New Roman" charset="0"/>
              </a:rPr>
              <a:t>	1	   2	3	4	5	6	7	8</a:t>
            </a:r>
          </a:p>
          <a:p>
            <a:pPr marL="285750" indent="-285750">
              <a:buNone/>
              <a:defRPr/>
            </a:pPr>
            <a:r>
              <a:rPr lang="en-US" sz="1500" dirty="0">
                <a:latin typeface="Times New Roman" charset="0"/>
              </a:rPr>
              <a:t>	4/16	   4/16	2/16	2/16	1/16	1/16	1/16	1/16</a:t>
            </a:r>
          </a:p>
          <a:p>
            <a:pPr marL="285750" indent="-285750">
              <a:buNone/>
              <a:defRPr/>
            </a:pPr>
            <a:r>
              <a:rPr lang="en-US" sz="1500" i="1" dirty="0">
                <a:latin typeface="Times New Roman" charset="0"/>
              </a:rPr>
              <a:t>	2 bits           2 bits               3 bits     	3 bits	4bits	4bits	4bits	4bits</a:t>
            </a:r>
            <a:endParaRPr lang="en-US" sz="1500" dirty="0">
              <a:latin typeface="Times New Roman" charset="0"/>
            </a:endParaRPr>
          </a:p>
          <a:p>
            <a:pPr marL="285750" indent="-285750">
              <a:buNone/>
              <a:defRPr/>
            </a:pPr>
            <a:r>
              <a:rPr lang="en-US" sz="1500" dirty="0">
                <a:latin typeface="Arial" charset="0"/>
              </a:rPr>
              <a:t>	</a:t>
            </a:r>
            <a:r>
              <a:rPr lang="en-US" sz="1500" i="1" dirty="0">
                <a:latin typeface="Times New Roman" charset="0"/>
              </a:rPr>
              <a:t>E</a:t>
            </a:r>
            <a:r>
              <a:rPr lang="en-US" sz="1500" dirty="0">
                <a:latin typeface="Times New Roman" charset="0"/>
              </a:rPr>
              <a:t> = (1/4 </a:t>
            </a:r>
            <a:r>
              <a:rPr lang="en-US" sz="1500" i="1" dirty="0">
                <a:latin typeface="Times New Roman" charset="0"/>
              </a:rPr>
              <a:t>log</a:t>
            </a:r>
            <a:r>
              <a:rPr lang="en-US" sz="1500" baseline="-25000" dirty="0">
                <a:latin typeface="Arial" charset="0"/>
              </a:rPr>
              <a:t>2</a:t>
            </a:r>
            <a:r>
              <a:rPr lang="en-US" sz="1500" dirty="0">
                <a:latin typeface="Times New Roman" charset="0"/>
              </a:rPr>
              <a:t> 4) </a:t>
            </a:r>
            <a:r>
              <a:rPr lang="en-US" sz="1500" dirty="0">
                <a:latin typeface="Times New Roman" charset="0"/>
                <a:sym typeface="Symbol" charset="0"/>
              </a:rPr>
              <a:t> </a:t>
            </a:r>
            <a:r>
              <a:rPr lang="en-US" sz="1500" dirty="0">
                <a:latin typeface="Times New Roman" charset="0"/>
              </a:rPr>
              <a:t>2 + (1/8 </a:t>
            </a:r>
            <a:r>
              <a:rPr lang="en-US" sz="1500" i="1" dirty="0">
                <a:latin typeface="Times New Roman" charset="0"/>
              </a:rPr>
              <a:t>log</a:t>
            </a:r>
            <a:r>
              <a:rPr lang="en-US" sz="1500" baseline="-25000" dirty="0">
                <a:latin typeface="Arial" charset="0"/>
              </a:rPr>
              <a:t>2</a:t>
            </a:r>
            <a:r>
              <a:rPr lang="en-US" sz="1500" dirty="0">
                <a:latin typeface="Times New Roman" charset="0"/>
              </a:rPr>
              <a:t> 8) </a:t>
            </a:r>
            <a:r>
              <a:rPr lang="en-US" sz="1500" dirty="0">
                <a:latin typeface="Times New Roman" charset="0"/>
                <a:sym typeface="Symbol" charset="0"/>
              </a:rPr>
              <a:t> </a:t>
            </a:r>
            <a:r>
              <a:rPr lang="en-US" sz="1500" dirty="0">
                <a:latin typeface="Times New Roman" charset="0"/>
              </a:rPr>
              <a:t>2 + (1/16 </a:t>
            </a:r>
            <a:r>
              <a:rPr lang="en-US" sz="1500" i="1" dirty="0">
                <a:latin typeface="Times New Roman" charset="0"/>
              </a:rPr>
              <a:t>log</a:t>
            </a:r>
            <a:r>
              <a:rPr lang="en-US" sz="1500" baseline="-25000" dirty="0">
                <a:latin typeface="Arial" charset="0"/>
              </a:rPr>
              <a:t>2</a:t>
            </a:r>
            <a:r>
              <a:rPr lang="en-US" sz="1500" dirty="0">
                <a:latin typeface="Times New Roman" charset="0"/>
              </a:rPr>
              <a:t> 16) </a:t>
            </a:r>
            <a:r>
              <a:rPr lang="en-US" sz="1500" dirty="0">
                <a:latin typeface="Times New Roman" charset="0"/>
                <a:sym typeface="Symbol" charset="0"/>
              </a:rPr>
              <a:t></a:t>
            </a:r>
            <a:r>
              <a:rPr lang="en-US" sz="1500" dirty="0">
                <a:latin typeface="Times New Roman" charset="0"/>
              </a:rPr>
              <a:t> 4 = 1+3/4+1 = 2,75</a:t>
            </a:r>
          </a:p>
        </p:txBody>
      </p:sp>
    </p:spTree>
    <p:extLst>
      <p:ext uri="{BB962C8B-B14F-4D97-AF65-F5344CB8AC3E}">
        <p14:creationId xmlns:p14="http://schemas.microsoft.com/office/powerpoint/2010/main" val="151415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96617" y="410766"/>
            <a:ext cx="6478190" cy="57745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300" dirty="0"/>
              <a:t>Information gain as entropy reduction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303735"/>
            <a:ext cx="8534400" cy="3265884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it-IT" sz="2200" i="1" dirty="0"/>
              <a:t>Information gain</a:t>
            </a:r>
            <a:r>
              <a:rPr lang="en-US" altLang="it-IT" sz="2200" dirty="0"/>
              <a:t> is the </a:t>
            </a:r>
            <a:r>
              <a:rPr lang="en-US" altLang="it-IT" sz="2200" i="1" dirty="0"/>
              <a:t>expected</a:t>
            </a:r>
            <a:r>
              <a:rPr lang="en-US" altLang="it-IT" sz="2200" dirty="0"/>
              <a:t> reduction in entropy caused by partitioning the examples on an attribute.</a:t>
            </a:r>
          </a:p>
          <a:p>
            <a:pPr eaLnBrk="1" hangingPunct="1"/>
            <a:r>
              <a:rPr lang="en-US" altLang="it-IT" sz="2200" dirty="0"/>
              <a:t>The higher the information gain the more effective the attribute in classifying training data.	</a:t>
            </a:r>
          </a:p>
          <a:p>
            <a:pPr eaLnBrk="1" hangingPunct="1">
              <a:spcAft>
                <a:spcPct val="40000"/>
              </a:spcAft>
            </a:pPr>
            <a:r>
              <a:rPr lang="en-US" altLang="it-IT" sz="2200" dirty="0"/>
              <a:t>Expected reduction in entropy knowing </a:t>
            </a:r>
            <a:r>
              <a:rPr lang="en-US" altLang="it-IT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it-IT" sz="2600" i="1" dirty="0"/>
              <a:t>   </a:t>
            </a:r>
            <a:r>
              <a:rPr lang="en-US" altLang="it-IT" sz="2600" dirty="0"/>
              <a:t>   </a:t>
            </a:r>
            <a:r>
              <a:rPr lang="en-US" altLang="it-IT" dirty="0"/>
              <a:t>	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i="1" dirty="0">
                <a:latin typeface="Times New Roman" panose="02020603050405020304" pitchFamily="18" charset="0"/>
              </a:rPr>
              <a:t>	</a:t>
            </a:r>
            <a:r>
              <a:rPr lang="en-US" altLang="it-IT" sz="2100" dirty="0">
                <a:latin typeface="Arial" panose="020B0604020202020204" pitchFamily="34" charset="0"/>
                <a:sym typeface="Symbol" panose="05050102010706020507" pitchFamily="18" charset="2"/>
              </a:rPr>
              <a:t>				   </a:t>
            </a:r>
            <a:r>
              <a:rPr lang="en-US" altLang="it-IT" sz="2100" dirty="0">
                <a:latin typeface="Times New Roman" panose="02020603050405020304" pitchFamily="18" charset="0"/>
              </a:rPr>
              <a:t>	</a:t>
            </a:r>
            <a:endParaRPr lang="en-US" altLang="it-IT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1350" i="1" dirty="0">
                <a:latin typeface="Times New Roman" panose="02020603050405020304" pitchFamily="18" charset="0"/>
              </a:rPr>
              <a:t>	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it-IT" sz="1350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2200" i="1" dirty="0">
                <a:latin typeface="Times New Roman" panose="02020603050405020304" pitchFamily="18" charset="0"/>
              </a:rPr>
              <a:t>Val</a:t>
            </a:r>
            <a:r>
              <a:rPr lang="en-US" altLang="it-IT" sz="2200" dirty="0">
                <a:latin typeface="Times New Roman" panose="02020603050405020304" pitchFamily="18" charset="0"/>
              </a:rPr>
              <a:t>(</a:t>
            </a:r>
            <a:r>
              <a:rPr lang="en-US" altLang="it-IT" sz="2200" i="1" dirty="0">
                <a:latin typeface="Times New Roman" panose="02020603050405020304" pitchFamily="18" charset="0"/>
              </a:rPr>
              <a:t>A</a:t>
            </a:r>
            <a:r>
              <a:rPr lang="en-US" altLang="it-IT" sz="2200" dirty="0">
                <a:latin typeface="Times New Roman" panose="02020603050405020304" pitchFamily="18" charset="0"/>
              </a:rPr>
              <a:t>) </a:t>
            </a:r>
            <a:r>
              <a:rPr lang="en-US" altLang="it-IT" sz="2200" dirty="0"/>
              <a:t>possible values for </a:t>
            </a:r>
            <a:r>
              <a:rPr lang="en-US" altLang="it-IT" sz="2200" i="1" dirty="0">
                <a:latin typeface="Times New Roman" panose="02020603050405020304" pitchFamily="18" charset="0"/>
              </a:rPr>
              <a:t>A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it-IT" sz="2200" i="1" dirty="0" err="1">
                <a:latin typeface="Times New Roman" panose="02020603050405020304" pitchFamily="18" charset="0"/>
              </a:rPr>
              <a:t>Sv</a:t>
            </a:r>
            <a:r>
              <a:rPr lang="en-US" altLang="it-IT" sz="2200" i="1" dirty="0">
                <a:latin typeface="Times New Roman" panose="02020603050405020304" pitchFamily="18" charset="0"/>
              </a:rPr>
              <a:t> </a:t>
            </a:r>
            <a:r>
              <a:rPr lang="en-US" altLang="it-IT" sz="2200" dirty="0"/>
              <a:t>subset of</a:t>
            </a:r>
            <a:r>
              <a:rPr lang="en-US" altLang="it-IT" sz="2200" i="1" dirty="0"/>
              <a:t> </a:t>
            </a:r>
            <a:r>
              <a:rPr lang="en-US" altLang="it-IT" sz="2200" i="1" dirty="0">
                <a:latin typeface="Times New Roman" panose="02020603050405020304" pitchFamily="18" charset="0"/>
              </a:rPr>
              <a:t>S </a:t>
            </a:r>
            <a:r>
              <a:rPr lang="en-US" altLang="it-IT" sz="2200" dirty="0"/>
              <a:t>for which</a:t>
            </a:r>
            <a:r>
              <a:rPr lang="en-US" altLang="it-IT" sz="2200" i="1" dirty="0"/>
              <a:t> </a:t>
            </a:r>
            <a:r>
              <a:rPr lang="en-US" altLang="it-IT" sz="2200" i="1" dirty="0">
                <a:latin typeface="Times New Roman" panose="02020603050405020304" pitchFamily="18" charset="0"/>
              </a:rPr>
              <a:t>A </a:t>
            </a:r>
            <a:r>
              <a:rPr lang="en-US" altLang="it-IT" sz="2200" dirty="0"/>
              <a:t>has value</a:t>
            </a:r>
            <a:r>
              <a:rPr lang="en-US" altLang="it-IT" sz="2200" i="1" dirty="0"/>
              <a:t> </a:t>
            </a:r>
            <a:r>
              <a:rPr lang="en-US" altLang="it-IT" sz="2200" i="1" dirty="0">
                <a:latin typeface="Times New Roman" panose="02020603050405020304" pitchFamily="18" charset="0"/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048000" y="3105150"/>
                <a:ext cx="4087081" cy="7107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𝑉𝑎𝑙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105150"/>
                <a:ext cx="4087081" cy="7107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34014" y="4669500"/>
            <a:ext cx="581018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dirty="0"/>
              <a:t>NB: Another name for </a:t>
            </a:r>
            <a:r>
              <a:rPr lang="en-GB" i="1" dirty="0"/>
              <a:t>Information Gain </a:t>
            </a:r>
            <a:r>
              <a:rPr lang="en-GB" dirty="0"/>
              <a:t>is </a:t>
            </a:r>
            <a:r>
              <a:rPr lang="en-GB" i="1" dirty="0"/>
              <a:t>Mutual Information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2212916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Example: expected information gain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56135"/>
            <a:ext cx="8305800" cy="30861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en-US" altLang="it-IT" sz="2900" dirty="0"/>
              <a:t>Let</a:t>
            </a:r>
          </a:p>
          <a:p>
            <a:pPr lvl="1" eaLnBrk="1" hangingPunct="1"/>
            <a:r>
              <a:rPr lang="en-US" altLang="it-IT" sz="1800" i="1" dirty="0">
                <a:latin typeface="Times New Roman" panose="02020603050405020304" pitchFamily="18" charset="0"/>
              </a:rPr>
              <a:t>Val</a:t>
            </a:r>
            <a:r>
              <a:rPr lang="en-US" altLang="it-IT" sz="1800" dirty="0">
                <a:latin typeface="Times New Roman" panose="02020603050405020304" pitchFamily="18" charset="0"/>
              </a:rPr>
              <a:t>(</a:t>
            </a:r>
            <a:r>
              <a:rPr lang="en-US" altLang="it-IT" sz="1800" i="1" dirty="0">
                <a:latin typeface="Times New Roman" panose="02020603050405020304" pitchFamily="18" charset="0"/>
              </a:rPr>
              <a:t>Wind</a:t>
            </a:r>
            <a:r>
              <a:rPr lang="en-US" altLang="it-IT" sz="1800" dirty="0">
                <a:latin typeface="Times New Roman" panose="02020603050405020304" pitchFamily="18" charset="0"/>
              </a:rPr>
              <a:t>) = {</a:t>
            </a:r>
            <a:r>
              <a:rPr lang="en-US" altLang="it-IT" sz="1800" i="1" dirty="0">
                <a:latin typeface="Times New Roman" panose="02020603050405020304" pitchFamily="18" charset="0"/>
              </a:rPr>
              <a:t>Weak</a:t>
            </a:r>
            <a:r>
              <a:rPr lang="en-US" altLang="it-IT" sz="1800" dirty="0">
                <a:latin typeface="Times New Roman" panose="02020603050405020304" pitchFamily="18" charset="0"/>
              </a:rPr>
              <a:t>, </a:t>
            </a:r>
            <a:r>
              <a:rPr lang="en-US" altLang="it-IT" sz="1800" i="1" dirty="0">
                <a:latin typeface="Times New Roman" panose="02020603050405020304" pitchFamily="18" charset="0"/>
              </a:rPr>
              <a:t>Strong</a:t>
            </a:r>
            <a:r>
              <a:rPr lang="en-US" altLang="it-IT" sz="1800" dirty="0">
                <a:latin typeface="Times New Roman" panose="02020603050405020304" pitchFamily="18" charset="0"/>
              </a:rPr>
              <a:t>}</a:t>
            </a:r>
          </a:p>
          <a:p>
            <a:pPr lvl="1" eaLnBrk="1" hangingPunct="1"/>
            <a:r>
              <a:rPr lang="en-US" altLang="it-IT" sz="1800" i="1" dirty="0">
                <a:latin typeface="Times New Roman" panose="02020603050405020304" pitchFamily="18" charset="0"/>
              </a:rPr>
              <a:t>S</a:t>
            </a:r>
            <a:r>
              <a:rPr lang="en-US" altLang="it-IT" sz="1800" dirty="0">
                <a:latin typeface="Times New Roman" panose="02020603050405020304" pitchFamily="18" charset="0"/>
              </a:rPr>
              <a:t> = [9+, 5</a:t>
            </a:r>
            <a:r>
              <a:rPr lang="en-US" altLang="it-IT" sz="1800" dirty="0">
                <a:latin typeface="Arial" panose="020B0604020202020204" pitchFamily="34" charset="0"/>
                <a:sym typeface="Symbol" panose="05050102010706020507" pitchFamily="18" charset="2"/>
              </a:rPr>
              <a:t>−</a:t>
            </a:r>
            <a:r>
              <a:rPr lang="en-US" altLang="it-IT" sz="1800" dirty="0">
                <a:latin typeface="Times New Roman" panose="02020603050405020304" pitchFamily="18" charset="0"/>
              </a:rPr>
              <a:t>]</a:t>
            </a:r>
          </a:p>
          <a:p>
            <a:pPr lvl="1" eaLnBrk="1" hangingPunct="1"/>
            <a:r>
              <a:rPr lang="en-US" altLang="it-IT" sz="1800" i="1" dirty="0" err="1">
                <a:latin typeface="Times New Roman" panose="02020603050405020304" pitchFamily="18" charset="0"/>
              </a:rPr>
              <a:t>S</a:t>
            </a:r>
            <a:r>
              <a:rPr lang="en-US" altLang="it-IT" sz="1800" i="1" baseline="-25000" dirty="0" err="1">
                <a:latin typeface="Times New Roman" panose="02020603050405020304" pitchFamily="18" charset="0"/>
              </a:rPr>
              <a:t>Weak</a:t>
            </a:r>
            <a:r>
              <a:rPr lang="en-US" altLang="it-IT" sz="1800" dirty="0">
                <a:latin typeface="Times New Roman" panose="02020603050405020304" pitchFamily="18" charset="0"/>
              </a:rPr>
              <a:t> = [6+, 2</a:t>
            </a:r>
            <a:r>
              <a:rPr lang="en-US" altLang="it-IT" sz="1800" dirty="0">
                <a:latin typeface="Arial" panose="020B0604020202020204" pitchFamily="34" charset="0"/>
                <a:sym typeface="Symbol" panose="05050102010706020507" pitchFamily="18" charset="2"/>
              </a:rPr>
              <a:t>−</a:t>
            </a:r>
            <a:r>
              <a:rPr lang="en-US" altLang="it-IT" sz="1800" dirty="0">
                <a:latin typeface="Times New Roman" panose="02020603050405020304" pitchFamily="18" charset="0"/>
              </a:rPr>
              <a:t>]</a:t>
            </a:r>
          </a:p>
          <a:p>
            <a:pPr lvl="1" eaLnBrk="1" hangingPunct="1"/>
            <a:r>
              <a:rPr lang="en-US" altLang="it-IT" sz="1800" i="1" dirty="0" err="1">
                <a:latin typeface="Times New Roman" panose="02020603050405020304" pitchFamily="18" charset="0"/>
              </a:rPr>
              <a:t>S</a:t>
            </a:r>
            <a:r>
              <a:rPr lang="en-US" altLang="it-IT" sz="1800" i="1" baseline="-25000" dirty="0" err="1">
                <a:latin typeface="Times New Roman" panose="02020603050405020304" pitchFamily="18" charset="0"/>
              </a:rPr>
              <a:t>Strong</a:t>
            </a:r>
            <a:r>
              <a:rPr lang="en-US" altLang="it-IT" sz="1800" dirty="0">
                <a:latin typeface="Times New Roman" panose="02020603050405020304" pitchFamily="18" charset="0"/>
              </a:rPr>
              <a:t> = [3+, 3</a:t>
            </a:r>
            <a:r>
              <a:rPr lang="en-US" altLang="it-IT" sz="1800" dirty="0">
                <a:latin typeface="Arial" panose="020B0604020202020204" pitchFamily="34" charset="0"/>
                <a:sym typeface="Symbol" panose="05050102010706020507" pitchFamily="18" charset="2"/>
              </a:rPr>
              <a:t>−</a:t>
            </a:r>
            <a:r>
              <a:rPr lang="en-US" altLang="it-IT" sz="1800" dirty="0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it-IT" sz="2900" dirty="0">
                <a:latin typeface="Arial" panose="020B0604020202020204" pitchFamily="34" charset="0"/>
              </a:rPr>
              <a:t>Information gain due to knowing</a:t>
            </a:r>
            <a:r>
              <a:rPr lang="en-US" altLang="it-IT" sz="2900" dirty="0">
                <a:latin typeface="Times New Roman" panose="02020603050405020304" pitchFamily="18" charset="0"/>
              </a:rPr>
              <a:t> </a:t>
            </a:r>
            <a:r>
              <a:rPr lang="en-US" altLang="it-IT" sz="2900" i="1" dirty="0">
                <a:latin typeface="Times New Roman" panose="02020603050405020304" pitchFamily="18" charset="0"/>
              </a:rPr>
              <a:t>Wind</a:t>
            </a:r>
            <a:r>
              <a:rPr lang="en-US" altLang="it-IT" sz="2900" dirty="0">
                <a:latin typeface="Times New Roman" panose="02020603050405020304" pitchFamily="18" charset="0"/>
              </a:rPr>
              <a:t>:</a:t>
            </a:r>
          </a:p>
          <a:p>
            <a:pPr lvl="1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it-IT" i="1" dirty="0">
                <a:latin typeface="Times New Roman" panose="02020603050405020304" pitchFamily="18" charset="0"/>
              </a:rPr>
              <a:t>Gain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S</a:t>
            </a:r>
            <a:r>
              <a:rPr lang="en-US" altLang="it-IT" dirty="0">
                <a:latin typeface="Times New Roman" panose="02020603050405020304" pitchFamily="18" charset="0"/>
              </a:rPr>
              <a:t>, </a:t>
            </a:r>
            <a:r>
              <a:rPr lang="en-US" altLang="it-IT" i="1" dirty="0">
                <a:latin typeface="Times New Roman" panose="02020603050405020304" pitchFamily="18" charset="0"/>
              </a:rPr>
              <a:t>Wind</a:t>
            </a:r>
            <a:r>
              <a:rPr lang="en-US" altLang="it-IT" dirty="0">
                <a:latin typeface="Times New Roman" panose="02020603050405020304" pitchFamily="18" charset="0"/>
              </a:rPr>
              <a:t>) = </a:t>
            </a:r>
            <a:r>
              <a:rPr lang="en-US" altLang="it-IT" i="1" dirty="0">
                <a:latin typeface="Times New Roman" panose="02020603050405020304" pitchFamily="18" charset="0"/>
              </a:rPr>
              <a:t>Entropy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S</a:t>
            </a:r>
            <a:r>
              <a:rPr lang="en-US" altLang="it-IT" dirty="0">
                <a:latin typeface="Times New Roman" panose="02020603050405020304" pitchFamily="18" charset="0"/>
              </a:rPr>
              <a:t>)</a:t>
            </a:r>
            <a:r>
              <a:rPr lang="en-US" altLang="it-IT" dirty="0">
                <a:latin typeface="Arial" panose="020B0604020202020204" pitchFamily="34" charset="0"/>
                <a:sym typeface="Symbol" panose="05050102010706020507" pitchFamily="18" charset="2"/>
              </a:rPr>
              <a:t> − </a:t>
            </a:r>
            <a:r>
              <a:rPr lang="en-US" altLang="it-IT" dirty="0">
                <a:latin typeface="Times New Roman" panose="02020603050405020304" pitchFamily="18" charset="0"/>
              </a:rPr>
              <a:t>8/14 </a:t>
            </a:r>
            <a:r>
              <a:rPr lang="en-US" altLang="it-IT" i="1" dirty="0">
                <a:latin typeface="Times New Roman" panose="02020603050405020304" pitchFamily="18" charset="0"/>
              </a:rPr>
              <a:t>Entropy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 err="1">
                <a:latin typeface="Times New Roman" panose="02020603050405020304" pitchFamily="18" charset="0"/>
              </a:rPr>
              <a:t>S</a:t>
            </a:r>
            <a:r>
              <a:rPr lang="en-US" altLang="it-IT" i="1" baseline="-25000" dirty="0" err="1">
                <a:latin typeface="Times New Roman" panose="02020603050405020304" pitchFamily="18" charset="0"/>
              </a:rPr>
              <a:t>Weak</a:t>
            </a:r>
            <a:r>
              <a:rPr lang="en-US" altLang="it-IT" dirty="0">
                <a:latin typeface="Times New Roman" panose="02020603050405020304" pitchFamily="18" charset="0"/>
              </a:rPr>
              <a:t>)</a:t>
            </a:r>
            <a:r>
              <a:rPr lang="en-US" altLang="it-IT" dirty="0">
                <a:latin typeface="Arial" panose="020B0604020202020204" pitchFamily="34" charset="0"/>
                <a:sym typeface="Symbol" panose="05050102010706020507" pitchFamily="18" charset="2"/>
              </a:rPr>
              <a:t> − </a:t>
            </a:r>
            <a:r>
              <a:rPr lang="en-US" altLang="it-IT" dirty="0">
                <a:latin typeface="Times New Roman" panose="02020603050405020304" pitchFamily="18" charset="0"/>
              </a:rPr>
              <a:t>6/14 </a:t>
            </a:r>
            <a:r>
              <a:rPr lang="en-US" altLang="it-IT" i="1" dirty="0">
                <a:latin typeface="Times New Roman" panose="02020603050405020304" pitchFamily="18" charset="0"/>
              </a:rPr>
              <a:t>Entropy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 err="1">
                <a:latin typeface="Times New Roman" panose="02020603050405020304" pitchFamily="18" charset="0"/>
              </a:rPr>
              <a:t>S</a:t>
            </a:r>
            <a:r>
              <a:rPr lang="en-US" altLang="it-IT" i="1" baseline="-25000" dirty="0" err="1">
                <a:latin typeface="Times New Roman" panose="02020603050405020304" pitchFamily="18" charset="0"/>
              </a:rPr>
              <a:t>Strong</a:t>
            </a:r>
            <a:r>
              <a:rPr lang="en-US" altLang="it-IT" dirty="0">
                <a:latin typeface="Times New Roman" panose="02020603050405020304" pitchFamily="18" charset="0"/>
              </a:rPr>
              <a:t>) </a:t>
            </a:r>
          </a:p>
          <a:p>
            <a:pPr lvl="1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it-IT" dirty="0">
                <a:latin typeface="Times New Roman" panose="02020603050405020304" pitchFamily="18" charset="0"/>
              </a:rPr>
              <a:t>			  = 0,94 </a:t>
            </a:r>
            <a:r>
              <a:rPr lang="en-US" altLang="it-IT" dirty="0">
                <a:latin typeface="Arial" panose="020B0604020202020204" pitchFamily="34" charset="0"/>
                <a:sym typeface="Symbol" panose="05050102010706020507" pitchFamily="18" charset="2"/>
              </a:rPr>
              <a:t>− </a:t>
            </a:r>
            <a:r>
              <a:rPr lang="en-US" altLang="it-IT" dirty="0">
                <a:latin typeface="Times New Roman" panose="02020603050405020304" pitchFamily="18" charset="0"/>
              </a:rPr>
              <a:t>8/14 </a:t>
            </a:r>
            <a:r>
              <a:rPr lang="en-US" altLang="it-IT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it-IT" dirty="0">
                <a:latin typeface="Times New Roman" panose="02020603050405020304" pitchFamily="18" charset="0"/>
              </a:rPr>
              <a:t> 0,811 </a:t>
            </a:r>
            <a:r>
              <a:rPr lang="en-US" altLang="it-IT" dirty="0">
                <a:latin typeface="Arial" panose="020B0604020202020204" pitchFamily="34" charset="0"/>
                <a:sym typeface="Symbol" panose="05050102010706020507" pitchFamily="18" charset="2"/>
              </a:rPr>
              <a:t>− </a:t>
            </a:r>
            <a:r>
              <a:rPr lang="en-US" altLang="it-IT" dirty="0">
                <a:latin typeface="Times New Roman" panose="02020603050405020304" pitchFamily="18" charset="0"/>
              </a:rPr>
              <a:t>6/14 </a:t>
            </a:r>
            <a:r>
              <a:rPr lang="en-US" altLang="it-IT" dirty="0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it-IT" dirty="0">
                <a:latin typeface="Times New Roman" panose="02020603050405020304" pitchFamily="18" charset="0"/>
              </a:rPr>
              <a:t> 1,00  </a:t>
            </a:r>
          </a:p>
          <a:p>
            <a:pPr lvl="1" eaLnBrk="1" hangingPunct="1">
              <a:spcBef>
                <a:spcPct val="40000"/>
              </a:spcBef>
              <a:buFont typeface="Wingdings" panose="05000000000000000000" pitchFamily="2" charset="2"/>
              <a:buNone/>
            </a:pPr>
            <a:r>
              <a:rPr lang="en-US" altLang="it-IT" dirty="0">
                <a:latin typeface="Times New Roman" panose="02020603050405020304" pitchFamily="18" charset="0"/>
              </a:rPr>
              <a:t>			  = 0,048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562600" y="1809750"/>
                <a:ext cx="1673600" cy="679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=9+5=14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𝑊𝑒𝑎𝑘</m:t>
                              </m:r>
                            </m:sub>
                          </m:sSub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=6+2=8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𝑆𝑡𝑟𝑜𝑛𝑔</m:t>
                              </m:r>
                            </m:sub>
                          </m:sSub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=3+3=6</m:t>
                      </m:r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809750"/>
                <a:ext cx="1673600" cy="679225"/>
              </a:xfrm>
              <a:prstGeom prst="rect">
                <a:avLst/>
              </a:prstGeom>
              <a:blipFill rotWithShape="0">
                <a:blip r:embed="rId3"/>
                <a:stretch>
                  <a:fillRect r="-1825" b="-72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226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804" name="Picture 4"/>
          <p:cNvPicPr>
            <a:picLocks noGrp="1" noChangeAspect="1" noChangeArrowheads="1"/>
          </p:cNvPicPr>
          <p:nvPr>
            <p:ph type="dgm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67027" y="361950"/>
            <a:ext cx="7409945" cy="4316016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3871588541"/>
      </p:ext>
    </p:extLst>
  </p:cSld>
  <p:clrMapOvr>
    <a:masterClrMapping/>
  </p:clrMapOvr>
  <p:transition spd="med">
    <p:randomBar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298847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Example</a:t>
            </a:r>
          </a:p>
        </p:txBody>
      </p:sp>
      <p:pic>
        <p:nvPicPr>
          <p:cNvPr id="3164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5" y="1085850"/>
            <a:ext cx="5191125" cy="36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16421" name="Rectangle 5"/>
          <p:cNvSpPr>
            <a:spLocks noChangeArrowheads="1"/>
          </p:cNvSpPr>
          <p:nvPr/>
        </p:nvSpPr>
        <p:spPr bwMode="auto">
          <a:xfrm>
            <a:off x="1943100" y="1143000"/>
            <a:ext cx="5200650" cy="3543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Times New Roman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6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411957"/>
            <a:ext cx="6478191" cy="531019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000" dirty="0"/>
              <a:t>First step: which attribute to test at the root?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>
                <a:ea typeface="+mn-ea"/>
                <a:cs typeface="+mn-cs"/>
              </a:rPr>
              <a:t>Which attribute should be tested at the root?</a:t>
            </a:r>
            <a:endParaRPr lang="en-US" i="1">
              <a:latin typeface="Times New Roman" charset="0"/>
              <a:ea typeface="+mn-ea"/>
              <a:cs typeface="+mn-cs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>
                <a:latin typeface="Times New Roman" charset="0"/>
                <a:ea typeface="+mn-ea"/>
              </a:rPr>
              <a:t>Gain</a:t>
            </a:r>
            <a:r>
              <a:rPr lang="en-US">
                <a:latin typeface="Times New Roman" charset="0"/>
                <a:ea typeface="+mn-ea"/>
              </a:rPr>
              <a:t>(</a:t>
            </a:r>
            <a:r>
              <a:rPr lang="en-US" i="1">
                <a:latin typeface="Times New Roman" charset="0"/>
                <a:ea typeface="+mn-ea"/>
              </a:rPr>
              <a:t>S</a:t>
            </a:r>
            <a:r>
              <a:rPr lang="en-US">
                <a:latin typeface="Times New Roman" charset="0"/>
                <a:ea typeface="+mn-ea"/>
              </a:rPr>
              <a:t>, </a:t>
            </a:r>
            <a:r>
              <a:rPr lang="en-US" i="1">
                <a:latin typeface="Times New Roman" charset="0"/>
                <a:ea typeface="+mn-ea"/>
              </a:rPr>
              <a:t>Outlook</a:t>
            </a:r>
            <a:r>
              <a:rPr lang="en-US">
                <a:latin typeface="Times New Roman" charset="0"/>
                <a:ea typeface="+mn-ea"/>
              </a:rPr>
              <a:t>) = 0.246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>
                <a:latin typeface="Times New Roman" charset="0"/>
                <a:ea typeface="+mn-ea"/>
              </a:rPr>
              <a:t>Gain</a:t>
            </a:r>
            <a:r>
              <a:rPr lang="en-US">
                <a:latin typeface="Times New Roman" charset="0"/>
                <a:ea typeface="+mn-ea"/>
              </a:rPr>
              <a:t>(</a:t>
            </a:r>
            <a:r>
              <a:rPr lang="en-US" i="1">
                <a:latin typeface="Times New Roman" charset="0"/>
                <a:ea typeface="+mn-ea"/>
              </a:rPr>
              <a:t>S</a:t>
            </a:r>
            <a:r>
              <a:rPr lang="en-US">
                <a:latin typeface="Times New Roman" charset="0"/>
                <a:ea typeface="+mn-ea"/>
              </a:rPr>
              <a:t>, </a:t>
            </a:r>
            <a:r>
              <a:rPr lang="en-US" i="1">
                <a:latin typeface="Times New Roman" charset="0"/>
                <a:ea typeface="+mn-ea"/>
              </a:rPr>
              <a:t>Humidity</a:t>
            </a:r>
            <a:r>
              <a:rPr lang="en-US">
                <a:latin typeface="Times New Roman" charset="0"/>
                <a:ea typeface="+mn-ea"/>
              </a:rPr>
              <a:t>) = 0.151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>
                <a:latin typeface="Times New Roman" charset="0"/>
                <a:ea typeface="+mn-ea"/>
              </a:rPr>
              <a:t>Gain</a:t>
            </a:r>
            <a:r>
              <a:rPr lang="en-US">
                <a:latin typeface="Times New Roman" charset="0"/>
                <a:ea typeface="+mn-ea"/>
              </a:rPr>
              <a:t>(</a:t>
            </a:r>
            <a:r>
              <a:rPr lang="en-US" i="1">
                <a:latin typeface="Times New Roman" charset="0"/>
                <a:ea typeface="+mn-ea"/>
              </a:rPr>
              <a:t>S</a:t>
            </a:r>
            <a:r>
              <a:rPr lang="en-US">
                <a:latin typeface="Times New Roman" charset="0"/>
                <a:ea typeface="+mn-ea"/>
              </a:rPr>
              <a:t>, </a:t>
            </a:r>
            <a:r>
              <a:rPr lang="en-US" i="1">
                <a:latin typeface="Times New Roman" charset="0"/>
                <a:ea typeface="+mn-ea"/>
              </a:rPr>
              <a:t>Wind</a:t>
            </a:r>
            <a:r>
              <a:rPr lang="en-US">
                <a:latin typeface="Times New Roman" charset="0"/>
                <a:ea typeface="+mn-ea"/>
              </a:rPr>
              <a:t>) = 0.084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>
                <a:latin typeface="Times New Roman" charset="0"/>
                <a:ea typeface="+mn-ea"/>
              </a:rPr>
              <a:t>Gain</a:t>
            </a:r>
            <a:r>
              <a:rPr lang="en-US">
                <a:latin typeface="Times New Roman" charset="0"/>
                <a:ea typeface="+mn-ea"/>
              </a:rPr>
              <a:t>(</a:t>
            </a:r>
            <a:r>
              <a:rPr lang="en-US" i="1">
                <a:latin typeface="Times New Roman" charset="0"/>
                <a:ea typeface="+mn-ea"/>
              </a:rPr>
              <a:t>S</a:t>
            </a:r>
            <a:r>
              <a:rPr lang="en-US">
                <a:latin typeface="Times New Roman" charset="0"/>
                <a:ea typeface="+mn-ea"/>
              </a:rPr>
              <a:t>, </a:t>
            </a:r>
            <a:r>
              <a:rPr lang="en-US" i="1">
                <a:latin typeface="Times New Roman" charset="0"/>
                <a:ea typeface="+mn-ea"/>
              </a:rPr>
              <a:t>Temperature</a:t>
            </a:r>
            <a:r>
              <a:rPr lang="en-US">
                <a:latin typeface="Times New Roman" charset="0"/>
                <a:ea typeface="+mn-ea"/>
              </a:rPr>
              <a:t>) = 0.029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>
                <a:latin typeface="Times New Roman" charset="0"/>
                <a:ea typeface="+mn-ea"/>
                <a:cs typeface="+mn-cs"/>
              </a:rPr>
              <a:t>Outlook</a:t>
            </a:r>
            <a:r>
              <a:rPr lang="en-US">
                <a:ea typeface="+mn-ea"/>
                <a:cs typeface="+mn-cs"/>
              </a:rPr>
              <a:t> provides the best prediction for the target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>
                <a:ea typeface="+mn-ea"/>
                <a:cs typeface="+mn-cs"/>
              </a:rPr>
              <a:t>Lets grow the tree: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>
                <a:ea typeface="+mn-ea"/>
              </a:rPr>
              <a:t>add to the tree a successor for each possible value of </a:t>
            </a:r>
            <a:r>
              <a:rPr lang="en-US" i="1">
                <a:latin typeface="Times New Roman" charset="0"/>
                <a:ea typeface="+mn-ea"/>
              </a:rPr>
              <a:t>Outlook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>
                <a:ea typeface="+mn-ea"/>
              </a:rPr>
              <a:t>partition the training samples according to the value of </a:t>
            </a:r>
            <a:r>
              <a:rPr lang="en-US" i="1">
                <a:latin typeface="Times New Roman" charset="0"/>
                <a:ea typeface="+mn-ea"/>
              </a:rPr>
              <a:t>Outlook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endParaRPr lang="en-US" i="1">
              <a:latin typeface="Times New Roman" charset="0"/>
              <a:ea typeface="+mn-ea"/>
            </a:endParaRP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endParaRPr lang="en-US">
              <a:latin typeface="Times New Roman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1031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490538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After first step</a:t>
            </a:r>
          </a:p>
        </p:txBody>
      </p:sp>
      <p:pic>
        <p:nvPicPr>
          <p:cNvPr id="333830" name="Picture 6"/>
          <p:cNvPicPr>
            <a:picLocks noGrp="1" noChangeAspect="1" noChangeArrowheads="1"/>
          </p:cNvPicPr>
          <p:nvPr>
            <p:ph type="dgm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081" r="-12081"/>
          <a:stretch>
            <a:fillRect/>
          </a:stretch>
        </p:blipFill>
        <p:spPr>
          <a:xfrm>
            <a:off x="1389460" y="1329929"/>
            <a:ext cx="6156722" cy="3212306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1567135394"/>
      </p:ext>
    </p:extLst>
  </p:cSld>
  <p:clrMapOvr>
    <a:masterClrMapping/>
  </p:clrMapOvr>
  <p:transition spd="med"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Second step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>
                <a:ea typeface="+mn-ea"/>
                <a:cs typeface="+mn-cs"/>
              </a:rPr>
              <a:t>Working on </a:t>
            </a:r>
            <a:r>
              <a:rPr lang="en-US" i="1">
                <a:latin typeface="Times New Roman" charset="0"/>
                <a:ea typeface="+mn-ea"/>
                <a:cs typeface="+mn-cs"/>
              </a:rPr>
              <a:t>Outlook=Sunny</a:t>
            </a:r>
            <a:r>
              <a:rPr lang="en-US">
                <a:ea typeface="+mn-ea"/>
                <a:cs typeface="+mn-cs"/>
              </a:rPr>
              <a:t> node:</a:t>
            </a:r>
          </a:p>
          <a:p>
            <a:pPr lvl="1" eaLnBrk="1" hangingPunct="1">
              <a:buFont typeface="Wingdings" charset="0"/>
              <a:buNone/>
              <a:defRPr/>
            </a:pPr>
            <a:r>
              <a:rPr lang="en-US" i="1">
                <a:latin typeface="Times New Roman" charset="0"/>
                <a:ea typeface="+mn-ea"/>
              </a:rPr>
              <a:t>Gain</a:t>
            </a:r>
            <a:r>
              <a:rPr lang="en-US">
                <a:latin typeface="Times New Roman" charset="0"/>
                <a:ea typeface="+mn-ea"/>
              </a:rPr>
              <a:t>(</a:t>
            </a:r>
            <a:r>
              <a:rPr lang="en-US" i="1">
                <a:latin typeface="Times New Roman" charset="0"/>
                <a:ea typeface="+mn-ea"/>
              </a:rPr>
              <a:t>S</a:t>
            </a:r>
            <a:r>
              <a:rPr lang="en-US" i="1" baseline="-25000">
                <a:latin typeface="Times New Roman" charset="0"/>
                <a:ea typeface="+mn-ea"/>
              </a:rPr>
              <a:t>Sunny</a:t>
            </a:r>
            <a:r>
              <a:rPr lang="en-US">
                <a:latin typeface="Times New Roman" charset="0"/>
                <a:ea typeface="+mn-ea"/>
              </a:rPr>
              <a:t>, </a:t>
            </a:r>
            <a:r>
              <a:rPr lang="en-US" i="1">
                <a:latin typeface="Times New Roman" charset="0"/>
                <a:ea typeface="+mn-ea"/>
              </a:rPr>
              <a:t>Humidity</a:t>
            </a:r>
            <a:r>
              <a:rPr lang="en-US">
                <a:latin typeface="Times New Roman" charset="0"/>
                <a:ea typeface="+mn-ea"/>
              </a:rPr>
              <a:t>) = 0.970 </a:t>
            </a:r>
            <a:r>
              <a:rPr lang="en-US">
                <a:latin typeface="Arial" charset="0"/>
                <a:ea typeface="+mn-ea"/>
                <a:sym typeface="Symbol" charset="0"/>
              </a:rPr>
              <a:t> </a:t>
            </a:r>
            <a:r>
              <a:rPr lang="en-US">
                <a:latin typeface="Times New Roman" charset="0"/>
                <a:ea typeface="+mn-ea"/>
              </a:rPr>
              <a:t>3/5 </a:t>
            </a:r>
            <a:r>
              <a:rPr lang="en-US">
                <a:latin typeface="Times New Roman" charset="0"/>
                <a:ea typeface="+mn-ea"/>
                <a:sym typeface="Symbol" charset="0"/>
              </a:rPr>
              <a:t></a:t>
            </a:r>
            <a:r>
              <a:rPr lang="en-US">
                <a:latin typeface="Times New Roman" charset="0"/>
                <a:ea typeface="+mn-ea"/>
              </a:rPr>
              <a:t> 0.0 </a:t>
            </a:r>
            <a:r>
              <a:rPr lang="en-US">
                <a:latin typeface="Arial" charset="0"/>
                <a:ea typeface="+mn-ea"/>
                <a:sym typeface="Symbol" charset="0"/>
              </a:rPr>
              <a:t> </a:t>
            </a:r>
            <a:r>
              <a:rPr lang="en-US">
                <a:latin typeface="Times New Roman" charset="0"/>
                <a:ea typeface="+mn-ea"/>
              </a:rPr>
              <a:t>2/5 </a:t>
            </a:r>
            <a:r>
              <a:rPr lang="en-US">
                <a:latin typeface="Times New Roman" charset="0"/>
                <a:ea typeface="+mn-ea"/>
                <a:sym typeface="Symbol" charset="0"/>
              </a:rPr>
              <a:t></a:t>
            </a:r>
            <a:r>
              <a:rPr lang="en-US">
                <a:latin typeface="Times New Roman" charset="0"/>
                <a:ea typeface="+mn-ea"/>
              </a:rPr>
              <a:t> 0.0 = 0.970 </a:t>
            </a:r>
          </a:p>
          <a:p>
            <a:pPr lvl="1" eaLnBrk="1" hangingPunct="1">
              <a:buFont typeface="Wingdings" charset="0"/>
              <a:buNone/>
              <a:defRPr/>
            </a:pPr>
            <a:r>
              <a:rPr lang="en-US" i="1">
                <a:latin typeface="Times New Roman" charset="0"/>
                <a:ea typeface="+mn-ea"/>
              </a:rPr>
              <a:t>Gain</a:t>
            </a:r>
            <a:r>
              <a:rPr lang="en-US">
                <a:latin typeface="Times New Roman" charset="0"/>
                <a:ea typeface="+mn-ea"/>
              </a:rPr>
              <a:t>(</a:t>
            </a:r>
            <a:r>
              <a:rPr lang="en-US" i="1">
                <a:latin typeface="Times New Roman" charset="0"/>
                <a:ea typeface="+mn-ea"/>
              </a:rPr>
              <a:t>S</a:t>
            </a:r>
            <a:r>
              <a:rPr lang="en-US" i="1" baseline="-25000">
                <a:latin typeface="Times New Roman" charset="0"/>
                <a:ea typeface="+mn-ea"/>
              </a:rPr>
              <a:t>Sunny</a:t>
            </a:r>
            <a:r>
              <a:rPr lang="en-US">
                <a:latin typeface="Times New Roman" charset="0"/>
                <a:ea typeface="+mn-ea"/>
              </a:rPr>
              <a:t>, </a:t>
            </a:r>
            <a:r>
              <a:rPr lang="en-US" i="1">
                <a:latin typeface="Times New Roman" charset="0"/>
                <a:ea typeface="+mn-ea"/>
              </a:rPr>
              <a:t>Wind</a:t>
            </a:r>
            <a:r>
              <a:rPr lang="en-US">
                <a:latin typeface="Times New Roman" charset="0"/>
                <a:ea typeface="+mn-ea"/>
              </a:rPr>
              <a:t>) = 0.970 </a:t>
            </a:r>
            <a:r>
              <a:rPr lang="en-US">
                <a:latin typeface="Arial" charset="0"/>
                <a:ea typeface="+mn-ea"/>
                <a:sym typeface="Symbol" charset="0"/>
              </a:rPr>
              <a:t> </a:t>
            </a:r>
            <a:r>
              <a:rPr lang="en-US">
                <a:latin typeface="Times New Roman" charset="0"/>
                <a:ea typeface="+mn-ea"/>
              </a:rPr>
              <a:t>2/5 </a:t>
            </a:r>
            <a:r>
              <a:rPr lang="en-US">
                <a:latin typeface="Times New Roman" charset="0"/>
                <a:ea typeface="+mn-ea"/>
                <a:sym typeface="Symbol" charset="0"/>
              </a:rPr>
              <a:t></a:t>
            </a:r>
            <a:r>
              <a:rPr lang="en-US">
                <a:latin typeface="Times New Roman" charset="0"/>
                <a:ea typeface="+mn-ea"/>
              </a:rPr>
              <a:t> 1.0 </a:t>
            </a:r>
            <a:r>
              <a:rPr lang="en-US">
                <a:latin typeface="Arial" charset="0"/>
                <a:ea typeface="+mn-ea"/>
                <a:sym typeface="Symbol" charset="0"/>
              </a:rPr>
              <a:t> </a:t>
            </a:r>
            <a:r>
              <a:rPr lang="en-US">
                <a:latin typeface="Times New Roman" charset="0"/>
                <a:ea typeface="+mn-ea"/>
              </a:rPr>
              <a:t>3.5 </a:t>
            </a:r>
            <a:r>
              <a:rPr lang="en-US">
                <a:latin typeface="Times New Roman" charset="0"/>
                <a:ea typeface="+mn-ea"/>
                <a:sym typeface="Symbol" charset="0"/>
              </a:rPr>
              <a:t></a:t>
            </a:r>
            <a:r>
              <a:rPr lang="en-US">
                <a:latin typeface="Times New Roman" charset="0"/>
                <a:ea typeface="+mn-ea"/>
              </a:rPr>
              <a:t> 0.918 = 0 .019</a:t>
            </a:r>
          </a:p>
          <a:p>
            <a:pPr lvl="1" eaLnBrk="1" hangingPunct="1">
              <a:buFont typeface="Wingdings" charset="0"/>
              <a:buNone/>
              <a:defRPr/>
            </a:pPr>
            <a:r>
              <a:rPr lang="en-US" i="1">
                <a:latin typeface="Times New Roman" charset="0"/>
                <a:ea typeface="+mn-ea"/>
              </a:rPr>
              <a:t>Gain</a:t>
            </a:r>
            <a:r>
              <a:rPr lang="en-US">
                <a:latin typeface="Times New Roman" charset="0"/>
                <a:ea typeface="+mn-ea"/>
              </a:rPr>
              <a:t>(</a:t>
            </a:r>
            <a:r>
              <a:rPr lang="en-US" i="1">
                <a:latin typeface="Times New Roman" charset="0"/>
                <a:ea typeface="+mn-ea"/>
              </a:rPr>
              <a:t>S</a:t>
            </a:r>
            <a:r>
              <a:rPr lang="en-US" i="1" baseline="-25000">
                <a:latin typeface="Times New Roman" charset="0"/>
                <a:ea typeface="+mn-ea"/>
              </a:rPr>
              <a:t>Sunny</a:t>
            </a:r>
            <a:r>
              <a:rPr lang="en-US">
                <a:latin typeface="Times New Roman" charset="0"/>
                <a:ea typeface="+mn-ea"/>
              </a:rPr>
              <a:t>, </a:t>
            </a:r>
            <a:r>
              <a:rPr lang="en-US" i="1">
                <a:latin typeface="Times New Roman" charset="0"/>
                <a:ea typeface="+mn-ea"/>
              </a:rPr>
              <a:t>Temp.</a:t>
            </a:r>
            <a:r>
              <a:rPr lang="en-US">
                <a:latin typeface="Times New Roman" charset="0"/>
                <a:ea typeface="+mn-ea"/>
              </a:rPr>
              <a:t>) = 0.970 </a:t>
            </a:r>
            <a:r>
              <a:rPr lang="en-US">
                <a:latin typeface="Arial" charset="0"/>
                <a:ea typeface="+mn-ea"/>
                <a:sym typeface="Symbol" charset="0"/>
              </a:rPr>
              <a:t> </a:t>
            </a:r>
            <a:r>
              <a:rPr lang="en-US">
                <a:latin typeface="Times New Roman" charset="0"/>
                <a:ea typeface="+mn-ea"/>
              </a:rPr>
              <a:t>2/5 </a:t>
            </a:r>
            <a:r>
              <a:rPr lang="en-US">
                <a:latin typeface="Times New Roman" charset="0"/>
                <a:ea typeface="+mn-ea"/>
                <a:sym typeface="Symbol" charset="0"/>
              </a:rPr>
              <a:t></a:t>
            </a:r>
            <a:r>
              <a:rPr lang="en-US">
                <a:latin typeface="Times New Roman" charset="0"/>
                <a:ea typeface="+mn-ea"/>
              </a:rPr>
              <a:t> 0.0 </a:t>
            </a:r>
            <a:r>
              <a:rPr lang="en-US">
                <a:latin typeface="Arial" charset="0"/>
                <a:ea typeface="+mn-ea"/>
                <a:sym typeface="Symbol" charset="0"/>
              </a:rPr>
              <a:t> </a:t>
            </a:r>
            <a:r>
              <a:rPr lang="en-US">
                <a:latin typeface="Times New Roman" charset="0"/>
                <a:ea typeface="+mn-ea"/>
              </a:rPr>
              <a:t>2/5 </a:t>
            </a:r>
            <a:r>
              <a:rPr lang="en-US">
                <a:latin typeface="Times New Roman" charset="0"/>
                <a:ea typeface="+mn-ea"/>
                <a:sym typeface="Symbol" charset="0"/>
              </a:rPr>
              <a:t></a:t>
            </a:r>
            <a:r>
              <a:rPr lang="en-US">
                <a:latin typeface="Times New Roman" charset="0"/>
                <a:ea typeface="+mn-ea"/>
              </a:rPr>
              <a:t> 1.0 </a:t>
            </a:r>
            <a:r>
              <a:rPr lang="en-US">
                <a:latin typeface="Arial" charset="0"/>
                <a:ea typeface="+mn-ea"/>
                <a:sym typeface="Symbol" charset="0"/>
              </a:rPr>
              <a:t> </a:t>
            </a:r>
            <a:r>
              <a:rPr lang="en-US">
                <a:latin typeface="Times New Roman" charset="0"/>
                <a:ea typeface="+mn-ea"/>
              </a:rPr>
              <a:t>1/5 </a:t>
            </a:r>
            <a:r>
              <a:rPr lang="en-US">
                <a:latin typeface="Times New Roman" charset="0"/>
                <a:ea typeface="+mn-ea"/>
                <a:sym typeface="Symbol" charset="0"/>
              </a:rPr>
              <a:t></a:t>
            </a:r>
            <a:r>
              <a:rPr lang="en-US">
                <a:latin typeface="Times New Roman" charset="0"/>
                <a:ea typeface="+mn-ea"/>
              </a:rPr>
              <a:t> 0.0 = 0.570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i="1">
                <a:latin typeface="Times New Roman" charset="0"/>
                <a:ea typeface="+mn-ea"/>
                <a:cs typeface="+mn-cs"/>
              </a:rPr>
              <a:t>Humidity</a:t>
            </a:r>
            <a:r>
              <a:rPr lang="en-US">
                <a:ea typeface="+mn-ea"/>
                <a:cs typeface="+mn-cs"/>
              </a:rPr>
              <a:t> provides the best prediction for the target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>
                <a:ea typeface="+mn-ea"/>
                <a:cs typeface="+mn-cs"/>
              </a:rPr>
              <a:t>Lets grow the tree: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>
                <a:ea typeface="+mn-ea"/>
              </a:rPr>
              <a:t>add to the tree a successor for each possible value of </a:t>
            </a:r>
            <a:r>
              <a:rPr lang="en-US" i="1">
                <a:latin typeface="Times New Roman" charset="0"/>
                <a:ea typeface="+mn-ea"/>
              </a:rPr>
              <a:t>Humidity</a:t>
            </a:r>
          </a:p>
          <a:p>
            <a:pPr lvl="1" eaLnBrk="1" hangingPunct="1">
              <a:buFont typeface="Wingdings" charset="0"/>
              <a:buChar char="§"/>
              <a:defRPr/>
            </a:pPr>
            <a:r>
              <a:rPr lang="en-US">
                <a:ea typeface="+mn-ea"/>
              </a:rPr>
              <a:t>partition the training samples according to the value of </a:t>
            </a:r>
            <a:r>
              <a:rPr lang="en-US" i="1">
                <a:latin typeface="Times New Roman" charset="0"/>
                <a:ea typeface="+mn-ea"/>
              </a:rPr>
              <a:t>Humidity</a:t>
            </a:r>
          </a:p>
          <a:p>
            <a:pPr lvl="1" eaLnBrk="1" hangingPunct="1">
              <a:buFont typeface="Wingdings" charset="0"/>
              <a:buNone/>
              <a:defRPr/>
            </a:pPr>
            <a:r>
              <a:rPr lang="en-US">
                <a:latin typeface="Times New Roman" charset="0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931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490538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Second and third steps</a:t>
            </a:r>
          </a:p>
        </p:txBody>
      </p:sp>
      <p:pic>
        <p:nvPicPr>
          <p:cNvPr id="3471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085850"/>
            <a:ext cx="4763691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347149" name="Group 13"/>
          <p:cNvGrpSpPr>
            <a:grpSpLocks/>
          </p:cNvGrpSpPr>
          <p:nvPr/>
        </p:nvGrpSpPr>
        <p:grpSpPr bwMode="auto">
          <a:xfrm>
            <a:off x="1771650" y="2914649"/>
            <a:ext cx="2034778" cy="1672828"/>
            <a:chOff x="528" y="2448"/>
            <a:chExt cx="1709" cy="1405"/>
          </a:xfrm>
        </p:grpSpPr>
        <p:pic>
          <p:nvPicPr>
            <p:cNvPr id="347143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4" y="2448"/>
              <a:ext cx="1376" cy="1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47144" name="Text Box 8"/>
            <p:cNvSpPr txBox="1">
              <a:spLocks noChangeArrowheads="1"/>
            </p:cNvSpPr>
            <p:nvPr/>
          </p:nvSpPr>
          <p:spPr bwMode="auto">
            <a:xfrm>
              <a:off x="528" y="3504"/>
              <a:ext cx="792" cy="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>
                  <a:latin typeface="Times New Roman" charset="0"/>
                  <a:ea typeface="ＭＳ Ｐゴシック" charset="0"/>
                </a:rPr>
                <a:t>{D1, D2, D8}</a:t>
              </a:r>
            </a:p>
            <a:p>
              <a:pPr>
                <a:defRPr/>
              </a:pPr>
              <a:r>
                <a:rPr lang="en-US" sz="1050" i="1">
                  <a:latin typeface="Times New Roman" charset="0"/>
                  <a:ea typeface="ＭＳ Ｐゴシック" charset="0"/>
                </a:rPr>
                <a:t>        No</a:t>
              </a:r>
              <a:endParaRPr lang="en-US" sz="1350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347145" name="Text Box 9"/>
            <p:cNvSpPr txBox="1">
              <a:spLocks noChangeArrowheads="1"/>
            </p:cNvSpPr>
            <p:nvPr/>
          </p:nvSpPr>
          <p:spPr bwMode="auto">
            <a:xfrm>
              <a:off x="1584" y="3504"/>
              <a:ext cx="653" cy="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>
                  <a:latin typeface="Times New Roman" charset="0"/>
                  <a:ea typeface="ＭＳ Ｐゴシック" charset="0"/>
                </a:rPr>
                <a:t>{D9, D11}</a:t>
              </a:r>
            </a:p>
            <a:p>
              <a:pPr>
                <a:defRPr/>
              </a:pPr>
              <a:r>
                <a:rPr lang="en-US" sz="1050" i="1">
                  <a:latin typeface="Times New Roman" charset="0"/>
                  <a:ea typeface="ＭＳ Ｐゴシック" charset="0"/>
                </a:rPr>
                <a:t>        Yes</a:t>
              </a:r>
              <a:endParaRPr lang="en-US" sz="1350">
                <a:latin typeface="Times New Roman" charset="0"/>
                <a:ea typeface="ＭＳ Ｐゴシック" charset="0"/>
              </a:endParaRPr>
            </a:p>
          </p:txBody>
        </p:sp>
      </p:grpSp>
      <p:grpSp>
        <p:nvGrpSpPr>
          <p:cNvPr id="347150" name="Group 14"/>
          <p:cNvGrpSpPr>
            <a:grpSpLocks/>
          </p:cNvGrpSpPr>
          <p:nvPr/>
        </p:nvGrpSpPr>
        <p:grpSpPr bwMode="auto">
          <a:xfrm>
            <a:off x="4914900" y="3047999"/>
            <a:ext cx="2034778" cy="1596628"/>
            <a:chOff x="3168" y="2560"/>
            <a:chExt cx="1709" cy="1341"/>
          </a:xfrm>
        </p:grpSpPr>
        <p:pic>
          <p:nvPicPr>
            <p:cNvPr id="347146" name="Picture 1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2560"/>
              <a:ext cx="1272" cy="1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47147" name="Text Box 11"/>
            <p:cNvSpPr txBox="1">
              <a:spLocks noChangeArrowheads="1"/>
            </p:cNvSpPr>
            <p:nvPr/>
          </p:nvSpPr>
          <p:spPr bwMode="auto">
            <a:xfrm>
              <a:off x="3168" y="3552"/>
              <a:ext cx="848" cy="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>
                  <a:latin typeface="Times New Roman" charset="0"/>
                  <a:ea typeface="ＭＳ Ｐゴシック" charset="0"/>
                </a:rPr>
                <a:t>{D4, D5, D10}</a:t>
              </a:r>
            </a:p>
            <a:p>
              <a:pPr>
                <a:defRPr/>
              </a:pPr>
              <a:r>
                <a:rPr lang="en-US" sz="1050" i="1">
                  <a:latin typeface="Times New Roman" charset="0"/>
                  <a:ea typeface="ＭＳ Ｐゴシック" charset="0"/>
                </a:rPr>
                <a:t>        Yes</a:t>
              </a:r>
              <a:endParaRPr lang="en-US" sz="1350">
                <a:latin typeface="Times New Roman" charset="0"/>
                <a:ea typeface="ＭＳ Ｐゴシック" charset="0"/>
              </a:endParaRPr>
            </a:p>
          </p:txBody>
        </p:sp>
        <p:sp>
          <p:nvSpPr>
            <p:cNvPr id="347148" name="Text Box 12"/>
            <p:cNvSpPr txBox="1">
              <a:spLocks noChangeArrowheads="1"/>
            </p:cNvSpPr>
            <p:nvPr/>
          </p:nvSpPr>
          <p:spPr bwMode="auto">
            <a:xfrm>
              <a:off x="4224" y="3552"/>
              <a:ext cx="653" cy="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050">
                  <a:latin typeface="Times New Roman" charset="0"/>
                  <a:ea typeface="ＭＳ Ｐゴシック" charset="0"/>
                </a:rPr>
                <a:t>{D6, D14}</a:t>
              </a:r>
            </a:p>
            <a:p>
              <a:pPr>
                <a:defRPr/>
              </a:pPr>
              <a:r>
                <a:rPr lang="en-US" sz="1050" i="1">
                  <a:latin typeface="Times New Roman" charset="0"/>
                  <a:ea typeface="ＭＳ Ｐゴシック" charset="0"/>
                </a:rPr>
                <a:t>        No</a:t>
              </a:r>
              <a:endParaRPr lang="en-US" sz="1350">
                <a:latin typeface="Times New Roman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0000656"/>
      </p:ext>
    </p:extLst>
  </p:cSld>
  <p:clrMapOvr>
    <a:masterClrMapping/>
  </p:clrMapOvr>
  <p:transition spd="med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1026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ID3: algorithm</a:t>
            </a:r>
          </a:p>
        </p:txBody>
      </p:sp>
      <p:sp>
        <p:nvSpPr>
          <p:cNvPr id="423939" name="Rectangle 1027"/>
          <p:cNvSpPr>
            <a:spLocks noGrp="1" noChangeArrowheads="1"/>
          </p:cNvSpPr>
          <p:nvPr>
            <p:ph idx="1"/>
          </p:nvPr>
        </p:nvSpPr>
        <p:spPr>
          <a:xfrm>
            <a:off x="1389460" y="1221581"/>
            <a:ext cx="6497240" cy="3320654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/>
              <a:t>ID3(</a:t>
            </a:r>
            <a:r>
              <a:rPr lang="en-US" altLang="it-IT" sz="1350" i="1"/>
              <a:t>X, T, Attrs</a:t>
            </a:r>
            <a:r>
              <a:rPr lang="en-US" altLang="it-IT" sz="1350"/>
              <a:t>)	</a:t>
            </a:r>
            <a:r>
              <a:rPr lang="en-US" altLang="it-IT" sz="1350" i="1"/>
              <a:t>X</a:t>
            </a:r>
            <a:r>
              <a:rPr lang="en-US" altLang="it-IT" sz="1350"/>
              <a:t>: training examples: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/>
              <a:t>			T</a:t>
            </a:r>
            <a:r>
              <a:rPr lang="en-US" altLang="it-IT" sz="1350"/>
              <a:t>: target attribute (e.g. </a:t>
            </a:r>
            <a:r>
              <a:rPr lang="en-US" altLang="it-IT" sz="1350" i="1">
                <a:latin typeface="Times New Roman" panose="02020603050405020304" pitchFamily="18" charset="0"/>
              </a:rPr>
              <a:t>PlayTennis</a:t>
            </a:r>
            <a:r>
              <a:rPr lang="en-US" altLang="it-IT" sz="1350"/>
              <a:t>), 	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/>
              <a:t>			Attrs</a:t>
            </a:r>
            <a:r>
              <a:rPr lang="en-US" altLang="it-IT" sz="1350"/>
              <a:t>: other attributes, initially all attributes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/>
              <a:t>  Create </a:t>
            </a:r>
            <a:r>
              <a:rPr lang="en-US" altLang="it-IT" sz="1350" i="1"/>
              <a:t>Root</a:t>
            </a:r>
            <a:r>
              <a:rPr lang="en-US" altLang="it-IT" sz="1350"/>
              <a:t> node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/>
              <a:t>  </a:t>
            </a:r>
            <a:r>
              <a:rPr lang="en-US" altLang="it-IT" sz="1350" i="1">
                <a:solidFill>
                  <a:schemeClr val="tx2"/>
                </a:solidFill>
              </a:rPr>
              <a:t>If</a:t>
            </a:r>
            <a:r>
              <a:rPr lang="en-US" altLang="it-IT" sz="1350">
                <a:solidFill>
                  <a:schemeClr val="tx2"/>
                </a:solidFill>
              </a:rPr>
              <a:t> </a:t>
            </a:r>
            <a:r>
              <a:rPr lang="en-US" altLang="it-IT" sz="1350"/>
              <a:t>all X's are +, </a:t>
            </a:r>
            <a:r>
              <a:rPr lang="en-US" altLang="it-IT" sz="1350" i="1">
                <a:solidFill>
                  <a:schemeClr val="tx2"/>
                </a:solidFill>
              </a:rPr>
              <a:t>return</a:t>
            </a:r>
            <a:r>
              <a:rPr lang="en-US" altLang="it-IT" sz="1350"/>
              <a:t> </a:t>
            </a:r>
            <a:r>
              <a:rPr lang="en-US" altLang="it-IT" sz="1350" i="1"/>
              <a:t>Root</a:t>
            </a:r>
            <a:r>
              <a:rPr lang="en-US" altLang="it-IT" sz="1350"/>
              <a:t> with class +</a:t>
            </a:r>
            <a:endParaRPr lang="en-US" altLang="it-IT" sz="135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/>
              <a:t>  </a:t>
            </a:r>
            <a:r>
              <a:rPr lang="en-US" altLang="it-IT" sz="1350" i="1">
                <a:solidFill>
                  <a:schemeClr val="tx2"/>
                </a:solidFill>
              </a:rPr>
              <a:t>If</a:t>
            </a:r>
            <a:r>
              <a:rPr lang="en-US" altLang="it-IT" sz="1350"/>
              <a:t> all X's are </a:t>
            </a:r>
            <a:r>
              <a:rPr lang="en-US" altLang="it-IT" sz="1350">
                <a:latin typeface="Times" panose="02020603050405020304" pitchFamily="18" charset="0"/>
              </a:rPr>
              <a:t>–</a:t>
            </a:r>
            <a:r>
              <a:rPr lang="en-US" altLang="it-IT" sz="1350"/>
              <a:t>, </a:t>
            </a:r>
            <a:r>
              <a:rPr lang="en-US" altLang="it-IT" sz="1350" i="1">
                <a:solidFill>
                  <a:schemeClr val="tx2"/>
                </a:solidFill>
              </a:rPr>
              <a:t>return</a:t>
            </a:r>
            <a:r>
              <a:rPr lang="en-US" altLang="it-IT" sz="1350"/>
              <a:t> </a:t>
            </a:r>
            <a:r>
              <a:rPr lang="en-US" altLang="it-IT" sz="1350" i="1"/>
              <a:t>Root </a:t>
            </a:r>
            <a:r>
              <a:rPr lang="en-US" altLang="it-IT" sz="1350"/>
              <a:t>with class</a:t>
            </a:r>
            <a:r>
              <a:rPr lang="en-US" altLang="it-IT" sz="1350" b="1"/>
              <a:t> </a:t>
            </a:r>
            <a:r>
              <a:rPr lang="en-US" altLang="it-IT" sz="1350">
                <a:latin typeface="Times" panose="02020603050405020304" pitchFamily="18" charset="0"/>
              </a:rPr>
              <a:t>–</a:t>
            </a:r>
            <a:endParaRPr lang="en-US" altLang="it-IT" sz="135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/>
              <a:t>  </a:t>
            </a:r>
            <a:r>
              <a:rPr lang="en-US" altLang="it-IT" sz="1350" i="1">
                <a:solidFill>
                  <a:schemeClr val="tx2"/>
                </a:solidFill>
              </a:rPr>
              <a:t>If</a:t>
            </a:r>
            <a:r>
              <a:rPr lang="en-US" altLang="it-IT" sz="1350" i="1"/>
              <a:t> Attrs</a:t>
            </a:r>
            <a:r>
              <a:rPr lang="en-US" altLang="it-IT" sz="1350"/>
              <a:t> is empty </a:t>
            </a:r>
            <a:r>
              <a:rPr lang="en-US" altLang="it-IT" sz="1350" i="1">
                <a:solidFill>
                  <a:schemeClr val="tx2"/>
                </a:solidFill>
              </a:rPr>
              <a:t>return</a:t>
            </a:r>
            <a:r>
              <a:rPr lang="en-US" altLang="it-IT" sz="1350"/>
              <a:t> </a:t>
            </a:r>
            <a:r>
              <a:rPr lang="en-US" altLang="it-IT" sz="1350" i="1"/>
              <a:t>Root </a:t>
            </a:r>
            <a:r>
              <a:rPr lang="en-US" altLang="it-IT" sz="1350"/>
              <a:t>with class</a:t>
            </a:r>
            <a:r>
              <a:rPr lang="en-US" altLang="it-IT" sz="1350" i="1"/>
              <a:t> </a:t>
            </a:r>
            <a:r>
              <a:rPr lang="en-US" altLang="it-IT" sz="1350"/>
              <a:t>most common value of </a:t>
            </a:r>
            <a:r>
              <a:rPr lang="en-US" altLang="it-IT" sz="1350" i="1"/>
              <a:t>T </a:t>
            </a:r>
            <a:r>
              <a:rPr lang="en-US" altLang="it-IT" sz="1350"/>
              <a:t>in</a:t>
            </a:r>
            <a:r>
              <a:rPr lang="en-US" altLang="it-IT" sz="1350" i="1"/>
              <a:t> X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/>
              <a:t>  </a:t>
            </a:r>
            <a:r>
              <a:rPr lang="en-US" altLang="it-IT" sz="1350" i="1">
                <a:solidFill>
                  <a:schemeClr val="tx2"/>
                </a:solidFill>
              </a:rPr>
              <a:t>else</a:t>
            </a:r>
            <a:endParaRPr lang="en-US" altLang="it-IT" sz="1350" i="1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/>
              <a:t>	A </a:t>
            </a:r>
            <a:r>
              <a:rPr lang="en-US" altLang="it-IT" sz="1350" i="1">
                <a:sym typeface="Symbol" panose="05050102010706020507" pitchFamily="18" charset="2"/>
              </a:rPr>
              <a:t> </a:t>
            </a:r>
            <a:r>
              <a:rPr lang="en-US" altLang="it-IT" sz="1350"/>
              <a:t>best attribute; decision attribute for Root </a:t>
            </a:r>
            <a:r>
              <a:rPr lang="en-US" altLang="it-IT" sz="1350" i="1">
                <a:sym typeface="Symbol" panose="05050102010706020507" pitchFamily="18" charset="2"/>
              </a:rPr>
              <a:t> A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>
                <a:sym typeface="Symbol" panose="05050102010706020507" pitchFamily="18" charset="2"/>
              </a:rPr>
              <a:t>	</a:t>
            </a:r>
            <a:r>
              <a:rPr lang="en-US" altLang="it-IT" sz="1350">
                <a:solidFill>
                  <a:schemeClr val="tx2"/>
                </a:solidFill>
                <a:sym typeface="Symbol" panose="05050102010706020507" pitchFamily="18" charset="2"/>
              </a:rPr>
              <a:t>For each</a:t>
            </a:r>
            <a:r>
              <a:rPr lang="en-US" altLang="it-IT" sz="1350">
                <a:sym typeface="Symbol" panose="05050102010706020507" pitchFamily="18" charset="2"/>
              </a:rPr>
              <a:t> possible value</a:t>
            </a:r>
            <a:r>
              <a:rPr lang="en-US" altLang="it-IT" sz="1350" i="1">
                <a:sym typeface="Symbol" panose="05050102010706020507" pitchFamily="18" charset="2"/>
              </a:rPr>
              <a:t> v</a:t>
            </a:r>
            <a:r>
              <a:rPr lang="en-US" altLang="it-IT" sz="1350" i="1" baseline="-25000">
                <a:latin typeface="Arial" panose="020B0604020202020204" pitchFamily="34" charset="0"/>
              </a:rPr>
              <a:t>i</a:t>
            </a:r>
            <a:r>
              <a:rPr lang="en-US" altLang="it-IT" sz="1350" i="1">
                <a:sym typeface="Symbol" panose="05050102010706020507" pitchFamily="18" charset="2"/>
              </a:rPr>
              <a:t> </a:t>
            </a:r>
            <a:r>
              <a:rPr lang="en-US" altLang="it-IT" sz="1350">
                <a:sym typeface="Symbol" panose="05050102010706020507" pitchFamily="18" charset="2"/>
              </a:rPr>
              <a:t>of </a:t>
            </a:r>
            <a:r>
              <a:rPr lang="en-US" altLang="it-IT" sz="1350" i="1">
                <a:sym typeface="Symbol" panose="05050102010706020507" pitchFamily="18" charset="2"/>
              </a:rPr>
              <a:t>A: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>
                <a:sym typeface="Symbol" panose="05050102010706020507" pitchFamily="18" charset="2"/>
              </a:rPr>
              <a:t>	 - </a:t>
            </a:r>
            <a:r>
              <a:rPr lang="en-US" altLang="it-IT" sz="1350">
                <a:sym typeface="Symbol" panose="05050102010706020507" pitchFamily="18" charset="2"/>
              </a:rPr>
              <a:t>add a new branch below</a:t>
            </a:r>
            <a:r>
              <a:rPr lang="en-US" altLang="it-IT" sz="1350" i="1">
                <a:sym typeface="Symbol" panose="05050102010706020507" pitchFamily="18" charset="2"/>
              </a:rPr>
              <a:t> Root, </a:t>
            </a:r>
            <a:r>
              <a:rPr lang="en-US" altLang="it-IT" sz="1350">
                <a:sym typeface="Symbol" panose="05050102010706020507" pitchFamily="18" charset="2"/>
              </a:rPr>
              <a:t>for test</a:t>
            </a:r>
            <a:r>
              <a:rPr lang="en-US" altLang="it-IT" sz="1350" i="1">
                <a:sym typeface="Symbol" panose="05050102010706020507" pitchFamily="18" charset="2"/>
              </a:rPr>
              <a:t> A = v</a:t>
            </a:r>
            <a:r>
              <a:rPr lang="en-US" altLang="it-IT" sz="1350" i="1" baseline="-25000">
                <a:latin typeface="Arial" panose="020B0604020202020204" pitchFamily="34" charset="0"/>
              </a:rPr>
              <a:t>i</a:t>
            </a:r>
            <a:endParaRPr lang="en-US" altLang="it-IT" sz="1350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>
                <a:sym typeface="Symbol" panose="05050102010706020507" pitchFamily="18" charset="2"/>
              </a:rPr>
              <a:t>	 - X</a:t>
            </a:r>
            <a:r>
              <a:rPr lang="en-US" altLang="it-IT" sz="1350" i="1" baseline="-25000">
                <a:latin typeface="Arial" panose="020B0604020202020204" pitchFamily="34" charset="0"/>
              </a:rPr>
              <a:t>i </a:t>
            </a:r>
            <a:r>
              <a:rPr lang="en-US" altLang="it-IT" sz="1350" i="1">
                <a:sym typeface="Symbol" panose="05050102010706020507" pitchFamily="18" charset="2"/>
              </a:rPr>
              <a:t> </a:t>
            </a:r>
            <a:r>
              <a:rPr lang="en-US" altLang="it-IT" sz="1350">
                <a:sym typeface="Symbol" panose="05050102010706020507" pitchFamily="18" charset="2"/>
              </a:rPr>
              <a:t>subset of</a:t>
            </a:r>
            <a:r>
              <a:rPr lang="en-US" altLang="it-IT" sz="1350" i="1">
                <a:sym typeface="Symbol" panose="05050102010706020507" pitchFamily="18" charset="2"/>
              </a:rPr>
              <a:t> X </a:t>
            </a:r>
            <a:r>
              <a:rPr lang="en-US" altLang="it-IT" sz="1350">
                <a:sym typeface="Symbol" panose="05050102010706020507" pitchFamily="18" charset="2"/>
              </a:rPr>
              <a:t>with</a:t>
            </a:r>
            <a:r>
              <a:rPr lang="en-US" altLang="it-IT" sz="1350" i="1">
                <a:sym typeface="Symbol" panose="05050102010706020507" pitchFamily="18" charset="2"/>
              </a:rPr>
              <a:t> A = v</a:t>
            </a:r>
            <a:r>
              <a:rPr lang="en-US" altLang="it-IT" sz="1350" i="1" baseline="-25000">
                <a:latin typeface="Arial" panose="020B0604020202020204" pitchFamily="34" charset="0"/>
              </a:rPr>
              <a:t>i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>
                <a:sym typeface="Symbol" panose="05050102010706020507" pitchFamily="18" charset="2"/>
              </a:rPr>
              <a:t>	 - </a:t>
            </a:r>
            <a:r>
              <a:rPr lang="en-US" altLang="it-IT" sz="1350" i="1">
                <a:solidFill>
                  <a:schemeClr val="tx2"/>
                </a:solidFill>
                <a:sym typeface="Symbol" panose="05050102010706020507" pitchFamily="18" charset="2"/>
              </a:rPr>
              <a:t>If</a:t>
            </a:r>
            <a:r>
              <a:rPr lang="en-US" altLang="it-IT" sz="1350" i="1">
                <a:sym typeface="Symbol" panose="05050102010706020507" pitchFamily="18" charset="2"/>
              </a:rPr>
              <a:t> X</a:t>
            </a:r>
            <a:r>
              <a:rPr lang="en-US" altLang="it-IT" sz="1350" i="1" baseline="-25000">
                <a:latin typeface="Arial" panose="020B0604020202020204" pitchFamily="34" charset="0"/>
              </a:rPr>
              <a:t>i</a:t>
            </a:r>
            <a:r>
              <a:rPr lang="en-US" altLang="it-IT" sz="1350" i="1">
                <a:sym typeface="Symbol" panose="05050102010706020507" pitchFamily="18" charset="2"/>
              </a:rPr>
              <a:t> </a:t>
            </a:r>
            <a:r>
              <a:rPr lang="en-US" altLang="it-IT" sz="1350">
                <a:sym typeface="Symbol" panose="05050102010706020507" pitchFamily="18" charset="2"/>
              </a:rPr>
              <a:t>is empty</a:t>
            </a:r>
            <a:r>
              <a:rPr lang="en-US" altLang="it-IT" sz="1350" i="1">
                <a:sym typeface="Symbol" panose="05050102010706020507" pitchFamily="18" charset="2"/>
              </a:rPr>
              <a:t> </a:t>
            </a:r>
            <a:r>
              <a:rPr lang="en-US" altLang="it-IT" sz="1350" i="1">
                <a:solidFill>
                  <a:schemeClr val="tx2"/>
                </a:solidFill>
                <a:sym typeface="Symbol" panose="05050102010706020507" pitchFamily="18" charset="2"/>
              </a:rPr>
              <a:t>then</a:t>
            </a:r>
            <a:r>
              <a:rPr lang="en-US" altLang="it-IT" sz="1350" i="1">
                <a:sym typeface="Symbol" panose="05050102010706020507" pitchFamily="18" charset="2"/>
              </a:rPr>
              <a:t> </a:t>
            </a:r>
            <a:r>
              <a:rPr lang="en-US" altLang="it-IT" sz="1350">
                <a:sym typeface="Symbol" panose="05050102010706020507" pitchFamily="18" charset="2"/>
              </a:rPr>
              <a:t>add a new leaf with class the most common value of </a:t>
            </a:r>
            <a:r>
              <a:rPr lang="en-US" altLang="it-IT" sz="1350" i="1">
                <a:sym typeface="Symbol" panose="05050102010706020507" pitchFamily="18" charset="2"/>
              </a:rPr>
              <a:t>T</a:t>
            </a:r>
            <a:r>
              <a:rPr lang="en-US" altLang="it-IT" sz="1350">
                <a:sym typeface="Symbol" panose="05050102010706020507" pitchFamily="18" charset="2"/>
              </a:rPr>
              <a:t> in </a:t>
            </a:r>
            <a:r>
              <a:rPr lang="en-US" altLang="it-IT" sz="1350" i="1">
                <a:sym typeface="Symbol" panose="05050102010706020507" pitchFamily="18" charset="2"/>
              </a:rPr>
              <a:t>X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>
                <a:sym typeface="Symbol" panose="05050102010706020507" pitchFamily="18" charset="2"/>
              </a:rPr>
              <a:t>	      </a:t>
            </a:r>
            <a:r>
              <a:rPr lang="en-US" altLang="it-IT" sz="1350" i="1">
                <a:solidFill>
                  <a:schemeClr val="tx2"/>
                </a:solidFill>
                <a:sym typeface="Symbol" panose="05050102010706020507" pitchFamily="18" charset="2"/>
              </a:rPr>
              <a:t>else</a:t>
            </a:r>
            <a:r>
              <a:rPr lang="en-US" altLang="it-IT" sz="1350" i="1">
                <a:sym typeface="Symbol" panose="05050102010706020507" pitchFamily="18" charset="2"/>
              </a:rPr>
              <a:t> </a:t>
            </a:r>
            <a:r>
              <a:rPr lang="en-US" altLang="it-IT" sz="1350">
                <a:sym typeface="Symbol" panose="05050102010706020507" pitchFamily="18" charset="2"/>
              </a:rPr>
              <a:t>add the subtree generated by</a:t>
            </a:r>
            <a:r>
              <a:rPr lang="en-US" altLang="it-IT" sz="1350" i="1">
                <a:sym typeface="Symbol" panose="05050102010706020507" pitchFamily="18" charset="2"/>
              </a:rPr>
              <a:t> </a:t>
            </a:r>
            <a:r>
              <a:rPr lang="en-US" altLang="it-IT" sz="1350">
                <a:sym typeface="Symbol" panose="05050102010706020507" pitchFamily="18" charset="2"/>
              </a:rPr>
              <a:t>ID3(</a:t>
            </a:r>
            <a:r>
              <a:rPr lang="en-US" altLang="it-IT" sz="1350" i="1">
                <a:sym typeface="Symbol" panose="05050102010706020507" pitchFamily="18" charset="2"/>
              </a:rPr>
              <a:t>X</a:t>
            </a:r>
            <a:r>
              <a:rPr lang="en-US" altLang="it-IT" sz="1350" i="1" baseline="-25000">
                <a:latin typeface="Arial" panose="020B0604020202020204" pitchFamily="34" charset="0"/>
              </a:rPr>
              <a:t>i</a:t>
            </a:r>
            <a:r>
              <a:rPr lang="en-US" altLang="it-IT" sz="1350" i="1">
                <a:sym typeface="Symbol" panose="05050102010706020507" pitchFamily="18" charset="2"/>
              </a:rPr>
              <a:t>, T, Attrs </a:t>
            </a:r>
            <a:r>
              <a:rPr lang="en-US" altLang="it-IT" sz="1350" b="1">
                <a:sym typeface="Symbol" panose="05050102010706020507" pitchFamily="18" charset="2"/>
              </a:rPr>
              <a:t></a:t>
            </a:r>
            <a:r>
              <a:rPr lang="en-US" altLang="it-IT" sz="1350" i="1">
                <a:sym typeface="Symbol" panose="05050102010706020507" pitchFamily="18" charset="2"/>
              </a:rPr>
              <a:t> </a:t>
            </a:r>
            <a:r>
              <a:rPr lang="en-US" altLang="it-IT" sz="1350">
                <a:sym typeface="Symbol" panose="05050102010706020507" pitchFamily="18" charset="2"/>
              </a:rPr>
              <a:t>{</a:t>
            </a:r>
            <a:r>
              <a:rPr lang="en-US" altLang="it-IT" sz="1350" i="1">
                <a:sym typeface="Symbol" panose="05050102010706020507" pitchFamily="18" charset="2"/>
              </a:rPr>
              <a:t>A</a:t>
            </a:r>
            <a:r>
              <a:rPr lang="en-US" altLang="it-IT" sz="1350">
                <a:sym typeface="Symbol" panose="05050102010706020507" pitchFamily="18" charset="2"/>
              </a:rPr>
              <a:t>})</a:t>
            </a:r>
            <a:endParaRPr lang="en-US" altLang="it-IT" sz="1350" i="1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t-IT" sz="1350" i="1">
                <a:sym typeface="Symbol" panose="05050102010706020507" pitchFamily="18" charset="2"/>
              </a:rPr>
              <a:t>  </a:t>
            </a:r>
            <a:r>
              <a:rPr lang="en-US" altLang="it-IT" sz="1350" i="1">
                <a:solidFill>
                  <a:schemeClr val="tx2"/>
                </a:solidFill>
                <a:sym typeface="Symbol" panose="05050102010706020507" pitchFamily="18" charset="2"/>
              </a:rPr>
              <a:t>return</a:t>
            </a:r>
            <a:r>
              <a:rPr lang="en-US" altLang="it-IT" sz="1350" i="1">
                <a:sym typeface="Symbol" panose="05050102010706020507" pitchFamily="18" charset="2"/>
              </a:rPr>
              <a:t> Root</a:t>
            </a:r>
          </a:p>
        </p:txBody>
      </p:sp>
    </p:spTree>
    <p:extLst>
      <p:ext uri="{BB962C8B-B14F-4D97-AF65-F5344CB8AC3E}">
        <p14:creationId xmlns:p14="http://schemas.microsoft.com/office/powerpoint/2010/main" val="3467187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1848" y="303610"/>
            <a:ext cx="6478190" cy="57745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300" dirty="0"/>
              <a:t>Search space in Decision Tree learning</a:t>
            </a:r>
          </a:p>
        </p:txBody>
      </p:sp>
      <p:sp>
        <p:nvSpPr>
          <p:cNvPr id="317445" name="Rectangle 5"/>
          <p:cNvSpPr>
            <a:spLocks noGrp="1" noChangeArrowheads="1"/>
          </p:cNvSpPr>
          <p:nvPr>
            <p:ph idx="1"/>
          </p:nvPr>
        </p:nvSpPr>
        <p:spPr>
          <a:xfrm>
            <a:off x="4686301" y="1257300"/>
            <a:ext cx="2842022" cy="32575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The search space is made by partial decision trees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The algorithm is </a:t>
            </a:r>
            <a:r>
              <a:rPr lang="en-US" sz="1350" i="1"/>
              <a:t>hill-climbing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The evaluation function is </a:t>
            </a:r>
            <a:r>
              <a:rPr lang="en-US" sz="1350" i="1"/>
              <a:t>information gain</a:t>
            </a:r>
            <a:endParaRPr lang="en-US" sz="1350"/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The hypotheses space is complete (represents all discrete-valued functions)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The search maintains a single current hypothesis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No backtracking; no guarantee of optimality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It uses all the available examples (not incremental)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1350"/>
              <a:t>May terminate earlier, accepting noisy classes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endParaRPr lang="en-US" sz="1350"/>
          </a:p>
        </p:txBody>
      </p:sp>
      <p:pic>
        <p:nvPicPr>
          <p:cNvPr id="317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1085850"/>
            <a:ext cx="3662363" cy="3569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3197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496617" y="357187"/>
            <a:ext cx="6478190" cy="577454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dirty="0"/>
              <a:t>Inductive bias in decision tree learning 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33550"/>
            <a:ext cx="8229600" cy="2861072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/>
          </a:bodyPr>
          <a:lstStyle/>
          <a:p>
            <a:pPr>
              <a:buFont typeface="Wingdings" charset="0"/>
              <a:buChar char="§"/>
              <a:defRPr/>
            </a:pPr>
            <a:r>
              <a:rPr lang="en-US" sz="2400" dirty="0">
                <a:ea typeface="+mn-ea"/>
                <a:cs typeface="+mn-cs"/>
              </a:rPr>
              <a:t>What is the inductive bias of DT learning?</a:t>
            </a:r>
            <a:endParaRPr lang="en-US" sz="2400" i="1" dirty="0">
              <a:ea typeface="+mn-ea"/>
              <a:cs typeface="+mn-cs"/>
            </a:endParaRPr>
          </a:p>
          <a:p>
            <a:pPr>
              <a:buFont typeface="Arial" charset="0"/>
              <a:buAutoNum type="arabicPeriod"/>
              <a:defRPr/>
            </a:pPr>
            <a:r>
              <a:rPr lang="en-US" sz="2000" i="1" dirty="0">
                <a:ea typeface="+mn-ea"/>
                <a:cs typeface="+mn-cs"/>
              </a:rPr>
              <a:t>Shorter trees are preferred over longer trees</a:t>
            </a:r>
          </a:p>
          <a:p>
            <a:pPr>
              <a:buNone/>
              <a:defRPr/>
            </a:pPr>
            <a:r>
              <a:rPr lang="en-US" sz="2600" i="1" dirty="0">
                <a:ea typeface="+mn-ea"/>
                <a:cs typeface="+mn-cs"/>
              </a:rPr>
              <a:t>	</a:t>
            </a:r>
            <a:r>
              <a:rPr lang="en-US" sz="1800" dirty="0">
                <a:ea typeface="+mn-ea"/>
                <a:cs typeface="+mn-cs"/>
              </a:rPr>
              <a:t>Not enough. This is the bias exhibited by a simple breadth first algorithm generating all DT's e selecting the shorter one</a:t>
            </a:r>
            <a:endParaRPr lang="en-US" sz="1800" i="1" dirty="0">
              <a:ea typeface="+mn-ea"/>
              <a:cs typeface="+mn-cs"/>
            </a:endParaRPr>
          </a:p>
          <a:p>
            <a:pPr>
              <a:buFont typeface="Arial" charset="0"/>
              <a:buAutoNum type="arabicPeriod"/>
              <a:defRPr/>
            </a:pPr>
            <a:r>
              <a:rPr lang="en-US" sz="2000" i="1" dirty="0"/>
              <a:t>Prefer trees that place high information gain attributes close to the root</a:t>
            </a:r>
          </a:p>
        </p:txBody>
      </p:sp>
    </p:spTree>
    <p:extLst>
      <p:ext uri="{BB962C8B-B14F-4D97-AF65-F5344CB8AC3E}">
        <p14:creationId xmlns:p14="http://schemas.microsoft.com/office/powerpoint/2010/main" val="4145066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Two kinds of biases in ML </a:t>
            </a:r>
          </a:p>
        </p:txBody>
      </p:sp>
      <p:sp>
        <p:nvSpPr>
          <p:cNvPr id="424963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85000" lnSpcReduction="10000"/>
          </a:bodyPr>
          <a:lstStyle/>
          <a:p>
            <a:pPr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Preference or search biases (due to the search strategy)</a:t>
            </a:r>
          </a:p>
          <a:p>
            <a:pPr marL="628650" lvl="1"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ID3 searches a </a:t>
            </a:r>
            <a:r>
              <a:rPr lang="en-US" i="1" dirty="0">
                <a:ea typeface="+mn-ea"/>
              </a:rPr>
              <a:t>complete</a:t>
            </a:r>
            <a:r>
              <a:rPr lang="en-US" dirty="0">
                <a:ea typeface="+mn-ea"/>
              </a:rPr>
              <a:t> hypotheses space; the search strategy is </a:t>
            </a:r>
            <a:r>
              <a:rPr lang="en-US" i="1" dirty="0">
                <a:ea typeface="+mn-ea"/>
              </a:rPr>
              <a:t>incomplete</a:t>
            </a:r>
            <a:endParaRPr lang="en-US" dirty="0">
              <a:ea typeface="+mn-ea"/>
            </a:endParaRPr>
          </a:p>
          <a:p>
            <a:pPr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Restriction or language biases (due to the set of hypotheses expressible or considered)                                           </a:t>
            </a:r>
          </a:p>
          <a:p>
            <a:pPr marL="628650" lvl="1"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DT represent only </a:t>
            </a:r>
            <a:r>
              <a:rPr lang="en-US" i="1" dirty="0">
                <a:ea typeface="+mn-ea"/>
              </a:rPr>
              <a:t>Boolean functions</a:t>
            </a:r>
            <a:endParaRPr lang="en-US" dirty="0">
              <a:ea typeface="+mn-ea"/>
            </a:endParaRPr>
          </a:p>
          <a:p>
            <a:pPr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A combination of biases may be possible (e.g. linear regression with gradient descent)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488608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34666" y="209550"/>
            <a:ext cx="7247334" cy="531019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3200" dirty="0"/>
              <a:t>Prefer shorter hypotheses:  Occam's </a:t>
            </a:r>
            <a:r>
              <a:rPr lang="en-US" sz="3200" dirty="0" err="1"/>
              <a:t>rasor</a:t>
            </a:r>
            <a:endParaRPr lang="en-US" sz="3200" dirty="0"/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1439466" y="888208"/>
            <a:ext cx="6637734" cy="4121942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625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Why prefer shorter hypotheses?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Arguments in favor: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There are fewer short hypotheses than long ones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If a short hypothesis fits data unlikely to be a coincidence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Elegance and aesthetics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Arguments against: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Not every short hypothesis is a reasonable one.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Occam's </a:t>
            </a:r>
            <a:r>
              <a:rPr lang="en-US" dirty="0" err="1">
                <a:ea typeface="+mn-ea"/>
                <a:cs typeface="+mn-cs"/>
              </a:rPr>
              <a:t>razor:</a:t>
            </a:r>
            <a:r>
              <a:rPr lang="en-US" i="1" dirty="0" err="1">
                <a:ea typeface="+mn-ea"/>
                <a:cs typeface="+mn-cs"/>
              </a:rPr>
              <a:t>"The</a:t>
            </a:r>
            <a:r>
              <a:rPr lang="en-US" i="1" dirty="0">
                <a:ea typeface="+mn-ea"/>
                <a:cs typeface="+mn-cs"/>
              </a:rPr>
              <a:t> simplest explanation is usually the best one.</a:t>
            </a:r>
            <a:r>
              <a:rPr lang="en-US" dirty="0">
                <a:ea typeface="+mn-ea"/>
                <a:cs typeface="+mn-cs"/>
              </a:rPr>
              <a:t>"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a principle usually (though incorrectly) attributed14th-century English logician and Franciscan friar, William of Ockham.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 err="1">
                <a:ea typeface="+mn-ea"/>
              </a:rPr>
              <a:t>lex</a:t>
            </a:r>
            <a:r>
              <a:rPr lang="en-US" dirty="0">
                <a:ea typeface="+mn-ea"/>
              </a:rPr>
              <a:t> </a:t>
            </a:r>
            <a:r>
              <a:rPr lang="en-US" dirty="0" err="1">
                <a:ea typeface="+mn-ea"/>
              </a:rPr>
              <a:t>parsimoniae</a:t>
            </a:r>
            <a:r>
              <a:rPr lang="en-US" dirty="0">
                <a:ea typeface="+mn-ea"/>
              </a:rPr>
              <a:t> ("law of parsimony", "law of economy", or "law of succinctness")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The term razor refers to the act of </a:t>
            </a:r>
            <a:r>
              <a:rPr lang="en-US" i="1" dirty="0">
                <a:ea typeface="+mn-ea"/>
              </a:rPr>
              <a:t>shaving away</a:t>
            </a:r>
            <a:r>
              <a:rPr lang="en-US" dirty="0">
                <a:ea typeface="+mn-ea"/>
              </a:rPr>
              <a:t> unnecessary assumptions to get to the simplest explanation.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endParaRPr lang="en-US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9571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Issues in decision trees learning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Overfitting (because DT have low bias)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Reduced error pruning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Rule post-pruning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Extensions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Continuous valued attributes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Alternative measures for selecting attributes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Handling training examples with missing attribute values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Handling attributes with different costs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Improving computational efficiency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Most of these improvements in C4.5 (Quinlan, 1993)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endParaRPr lang="en-US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39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Overfitting</a:t>
            </a:r>
          </a:p>
        </p:txBody>
      </p:sp>
      <p:sp>
        <p:nvSpPr>
          <p:cNvPr id="388100" name="Rectangle 4"/>
          <p:cNvSpPr>
            <a:spLocks noGrp="1" noChangeArrowheads="1"/>
          </p:cNvSpPr>
          <p:nvPr>
            <p:ph idx="1"/>
          </p:nvPr>
        </p:nvSpPr>
        <p:spPr>
          <a:xfrm>
            <a:off x="1389460" y="1221580"/>
            <a:ext cx="6611540" cy="3712369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/>
            <a:r>
              <a:rPr lang="en-US" altLang="it-IT" dirty="0"/>
              <a:t>Building trees that </a:t>
            </a:r>
            <a:r>
              <a:rPr lang="en-US" altLang="en-US" dirty="0"/>
              <a:t>“</a:t>
            </a:r>
            <a:r>
              <a:rPr lang="en-US" altLang="it-IT" dirty="0"/>
              <a:t>adapt too much</a:t>
            </a:r>
            <a:r>
              <a:rPr lang="en-US" altLang="en-US" dirty="0"/>
              <a:t>”</a:t>
            </a:r>
            <a:r>
              <a:rPr lang="en-US" altLang="it-IT" dirty="0"/>
              <a:t> to the training examples may lead to </a:t>
            </a:r>
            <a:r>
              <a:rPr lang="en-US" altLang="en-US" dirty="0"/>
              <a:t>“</a:t>
            </a:r>
            <a:r>
              <a:rPr lang="en-US" altLang="ja-JP" dirty="0"/>
              <a:t>overfitting</a:t>
            </a:r>
            <a:r>
              <a:rPr lang="en-US" altLang="en-US" dirty="0"/>
              <a:t>”</a:t>
            </a:r>
            <a:r>
              <a:rPr lang="en-US" altLang="ja-JP" dirty="0"/>
              <a:t>.</a:t>
            </a:r>
          </a:p>
          <a:p>
            <a:pPr eaLnBrk="1" hangingPunct="1"/>
            <a:r>
              <a:rPr lang="en-US" altLang="it-IT" dirty="0"/>
              <a:t>Consider error of hypothesis 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it-IT" dirty="0"/>
              <a:t> over</a:t>
            </a:r>
          </a:p>
          <a:p>
            <a:pPr lvl="1" eaLnBrk="1" hangingPunct="1"/>
            <a:r>
              <a:rPr lang="en-US" altLang="it-IT" dirty="0"/>
              <a:t>training data: </a:t>
            </a:r>
            <a:r>
              <a:rPr lang="en-US" altLang="it-IT" i="1" dirty="0" err="1">
                <a:latin typeface="Times New Roman" panose="02020603050405020304" pitchFamily="18" charset="0"/>
              </a:rPr>
              <a:t>error</a:t>
            </a:r>
            <a:r>
              <a:rPr lang="en-US" altLang="it-IT" i="1" baseline="-25000" dirty="0" err="1">
                <a:latin typeface="Times New Roman" panose="02020603050405020304" pitchFamily="18" charset="0"/>
              </a:rPr>
              <a:t>D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it-IT" dirty="0">
                <a:latin typeface="Times New Roman" panose="02020603050405020304" pitchFamily="18" charset="0"/>
              </a:rPr>
              <a:t>)			</a:t>
            </a:r>
            <a:r>
              <a:rPr lang="en-US" altLang="it-IT" dirty="0"/>
              <a:t>empirical error</a:t>
            </a:r>
          </a:p>
          <a:p>
            <a:pPr lvl="1" eaLnBrk="1" hangingPunct="1"/>
            <a:r>
              <a:rPr lang="en-US" altLang="it-IT" dirty="0"/>
              <a:t>entire distribution </a:t>
            </a:r>
            <a:r>
              <a:rPr lang="en-US" altLang="it-IT" i="1" dirty="0">
                <a:latin typeface="Times New Roman" panose="02020603050405020304" pitchFamily="18" charset="0"/>
              </a:rPr>
              <a:t>X</a:t>
            </a:r>
            <a:r>
              <a:rPr lang="en-US" altLang="it-IT" dirty="0"/>
              <a:t> of data: </a:t>
            </a:r>
            <a:r>
              <a:rPr lang="en-US" altLang="it-IT" i="1" dirty="0" err="1">
                <a:latin typeface="Times New Roman" panose="02020603050405020304" pitchFamily="18" charset="0"/>
              </a:rPr>
              <a:t>error</a:t>
            </a:r>
            <a:r>
              <a:rPr lang="en-US" altLang="it-IT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it-IT" dirty="0">
                <a:latin typeface="Times New Roman" panose="02020603050405020304" pitchFamily="18" charset="0"/>
              </a:rPr>
              <a:t>)	</a:t>
            </a:r>
            <a:r>
              <a:rPr lang="en-US" altLang="it-IT" dirty="0"/>
              <a:t>expected error</a:t>
            </a:r>
          </a:p>
          <a:p>
            <a:pPr eaLnBrk="1" hangingPunct="1"/>
            <a:r>
              <a:rPr lang="en-US" altLang="it-IT" dirty="0"/>
              <a:t>Hypothesis </a:t>
            </a:r>
            <a:r>
              <a:rPr lang="en-US" altLang="it-IT" i="1" dirty="0"/>
              <a:t>h</a:t>
            </a:r>
            <a:r>
              <a:rPr lang="en-US" altLang="it-IT" dirty="0"/>
              <a:t> </a:t>
            </a:r>
            <a:r>
              <a:rPr lang="en-US" altLang="it-IT" i="1" dirty="0" err="1">
                <a:solidFill>
                  <a:schemeClr val="tx2"/>
                </a:solidFill>
              </a:rPr>
              <a:t>overfits</a:t>
            </a:r>
            <a:r>
              <a:rPr lang="en-US" altLang="it-IT" dirty="0"/>
              <a:t> training data if there is an alternative hypothesis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it-IT" i="1" dirty="0">
                <a:latin typeface="Arial" panose="020B0604020202020204" pitchFamily="34" charset="0"/>
              </a:rPr>
              <a:t>'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>
                <a:latin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such that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t-IT" i="1" dirty="0">
                <a:latin typeface="Times New Roman" panose="02020603050405020304" pitchFamily="18" charset="0"/>
              </a:rPr>
              <a:t>			</a:t>
            </a:r>
            <a:r>
              <a:rPr lang="en-US" altLang="it-IT" i="1" dirty="0" err="1">
                <a:latin typeface="Times New Roman" panose="02020603050405020304" pitchFamily="18" charset="0"/>
              </a:rPr>
              <a:t>error</a:t>
            </a:r>
            <a:r>
              <a:rPr lang="en-US" altLang="it-IT" i="1" baseline="-25000" dirty="0" err="1">
                <a:latin typeface="Times New Roman" panose="02020603050405020304" pitchFamily="18" charset="0"/>
              </a:rPr>
              <a:t>D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it-IT" dirty="0">
                <a:latin typeface="Times New Roman" panose="02020603050405020304" pitchFamily="18" charset="0"/>
              </a:rPr>
              <a:t>) &lt; </a:t>
            </a:r>
            <a:r>
              <a:rPr lang="en-US" altLang="it-IT" i="1" dirty="0" err="1">
                <a:latin typeface="Times New Roman" panose="02020603050405020304" pitchFamily="18" charset="0"/>
              </a:rPr>
              <a:t>error</a:t>
            </a:r>
            <a:r>
              <a:rPr lang="en-US" altLang="it-IT" i="1" baseline="-25000" dirty="0" err="1">
                <a:latin typeface="Times New Roman" panose="02020603050405020304" pitchFamily="18" charset="0"/>
              </a:rPr>
              <a:t>D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en-US" i="1" dirty="0">
                <a:latin typeface="Times New Roman" panose="02020603050405020304" pitchFamily="18" charset="0"/>
              </a:rPr>
              <a:t>’</a:t>
            </a:r>
            <a:r>
              <a:rPr lang="en-US" altLang="ja-JP" dirty="0">
                <a:latin typeface="Times New Roman" panose="02020603050405020304" pitchFamily="18" charset="0"/>
              </a:rPr>
              <a:t>)   </a:t>
            </a:r>
            <a:r>
              <a:rPr lang="en-US" altLang="ja-JP" dirty="0"/>
              <a:t>and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t-IT" dirty="0">
                <a:latin typeface="Times New Roman" panose="02020603050405020304" pitchFamily="18" charset="0"/>
              </a:rPr>
              <a:t>			</a:t>
            </a:r>
            <a:r>
              <a:rPr lang="en-US" altLang="it-IT" i="1" dirty="0" err="1">
                <a:latin typeface="Times New Roman" panose="02020603050405020304" pitchFamily="18" charset="0"/>
              </a:rPr>
              <a:t>error</a:t>
            </a:r>
            <a:r>
              <a:rPr lang="en-US" altLang="it-IT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h</a:t>
            </a:r>
            <a:r>
              <a:rPr lang="en-US" altLang="en-US" i="1" dirty="0">
                <a:latin typeface="Times New Roman" panose="02020603050405020304" pitchFamily="18" charset="0"/>
              </a:rPr>
              <a:t>’</a:t>
            </a:r>
            <a:r>
              <a:rPr lang="en-US" altLang="ja-JP" dirty="0">
                <a:latin typeface="Times New Roman" panose="02020603050405020304" pitchFamily="18" charset="0"/>
              </a:rPr>
              <a:t>) &lt; </a:t>
            </a:r>
            <a:r>
              <a:rPr lang="en-US" altLang="ja-JP" i="1" dirty="0" err="1">
                <a:latin typeface="Times New Roman" panose="02020603050405020304" pitchFamily="18" charset="0"/>
              </a:rPr>
              <a:t>error</a:t>
            </a:r>
            <a:r>
              <a:rPr lang="en-US" altLang="ja-JP" i="1" baseline="-25000" dirty="0" err="1">
                <a:latin typeface="Times New Roman" panose="02020603050405020304" pitchFamily="18" charset="0"/>
              </a:rPr>
              <a:t>X</a:t>
            </a:r>
            <a:r>
              <a:rPr lang="en-US" altLang="ja-JP" dirty="0">
                <a:latin typeface="Times New Roman" panose="02020603050405020304" pitchFamily="18" charset="0"/>
              </a:rPr>
              <a:t>(</a:t>
            </a:r>
            <a:r>
              <a:rPr lang="en-US" altLang="ja-JP" i="1" dirty="0">
                <a:latin typeface="Times New Roman" panose="02020603050405020304" pitchFamily="18" charset="0"/>
              </a:rPr>
              <a:t>h</a:t>
            </a:r>
            <a:r>
              <a:rPr lang="en-US" altLang="ja-JP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t-IT" dirty="0"/>
              <a:t>	i.e. h</a:t>
            </a:r>
            <a:r>
              <a:rPr lang="en-US" altLang="en-US" dirty="0"/>
              <a:t>’</a:t>
            </a:r>
            <a:r>
              <a:rPr lang="en-US" altLang="it-IT" dirty="0"/>
              <a:t> behaves better over unseen data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it-IT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it-IT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673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0988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Example</a:t>
            </a:r>
          </a:p>
        </p:txBody>
      </p:sp>
      <p:pic>
        <p:nvPicPr>
          <p:cNvPr id="385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800100"/>
            <a:ext cx="5191125" cy="368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85028" name="Rectangle 4"/>
          <p:cNvSpPr>
            <a:spLocks noChangeArrowheads="1"/>
          </p:cNvSpPr>
          <p:nvPr/>
        </p:nvSpPr>
        <p:spPr bwMode="auto">
          <a:xfrm>
            <a:off x="1885950" y="857250"/>
            <a:ext cx="5200650" cy="3886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Times New Roman" charset="0"/>
              <a:ea typeface="ＭＳ Ｐゴシック" charset="0"/>
            </a:endParaRPr>
          </a:p>
        </p:txBody>
      </p:sp>
      <p:sp>
        <p:nvSpPr>
          <p:cNvPr id="385030" name="Text Box 6"/>
          <p:cNvSpPr txBox="1">
            <a:spLocks noChangeArrowheads="1"/>
          </p:cNvSpPr>
          <p:nvPr/>
        </p:nvSpPr>
        <p:spPr bwMode="auto">
          <a:xfrm>
            <a:off x="1828800" y="4394598"/>
            <a:ext cx="49720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500">
                <a:latin typeface="Times New Roman" charset="0"/>
                <a:ea typeface="ＭＳ Ｐゴシック" charset="0"/>
                <a:sym typeface="Symbol" charset="0"/>
              </a:rPr>
              <a:t> </a:t>
            </a:r>
            <a:r>
              <a:rPr lang="en-US" sz="1500">
                <a:solidFill>
                  <a:schemeClr val="tx2"/>
                </a:solidFill>
                <a:latin typeface="Times New Roman" charset="0"/>
                <a:ea typeface="ＭＳ Ｐゴシック" charset="0"/>
                <a:sym typeface="Symbol" charset="0"/>
              </a:rPr>
              <a:t>D15     </a:t>
            </a:r>
            <a:r>
              <a:rPr lang="en-US" sz="1500">
                <a:solidFill>
                  <a:schemeClr val="tx2"/>
                </a:solidFill>
                <a:latin typeface="Times New Roman" charset="0"/>
                <a:ea typeface="ＭＳ Ｐゴシック" charset="0"/>
              </a:rPr>
              <a:t>Sunny              Hot             Normal     Strong           No</a:t>
            </a:r>
            <a:endParaRPr lang="en-US" sz="1500">
              <a:solidFill>
                <a:schemeClr val="tx2"/>
              </a:solidFill>
              <a:latin typeface="Times New Roman" charset="0"/>
              <a:ea typeface="ＭＳ Ｐゴシック" charset="0"/>
              <a:sym typeface="Symbo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964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5888" y="298847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err="1">
                <a:ea typeface="+mj-ea"/>
              </a:rPr>
              <a:t>Overfitting</a:t>
            </a:r>
            <a:r>
              <a:rPr lang="en-US" dirty="0">
                <a:ea typeface="+mj-ea"/>
              </a:rPr>
              <a:t> in decision trees</a:t>
            </a:r>
          </a:p>
        </p:txBody>
      </p:sp>
      <p:pic>
        <p:nvPicPr>
          <p:cNvPr id="3348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1028700"/>
            <a:ext cx="5029200" cy="2987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1428751" y="4057650"/>
            <a:ext cx="6443239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it-IT" sz="1500" b="0">
                <a:sym typeface="Symbol" panose="05050102010706020507" pitchFamily="18" charset="2"/>
              </a:rPr>
              <a:t></a:t>
            </a:r>
            <a:r>
              <a:rPr lang="en-US" altLang="it-IT" sz="1500" b="0" i="1"/>
              <a:t>Outlook=Sunny, Temp=Hot, Humidity=Normal, Wind=Strong, PlayTennis=No </a:t>
            </a:r>
            <a:r>
              <a:rPr lang="en-US" altLang="it-IT" sz="1500" b="0">
                <a:sym typeface="Symbol" panose="05050102010706020507" pitchFamily="18" charset="2"/>
              </a:rPr>
              <a:t></a:t>
            </a:r>
          </a:p>
          <a:p>
            <a:pPr eaLnBrk="1" hangingPunct="1"/>
            <a:endParaRPr lang="en-US" altLang="it-IT" sz="1500" b="0">
              <a:latin typeface="Arial" panose="020B0604020202020204" pitchFamily="34" charset="0"/>
            </a:endParaRPr>
          </a:p>
          <a:p>
            <a:pPr eaLnBrk="1" hangingPunct="1"/>
            <a:r>
              <a:rPr lang="en-US" altLang="it-IT" sz="1500" b="0">
                <a:latin typeface="Arial" panose="020B0604020202020204" pitchFamily="34" charset="0"/>
              </a:rPr>
              <a:t>New noisy example causes splitting of second leaf node.</a:t>
            </a:r>
            <a:endParaRPr lang="en-US" altLang="it-IT" sz="1500" b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3655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Overfitting in decision tree learning</a:t>
            </a:r>
          </a:p>
        </p:txBody>
      </p:sp>
      <p:pic>
        <p:nvPicPr>
          <p:cNvPr id="380932" name="Picture 4"/>
          <p:cNvPicPr>
            <a:picLocks noGrp="1" noChangeAspect="1" noChangeArrowheads="1"/>
          </p:cNvPicPr>
          <p:nvPr>
            <p:ph type="dgm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352550"/>
            <a:ext cx="5772150" cy="3621881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473636152"/>
      </p:ext>
    </p:extLst>
  </p:cSld>
  <p:clrMapOvr>
    <a:masterClrMapping/>
  </p:clrMapOvr>
  <p:transition spd="med">
    <p:randomBar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Avoid overfitting in Decision Trees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073771"/>
            <a:ext cx="7239000" cy="394335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Two strategies:</a:t>
            </a:r>
          </a:p>
          <a:p>
            <a:pPr marL="685800" lvl="1" indent="-3429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dirty="0">
                <a:ea typeface="+mn-ea"/>
              </a:rPr>
              <a:t>Stop growing the tree earlier, before perfect classification</a:t>
            </a:r>
          </a:p>
          <a:p>
            <a:pPr marL="685800" lvl="1" indent="-3429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dirty="0">
                <a:ea typeface="+mn-ea"/>
              </a:rPr>
              <a:t>Allow the tree to </a:t>
            </a:r>
            <a:r>
              <a:rPr lang="en-US" i="1" dirty="0" err="1">
                <a:ea typeface="+mn-ea"/>
              </a:rPr>
              <a:t>overfit</a:t>
            </a:r>
            <a:r>
              <a:rPr lang="en-US" dirty="0">
                <a:ea typeface="+mn-ea"/>
              </a:rPr>
              <a:t> the data, and then </a:t>
            </a:r>
            <a:r>
              <a:rPr lang="en-US" i="1" dirty="0">
                <a:ea typeface="+mn-ea"/>
              </a:rPr>
              <a:t>post-prune</a:t>
            </a:r>
            <a:r>
              <a:rPr lang="en-US" dirty="0">
                <a:ea typeface="+mn-ea"/>
              </a:rPr>
              <a:t> the tree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Training and validation set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split the training in two parts (training and validation) and use validation to assess the utility of</a:t>
            </a:r>
            <a:r>
              <a:rPr lang="en-US" i="1" dirty="0">
                <a:ea typeface="+mn-ea"/>
              </a:rPr>
              <a:t> post-pruning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 dirty="0">
                <a:ea typeface="+mn-ea"/>
              </a:rPr>
              <a:t>Reduced error pruning</a:t>
            </a:r>
          </a:p>
          <a:p>
            <a:pPr lvl="2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 dirty="0">
                <a:ea typeface="+mn-ea"/>
              </a:rPr>
              <a:t>Rule pruning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Other approaches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</a:rPr>
              <a:t>Use a statistical test to estimate effect of expanding or pruning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i="1" dirty="0">
                <a:ea typeface="+mn-ea"/>
              </a:rPr>
              <a:t>Minimum description length principle</a:t>
            </a:r>
            <a:r>
              <a:rPr lang="en-US" dirty="0">
                <a:ea typeface="+mn-ea"/>
              </a:rPr>
              <a:t>: uses a measure of complexity of encoding the DT and the examples, and halt growing the tree when this encoding size is minimal</a:t>
            </a:r>
          </a:p>
        </p:txBody>
      </p:sp>
    </p:spTree>
    <p:extLst>
      <p:ext uri="{BB962C8B-B14F-4D97-AF65-F5344CB8AC3E}">
        <p14:creationId xmlns:p14="http://schemas.microsoft.com/office/powerpoint/2010/main" val="2090988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28750"/>
            <a:ext cx="7723292" cy="2883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438150"/>
            <a:ext cx="8195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Reducing number of instances/samples at the leaves reduces risk of overfitting</a:t>
            </a:r>
            <a:br>
              <a:rPr lang="en-GB" dirty="0"/>
            </a:br>
            <a:r>
              <a:rPr lang="en-GB" dirty="0"/>
              <a:t>(others: limiting tree depth, setting minimum number of samples to split a node, </a:t>
            </a:r>
            <a:r>
              <a:rPr lang="en-GB" dirty="0" err="1"/>
              <a:t>etc</a:t>
            </a:r>
            <a:r>
              <a:rPr lang="en-GB" dirty="0"/>
              <a:t>…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73913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535781"/>
            <a:ext cx="6478191" cy="577454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300" dirty="0"/>
              <a:t>Reduced-error pruning (Quinlan 1987)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04950"/>
            <a:ext cx="8229600" cy="2743199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62500" lnSpcReduction="20000"/>
          </a:bodyPr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Each node is a candidate for pruning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i="1" dirty="0">
                <a:ea typeface="+mn-ea"/>
                <a:cs typeface="+mn-cs"/>
              </a:rPr>
              <a:t>Pruning </a:t>
            </a:r>
            <a:r>
              <a:rPr lang="en-US" dirty="0">
                <a:ea typeface="+mn-ea"/>
                <a:cs typeface="+mn-cs"/>
              </a:rPr>
              <a:t>consists in removing a </a:t>
            </a:r>
            <a:r>
              <a:rPr lang="en-US" dirty="0" err="1">
                <a:ea typeface="+mn-ea"/>
                <a:cs typeface="+mn-cs"/>
              </a:rPr>
              <a:t>subtree</a:t>
            </a:r>
            <a:r>
              <a:rPr lang="en-US" dirty="0">
                <a:ea typeface="+mn-ea"/>
                <a:cs typeface="+mn-cs"/>
              </a:rPr>
              <a:t> rooted in a node: the node becomes a leaf and is assigned the most common classification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Nodes are removed only if the resulting tree performs no worse </a:t>
            </a:r>
            <a:r>
              <a:rPr lang="en-US" dirty="0">
                <a:solidFill>
                  <a:srgbClr val="007373"/>
                </a:solidFill>
                <a:ea typeface="+mn-ea"/>
                <a:cs typeface="+mn-cs"/>
              </a:rPr>
              <a:t>on the validation set</a:t>
            </a:r>
            <a:r>
              <a:rPr lang="en-US" dirty="0">
                <a:solidFill>
                  <a:srgbClr val="007373"/>
                </a:solidFill>
              </a:rPr>
              <a:t> </a:t>
            </a:r>
            <a:r>
              <a:rPr lang="en-US" i="1" dirty="0"/>
              <a:t>(training/validations sets also called growing/pruning sets)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Nodes are pruned iteratively: at each iteration the node  whose removal most increases accuracy on the validation set is pruned.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Pruning stops when no pruning increases accuracy</a:t>
            </a:r>
          </a:p>
        </p:txBody>
      </p:sp>
    </p:spTree>
    <p:extLst>
      <p:ext uri="{BB962C8B-B14F-4D97-AF65-F5344CB8AC3E}">
        <p14:creationId xmlns:p14="http://schemas.microsoft.com/office/powerpoint/2010/main" val="3683834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38150"/>
            <a:ext cx="6705600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Effect of reduced error pruning</a:t>
            </a:r>
          </a:p>
        </p:txBody>
      </p:sp>
      <p:pic>
        <p:nvPicPr>
          <p:cNvPr id="336900" name="Picture 4"/>
          <p:cNvPicPr>
            <a:picLocks noGrp="1" noChangeAspect="1" noChangeArrowheads="1"/>
          </p:cNvPicPr>
          <p:nvPr>
            <p:ph type="dgm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352550"/>
            <a:ext cx="6229350" cy="36480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2493577035"/>
      </p:ext>
    </p:extLst>
  </p:cSld>
  <p:clrMapOvr>
    <a:masterClrMapping/>
  </p:clrMapOvr>
  <p:transition spd="med">
    <p:randomBar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Rule post-pruning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1389460" y="1275160"/>
            <a:ext cx="6156722" cy="326707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Create the decision tree from the training set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Convert the tree into an equivalent set of rules</a:t>
            </a:r>
          </a:p>
          <a:p>
            <a:pPr marL="628650" lvl="1">
              <a:lnSpc>
                <a:spcPct val="90000"/>
              </a:lnSpc>
            </a:pPr>
            <a:r>
              <a:rPr lang="en-US" altLang="it-IT" dirty="0"/>
              <a:t>Each path corresponds to a rule</a:t>
            </a:r>
          </a:p>
          <a:p>
            <a:pPr marL="628650" lvl="1">
              <a:lnSpc>
                <a:spcPct val="90000"/>
              </a:lnSpc>
            </a:pPr>
            <a:r>
              <a:rPr lang="en-US" altLang="it-IT" dirty="0"/>
              <a:t>Each node along a path corresponds to a pre-condition</a:t>
            </a:r>
          </a:p>
          <a:p>
            <a:pPr marL="628650" lvl="1">
              <a:lnSpc>
                <a:spcPct val="90000"/>
              </a:lnSpc>
            </a:pPr>
            <a:r>
              <a:rPr lang="en-US" altLang="it-IT" dirty="0"/>
              <a:t>Each leaf classification to the post-condition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Prune (generalize) each rule by removing those preconditions whose removal improves accuracy …</a:t>
            </a:r>
          </a:p>
          <a:p>
            <a:pPr marL="628650" lvl="1">
              <a:lnSpc>
                <a:spcPct val="90000"/>
              </a:lnSpc>
            </a:pPr>
            <a:r>
              <a:rPr lang="en-US" altLang="it-IT" dirty="0"/>
              <a:t>… </a:t>
            </a:r>
            <a:r>
              <a:rPr lang="en-US" altLang="it-IT" b="1" dirty="0"/>
              <a:t>over validation set</a:t>
            </a:r>
          </a:p>
          <a:p>
            <a:pPr marL="628650" lvl="1">
              <a:lnSpc>
                <a:spcPct val="90000"/>
              </a:lnSpc>
            </a:pPr>
            <a:r>
              <a:rPr lang="en-US" altLang="it-IT" dirty="0"/>
              <a:t>… over training with a pessimistic, statistically inspired, measure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Sort the rules in estimated order of accuracy, and consider them in sequence when classifying new instances</a:t>
            </a:r>
          </a:p>
          <a:p>
            <a:pPr>
              <a:lnSpc>
                <a:spcPct val="90000"/>
              </a:lnSpc>
              <a:buNone/>
            </a:pPr>
            <a:endParaRPr lang="en-US" altLang="it-IT" sz="1500" dirty="0"/>
          </a:p>
          <a:p>
            <a:pPr>
              <a:lnSpc>
                <a:spcPct val="90000"/>
              </a:lnSpc>
              <a:buFont typeface="Arial" panose="020B0604020202020204" pitchFamily="34" charset="0"/>
              <a:buAutoNum type="arabicPeriod"/>
            </a:pPr>
            <a:endParaRPr lang="en-US" altLang="it-IT" sz="1500" dirty="0"/>
          </a:p>
        </p:txBody>
      </p:sp>
    </p:spTree>
    <p:extLst>
      <p:ext uri="{BB962C8B-B14F-4D97-AF65-F5344CB8AC3E}">
        <p14:creationId xmlns:p14="http://schemas.microsoft.com/office/powerpoint/2010/main" val="2751111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490538"/>
            <a:ext cx="6478191" cy="622697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Converting to rules</a:t>
            </a:r>
          </a:p>
        </p:txBody>
      </p:sp>
      <p:pic>
        <p:nvPicPr>
          <p:cNvPr id="3379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1657350"/>
            <a:ext cx="5372100" cy="3145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1276350"/>
            <a:ext cx="5029200" cy="15331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267200" y="2809487"/>
                <a:ext cx="2500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809487"/>
                <a:ext cx="250068" cy="553998"/>
              </a:xfrm>
              <a:prstGeom prst="rect">
                <a:avLst/>
              </a:prstGeom>
              <a:blipFill rotWithShape="0">
                <a:blip r:embed="rId6"/>
                <a:stretch>
                  <a:fillRect l="-7317" r="-73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735419"/>
      </p:ext>
    </p:extLst>
  </p:cSld>
  <p:clrMapOvr>
    <a:masterClrMapping/>
  </p:clrMapOvr>
  <p:transition spd="med">
    <p:randomBar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Why converting to rules?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85000" lnSpcReduction="10000"/>
          </a:bodyPr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Each distinct path produces a different rule: a condition removal may be based on a local (contextual) criterion. Node pruning is global and affects all the rules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In rule form, tests are not ordered and there is no book-keeping involved when conditions (nodes) are removed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Converting to rules improves readability for humans</a:t>
            </a:r>
          </a:p>
          <a:p>
            <a:pPr eaLnBrk="1" hangingPunct="1">
              <a:buFont typeface="Wingdings" charset="0"/>
              <a:buChar char="§"/>
              <a:defRPr/>
            </a:pPr>
            <a:endParaRPr lang="en-US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5783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1125" y="411956"/>
            <a:ext cx="6848475" cy="576263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300" dirty="0"/>
              <a:t>Dealing with continuous-valued attributes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00150"/>
            <a:ext cx="8610600" cy="381000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So far discrete values for attributes and for outcome.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Given a continuous-valued attribute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A</a:t>
            </a:r>
            <a:r>
              <a:rPr lang="en-US" dirty="0">
                <a:ea typeface="+mn-ea"/>
                <a:cs typeface="+mn-cs"/>
              </a:rPr>
              <a:t>, dynamically create a new attribute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A</a:t>
            </a:r>
            <a:r>
              <a:rPr lang="en-US" i="1" baseline="-25000" dirty="0">
                <a:latin typeface="Times New Roman" charset="0"/>
                <a:ea typeface="+mn-ea"/>
                <a:cs typeface="+mn-cs"/>
              </a:rPr>
              <a:t>c</a:t>
            </a:r>
            <a:endParaRPr lang="en-US" dirty="0">
              <a:ea typeface="+mn-ea"/>
              <a:cs typeface="+mn-cs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charset="0"/>
              <a:buNone/>
              <a:defRPr/>
            </a:pPr>
            <a:r>
              <a:rPr lang="en-US" i="1" dirty="0">
                <a:latin typeface="Times New Roman" charset="0"/>
                <a:ea typeface="+mn-ea"/>
                <a:cs typeface="+mn-cs"/>
              </a:rPr>
              <a:t>		A</a:t>
            </a:r>
            <a:r>
              <a:rPr lang="en-US" i="1" baseline="-25000" dirty="0">
                <a:latin typeface="Times New Roman" charset="0"/>
                <a:ea typeface="+mn-ea"/>
                <a:cs typeface="+mn-cs"/>
              </a:rPr>
              <a:t>c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= </a:t>
            </a:r>
            <a:r>
              <a:rPr lang="en-US" dirty="0">
                <a:latin typeface="Times New Roman" charset="0"/>
                <a:ea typeface="+mn-ea"/>
                <a:cs typeface="+mn-cs"/>
              </a:rPr>
              <a:t>True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 if A &lt;</a:t>
            </a:r>
            <a:r>
              <a:rPr lang="en-US" dirty="0">
                <a:latin typeface="Times New Roman" charset="0"/>
                <a:ea typeface="+mn-ea"/>
                <a:cs typeface="+mn-cs"/>
              </a:rPr>
              <a:t>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c, </a:t>
            </a:r>
            <a:r>
              <a:rPr lang="en-US" dirty="0">
                <a:latin typeface="Times New Roman" charset="0"/>
                <a:ea typeface="+mn-ea"/>
                <a:cs typeface="+mn-cs"/>
              </a:rPr>
              <a:t>False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 otherwise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How to determine threshold value </a:t>
            </a:r>
            <a:r>
              <a:rPr lang="en-US" i="1" dirty="0">
                <a:ea typeface="+mn-ea"/>
                <a:cs typeface="Tw Cen MT"/>
              </a:rPr>
              <a:t>c </a:t>
            </a:r>
            <a:r>
              <a:rPr lang="en-US" dirty="0">
                <a:ea typeface="+mn-ea"/>
                <a:cs typeface="Tw Cen MT"/>
              </a:rPr>
              <a:t>? 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Example. </a:t>
            </a:r>
            <a:r>
              <a:rPr lang="en-US" i="1" dirty="0">
                <a:latin typeface="Times New Roman" charset="0"/>
                <a:ea typeface="+mn-ea"/>
                <a:cs typeface="+mn-cs"/>
              </a:rPr>
              <a:t>Temperature </a:t>
            </a:r>
            <a:r>
              <a:rPr lang="en-US" dirty="0">
                <a:ea typeface="+mn-ea"/>
                <a:cs typeface="Tw Cen MT"/>
              </a:rPr>
              <a:t>in the </a:t>
            </a:r>
            <a:r>
              <a:rPr lang="en-US" i="1" dirty="0" err="1">
                <a:latin typeface="Times New Roman" charset="0"/>
                <a:ea typeface="+mn-ea"/>
                <a:cs typeface="+mn-cs"/>
              </a:rPr>
              <a:t>PlayTennis</a:t>
            </a:r>
            <a:r>
              <a:rPr lang="en-US" dirty="0">
                <a:latin typeface="Arial" charset="0"/>
                <a:ea typeface="+mn-ea"/>
                <a:cs typeface="+mn-cs"/>
              </a:rPr>
              <a:t> </a:t>
            </a:r>
            <a:r>
              <a:rPr lang="en-US" dirty="0">
                <a:ea typeface="+mn-ea"/>
                <a:cs typeface="Tw Cen MT"/>
              </a:rPr>
              <a:t>example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Sort the examples according to </a:t>
            </a:r>
            <a:r>
              <a:rPr lang="en-US" i="1" dirty="0">
                <a:ea typeface="+mn-ea"/>
                <a:cs typeface="Tw Cen MT"/>
              </a:rPr>
              <a:t>Temperature</a:t>
            </a:r>
            <a:endParaRPr lang="en-US" dirty="0">
              <a:ea typeface="+mn-ea"/>
              <a:cs typeface="Tw Cen MT"/>
            </a:endParaRPr>
          </a:p>
          <a:p>
            <a:pPr lvl="1">
              <a:lnSpc>
                <a:spcPct val="90000"/>
              </a:lnSpc>
              <a:spcBef>
                <a:spcPts val="450"/>
              </a:spcBef>
              <a:buNone/>
              <a:defRPr/>
            </a:pPr>
            <a:r>
              <a:rPr lang="en-US" i="1" dirty="0">
                <a:latin typeface="Times New Roman" charset="0"/>
                <a:ea typeface="+mn-ea"/>
              </a:rPr>
              <a:t>	Temperature	</a:t>
            </a:r>
            <a:r>
              <a:rPr lang="en-US" dirty="0">
                <a:latin typeface="Times New Roman" charset="0"/>
                <a:ea typeface="+mn-ea"/>
              </a:rPr>
              <a:t>40	48     </a:t>
            </a:r>
            <a:r>
              <a:rPr lang="en-US" sz="1800" b="1" dirty="0">
                <a:solidFill>
                  <a:schemeClr val="tx2"/>
                </a:solidFill>
                <a:latin typeface="Times New Roman" charset="0"/>
              </a:rPr>
              <a:t>|</a:t>
            </a:r>
            <a:r>
              <a:rPr lang="en-US" dirty="0">
                <a:latin typeface="Times New Roman" charset="0"/>
                <a:ea typeface="+mn-ea"/>
              </a:rPr>
              <a:t>	60	72	80      </a:t>
            </a:r>
            <a:r>
              <a:rPr lang="en-US" sz="1800" b="1" dirty="0">
                <a:solidFill>
                  <a:schemeClr val="tx2"/>
                </a:solidFill>
                <a:latin typeface="Times New Roman" charset="0"/>
              </a:rPr>
              <a:t>|</a:t>
            </a:r>
            <a:r>
              <a:rPr lang="en-US" dirty="0">
                <a:latin typeface="Times New Roman" charset="0"/>
                <a:ea typeface="+mn-ea"/>
              </a:rPr>
              <a:t>	90</a:t>
            </a:r>
          </a:p>
          <a:p>
            <a:pPr lvl="1" eaLnBrk="1" hangingPunct="1">
              <a:lnSpc>
                <a:spcPct val="90000"/>
              </a:lnSpc>
              <a:buFont typeface="Wingdings" charset="0"/>
              <a:buNone/>
              <a:defRPr/>
            </a:pPr>
            <a:r>
              <a:rPr lang="en-US" i="1" dirty="0">
                <a:latin typeface="Times New Roman" charset="0"/>
                <a:ea typeface="+mn-ea"/>
              </a:rPr>
              <a:t>	</a:t>
            </a:r>
            <a:r>
              <a:rPr lang="en-US" i="1" dirty="0" err="1">
                <a:latin typeface="Times New Roman" charset="0"/>
                <a:ea typeface="+mn-ea"/>
              </a:rPr>
              <a:t>PlayTennis</a:t>
            </a:r>
            <a:r>
              <a:rPr lang="en-US" i="1" dirty="0">
                <a:latin typeface="Times New Roman" charset="0"/>
                <a:ea typeface="+mn-ea"/>
              </a:rPr>
              <a:t>	</a:t>
            </a:r>
            <a:r>
              <a:rPr lang="en-US" dirty="0">
                <a:latin typeface="Times New Roman" charset="0"/>
                <a:ea typeface="+mn-ea"/>
              </a:rPr>
              <a:t>No	No  </a:t>
            </a:r>
            <a:r>
              <a:rPr lang="en-US" i="1" dirty="0">
                <a:solidFill>
                  <a:srgbClr val="CC3300"/>
                </a:solidFill>
                <a:latin typeface="Times New Roman" charset="0"/>
                <a:ea typeface="+mn-ea"/>
              </a:rPr>
              <a:t> 54</a:t>
            </a:r>
            <a:r>
              <a:rPr lang="en-US" dirty="0">
                <a:latin typeface="Times New Roman" charset="0"/>
                <a:ea typeface="+mn-ea"/>
              </a:rPr>
              <a:t>	Yes	Yes	Yes  </a:t>
            </a:r>
            <a:r>
              <a:rPr lang="en-US" i="1" dirty="0">
                <a:solidFill>
                  <a:srgbClr val="CC3300"/>
                </a:solidFill>
                <a:latin typeface="Times New Roman" charset="0"/>
                <a:ea typeface="+mn-ea"/>
              </a:rPr>
              <a:t>85</a:t>
            </a:r>
            <a:r>
              <a:rPr lang="en-US" dirty="0">
                <a:latin typeface="Times New Roman" charset="0"/>
                <a:ea typeface="+mn-ea"/>
              </a:rPr>
              <a:t>	No</a:t>
            </a:r>
            <a:endParaRPr lang="en-US" dirty="0">
              <a:latin typeface="Arial" charset="0"/>
              <a:ea typeface="+mn-ea"/>
            </a:endParaRPr>
          </a:p>
          <a:p>
            <a:pPr lvl="1"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Determine candidate thresholds by averaging consecutive values where there is a change in classification: (48+60)/2=54 and (80+90)/2=85</a:t>
            </a:r>
          </a:p>
          <a:p>
            <a:pPr lvl="1" eaLnBrk="1" hangingPunct="1">
              <a:lnSpc>
                <a:spcPct val="90000"/>
              </a:lnSpc>
              <a:spcAft>
                <a:spcPct val="20000"/>
              </a:spcAft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Tw Cen MT"/>
              </a:rPr>
              <a:t>Evaluate candidate thresholds (attributes) according to information gain. The best is </a:t>
            </a:r>
            <a:r>
              <a:rPr lang="en-US" i="1" dirty="0">
                <a:latin typeface="Times New Roman" charset="0"/>
                <a:ea typeface="+mn-ea"/>
              </a:rPr>
              <a:t>Temperature</a:t>
            </a:r>
            <a:r>
              <a:rPr lang="en-US" i="1" baseline="-25000" dirty="0">
                <a:latin typeface="Times New Roman" charset="0"/>
                <a:ea typeface="+mn-ea"/>
              </a:rPr>
              <a:t>&gt;54</a:t>
            </a:r>
            <a:r>
              <a:rPr lang="en-US" i="1" dirty="0">
                <a:latin typeface="Times New Roman" charset="0"/>
                <a:ea typeface="+mn-ea"/>
              </a:rPr>
              <a:t>.</a:t>
            </a:r>
            <a:r>
              <a:rPr lang="en-US" dirty="0">
                <a:ea typeface="+mn-ea"/>
                <a:cs typeface="Tw Cen MT"/>
              </a:rPr>
              <a:t>The new attribute competes with the other ones</a:t>
            </a:r>
          </a:p>
        </p:txBody>
      </p:sp>
    </p:spTree>
    <p:extLst>
      <p:ext uri="{BB962C8B-B14F-4D97-AF65-F5344CB8AC3E}">
        <p14:creationId xmlns:p14="http://schemas.microsoft.com/office/powerpoint/2010/main" val="37373694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7108"/>
            <a:ext cx="9144000" cy="436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8608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8732" y="361950"/>
            <a:ext cx="6798468" cy="623888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Problems with </a:t>
            </a:r>
            <a:r>
              <a:rPr lang="en-US" i="1" dirty="0">
                <a:ea typeface="+mj-ea"/>
              </a:rPr>
              <a:t>information gain</a:t>
            </a:r>
            <a:endParaRPr lang="en-US" dirty="0">
              <a:ea typeface="+mj-ea"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982266" y="1276350"/>
            <a:ext cx="7094934" cy="3483770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it-IT" dirty="0"/>
              <a:t>Natural bias of information gain: it </a:t>
            </a:r>
            <a:r>
              <a:rPr lang="en-US" altLang="it-IT" dirty="0" err="1"/>
              <a:t>favours</a:t>
            </a:r>
            <a:r>
              <a:rPr lang="en-US" altLang="it-IT" dirty="0"/>
              <a:t> attributes with many possible values.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dirty="0"/>
              <a:t>Consider the attribute </a:t>
            </a:r>
            <a:r>
              <a:rPr lang="en-US" altLang="it-IT" i="1" dirty="0">
                <a:latin typeface="Times New Roman" panose="02020603050405020304" pitchFamily="18" charset="0"/>
              </a:rPr>
              <a:t>Date</a:t>
            </a:r>
            <a:r>
              <a:rPr lang="en-US" altLang="it-IT" i="1" dirty="0"/>
              <a:t> </a:t>
            </a:r>
            <a:r>
              <a:rPr lang="en-US" altLang="it-IT" dirty="0"/>
              <a:t>in the</a:t>
            </a:r>
            <a:r>
              <a:rPr lang="en-US" altLang="it-IT" i="1" dirty="0"/>
              <a:t> </a:t>
            </a:r>
            <a:r>
              <a:rPr lang="en-US" altLang="it-IT" i="1" dirty="0" err="1">
                <a:latin typeface="Times New Roman" panose="02020603050405020304" pitchFamily="18" charset="0"/>
              </a:rPr>
              <a:t>PlayTennis</a:t>
            </a:r>
            <a:r>
              <a:rPr lang="en-US" altLang="it-IT" i="1" dirty="0"/>
              <a:t> </a:t>
            </a:r>
            <a:r>
              <a:rPr lang="en-US" altLang="it-IT" dirty="0"/>
              <a:t>example.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i="1" dirty="0">
                <a:latin typeface="Times New Roman" panose="02020603050405020304" pitchFamily="18" charset="0"/>
              </a:rPr>
              <a:t>Date</a:t>
            </a:r>
            <a:r>
              <a:rPr lang="en-US" altLang="it-IT" dirty="0"/>
              <a:t> would have the highest information gain since it perfectly separates the training data.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dirty="0"/>
              <a:t>It would be selected at the root resulting in a very broad tree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it-IT" dirty="0"/>
              <a:t>Very good on the training, this tree would perform poorly in predicting unknown instances. Overfitting.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dirty="0"/>
              <a:t>The problem is that the partition is too specific, too many small classes are generated.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it-IT" dirty="0"/>
              <a:t>We need to look at alternative measures …</a:t>
            </a:r>
          </a:p>
        </p:txBody>
      </p:sp>
    </p:spTree>
    <p:extLst>
      <p:ext uri="{BB962C8B-B14F-4D97-AF65-F5344CB8AC3E}">
        <p14:creationId xmlns:p14="http://schemas.microsoft.com/office/powerpoint/2010/main" val="11025961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An alternative measure: </a:t>
            </a:r>
            <a:r>
              <a:rPr lang="en-GB" i="1" dirty="0"/>
              <a:t>gain ratio</a:t>
            </a:r>
            <a:endParaRPr lang="it-IT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16350" y="1248873"/>
                <a:ext cx="4456092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𝑆𝑝𝑙𝑖𝑡𝐼𝑛𝑓𝑜𝑟𝑚𝑎𝑡𝑖𝑜𝑛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den>
                          </m:f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350" y="1248873"/>
                <a:ext cx="4456092" cy="75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1752360" y="1959917"/>
            <a:ext cx="5191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dirty="0"/>
              <a:t>where</a:t>
            </a:r>
            <a:r>
              <a:rPr lang="en-US" altLang="it-IT" sz="2400" i="1" dirty="0">
                <a:latin typeface="Times New Roman" panose="02020603050405020304" pitchFamily="18" charset="0"/>
              </a:rPr>
              <a:t> </a:t>
            </a:r>
            <a:r>
              <a:rPr lang="en-US" altLang="it-IT" sz="1600" i="1" dirty="0">
                <a:latin typeface="Times New Roman" panose="02020603050405020304" pitchFamily="18" charset="0"/>
              </a:rPr>
              <a:t>S</a:t>
            </a:r>
            <a:r>
              <a:rPr lang="en-US" altLang="it-IT" sz="24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it-IT" sz="1600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is subset of </a:t>
            </a:r>
            <a:r>
              <a:rPr lang="en-US" alt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it-IT" sz="1600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for which </a:t>
            </a:r>
            <a:r>
              <a:rPr lang="en-US" alt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it-IT" sz="1600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has value </a:t>
            </a:r>
            <a:r>
              <a:rPr lang="en-US" alt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it-IT" sz="16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it-IT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=1..c</a:t>
            </a:r>
            <a:r>
              <a:rPr lang="en-US" alt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it-IT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2495550"/>
            <a:ext cx="7257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SplitInformation</a:t>
            </a:r>
            <a:r>
              <a:rPr lang="en-US" altLang="it-IT" sz="1600" i="1" dirty="0"/>
              <a:t> </a:t>
            </a:r>
            <a:r>
              <a:rPr lang="en-US" altLang="it-IT" dirty="0"/>
              <a:t>measures the entropy of </a:t>
            </a:r>
            <a:r>
              <a:rPr lang="en-US" alt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it-IT" dirty="0"/>
              <a:t> with respect to the values of </a:t>
            </a:r>
            <a:r>
              <a:rPr lang="en-US" alt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it-IT" dirty="0"/>
              <a:t>. </a:t>
            </a:r>
          </a:p>
          <a:p>
            <a:r>
              <a:rPr lang="en-US" altLang="it-IT" dirty="0"/>
              <a:t>The more uniformly dispersed the data the higher it is.</a:t>
            </a:r>
          </a:p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12237" y="3255671"/>
                <a:ext cx="4325800" cy="576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𝐺𝑎𝑖𝑛𝑅𝑎𝑡𝑖𝑜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𝐺𝑎𝑖𝑛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𝑆𝑝𝑙𝑖𝑡𝐼𝑛𝑓𝑜𝑟𝑚𝑎𝑡𝑖𝑜𝑛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237" y="3255671"/>
                <a:ext cx="4325800" cy="57676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57200" y="3924305"/>
            <a:ext cx="8206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i="1" dirty="0" err="1">
                <a:latin typeface="Times New Roman" panose="02020603050405020304" pitchFamily="18" charset="0"/>
              </a:rPr>
              <a:t>GainRatio</a:t>
            </a:r>
            <a:r>
              <a:rPr lang="en-US" altLang="it-IT" i="1" dirty="0">
                <a:latin typeface="Times New Roman" panose="02020603050405020304" pitchFamily="18" charset="0"/>
              </a:rPr>
              <a:t> </a:t>
            </a:r>
            <a:r>
              <a:rPr lang="en-US" altLang="it-IT" dirty="0"/>
              <a:t>penalizes attributes that split examples in many small classes such as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i="1" dirty="0">
                <a:latin typeface="Times New Roman" panose="02020603050405020304" pitchFamily="18" charset="0"/>
              </a:rPr>
              <a:t>Date.</a:t>
            </a:r>
          </a:p>
          <a:p>
            <a:r>
              <a:rPr lang="en-US" dirty="0"/>
              <a:t>Let</a:t>
            </a:r>
            <a:r>
              <a:rPr lang="en-US" i="1" dirty="0">
                <a:latin typeface="Times New Roman" panose="02020603050405020304" pitchFamily="18" charset="0"/>
              </a:rPr>
              <a:t> |Date|=n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81952" y="4245547"/>
                <a:ext cx="6935425" cy="3250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𝑆𝑝𝑙𝑖𝑡𝐼𝑛𝑓𝑜𝑟𝑚𝑎𝑡𝑖𝑜𝑛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𝐷𝑎𝑡𝑒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ox>
                            <m:box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box>
                                <m:box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+⋯</m:t>
                                  </m:r>
                                  <m:f>
                                    <m:f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𝑙𝑜𝑔</m:t>
                                      </m:r>
                                    </m:e>
                                    <m:sub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box>
                                    <m:boxPr>
                                      <m:ctrlPr>
                                        <a:rPr lang="en-GB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GB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box>
                            </m:e>
                          </m:box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box>
                        <m:box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box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952" y="4245547"/>
                <a:ext cx="6935425" cy="325089"/>
              </a:xfrm>
              <a:prstGeom prst="rect">
                <a:avLst/>
              </a:prstGeom>
              <a:blipFill rotWithShape="0">
                <a:blip r:embed="rId4"/>
                <a:stretch>
                  <a:fillRect b="-203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29087" y="4597824"/>
            <a:ext cx="3206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Compare with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dirty="0"/>
              <a:t>, 2 even classes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640222" y="4622435"/>
                <a:ext cx="3858813" cy="3227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𝑆𝑝𝑙𝑖𝑡𝐼𝑛𝑓𝑜𝑟𝑚𝑎𝑡𝑖𝑜𝑛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box>
                        <m:box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0222" y="4622435"/>
                <a:ext cx="3858813" cy="322717"/>
              </a:xfrm>
              <a:prstGeom prst="rect">
                <a:avLst/>
              </a:prstGeom>
              <a:blipFill rotWithShape="0">
                <a:blip r:embed="rId5"/>
                <a:stretch>
                  <a:fillRect l="-1738" r="-1106" b="-226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9490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Adjusting </a:t>
            </a:r>
            <a:r>
              <a:rPr lang="en-US" i="1" dirty="0">
                <a:ea typeface="+mj-ea"/>
              </a:rPr>
              <a:t>gain-ratio</a:t>
            </a:r>
            <a:endParaRPr lang="en-US" dirty="0">
              <a:ea typeface="+mj-ea"/>
            </a:endParaRPr>
          </a:p>
        </p:txBody>
      </p:sp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it-IT" dirty="0"/>
              <a:t>Problem: </a:t>
            </a:r>
            <a:r>
              <a:rPr lang="en-US" altLang="it-IT" i="1" dirty="0" err="1">
                <a:latin typeface="Times New Roman" panose="02020603050405020304" pitchFamily="18" charset="0"/>
              </a:rPr>
              <a:t>SplitInformation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S</a:t>
            </a:r>
            <a:r>
              <a:rPr lang="en-US" altLang="it-IT" dirty="0">
                <a:latin typeface="Times New Roman" panose="02020603050405020304" pitchFamily="18" charset="0"/>
              </a:rPr>
              <a:t>, </a:t>
            </a:r>
            <a:r>
              <a:rPr lang="en-US" altLang="it-IT" i="1" dirty="0">
                <a:latin typeface="Times New Roman" panose="02020603050405020304" pitchFamily="18" charset="0"/>
              </a:rPr>
              <a:t>A</a:t>
            </a:r>
            <a:r>
              <a:rPr lang="en-US" altLang="it-IT" dirty="0">
                <a:latin typeface="Times New Roman" panose="02020603050405020304" pitchFamily="18" charset="0"/>
              </a:rPr>
              <a:t>) </a:t>
            </a:r>
            <a:r>
              <a:rPr lang="en-US" altLang="it-IT" dirty="0"/>
              <a:t>can be zero or very small when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br>
              <a:rPr lang="en-US" altLang="it-IT" dirty="0">
                <a:latin typeface="Arial" panose="020B0604020202020204" pitchFamily="34" charset="0"/>
              </a:rPr>
            </a:br>
            <a:r>
              <a:rPr lang="en-US" altLang="it-IT" i="1" dirty="0">
                <a:latin typeface="Times New Roman" panose="02020603050405020304" pitchFamily="18" charset="0"/>
              </a:rPr>
              <a:t>|S</a:t>
            </a:r>
            <a:r>
              <a:rPr lang="en-US" altLang="it-IT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it-IT" i="1" dirty="0">
                <a:latin typeface="Times New Roman" panose="02020603050405020304" pitchFamily="18" charset="0"/>
              </a:rPr>
              <a:t>|</a:t>
            </a:r>
            <a:r>
              <a:rPr lang="en-US" altLang="it-IT" i="1" dirty="0">
                <a:latin typeface="Times New Roman" panose="02020603050405020304" pitchFamily="18" charset="0"/>
                <a:sym typeface="Symbol" panose="05050102010706020507" pitchFamily="18" charset="2"/>
              </a:rPr>
              <a:t> ≈ </a:t>
            </a:r>
            <a:r>
              <a:rPr lang="en-US" altLang="it-IT" i="1" dirty="0">
                <a:latin typeface="Times New Roman" panose="02020603050405020304" pitchFamily="18" charset="0"/>
              </a:rPr>
              <a:t>|S</a:t>
            </a:r>
            <a:r>
              <a:rPr lang="en-US" altLang="it-IT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it-IT" i="1" dirty="0">
                <a:latin typeface="Times New Roman" panose="02020603050405020304" pitchFamily="18" charset="0"/>
              </a:rPr>
              <a:t>| </a:t>
            </a:r>
            <a:r>
              <a:rPr lang="en-US" altLang="it-IT" dirty="0"/>
              <a:t>for some value</a:t>
            </a:r>
            <a:r>
              <a:rPr lang="en-US" altLang="it-IT" i="1" dirty="0">
                <a:latin typeface="Times New Roman" panose="02020603050405020304" pitchFamily="18" charset="0"/>
              </a:rPr>
              <a:t> </a:t>
            </a:r>
            <a:r>
              <a:rPr lang="en-US" altLang="it-IT" i="1" dirty="0" err="1">
                <a:latin typeface="Times New Roman" panose="02020603050405020304" pitchFamily="18" charset="0"/>
              </a:rPr>
              <a:t>i</a:t>
            </a:r>
            <a:endParaRPr lang="en-US" altLang="it-IT" i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it-IT" dirty="0"/>
              <a:t>To mitigate this effect, the following heuristics has been used:</a:t>
            </a:r>
          </a:p>
          <a:p>
            <a:pPr marL="628650" lvl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compute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i="1" dirty="0">
                <a:latin typeface="Times New Roman" panose="02020603050405020304" pitchFamily="18" charset="0"/>
              </a:rPr>
              <a:t>Gain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for each attribute</a:t>
            </a:r>
          </a:p>
          <a:p>
            <a:pPr marL="628650" lvl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apply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i="1" dirty="0" err="1">
                <a:latin typeface="Times New Roman" panose="02020603050405020304" pitchFamily="18" charset="0"/>
              </a:rPr>
              <a:t>GainRatio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only to attributes with </a:t>
            </a:r>
            <a:r>
              <a:rPr lang="en-US" altLang="it-IT" i="1" dirty="0">
                <a:latin typeface="Times New Roman" panose="02020603050405020304" pitchFamily="18" charset="0"/>
              </a:rPr>
              <a:t>Gain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above average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Other measures have been proposed</a:t>
            </a:r>
            <a:r>
              <a:rPr lang="en-US" altLang="it-IT" dirty="0">
                <a:latin typeface="Arial" panose="020B0604020202020204" pitchFamily="34" charset="0"/>
              </a:rPr>
              <a:t>:</a:t>
            </a:r>
          </a:p>
          <a:p>
            <a:pPr marL="628650" lvl="1">
              <a:lnSpc>
                <a:spcPct val="90000"/>
              </a:lnSpc>
            </a:pPr>
            <a:r>
              <a:rPr lang="en-US" altLang="it-IT" i="1" dirty="0"/>
              <a:t>Distance-based</a:t>
            </a:r>
            <a:r>
              <a:rPr lang="en-US" altLang="it-IT" dirty="0"/>
              <a:t> metric [Lopez-De </a:t>
            </a:r>
            <a:r>
              <a:rPr lang="en-US" altLang="it-IT" dirty="0" err="1"/>
              <a:t>Mantaras</a:t>
            </a:r>
            <a:r>
              <a:rPr lang="en-US" altLang="it-IT" dirty="0"/>
              <a:t>, 1991] on the  partitions of data</a:t>
            </a:r>
          </a:p>
          <a:p>
            <a:pPr marL="628650" lvl="1">
              <a:lnSpc>
                <a:spcPct val="90000"/>
              </a:lnSpc>
            </a:pPr>
            <a:r>
              <a:rPr lang="en-US" altLang="it-IT" dirty="0"/>
              <a:t>Each partition (induced by an attribute) is evaluated according to the distance to the partition that perfectly classifies the data.</a:t>
            </a:r>
          </a:p>
          <a:p>
            <a:pPr marL="628650" lvl="1">
              <a:lnSpc>
                <a:spcPct val="90000"/>
              </a:lnSpc>
            </a:pPr>
            <a:r>
              <a:rPr lang="en-US" altLang="it-IT" dirty="0"/>
              <a:t>The partition closest to the </a:t>
            </a:r>
            <a:r>
              <a:rPr lang="en-US" altLang="it-IT" i="1" dirty="0"/>
              <a:t>ideal </a:t>
            </a:r>
            <a:r>
              <a:rPr lang="en-US" altLang="it-IT" dirty="0"/>
              <a:t>partition is chosen</a:t>
            </a:r>
            <a:endParaRPr lang="en-US" altLang="it-IT" sz="2100" i="1" dirty="0"/>
          </a:p>
        </p:txBody>
      </p:sp>
    </p:spTree>
    <p:extLst>
      <p:ext uri="{BB962C8B-B14F-4D97-AF65-F5344CB8AC3E}">
        <p14:creationId xmlns:p14="http://schemas.microsoft.com/office/powerpoint/2010/main" val="3847320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Adjusting </a:t>
            </a:r>
            <a:r>
              <a:rPr lang="en-US" i="1" dirty="0">
                <a:ea typeface="+mj-ea"/>
              </a:rPr>
              <a:t>gain-ratio</a:t>
            </a:r>
            <a:endParaRPr lang="en-US" dirty="0">
              <a:ea typeface="+mj-ea"/>
            </a:endParaRPr>
          </a:p>
        </p:txBody>
      </p:sp>
      <p:sp>
        <p:nvSpPr>
          <p:cNvPr id="393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00151"/>
            <a:ext cx="8001000" cy="3200399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it-IT" dirty="0"/>
              <a:t>Problem: </a:t>
            </a:r>
            <a:r>
              <a:rPr lang="en-US" altLang="it-IT" i="1" dirty="0" err="1">
                <a:latin typeface="Times New Roman" panose="02020603050405020304" pitchFamily="18" charset="0"/>
              </a:rPr>
              <a:t>SplitInformation</a:t>
            </a:r>
            <a:r>
              <a:rPr lang="en-US" altLang="it-IT" dirty="0">
                <a:latin typeface="Times New Roman" panose="02020603050405020304" pitchFamily="18" charset="0"/>
              </a:rPr>
              <a:t>(</a:t>
            </a:r>
            <a:r>
              <a:rPr lang="en-US" altLang="it-IT" i="1" dirty="0">
                <a:latin typeface="Times New Roman" panose="02020603050405020304" pitchFamily="18" charset="0"/>
              </a:rPr>
              <a:t>S</a:t>
            </a:r>
            <a:r>
              <a:rPr lang="en-US" altLang="it-IT" dirty="0">
                <a:latin typeface="Times New Roman" panose="02020603050405020304" pitchFamily="18" charset="0"/>
              </a:rPr>
              <a:t>, </a:t>
            </a:r>
            <a:r>
              <a:rPr lang="en-US" altLang="it-IT" i="1" dirty="0">
                <a:latin typeface="Times New Roman" panose="02020603050405020304" pitchFamily="18" charset="0"/>
              </a:rPr>
              <a:t>A</a:t>
            </a:r>
            <a:r>
              <a:rPr lang="en-US" altLang="it-IT" dirty="0">
                <a:latin typeface="Times New Roman" panose="02020603050405020304" pitchFamily="18" charset="0"/>
              </a:rPr>
              <a:t>) </a:t>
            </a:r>
            <a:r>
              <a:rPr lang="en-US" altLang="it-IT" dirty="0"/>
              <a:t>can be zero or very small when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br>
              <a:rPr lang="en-US" altLang="it-IT" dirty="0">
                <a:latin typeface="Arial" panose="020B0604020202020204" pitchFamily="34" charset="0"/>
              </a:rPr>
            </a:br>
            <a:r>
              <a:rPr lang="en-US" altLang="it-IT" i="1" dirty="0">
                <a:latin typeface="Times New Roman" panose="02020603050405020304" pitchFamily="18" charset="0"/>
              </a:rPr>
              <a:t>|S</a:t>
            </a:r>
            <a:r>
              <a:rPr lang="en-US" altLang="it-IT" i="1" baseline="-25000" dirty="0">
                <a:latin typeface="Times New Roman" panose="02020603050405020304" pitchFamily="18" charset="0"/>
              </a:rPr>
              <a:t>i </a:t>
            </a:r>
            <a:r>
              <a:rPr lang="en-US" altLang="it-IT" i="1" dirty="0">
                <a:latin typeface="Times New Roman" panose="02020603050405020304" pitchFamily="18" charset="0"/>
              </a:rPr>
              <a:t>|</a:t>
            </a:r>
            <a:r>
              <a:rPr lang="en-US" altLang="it-IT" i="1" dirty="0">
                <a:latin typeface="Times New Roman" panose="02020603050405020304" pitchFamily="18" charset="0"/>
                <a:sym typeface="Symbol" panose="05050102010706020507" pitchFamily="18" charset="2"/>
              </a:rPr>
              <a:t> ≈ </a:t>
            </a:r>
            <a:r>
              <a:rPr lang="en-US" altLang="it-IT" i="1" dirty="0">
                <a:latin typeface="Times New Roman" panose="02020603050405020304" pitchFamily="18" charset="0"/>
              </a:rPr>
              <a:t>|S</a:t>
            </a:r>
            <a:r>
              <a:rPr lang="en-US" altLang="it-IT" i="1" baseline="-25000" dirty="0">
                <a:latin typeface="Times New Roman" panose="02020603050405020304" pitchFamily="18" charset="0"/>
              </a:rPr>
              <a:t> </a:t>
            </a:r>
            <a:r>
              <a:rPr lang="en-US" altLang="it-IT" i="1" dirty="0">
                <a:latin typeface="Times New Roman" panose="02020603050405020304" pitchFamily="18" charset="0"/>
              </a:rPr>
              <a:t>| </a:t>
            </a:r>
            <a:r>
              <a:rPr lang="en-US" altLang="it-IT" dirty="0"/>
              <a:t>for some value</a:t>
            </a:r>
            <a:r>
              <a:rPr lang="en-US" altLang="it-IT" i="1" dirty="0">
                <a:latin typeface="Times New Roman" panose="02020603050405020304" pitchFamily="18" charset="0"/>
              </a:rPr>
              <a:t> </a:t>
            </a:r>
            <a:r>
              <a:rPr lang="en-US" altLang="it-IT" i="1" dirty="0" err="1">
                <a:latin typeface="Times New Roman" panose="02020603050405020304" pitchFamily="18" charset="0"/>
              </a:rPr>
              <a:t>i</a:t>
            </a:r>
            <a:endParaRPr lang="en-US" altLang="it-IT" i="1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it-IT" dirty="0"/>
              <a:t>To mitigate this effect, the following heuristics has been used:</a:t>
            </a:r>
          </a:p>
          <a:p>
            <a:pPr marL="628650" lvl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compute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i="1" dirty="0">
                <a:latin typeface="Times New Roman" panose="02020603050405020304" pitchFamily="18" charset="0"/>
              </a:rPr>
              <a:t>Gain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for each attribute</a:t>
            </a:r>
          </a:p>
          <a:p>
            <a:pPr marL="628650" lvl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it-IT" dirty="0"/>
              <a:t>apply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i="1" dirty="0" err="1">
                <a:latin typeface="Times New Roman" panose="02020603050405020304" pitchFamily="18" charset="0"/>
              </a:rPr>
              <a:t>GainRatio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only to attributes with </a:t>
            </a:r>
            <a:r>
              <a:rPr lang="en-US" altLang="it-IT" i="1" dirty="0">
                <a:latin typeface="Times New Roman" panose="02020603050405020304" pitchFamily="18" charset="0"/>
              </a:rPr>
              <a:t>Gain</a:t>
            </a:r>
            <a:r>
              <a:rPr lang="en-US" altLang="it-IT" dirty="0">
                <a:latin typeface="Arial" panose="020B0604020202020204" pitchFamily="34" charset="0"/>
              </a:rPr>
              <a:t> </a:t>
            </a:r>
            <a:r>
              <a:rPr lang="en-US" altLang="it-IT" dirty="0"/>
              <a:t>above average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Other measures have been proposed</a:t>
            </a:r>
            <a:r>
              <a:rPr lang="en-US" altLang="it-IT" dirty="0">
                <a:latin typeface="Arial" panose="020B0604020202020204" pitchFamily="34" charset="0"/>
              </a:rPr>
              <a:t>:</a:t>
            </a:r>
          </a:p>
          <a:p>
            <a:pPr marL="628650" lvl="1">
              <a:lnSpc>
                <a:spcPct val="90000"/>
              </a:lnSpc>
            </a:pPr>
            <a:r>
              <a:rPr lang="en-US" altLang="it-IT" i="1" dirty="0"/>
              <a:t>Gini Impurity (</a:t>
            </a:r>
            <a:r>
              <a:rPr lang="en-US" altLang="it-IT" i="1" dirty="0" err="1"/>
              <a:t>scikit</a:t>
            </a:r>
            <a:r>
              <a:rPr lang="en-US" altLang="it-IT" i="1" dirty="0"/>
              <a:t>-learn) </a:t>
            </a:r>
            <a:r>
              <a:rPr lang="en-US" altLang="it-IT" dirty="0"/>
              <a:t>(to be minimized)</a:t>
            </a:r>
            <a:endParaRPr lang="en-US" altLang="it-IT" i="1" dirty="0"/>
          </a:p>
          <a:p>
            <a:pPr marL="342900" lvl="1" indent="0">
              <a:lnSpc>
                <a:spcPct val="90000"/>
              </a:lnSpc>
              <a:buNone/>
            </a:pPr>
            <a:endParaRPr lang="en-US" alt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38200" y="3945667"/>
                <a:ext cx="7048212" cy="7561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where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classes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ratio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class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on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node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45667"/>
                <a:ext cx="7048212" cy="756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962213" y="4705350"/>
            <a:ext cx="5171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G(A)=0 </a:t>
            </a:r>
            <a:r>
              <a:rPr lang="en-GB" dirty="0"/>
              <a:t>if all instances of A belongs to the same class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866491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Handling incomplete training data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276350"/>
            <a:ext cx="6156722" cy="3458765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62500" lnSpcReduction="20000"/>
          </a:bodyPr>
          <a:lstStyle/>
          <a:p>
            <a:pPr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How to cope with the problem that the value of some attribute may be missing?</a:t>
            </a:r>
          </a:p>
          <a:p>
            <a:pPr marL="628650" lvl="1">
              <a:buFont typeface="Wingdings" charset="0"/>
              <a:buChar char="§"/>
              <a:defRPr/>
            </a:pPr>
            <a:r>
              <a:rPr lang="en-US" i="1" dirty="0">
                <a:ea typeface="+mn-ea"/>
              </a:rPr>
              <a:t>Example</a:t>
            </a:r>
            <a:r>
              <a:rPr lang="en-US" dirty="0">
                <a:ea typeface="+mn-ea"/>
              </a:rPr>
              <a:t>: Blood-Test-Result in a medical diagnosis problem</a:t>
            </a:r>
          </a:p>
          <a:p>
            <a:pPr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The strategy: use other examples to guess attribute</a:t>
            </a:r>
          </a:p>
          <a:p>
            <a:pPr marL="628650" lvl="1">
              <a:buFont typeface="Arial" charset="0"/>
              <a:buAutoNum type="arabicPeriod"/>
              <a:defRPr/>
            </a:pPr>
            <a:r>
              <a:rPr lang="en-US" dirty="0">
                <a:ea typeface="+mn-ea"/>
              </a:rPr>
              <a:t>Assign the value that is most common among the training examples at the node</a:t>
            </a:r>
          </a:p>
          <a:p>
            <a:pPr marL="628650" lvl="1">
              <a:buFont typeface="Arial" charset="0"/>
              <a:buAutoNum type="arabicPeriod"/>
              <a:defRPr/>
            </a:pPr>
            <a:r>
              <a:rPr lang="en-US" dirty="0">
                <a:ea typeface="+mn-ea"/>
              </a:rPr>
              <a:t>Assign a probability to each value, based on frequencies, and assign values to missing attribute, according to this probability distribution</a:t>
            </a:r>
          </a:p>
          <a:p>
            <a:pPr>
              <a:buFont typeface="Wingdings" charset="0"/>
              <a:buChar char="§"/>
              <a:defRPr/>
            </a:pPr>
            <a:r>
              <a:rPr lang="en-US" dirty="0">
                <a:ea typeface="+mn-ea"/>
                <a:cs typeface="+mn-cs"/>
              </a:rPr>
              <a:t>Missing values in new instances to be classified are treated accordingly, and the most probable classification is chosen (C4.5)</a:t>
            </a:r>
          </a:p>
        </p:txBody>
      </p:sp>
    </p:spTree>
    <p:extLst>
      <p:ext uri="{BB962C8B-B14F-4D97-AF65-F5344CB8AC3E}">
        <p14:creationId xmlns:p14="http://schemas.microsoft.com/office/powerpoint/2010/main" val="27217149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89803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>
                <a:ea typeface="+mj-ea"/>
              </a:rPr>
              <a:t>Handling attributes with different costs</a:t>
            </a:r>
          </a:p>
        </p:txBody>
      </p:sp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>
          <a:xfrm>
            <a:off x="1493044" y="1329929"/>
            <a:ext cx="6156722" cy="3456384"/>
          </a:xfrm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it-IT" dirty="0"/>
              <a:t>Instance attributes may have an associated cost: we would prefer decision trees that use low-cost attributes</a:t>
            </a:r>
          </a:p>
          <a:p>
            <a:pPr>
              <a:lnSpc>
                <a:spcPct val="90000"/>
              </a:lnSpc>
            </a:pPr>
            <a:r>
              <a:rPr lang="en-US" altLang="it-IT" dirty="0"/>
              <a:t>ID3 can be modified to take into account costs:</a:t>
            </a: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AutoNum type="arabicPeriod"/>
            </a:pPr>
            <a:r>
              <a:rPr lang="en-US" altLang="it-IT" dirty="0"/>
              <a:t>Tan and </a:t>
            </a:r>
            <a:r>
              <a:rPr lang="en-US" altLang="it-IT" dirty="0" err="1"/>
              <a:t>Schlimmer</a:t>
            </a:r>
            <a:r>
              <a:rPr lang="en-US" altLang="it-IT" dirty="0"/>
              <a:t>   (1990)</a:t>
            </a: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it-IT" dirty="0">
                <a:latin typeface="Arial" panose="020B0604020202020204" pitchFamily="34" charset="0"/>
              </a:rPr>
              <a:t>		 </a:t>
            </a:r>
            <a:r>
              <a:rPr lang="en-US" altLang="it-IT" dirty="0">
                <a:latin typeface="Times New Roman" panose="02020603050405020304" pitchFamily="18" charset="0"/>
              </a:rPr>
              <a:t>                           </a:t>
            </a:r>
            <a:r>
              <a:rPr lang="en-US" altLang="it-IT" i="1" dirty="0">
                <a:latin typeface="Times New Roman" panose="02020603050405020304" pitchFamily="18" charset="0"/>
              </a:rPr>
              <a:t>		</a:t>
            </a:r>
            <a:endParaRPr lang="en-US" altLang="it-IT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it-IT" dirty="0">
                <a:sym typeface="Symbol" panose="05050102010706020507" pitchFamily="18" charset="2"/>
              </a:rPr>
              <a:t>				</a:t>
            </a:r>
            <a:endParaRPr lang="en-US" altLang="it-IT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  <a:buAutoNum type="arabicPeriod" startAt="2"/>
            </a:pPr>
            <a:r>
              <a:rPr lang="en-US" altLang="it-IT" dirty="0"/>
              <a:t>Nunez (1988) </a:t>
            </a: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it-IT" dirty="0">
                <a:latin typeface="Arial" panose="020B0604020202020204" pitchFamily="34" charset="0"/>
              </a:rPr>
              <a:t>				</a:t>
            </a:r>
            <a:r>
              <a:rPr lang="en-US" altLang="it-IT" i="1" dirty="0">
                <a:latin typeface="Times New Roman" panose="02020603050405020304" pitchFamily="18" charset="0"/>
              </a:rPr>
              <a:t>		</a:t>
            </a:r>
            <a:endParaRPr lang="en-US" altLang="it-IT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altLang="it-IT" dirty="0">
                <a:sym typeface="Symbol" panose="05050102010706020507" pitchFamily="18" charset="2"/>
              </a:rPr>
              <a:t>				</a:t>
            </a:r>
            <a:r>
              <a:rPr lang="en-US" altLang="it-IT" sz="15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945721" y="2755634"/>
                <a:ext cx="1251368" cy="604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𝐺𝑎𝑖𝑛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it-IT" dirty="0"/>
                            <m:t> 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𝐶𝑜𝑠𝑡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21" y="2755634"/>
                <a:ext cx="1251368" cy="6049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581400" y="3867150"/>
                <a:ext cx="1832553" cy="6341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𝐺𝑎𝑖𝑛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𝐶𝑜𝑠𝑡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867150"/>
                <a:ext cx="1832553" cy="63414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867400" y="4045724"/>
                <a:ext cx="96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4045724"/>
                <a:ext cx="966931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3165" t="-4444" r="-8861" b="-37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61470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CART Algorithm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400" dirty="0"/>
                  <a:t>CART: Classification and Regression Tree (</a:t>
                </a:r>
                <a:r>
                  <a:rPr lang="en-GB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Breiman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et al., 84 </a:t>
                </a:r>
                <a:r>
                  <a:rPr lang="en-GB" sz="2400" dirty="0"/>
                  <a:t>)</a:t>
                </a:r>
              </a:p>
              <a:p>
                <a:r>
                  <a:rPr lang="en-GB" sz="2400" dirty="0"/>
                  <a:t>Always use a Boolean split (binary tree)</a:t>
                </a:r>
              </a:p>
              <a:p>
                <a:r>
                  <a:rPr lang="en-GB" sz="2400" dirty="0"/>
                  <a:t>Split by using a feature </a:t>
                </a:r>
                <a:r>
                  <a:rPr lang="en-GB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GB" sz="2400" dirty="0"/>
                  <a:t> and a threshold </a:t>
                </a:r>
                <a:r>
                  <a:rPr lang="en-GB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GB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endParaRPr lang="en-GB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GB" sz="2400" dirty="0">
                    <a:latin typeface="+mj-lt"/>
                    <a:cs typeface="Times New Roman" panose="02020603050405020304" pitchFamily="18" charset="0"/>
                  </a:rPr>
                  <a:t>It chooses the pair minimizing the cost function</a:t>
                </a:r>
                <a:br>
                  <a:rPr lang="en-GB" sz="2400" dirty="0">
                    <a:latin typeface="+mj-lt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br>
                  <a:rPr lang="en-GB" sz="2400" dirty="0">
                    <a:latin typeface="+mj-lt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where</m:t>
                    </m:r>
                    <m:r>
                      <m:rPr>
                        <m:nor/>
                      </m:rPr>
                      <a:rPr lang="en-GB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{"/>
                        <m:endChr m:val=""/>
                        <m:ctrlPr>
                          <a:rPr lang="en-GB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𝐺</m:t>
                                        </m:r>
                                      </m:e>
                                      <m:sub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is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the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Gain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Gini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left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right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subset</m:t>
                                    </m:r>
                                  </m:e>
                                </m:mr>
                              </m:m>
                              <m:r>
                                <m:rPr>
                                  <m:brk m:alnAt="7"/>
                                </m:rPr>
                                <a:rPr lang="en-GB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𝑙</m:t>
                                        </m:r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/</m:t>
                                        </m:r>
                                        <m:r>
                                          <a:rPr lang="en-GB" sz="24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is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the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cardinality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of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left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right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subset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it-IT" sz="24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6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8012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000" dirty="0"/>
                  <a:t>In case of regression, each node </a:t>
                </a:r>
                <a:r>
                  <a:rPr lang="en-GB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2000" dirty="0"/>
                  <a:t> store a value </a:t>
                </a:r>
                <a:r>
                  <a:rPr lang="en-GB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GB" sz="20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GB" sz="2000" i="1" baseline="30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GB" sz="2000" i="1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GB" sz="2000" dirty="0"/>
                  <a:t> (instead of a class distribution)</a:t>
                </a:r>
              </a:p>
              <a:p>
                <a:r>
                  <a:rPr lang="en-GB" sz="2000" dirty="0"/>
                  <a:t>The cost function uses the MSE (Mean Square Error) instead of the Gain/Gini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𝐽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GB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𝑀𝑆𝐸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20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den>
                      </m:f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𝑀𝑆𝐸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12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52034" y="3409950"/>
                <a:ext cx="3321679" cy="14607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where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𝑀𝑆𝐸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GB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GB" b="0" i="1" smtClean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sup>
                                        </m:s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 )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den>
                                </m:f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2034" y="3409950"/>
                <a:ext cx="3321679" cy="146078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199837" y="4045776"/>
            <a:ext cx="2486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average target value</a:t>
            </a:r>
          </a:p>
          <a:p>
            <a:r>
              <a:rPr lang="en-GB" dirty="0"/>
              <a:t>of instances of node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>
            <a:endCxn id="5" idx="1"/>
          </p:cNvCxnSpPr>
          <p:nvPr/>
        </p:nvCxnSpPr>
        <p:spPr>
          <a:xfrm flipV="1">
            <a:off x="5239557" y="4368942"/>
            <a:ext cx="960280" cy="68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28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81150"/>
            <a:ext cx="7774104" cy="2807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514350"/>
            <a:ext cx="49755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Deeper trees tend to </a:t>
            </a:r>
            <a:r>
              <a:rPr lang="en-GB" sz="3200" dirty="0" err="1"/>
              <a:t>overfit</a:t>
            </a:r>
            <a:r>
              <a:rPr lang="en-GB" sz="3200" dirty="0"/>
              <a:t>!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9905770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48" y="1098187"/>
            <a:ext cx="7774104" cy="2947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1950"/>
            <a:ext cx="75952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Constraining leaves to have a significant number of samples reduces overfitting</a:t>
            </a:r>
          </a:p>
          <a:p>
            <a:r>
              <a:rPr lang="en-GB" dirty="0"/>
              <a:t>(as in classification)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417009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Instability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7" y="1142648"/>
            <a:ext cx="7875726" cy="28582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3864250"/>
            <a:ext cx="1981634" cy="24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4489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1589" y="209550"/>
            <a:ext cx="3810000" cy="857250"/>
          </a:xfrm>
        </p:spPr>
        <p:txBody>
          <a:bodyPr/>
          <a:lstStyle/>
          <a:p>
            <a:r>
              <a:rPr lang="en-GB" dirty="0"/>
              <a:t>Instability again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778" y="2800350"/>
            <a:ext cx="4897079" cy="242475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1" y="514351"/>
            <a:ext cx="4648200" cy="2286676"/>
          </a:xfrm>
          <a:prstGeom prst="rect">
            <a:avLst/>
          </a:prstGeom>
        </p:spPr>
      </p:pic>
      <p:sp>
        <p:nvSpPr>
          <p:cNvPr id="5" name="Curved Right Arrow 4"/>
          <p:cNvSpPr/>
          <p:nvPr/>
        </p:nvSpPr>
        <p:spPr>
          <a:xfrm rot="19223311">
            <a:off x="2139750" y="3250558"/>
            <a:ext cx="1518917" cy="1522427"/>
          </a:xfrm>
          <a:prstGeom prst="curvedRightArrow">
            <a:avLst>
              <a:gd name="adj1" fmla="val 25000"/>
              <a:gd name="adj2" fmla="val 3013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872" y="3562350"/>
            <a:ext cx="3146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By just removing one instance</a:t>
            </a:r>
          </a:p>
          <a:p>
            <a:r>
              <a:rPr lang="en-GB" dirty="0"/>
              <a:t>(the widest petal iris-versicolor)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162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 sum up</a:t>
            </a:r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25585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061" y="0"/>
            <a:ext cx="5795877" cy="5143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14350"/>
            <a:ext cx="2416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Classification</a:t>
            </a:r>
            <a:endParaRPr lang="it-IT" sz="3200" b="1" dirty="0"/>
          </a:p>
        </p:txBody>
      </p:sp>
    </p:spTree>
    <p:extLst>
      <p:ext uri="{BB962C8B-B14F-4D97-AF65-F5344CB8AC3E}">
        <p14:creationId xmlns:p14="http://schemas.microsoft.com/office/powerpoint/2010/main" val="7990563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48" y="348703"/>
            <a:ext cx="7774104" cy="44460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514350"/>
            <a:ext cx="2027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/>
              <a:t>Regression</a:t>
            </a:r>
            <a:endParaRPr lang="it-IT" sz="3200" b="1" dirty="0"/>
          </a:p>
        </p:txBody>
      </p:sp>
    </p:spTree>
    <p:extLst>
      <p:ext uri="{BB962C8B-B14F-4D97-AF65-F5344CB8AC3E}">
        <p14:creationId xmlns:p14="http://schemas.microsoft.com/office/powerpoint/2010/main" val="23815608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58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0</TotalTime>
  <Words>3584</Words>
  <Application>Microsoft Office PowerPoint</Application>
  <PresentationFormat>On-screen Show (16:9)</PresentationFormat>
  <Paragraphs>404</Paragraphs>
  <Slides>55</Slides>
  <Notes>40</Notes>
  <HiddenSlides>6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55</vt:i4>
      </vt:variant>
    </vt:vector>
  </HeadingPairs>
  <TitlesOfParts>
    <vt:vector size="67" baseType="lpstr">
      <vt:lpstr>ＭＳ Ｐゴシック</vt:lpstr>
      <vt:lpstr>Arial</vt:lpstr>
      <vt:lpstr>Calibri</vt:lpstr>
      <vt:lpstr>Cambria Math</vt:lpstr>
      <vt:lpstr>Symbol</vt:lpstr>
      <vt:lpstr>Times</vt:lpstr>
      <vt:lpstr>Times New Roman</vt:lpstr>
      <vt:lpstr>Wingdings</vt:lpstr>
      <vt:lpstr>1_Lecture</vt:lpstr>
      <vt:lpstr>2_Office Theme</vt:lpstr>
      <vt:lpstr>3_Office Theme</vt:lpstr>
      <vt:lpstr>2_Lecture</vt:lpstr>
      <vt:lpstr>Decision tree learning </vt:lpstr>
      <vt:lpstr>Inductive inference with decision trees</vt:lpstr>
      <vt:lpstr>PowerPoint Presentation</vt:lpstr>
      <vt:lpstr>Decision tree representation (PlayTennis)</vt:lpstr>
      <vt:lpstr>Decision trees expressivity</vt:lpstr>
      <vt:lpstr>PowerPoint Presentation</vt:lpstr>
      <vt:lpstr>When to use Decision Trees</vt:lpstr>
      <vt:lpstr>Top-down induction of Decision Trees</vt:lpstr>
      <vt:lpstr>Which attribute is the best classifier?</vt:lpstr>
      <vt:lpstr>Entropy in binary classification</vt:lpstr>
      <vt:lpstr>Entropy</vt:lpstr>
      <vt:lpstr>Entropy in general</vt:lpstr>
      <vt:lpstr>Entropy and information theory</vt:lpstr>
      <vt:lpstr>Information gain as entropy reduction</vt:lpstr>
      <vt:lpstr>Example: expected information gain</vt:lpstr>
      <vt:lpstr>PowerPoint Presentation</vt:lpstr>
      <vt:lpstr>Example</vt:lpstr>
      <vt:lpstr>First step: which attribute to test at the root?</vt:lpstr>
      <vt:lpstr>After first step</vt:lpstr>
      <vt:lpstr>Second step</vt:lpstr>
      <vt:lpstr>Second and third steps</vt:lpstr>
      <vt:lpstr>ID3: algorithm</vt:lpstr>
      <vt:lpstr>Search space in Decision Tree learning</vt:lpstr>
      <vt:lpstr>Inductive bias in decision tree learning </vt:lpstr>
      <vt:lpstr>Two kinds of biases in ML </vt:lpstr>
      <vt:lpstr>Prefer shorter hypotheses:  Occam's rasor</vt:lpstr>
      <vt:lpstr>Issues in decision trees learning</vt:lpstr>
      <vt:lpstr>Overfitting</vt:lpstr>
      <vt:lpstr>Example</vt:lpstr>
      <vt:lpstr>Overfitting in decision trees</vt:lpstr>
      <vt:lpstr>Overfitting in decision tree learning</vt:lpstr>
      <vt:lpstr>Avoid overfitting in Decision Trees</vt:lpstr>
      <vt:lpstr>PowerPoint Presentation</vt:lpstr>
      <vt:lpstr>Reduced-error pruning (Quinlan 1987)</vt:lpstr>
      <vt:lpstr>Effect of reduced error pruning</vt:lpstr>
      <vt:lpstr>Rule post-pruning</vt:lpstr>
      <vt:lpstr>Converting to rules</vt:lpstr>
      <vt:lpstr>Why converting to rules?</vt:lpstr>
      <vt:lpstr>Dealing with continuous-valued attributes</vt:lpstr>
      <vt:lpstr>PowerPoint Presentation</vt:lpstr>
      <vt:lpstr>Problems with information gain</vt:lpstr>
      <vt:lpstr>An alternative measure: gain ratio</vt:lpstr>
      <vt:lpstr>Adjusting gain-ratio</vt:lpstr>
      <vt:lpstr>Adjusting gain-ratio</vt:lpstr>
      <vt:lpstr>Handling incomplete training data</vt:lpstr>
      <vt:lpstr>Handling attributes with different costs</vt:lpstr>
      <vt:lpstr>CART Algorithm</vt:lpstr>
      <vt:lpstr>Regression</vt:lpstr>
      <vt:lpstr>PowerPoint Presentation</vt:lpstr>
      <vt:lpstr>PowerPoint Presentation</vt:lpstr>
      <vt:lpstr>Instability</vt:lpstr>
      <vt:lpstr>Instability again</vt:lpstr>
      <vt:lpstr>To sum 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721</cp:revision>
  <dcterms:created xsi:type="dcterms:W3CDTF">2010-07-08T21:59:02Z</dcterms:created>
  <dcterms:modified xsi:type="dcterms:W3CDTF">2025-03-17T14:29:16Z</dcterms:modified>
</cp:coreProperties>
</file>