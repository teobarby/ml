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0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3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5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tags/tag70.xml" ContentType="application/vnd.openxmlformats-officedocument.presentationml.tags+xml"/>
  <Override PartName="/ppt/notesSlides/notesSlide18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27"/>
  </p:notesMasterIdLst>
  <p:sldIdLst>
    <p:sldId id="328" r:id="rId5"/>
    <p:sldId id="329" r:id="rId6"/>
    <p:sldId id="366" r:id="rId7"/>
    <p:sldId id="367" r:id="rId8"/>
    <p:sldId id="331" r:id="rId9"/>
    <p:sldId id="333" r:id="rId10"/>
    <p:sldId id="334" r:id="rId11"/>
    <p:sldId id="335" r:id="rId12"/>
    <p:sldId id="336" r:id="rId13"/>
    <p:sldId id="337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23" r:id="rId25"/>
    <p:sldId id="368" r:id="rId26"/>
  </p:sldIdLst>
  <p:sldSz cx="9144000" cy="5143500" type="screen16x9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8">
          <p15:clr>
            <a:srgbClr val="A4A3A4"/>
          </p15:clr>
        </p15:guide>
        <p15:guide id="2" pos="23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58970" autoAdjust="0"/>
  </p:normalViewPr>
  <p:slideViewPr>
    <p:cSldViewPr>
      <p:cViewPr varScale="1">
        <p:scale>
          <a:sx n="85" d="100"/>
          <a:sy n="85" d="100"/>
        </p:scale>
        <p:origin x="764" y="56"/>
      </p:cViewPr>
      <p:guideLst>
        <p:guide orient="horz" pos="1668"/>
        <p:guide pos="23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128-4817-B02F-CBAB7B7CB15F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128-4817-B02F-CBAB7B7CB15F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128-4817-B02F-CBAB7B7CB15F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128-4817-B02F-CBAB7B7CB15F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A128-4817-B02F-CBAB7B7CB15F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A128-4817-B02F-CBAB7B7CB15F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A128-4817-B02F-CBAB7B7CB15F}"/>
            </c:ext>
          </c:extLst>
        </c:ser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A128-4817-B02F-CBAB7B7CB1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6770288"/>
        <c:axId val="406522552"/>
      </c:scatterChart>
      <c:valAx>
        <c:axId val="406770288"/>
        <c:scaling>
          <c:orientation val="minMax"/>
          <c:max val="400"/>
          <c:min val="0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406522552"/>
        <c:crosses val="autoZero"/>
        <c:crossBetween val="midCat"/>
        <c:majorUnit val="100"/>
      </c:valAx>
      <c:valAx>
        <c:axId val="406522552"/>
        <c:scaling>
          <c:orientation val="minMax"/>
          <c:max val="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38100"/>
        </c:spPr>
        <c:crossAx val="406770288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Sheet1!$A$1:$A$20</c:f>
              <c:numCache>
                <c:formatCode>General</c:formatCode>
                <c:ptCount val="20"/>
                <c:pt idx="0">
                  <c:v>59.331797235022997</c:v>
                </c:pt>
                <c:pt idx="1">
                  <c:v>82.373271889400897</c:v>
                </c:pt>
                <c:pt idx="2">
                  <c:v>112.327188940092</c:v>
                </c:pt>
                <c:pt idx="3">
                  <c:v>152.64976958525301</c:v>
                </c:pt>
                <c:pt idx="4">
                  <c:v>167.626728110599</c:v>
                </c:pt>
                <c:pt idx="5">
                  <c:v>221.77419354838699</c:v>
                </c:pt>
                <c:pt idx="6">
                  <c:v>228.68663594469999</c:v>
                </c:pt>
                <c:pt idx="7">
                  <c:v>301.267281105991</c:v>
                </c:pt>
                <c:pt idx="8">
                  <c:v>312.78801843318001</c:v>
                </c:pt>
                <c:pt idx="9">
                  <c:v>343.89400921659001</c:v>
                </c:pt>
                <c:pt idx="10">
                  <c:v>272.46543778801799</c:v>
                </c:pt>
                <c:pt idx="11">
                  <c:v>394.58525345622098</c:v>
                </c:pt>
                <c:pt idx="12">
                  <c:v>393.43317972350201</c:v>
                </c:pt>
                <c:pt idx="13">
                  <c:v>142.281105990783</c:v>
                </c:pt>
                <c:pt idx="14">
                  <c:v>88.133640552995402</c:v>
                </c:pt>
                <c:pt idx="15">
                  <c:v>127.30414746543801</c:v>
                </c:pt>
                <c:pt idx="16">
                  <c:v>189.51612903225799</c:v>
                </c:pt>
                <c:pt idx="17">
                  <c:v>262.09677419354801</c:v>
                </c:pt>
                <c:pt idx="18">
                  <c:v>433.75576036866403</c:v>
                </c:pt>
                <c:pt idx="19">
                  <c:v>134.216589861751</c:v>
                </c:pt>
              </c:numCache>
            </c:numRef>
          </c:xVal>
          <c:yVal>
            <c:numRef>
              <c:f>Sheet1!$B$1:$B$20</c:f>
              <c:numCache>
                <c:formatCode>General</c:formatCode>
                <c:ptCount val="20"/>
                <c:pt idx="0">
                  <c:v>95.760233918128705</c:v>
                </c:pt>
                <c:pt idx="1">
                  <c:v>161.549707602339</c:v>
                </c:pt>
                <c:pt idx="2">
                  <c:v>211.25730994151999</c:v>
                </c:pt>
                <c:pt idx="3">
                  <c:v>244.88304093567299</c:v>
                </c:pt>
                <c:pt idx="4">
                  <c:v>293.12865497076001</c:v>
                </c:pt>
                <c:pt idx="5">
                  <c:v>287.28070175438597</c:v>
                </c:pt>
                <c:pt idx="6">
                  <c:v>315.05847953216397</c:v>
                </c:pt>
                <c:pt idx="7">
                  <c:v>288.74269005847998</c:v>
                </c:pt>
                <c:pt idx="8">
                  <c:v>342.83625730994203</c:v>
                </c:pt>
                <c:pt idx="9">
                  <c:v>315.05847953216397</c:v>
                </c:pt>
                <c:pt idx="10">
                  <c:v>325.29239766081901</c:v>
                </c:pt>
                <c:pt idx="11">
                  <c:v>297.51461988304101</c:v>
                </c:pt>
                <c:pt idx="12">
                  <c:v>342.83625730994203</c:v>
                </c:pt>
                <c:pt idx="13">
                  <c:v>173.24561403508801</c:v>
                </c:pt>
                <c:pt idx="14">
                  <c:v>218.56725146198801</c:v>
                </c:pt>
                <c:pt idx="15">
                  <c:v>313.59649122807002</c:v>
                </c:pt>
                <c:pt idx="16">
                  <c:v>336.98830409356702</c:v>
                </c:pt>
                <c:pt idx="17">
                  <c:v>291.66666666666703</c:v>
                </c:pt>
                <c:pt idx="18">
                  <c:v>309.21052631578999</c:v>
                </c:pt>
                <c:pt idx="19">
                  <c:v>278.508771929825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16D-4971-907A-A5FF62767F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8842056"/>
        <c:axId val="438863936"/>
      </c:scatterChart>
      <c:valAx>
        <c:axId val="438842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crossAx val="438863936"/>
        <c:crosses val="autoZero"/>
        <c:crossBetween val="midCat"/>
      </c:valAx>
      <c:valAx>
        <c:axId val="438863936"/>
        <c:scaling>
          <c:orientation val="minMax"/>
          <c:max val="350"/>
          <c:min val="0"/>
        </c:scaling>
        <c:delete val="0"/>
        <c:axPos val="l"/>
        <c:numFmt formatCode="General" sourceLinked="1"/>
        <c:majorTickMark val="out"/>
        <c:minorTickMark val="none"/>
        <c:tickLblPos val="none"/>
        <c:crossAx val="438842056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Sheet1!$A$1:$A$20</c:f>
              <c:numCache>
                <c:formatCode>General</c:formatCode>
                <c:ptCount val="20"/>
                <c:pt idx="0">
                  <c:v>59.331797235022997</c:v>
                </c:pt>
                <c:pt idx="1">
                  <c:v>82.373271889400897</c:v>
                </c:pt>
                <c:pt idx="2">
                  <c:v>112.327188940092</c:v>
                </c:pt>
                <c:pt idx="3">
                  <c:v>152.64976958525301</c:v>
                </c:pt>
                <c:pt idx="4">
                  <c:v>167.626728110599</c:v>
                </c:pt>
                <c:pt idx="5">
                  <c:v>221.77419354838699</c:v>
                </c:pt>
                <c:pt idx="6">
                  <c:v>228.68663594469999</c:v>
                </c:pt>
                <c:pt idx="7">
                  <c:v>301.267281105991</c:v>
                </c:pt>
                <c:pt idx="8">
                  <c:v>312.78801843318001</c:v>
                </c:pt>
                <c:pt idx="9">
                  <c:v>343.89400921659001</c:v>
                </c:pt>
                <c:pt idx="10">
                  <c:v>272.46543778801799</c:v>
                </c:pt>
                <c:pt idx="11">
                  <c:v>394.58525345622098</c:v>
                </c:pt>
                <c:pt idx="12">
                  <c:v>393.43317972350201</c:v>
                </c:pt>
                <c:pt idx="13">
                  <c:v>142.281105990783</c:v>
                </c:pt>
                <c:pt idx="14">
                  <c:v>88.133640552995402</c:v>
                </c:pt>
                <c:pt idx="15">
                  <c:v>127.30414746543801</c:v>
                </c:pt>
                <c:pt idx="16">
                  <c:v>189.51612903225799</c:v>
                </c:pt>
                <c:pt idx="17">
                  <c:v>262.09677419354801</c:v>
                </c:pt>
                <c:pt idx="18">
                  <c:v>433.75576036866403</c:v>
                </c:pt>
                <c:pt idx="19">
                  <c:v>134.216589861751</c:v>
                </c:pt>
              </c:numCache>
            </c:numRef>
          </c:xVal>
          <c:yVal>
            <c:numRef>
              <c:f>Sheet1!$B$1:$B$20</c:f>
              <c:numCache>
                <c:formatCode>General</c:formatCode>
                <c:ptCount val="20"/>
                <c:pt idx="0">
                  <c:v>95.760233918128705</c:v>
                </c:pt>
                <c:pt idx="1">
                  <c:v>161.549707602339</c:v>
                </c:pt>
                <c:pt idx="2">
                  <c:v>211.25730994151999</c:v>
                </c:pt>
                <c:pt idx="3">
                  <c:v>244.88304093567299</c:v>
                </c:pt>
                <c:pt idx="4">
                  <c:v>293.12865497076001</c:v>
                </c:pt>
                <c:pt idx="5">
                  <c:v>287.28070175438597</c:v>
                </c:pt>
                <c:pt idx="6">
                  <c:v>315.05847953216397</c:v>
                </c:pt>
                <c:pt idx="7">
                  <c:v>288.74269005847998</c:v>
                </c:pt>
                <c:pt idx="8">
                  <c:v>342.83625730994203</c:v>
                </c:pt>
                <c:pt idx="9">
                  <c:v>315.05847953216397</c:v>
                </c:pt>
                <c:pt idx="10">
                  <c:v>325.29239766081901</c:v>
                </c:pt>
                <c:pt idx="11">
                  <c:v>297.51461988304101</c:v>
                </c:pt>
                <c:pt idx="12">
                  <c:v>342.83625730994203</c:v>
                </c:pt>
                <c:pt idx="13">
                  <c:v>173.24561403508801</c:v>
                </c:pt>
                <c:pt idx="14">
                  <c:v>218.56725146198801</c:v>
                </c:pt>
                <c:pt idx="15">
                  <c:v>313.59649122807002</c:v>
                </c:pt>
                <c:pt idx="16">
                  <c:v>336.98830409356702</c:v>
                </c:pt>
                <c:pt idx="17">
                  <c:v>291.66666666666703</c:v>
                </c:pt>
                <c:pt idx="18">
                  <c:v>309.21052631578999</c:v>
                </c:pt>
                <c:pt idx="19">
                  <c:v>278.508771929825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665-4782-8156-9BF9FA6708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9362272"/>
        <c:axId val="439087816"/>
      </c:scatterChart>
      <c:valAx>
        <c:axId val="439362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crossAx val="439087816"/>
        <c:crosses val="autoZero"/>
        <c:crossBetween val="midCat"/>
      </c:valAx>
      <c:valAx>
        <c:axId val="439087816"/>
        <c:scaling>
          <c:orientation val="minMax"/>
          <c:max val="350"/>
          <c:min val="0"/>
        </c:scaling>
        <c:delete val="0"/>
        <c:axPos val="l"/>
        <c:numFmt formatCode="General" sourceLinked="1"/>
        <c:majorTickMark val="out"/>
        <c:minorTickMark val="none"/>
        <c:tickLblPos val="none"/>
        <c:crossAx val="439362272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0" timeString="2011-09-30T05:22:30.556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23039 13315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12/7/2021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73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Pop-up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1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6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84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62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92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2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tags" Target="../tags/tag7.xml"/><Relationship Id="rId21" Type="http://schemas.openxmlformats.org/officeDocument/2006/relationships/image" Target="../media/image17.png"/><Relationship Id="rId7" Type="http://schemas.openxmlformats.org/officeDocument/2006/relationships/slideLayout" Target="../slideLayouts/slideLayout42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tags" Target="../tags/tag6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7.png"/><Relationship Id="rId5" Type="http://schemas.openxmlformats.org/officeDocument/2006/relationships/tags" Target="../tags/tag9.xm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tags" Target="../tags/tag8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3.xml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11" Type="http://schemas.openxmlformats.org/officeDocument/2006/relationships/image" Target="../media/image23.pn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22.png"/><Relationship Id="rId4" Type="http://schemas.openxmlformats.org/officeDocument/2006/relationships/slideLayout" Target="../slideLayouts/slideLayout42.xml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tags" Target="../tags/tag15.xml"/><Relationship Id="rId16" Type="http://schemas.openxmlformats.org/officeDocument/2006/relationships/image" Target="../media/image31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26.png"/><Relationship Id="rId5" Type="http://schemas.openxmlformats.org/officeDocument/2006/relationships/tags" Target="../tags/tag18.xml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tags" Target="../tags/tag17.xml"/><Relationship Id="rId9" Type="http://schemas.openxmlformats.org/officeDocument/2006/relationships/notesSlide" Target="../notesSlides/notesSlide7.xml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33.xml"/><Relationship Id="rId18" Type="http://schemas.openxmlformats.org/officeDocument/2006/relationships/notesSlide" Target="../notesSlides/notesSlide8.xml"/><Relationship Id="rId26" Type="http://schemas.openxmlformats.org/officeDocument/2006/relationships/image" Target="../media/image40.png"/><Relationship Id="rId3" Type="http://schemas.openxmlformats.org/officeDocument/2006/relationships/tags" Target="../tags/tag23.xml"/><Relationship Id="rId21" Type="http://schemas.openxmlformats.org/officeDocument/2006/relationships/image" Target="../media/image29.png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slideLayout" Target="../slideLayouts/slideLayout42.xml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image" Target="../media/image36.png"/><Relationship Id="rId29" Type="http://schemas.openxmlformats.org/officeDocument/2006/relationships/image" Target="../media/image43.pn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10" Type="http://schemas.openxmlformats.org/officeDocument/2006/relationships/tags" Target="../tags/tag30.xml"/><Relationship Id="rId19" Type="http://schemas.openxmlformats.org/officeDocument/2006/relationships/image" Target="../media/image35.png"/><Relationship Id="rId31" Type="http://schemas.openxmlformats.org/officeDocument/2006/relationships/image" Target="../media/image45.png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image" Target="../media/image30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8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notesSlide" Target="../notesSlides/notesSlide10.xml"/><Relationship Id="rId17" Type="http://schemas.openxmlformats.org/officeDocument/2006/relationships/image" Target="../media/image52.png"/><Relationship Id="rId2" Type="http://schemas.openxmlformats.org/officeDocument/2006/relationships/tags" Target="../tags/tag38.xml"/><Relationship Id="rId16" Type="http://schemas.openxmlformats.org/officeDocument/2006/relationships/image" Target="../media/image51.png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slideLayout" Target="../slideLayouts/slideLayout42.xml"/><Relationship Id="rId5" Type="http://schemas.openxmlformats.org/officeDocument/2006/relationships/tags" Target="../tags/tag41.xml"/><Relationship Id="rId15" Type="http://schemas.openxmlformats.org/officeDocument/2006/relationships/image" Target="../media/image50.png"/><Relationship Id="rId10" Type="http://schemas.openxmlformats.org/officeDocument/2006/relationships/tags" Target="../tags/tag46.xml"/><Relationship Id="rId19" Type="http://schemas.openxmlformats.org/officeDocument/2006/relationships/image" Target="../media/image54.png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tags" Target="../tags/tag49.xml"/><Relationship Id="rId7" Type="http://schemas.openxmlformats.org/officeDocument/2006/relationships/slideLayout" Target="../slideLayouts/slideLayout42.xml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tags" Target="../tags/tag48.xml"/><Relationship Id="rId16" Type="http://schemas.openxmlformats.org/officeDocument/2006/relationships/image" Target="../media/image62.png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image" Target="../media/image57.png"/><Relationship Id="rId5" Type="http://schemas.openxmlformats.org/officeDocument/2006/relationships/tags" Target="../tags/tag51.xml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tags" Target="../tags/tag50.xml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tags" Target="../tags/tag57.xml"/><Relationship Id="rId7" Type="http://schemas.openxmlformats.org/officeDocument/2006/relationships/image" Target="../media/image67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chart" Target="../charts/chart1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42.xml"/><Relationship Id="rId9" Type="http://schemas.openxmlformats.org/officeDocument/2006/relationships/image" Target="../media/image6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image" Target="../media/image54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image" Target="../media/image66.png"/><Relationship Id="rId5" Type="http://schemas.openxmlformats.org/officeDocument/2006/relationships/tags" Target="../tags/tag62.xml"/><Relationship Id="rId10" Type="http://schemas.openxmlformats.org/officeDocument/2006/relationships/image" Target="../media/image69.png"/><Relationship Id="rId4" Type="http://schemas.openxmlformats.org/officeDocument/2006/relationships/tags" Target="../tags/tag6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tags" Target="../tags/tag67.xml"/><Relationship Id="rId7" Type="http://schemas.openxmlformats.org/officeDocument/2006/relationships/notesSlide" Target="../notesSlides/notesSlide16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Layout" Target="../slideLayouts/slideLayout42.xml"/><Relationship Id="rId5" Type="http://schemas.openxmlformats.org/officeDocument/2006/relationships/tags" Target="../tags/tag69.xml"/><Relationship Id="rId10" Type="http://schemas.openxmlformats.org/officeDocument/2006/relationships/image" Target="../media/image70.png"/><Relationship Id="rId4" Type="http://schemas.openxmlformats.org/officeDocument/2006/relationships/tags" Target="../tags/tag68.xml"/><Relationship Id="rId9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74.png"/><Relationship Id="rId2" Type="http://schemas.openxmlformats.org/officeDocument/2006/relationships/slideLayout" Target="../slideLayouts/slideLayout42.xml"/><Relationship Id="rId1" Type="http://schemas.openxmlformats.org/officeDocument/2006/relationships/tags" Target="../tags/tag70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78.png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image" Target="../media/image77.png"/><Relationship Id="rId17" Type="http://schemas.openxmlformats.org/officeDocument/2006/relationships/chart" Target="../charts/chart2.xml"/><Relationship Id="rId2" Type="http://schemas.openxmlformats.org/officeDocument/2006/relationships/tags" Target="../tags/tag72.xml"/><Relationship Id="rId16" Type="http://schemas.openxmlformats.org/officeDocument/2006/relationships/image" Target="../media/image81.png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image" Target="../media/image76.png"/><Relationship Id="rId5" Type="http://schemas.openxmlformats.org/officeDocument/2006/relationships/tags" Target="../tags/tag75.xml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tags" Target="../tags/tag74.xml"/><Relationship Id="rId9" Type="http://schemas.openxmlformats.org/officeDocument/2006/relationships/notesSlide" Target="../notesSlides/notesSlide19.xml"/><Relationship Id="rId14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7" Type="http://schemas.openxmlformats.org/officeDocument/2006/relationships/chart" Target="../charts/chart3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666750"/>
            <a:ext cx="48768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multiple variables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1698294"/>
            <a:ext cx="4495800" cy="19812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Multiple features</a:t>
            </a:r>
          </a:p>
        </p:txBody>
      </p:sp>
    </p:spTree>
    <p:extLst>
      <p:ext uri="{BB962C8B-B14F-4D97-AF65-F5344CB8AC3E}">
        <p14:creationId xmlns:p14="http://schemas.microsoft.com/office/powerpoint/2010/main" val="889662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745402"/>
              </p:ext>
            </p:extLst>
          </p:nvPr>
        </p:nvGraphicFramePr>
        <p:xfrm>
          <a:off x="3366448" y="1125446"/>
          <a:ext cx="2729552" cy="24445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64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24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  <a:latin typeface="+mj-lt"/>
                        </a:rPr>
                        <a:t>Size</a:t>
                      </a:r>
                      <a:r>
                        <a:rPr lang="en-US" sz="1800" b="1" u="none" strike="noStrike" baseline="0" dirty="0">
                          <a:effectLst/>
                          <a:latin typeface="+mj-lt"/>
                        </a:rPr>
                        <a:t> (</a:t>
                      </a:r>
                      <a:r>
                        <a:rPr lang="en-US" sz="1800" b="1" u="none" strike="noStrike" dirty="0">
                          <a:effectLst/>
                          <a:latin typeface="+mj-lt"/>
                        </a:rPr>
                        <a:t>feet</a:t>
                      </a:r>
                      <a:r>
                        <a:rPr lang="en-US" sz="1800" b="1" u="none" strike="noStrike" baseline="30000" dirty="0">
                          <a:effectLst/>
                          <a:latin typeface="+mj-lt"/>
                        </a:rPr>
                        <a:t>2</a:t>
                      </a:r>
                      <a:r>
                        <a:rPr lang="en-US" sz="1800" b="1" u="none" strike="noStrike" baseline="0" dirty="0">
                          <a:effectLst/>
                          <a:latin typeface="+mj-lt"/>
                        </a:rPr>
                        <a:t>)</a:t>
                      </a:r>
                    </a:p>
                    <a:p>
                      <a:pPr algn="ctr" fontAlgn="b"/>
                      <a:endParaRPr lang="en-US" sz="1800" b="1" u="none" strike="noStrike" baseline="0" dirty="0">
                        <a:effectLst/>
                        <a:latin typeface="+mj-lt"/>
                      </a:endParaRP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Price ($1000)</a:t>
                      </a:r>
                    </a:p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  <a:latin typeface="+mj-lt"/>
                        </a:rPr>
                        <a:t>2104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460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1416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1534</a:t>
                      </a: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852</a:t>
                      </a: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982" y="1805940"/>
            <a:ext cx="153162" cy="1371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916" y="1785747"/>
            <a:ext cx="144018" cy="1965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3858063"/>
            <a:ext cx="2935224" cy="408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4800" y="28575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Single feature (variable)</a:t>
            </a:r>
          </a:p>
        </p:txBody>
      </p:sp>
    </p:spTree>
    <p:extLst>
      <p:ext uri="{BB962C8B-B14F-4D97-AF65-F5344CB8AC3E}">
        <p14:creationId xmlns:p14="http://schemas.microsoft.com/office/powerpoint/2010/main" val="361644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340416"/>
              </p:ext>
            </p:extLst>
          </p:nvPr>
        </p:nvGraphicFramePr>
        <p:xfrm>
          <a:off x="838201" y="1125446"/>
          <a:ext cx="7315199" cy="24445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64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242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  <a:latin typeface="+mj-lt"/>
                        </a:rPr>
                        <a:t>Size</a:t>
                      </a:r>
                      <a:r>
                        <a:rPr lang="en-US" sz="1800" b="1" u="none" strike="noStrike" baseline="0" dirty="0">
                          <a:effectLst/>
                          <a:latin typeface="+mj-lt"/>
                        </a:rPr>
                        <a:t> (</a:t>
                      </a:r>
                      <a:r>
                        <a:rPr lang="en-US" sz="1800" b="1" u="none" strike="noStrike" dirty="0">
                          <a:effectLst/>
                          <a:latin typeface="+mj-lt"/>
                        </a:rPr>
                        <a:t>feet</a:t>
                      </a:r>
                      <a:r>
                        <a:rPr lang="en-US" sz="1800" b="1" u="none" strike="noStrike" baseline="30000" dirty="0">
                          <a:effectLst/>
                          <a:latin typeface="+mj-lt"/>
                        </a:rPr>
                        <a:t>2</a:t>
                      </a:r>
                      <a:r>
                        <a:rPr lang="en-US" sz="1800" b="1" u="none" strike="noStrike" baseline="0" dirty="0">
                          <a:effectLst/>
                          <a:latin typeface="+mj-lt"/>
                        </a:rPr>
                        <a:t>)</a:t>
                      </a:r>
                    </a:p>
                    <a:p>
                      <a:pPr algn="ctr" fontAlgn="b"/>
                      <a:endParaRPr lang="en-US" sz="1800" b="1" u="none" strike="noStrike" baseline="0" dirty="0">
                        <a:effectLst/>
                        <a:latin typeface="+mj-lt"/>
                      </a:endParaRP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bedrooms</a:t>
                      </a: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floors</a:t>
                      </a: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Age</a:t>
                      </a:r>
                      <a:r>
                        <a:rPr lang="en-US" sz="1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of home (years)</a:t>
                      </a: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Price ($1000)</a:t>
                      </a:r>
                    </a:p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  <a:latin typeface="+mj-lt"/>
                        </a:rPr>
                        <a:t>2104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460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1416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1534</a:t>
                      </a: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  <a:latin typeface="+mj-lt"/>
                        </a:rPr>
                        <a:t>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852</a:t>
                      </a: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04800" y="28575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Multiple features (variables)</a:t>
            </a:r>
          </a:p>
        </p:txBody>
      </p:sp>
    </p:spTree>
    <p:extLst>
      <p:ext uri="{BB962C8B-B14F-4D97-AF65-F5344CB8AC3E}">
        <p14:creationId xmlns:p14="http://schemas.microsoft.com/office/powerpoint/2010/main" val="300361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36896" y="868054"/>
          <a:ext cx="6400799" cy="2209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2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  <a:latin typeface="+mj-lt"/>
                        </a:rPr>
                        <a:t>Size</a:t>
                      </a:r>
                      <a:r>
                        <a:rPr lang="en-US" sz="1600" b="1" u="none" strike="noStrike" baseline="0" dirty="0">
                          <a:effectLst/>
                          <a:latin typeface="+mj-lt"/>
                        </a:rPr>
                        <a:t> (</a:t>
                      </a:r>
                      <a:r>
                        <a:rPr lang="en-US" sz="1600" b="1" u="none" strike="noStrike" dirty="0">
                          <a:effectLst/>
                          <a:latin typeface="+mj-lt"/>
                        </a:rPr>
                        <a:t>feet</a:t>
                      </a:r>
                      <a:r>
                        <a:rPr lang="en-US" sz="1600" b="1" u="none" strike="noStrike" baseline="30000" dirty="0">
                          <a:effectLst/>
                          <a:latin typeface="+mj-lt"/>
                        </a:rPr>
                        <a:t>2</a:t>
                      </a:r>
                      <a:r>
                        <a:rPr lang="en-US" sz="1600" b="1" u="none" strike="noStrike" baseline="0" dirty="0">
                          <a:effectLst/>
                          <a:latin typeface="+mj-lt"/>
                        </a:rPr>
                        <a:t>)</a:t>
                      </a:r>
                    </a:p>
                    <a:p>
                      <a:pPr algn="ctr" fontAlgn="b"/>
                      <a:endParaRPr lang="en-US" sz="1600" b="1" u="none" strike="noStrike" baseline="0" dirty="0">
                        <a:effectLst/>
                        <a:latin typeface="+mj-lt"/>
                      </a:endParaRP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bedrooms</a:t>
                      </a: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floors</a:t>
                      </a: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Age</a:t>
                      </a:r>
                      <a:r>
                        <a:rPr lang="en-US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of home (years)</a:t>
                      </a: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Price ($1000)</a:t>
                      </a:r>
                    </a:p>
                    <a:p>
                      <a:pPr algn="ct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j-lt"/>
                        </a:rPr>
                        <a:t>2104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460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j-lt"/>
                        </a:rPr>
                        <a:t>1416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1534</a:t>
                      </a: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j-lt"/>
                        </a:rPr>
                        <a:t>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  <a:latin typeface="+mj-lt"/>
                        </a:rPr>
                        <a:t>30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852</a:t>
                      </a: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04800" y="28575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Multiple features (variables).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820" y="3189550"/>
            <a:ext cx="6756780" cy="151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000" dirty="0"/>
              <a:t>Notation:</a:t>
            </a:r>
          </a:p>
          <a:p>
            <a:pPr lvl="2">
              <a:spcAft>
                <a:spcPts val="400"/>
              </a:spcAft>
            </a:pPr>
            <a:r>
              <a:rPr lang="en-US" sz="2000" dirty="0"/>
              <a:t>= number of features</a:t>
            </a:r>
          </a:p>
          <a:p>
            <a:pPr lvl="2">
              <a:spcAft>
                <a:spcPts val="700"/>
              </a:spcAft>
            </a:pPr>
            <a:r>
              <a:rPr lang="en-US" sz="2000" dirty="0"/>
              <a:t>= input (features) of        training example.</a:t>
            </a:r>
          </a:p>
          <a:p>
            <a:pPr lvl="2">
              <a:spcAft>
                <a:spcPts val="700"/>
              </a:spcAft>
            </a:pPr>
            <a:r>
              <a:rPr lang="en-US" sz="2000" dirty="0"/>
              <a:t>= value of feature    in        training example.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30" y="3705451"/>
            <a:ext cx="139065" cy="114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76" y="3953101"/>
            <a:ext cx="350520" cy="23050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76" y="4313261"/>
            <a:ext cx="350520" cy="37528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817" y="3953101"/>
            <a:ext cx="268605" cy="21717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097" y="4370601"/>
            <a:ext cx="268605" cy="21717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408511"/>
            <a:ext cx="104775" cy="21907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2876" y="1962150"/>
            <a:ext cx="4573524" cy="2769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086600" y="3193042"/>
                <a:ext cx="1446230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GB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416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GB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GB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193042"/>
                <a:ext cx="1446230" cy="102047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61702" y="3593116"/>
                <a:ext cx="619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CC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solidFill>
                            <a:srgbClr val="00CC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it-IT" dirty="0">
                  <a:solidFill>
                    <a:srgbClr val="00CC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702" y="3593116"/>
                <a:ext cx="619529" cy="276999"/>
              </a:xfrm>
              <a:prstGeom prst="rect">
                <a:avLst/>
              </a:prstGeom>
              <a:blipFill rotWithShape="0">
                <a:blip r:embed="rId15"/>
                <a:stretch>
                  <a:fillRect l="-4902" r="-7843" b="-65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/>
          <p:cNvSpPr/>
          <p:nvPr/>
        </p:nvSpPr>
        <p:spPr>
          <a:xfrm>
            <a:off x="7290747" y="1658854"/>
            <a:ext cx="304800" cy="14455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777058" y="2243138"/>
                <a:ext cx="2508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058" y="2243138"/>
                <a:ext cx="250838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14634" r="-1219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241402" y="4327931"/>
                <a:ext cx="866969" cy="347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it-IT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402" y="4327931"/>
                <a:ext cx="866969" cy="347596"/>
              </a:xfrm>
              <a:prstGeom prst="rect">
                <a:avLst/>
              </a:prstGeom>
              <a:blipFill rotWithShape="0">
                <a:blip r:embed="rId17"/>
                <a:stretch>
                  <a:fillRect l="-3521" t="-3509" r="-5634" b="-1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23184" y="1356777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184" y="1356777"/>
                <a:ext cx="296491" cy="276999"/>
              </a:xfrm>
              <a:prstGeom prst="rect">
                <a:avLst/>
              </a:prstGeom>
              <a:blipFill rotWithShape="0">
                <a:blip r:embed="rId18"/>
                <a:stretch>
                  <a:fillRect l="-12500" r="-10417" b="-177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209800" y="1356777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1356777"/>
                <a:ext cx="296491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12500" r="-8333" b="-177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93485" y="1359344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485" y="1359344"/>
                <a:ext cx="296491" cy="276999"/>
              </a:xfrm>
              <a:prstGeom prst="rect">
                <a:avLst/>
              </a:prstGeom>
              <a:blipFill rotWithShape="0">
                <a:blip r:embed="rId20"/>
                <a:stretch>
                  <a:fillRect l="-12500" r="-10417" b="-177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623747" y="1356777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747" y="1356777"/>
                <a:ext cx="296491" cy="276999"/>
              </a:xfrm>
              <a:prstGeom prst="rect">
                <a:avLst/>
              </a:prstGeom>
              <a:blipFill rotWithShape="0">
                <a:blip r:embed="rId21"/>
                <a:stretch>
                  <a:fillRect l="-12245" r="-8163" b="-177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50074" y="1359344"/>
                <a:ext cx="1907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074" y="1359344"/>
                <a:ext cx="190757" cy="276999"/>
              </a:xfrm>
              <a:prstGeom prst="rect">
                <a:avLst/>
              </a:prstGeom>
              <a:blipFill rotWithShape="0">
                <a:blip r:embed="rId22"/>
                <a:stretch>
                  <a:fillRect l="-32258" r="-32258" b="-2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01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0" grpId="0" animBg="1"/>
      <p:bldP spid="11" grpId="0"/>
      <p:bldP spid="12" grpId="0"/>
      <p:bldP spid="5" grpId="0"/>
      <p:bldP spid="22" grpId="0"/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4800" y="28575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Hypothesis: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747415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	Previously: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799558"/>
            <a:ext cx="2568321" cy="3573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610" y="1338279"/>
            <a:ext cx="5870067" cy="3573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45577" y="1286135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Now:</a:t>
            </a:r>
            <a:endParaRPr lang="it-IT" sz="2400" dirty="0"/>
          </a:p>
        </p:txBody>
      </p:sp>
      <p:grpSp>
        <p:nvGrpSpPr>
          <p:cNvPr id="5" name="Group 4"/>
          <p:cNvGrpSpPr/>
          <p:nvPr/>
        </p:nvGrpSpPr>
        <p:grpSpPr>
          <a:xfrm>
            <a:off x="342900" y="2038350"/>
            <a:ext cx="7772400" cy="461665"/>
            <a:chOff x="533400" y="2398517"/>
            <a:chExt cx="7772400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533400" y="2398517"/>
              <a:ext cx="7772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For convenience of notation, define                .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3500" y="2481330"/>
              <a:ext cx="976122" cy="29603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457026" y="1948582"/>
                <a:ext cx="1658274" cy="5514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026" y="1948582"/>
                <a:ext cx="1658274" cy="55143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752600" y="2632682"/>
                <a:ext cx="1896673" cy="1133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632682"/>
                <a:ext cx="1896673" cy="11339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209574" y="2595264"/>
                <a:ext cx="1899943" cy="11769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GB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574" y="2595264"/>
                <a:ext cx="1899943" cy="117692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457497" y="3946794"/>
                <a:ext cx="17493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497" y="3946794"/>
                <a:ext cx="1749325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3833" r="-1742" b="-163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72208" y="4462849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Multivariate linear regression.</a:t>
            </a:r>
          </a:p>
        </p:txBody>
      </p:sp>
    </p:spTree>
    <p:extLst>
      <p:ext uri="{BB962C8B-B14F-4D97-AF65-F5344CB8AC3E}">
        <p14:creationId xmlns:p14="http://schemas.microsoft.com/office/powerpoint/2010/main" val="347408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multiple variables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1962150"/>
            <a:ext cx="4495800" cy="1981200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Gradient descent for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1329536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850" y="428190"/>
            <a:ext cx="626135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361950"/>
            <a:ext cx="1866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Hypothesis: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424285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Cost function: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906065"/>
            <a:ext cx="1866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Parameters: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02" y="998594"/>
            <a:ext cx="1639062" cy="27660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688973"/>
            <a:ext cx="5655564" cy="832104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81000" y="2952750"/>
            <a:ext cx="8458200" cy="1781235"/>
            <a:chOff x="381000" y="2952750"/>
            <a:chExt cx="8458200" cy="1781235"/>
          </a:xfrm>
        </p:grpSpPr>
        <p:pic>
          <p:nvPicPr>
            <p:cNvPr id="27" name="Picture 2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8500" y="4423440"/>
              <a:ext cx="1293495" cy="220980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9963" y="3447007"/>
              <a:ext cx="109728" cy="304038"/>
            </a:xfrm>
            <a:prstGeom prst="rect">
              <a:avLst/>
            </a:prstGeom>
          </p:spPr>
        </p:pic>
        <p:grpSp>
          <p:nvGrpSpPr>
            <p:cNvPr id="3" name="Group 2"/>
            <p:cNvGrpSpPr/>
            <p:nvPr/>
          </p:nvGrpSpPr>
          <p:grpSpPr>
            <a:xfrm>
              <a:off x="381000" y="2952750"/>
              <a:ext cx="8458200" cy="1781235"/>
              <a:chOff x="381000" y="2952750"/>
              <a:chExt cx="8458200" cy="1781235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3505200" y="4333875"/>
                <a:ext cx="533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(simultaneously update for every                        )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028700" y="3390840"/>
                <a:ext cx="9612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Repeat</a:t>
                </a:r>
                <a:endParaRPr lang="en-US" sz="2400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81000" y="2952750"/>
                <a:ext cx="2667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Gradient descent:</a:t>
                </a:r>
              </a:p>
            </p:txBody>
          </p:sp>
          <p:pic>
            <p:nvPicPr>
              <p:cNvPr id="31" name="Picture 30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47800" y="4379695"/>
                <a:ext cx="109728" cy="304038"/>
              </a:xfrm>
              <a:prstGeom prst="rect">
                <a:avLst/>
              </a:prstGeom>
            </p:spPr>
          </p:pic>
          <p:pic>
            <p:nvPicPr>
              <p:cNvPr id="4" name="Picture 3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9047" y="3854463"/>
                <a:ext cx="3698748" cy="436626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192033" y="948151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033" y="948151"/>
                <a:ext cx="251094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29268" r="-24390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784380" y="2264024"/>
                <a:ext cx="6306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it-IT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380" y="2264024"/>
                <a:ext cx="630622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15534" r="-16505" b="-344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359527" y="3590895"/>
                <a:ext cx="1122423" cy="8065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it-IT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527" y="3590895"/>
                <a:ext cx="1122423" cy="806503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/>
          <p:cNvCxnSpPr/>
          <p:nvPr/>
        </p:nvCxnSpPr>
        <p:spPr>
          <a:xfrm flipV="1">
            <a:off x="2044827" y="1031708"/>
            <a:ext cx="1667637" cy="1725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24" idx="1"/>
          </p:cNvCxnSpPr>
          <p:nvPr/>
        </p:nvCxnSpPr>
        <p:spPr>
          <a:xfrm flipV="1">
            <a:off x="1143000" y="2013929"/>
            <a:ext cx="2057400" cy="910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3136963" y="3917823"/>
            <a:ext cx="2080832" cy="3063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53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872614" y="3580463"/>
            <a:ext cx="3649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(simultaneously update            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207317"/>
            <a:ext cx="358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Descent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151541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" y="751431"/>
            <a:ext cx="358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Previously (n=1):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3" y="1533525"/>
            <a:ext cx="3355277" cy="6240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853" y="3660003"/>
            <a:ext cx="483489" cy="20745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463" y="1207708"/>
            <a:ext cx="109728" cy="30403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86" y="4095750"/>
            <a:ext cx="109728" cy="3040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1" y="2862072"/>
            <a:ext cx="3698177" cy="62407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919" y="2417254"/>
            <a:ext cx="726948" cy="306896"/>
          </a:xfrm>
          <a:prstGeom prst="rect">
            <a:avLst/>
          </a:prstGeom>
        </p:spPr>
      </p:pic>
      <p:sp>
        <p:nvSpPr>
          <p:cNvPr id="16" name="Right Brace 15"/>
          <p:cNvSpPr/>
          <p:nvPr/>
        </p:nvSpPr>
        <p:spPr>
          <a:xfrm rot="5400000">
            <a:off x="3134487" y="1284256"/>
            <a:ext cx="134303" cy="2059878"/>
          </a:xfrm>
          <a:prstGeom prst="rightBrace">
            <a:avLst>
              <a:gd name="adj1" fmla="val 4791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4686300" y="133350"/>
            <a:ext cx="0" cy="4876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38700" y="57150"/>
            <a:ext cx="358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New algorithm               :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99" y="142333"/>
            <a:ext cx="687515" cy="22974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29175" y="438150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Repeat</a:t>
            </a:r>
            <a:endParaRPr lang="en-US" sz="2400" dirty="0"/>
          </a:p>
        </p:txBody>
      </p:sp>
      <p:pic>
        <p:nvPicPr>
          <p:cNvPr id="32" name="Picture 3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0438" y="494317"/>
            <a:ext cx="109728" cy="30403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686" y="2190750"/>
            <a:ext cx="109728" cy="3040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700" y="1008883"/>
            <a:ext cx="3686175" cy="62407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58308" y="1682175"/>
            <a:ext cx="2748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(simultaneously update        for      </a:t>
            </a:r>
          </a:p>
          <a:p>
            <a:r>
              <a:rPr lang="en-US" sz="1600" dirty="0"/>
              <a:t>                        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757232"/>
            <a:ext cx="168021" cy="2297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987" y="2056837"/>
            <a:ext cx="1034796" cy="176784"/>
          </a:xfrm>
          <a:prstGeom prst="rect">
            <a:avLst/>
          </a:prstGeom>
        </p:spPr>
      </p:pic>
      <p:cxnSp>
        <p:nvCxnSpPr>
          <p:cNvPr id="40" name="Straight Connector 39"/>
          <p:cNvCxnSpPr/>
          <p:nvPr/>
        </p:nvCxnSpPr>
        <p:spPr>
          <a:xfrm flipH="1">
            <a:off x="4876800" y="2639990"/>
            <a:ext cx="396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686" y="2724150"/>
            <a:ext cx="3660458" cy="62407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681" y="3471672"/>
            <a:ext cx="3660458" cy="6240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681" y="4157472"/>
            <a:ext cx="3660458" cy="624078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681" y="4879181"/>
            <a:ext cx="190024" cy="2143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987" y="1008883"/>
            <a:ext cx="2606234" cy="62407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973186" y="372076"/>
                <a:ext cx="842089" cy="604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it-IT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186" y="372076"/>
                <a:ext cx="842089" cy="604846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14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/>
      <p:bldP spid="36" grpId="0"/>
      <p:bldP spid="4" grpId="0" animBg="1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990975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multiple variables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3990975" y="1885950"/>
            <a:ext cx="4953000" cy="19812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Gradient descent in practice I: Feature Scaling</a:t>
            </a:r>
          </a:p>
        </p:txBody>
      </p:sp>
    </p:spTree>
    <p:extLst>
      <p:ext uri="{BB962C8B-B14F-4D97-AF65-F5344CB8AC3E}">
        <p14:creationId xmlns:p14="http://schemas.microsoft.com/office/powerpoint/2010/main" val="2107134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1000" y="971550"/>
            <a:ext cx="4648200" cy="833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000" dirty="0"/>
              <a:t>E.g.       = size (0-2000 feet</a:t>
            </a:r>
            <a:r>
              <a:rPr lang="en-US" sz="2000" baseline="30000" dirty="0"/>
              <a:t>2</a:t>
            </a:r>
            <a:r>
              <a:rPr lang="en-US" sz="2000" dirty="0"/>
              <a:t>)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spcAft>
                <a:spcPts val="500"/>
              </a:spcAft>
            </a:pPr>
            <a:r>
              <a:rPr lang="en-US" sz="2000" dirty="0"/>
              <a:t>              = number of bedrooms (1-5</a:t>
            </a:r>
            <a:r>
              <a:rPr lang="en-US" sz="2400" dirty="0"/>
              <a:t>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23950"/>
            <a:ext cx="267462" cy="1805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93282"/>
            <a:ext cx="274320" cy="180594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4724400" y="1123950"/>
            <a:ext cx="0" cy="3662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1701965" y="1931329"/>
            <a:ext cx="0" cy="3069649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473365" y="4760595"/>
            <a:ext cx="2031835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5952744" y="3163429"/>
            <a:ext cx="0" cy="1812719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724144" y="4760595"/>
            <a:ext cx="19812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401" y="2125638"/>
            <a:ext cx="237744" cy="26289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4629150"/>
            <a:ext cx="230886" cy="26289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744" y="4640930"/>
            <a:ext cx="230886" cy="26289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163429"/>
            <a:ext cx="237744" cy="262890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099" y="972531"/>
            <a:ext cx="1959102" cy="450342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743664"/>
            <a:ext cx="3241548" cy="395478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344043" y="133350"/>
            <a:ext cx="7010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Feature Scaling (for faster convergence)</a:t>
            </a:r>
          </a:p>
          <a:p>
            <a:pPr>
              <a:spcAft>
                <a:spcPts val="500"/>
              </a:spcAft>
            </a:pPr>
            <a:r>
              <a:rPr lang="en-US" sz="2400" dirty="0"/>
              <a:t>Idea: Make sure features are on a similar scale.</a:t>
            </a:r>
          </a:p>
        </p:txBody>
      </p:sp>
      <p:pic>
        <p:nvPicPr>
          <p:cNvPr id="79" name="Picture 7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942" y="1994193"/>
            <a:ext cx="534924" cy="30632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213680" y="971550"/>
            <a:ext cx="1251871" cy="249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7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280" y="2949969"/>
            <a:ext cx="534924" cy="306324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6191698" y="910372"/>
            <a:ext cx="13466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size (feet</a:t>
            </a:r>
            <a:r>
              <a:rPr lang="en-US" sz="2000" baseline="30000" dirty="0"/>
              <a:t>2</a:t>
            </a:r>
            <a:r>
              <a:rPr lang="en-US" sz="2000" dirty="0"/>
              <a:t>)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3680" y="1743664"/>
            <a:ext cx="2514268" cy="187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213680" y="1640768"/>
            <a:ext cx="2542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number of bedrooms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2296903" y="2334516"/>
            <a:ext cx="574892" cy="18596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 26"/>
          <p:cNvSpPr/>
          <p:nvPr/>
        </p:nvSpPr>
        <p:spPr>
          <a:xfrm>
            <a:off x="2044895" y="2111108"/>
            <a:ext cx="1078907" cy="23015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 27"/>
          <p:cNvSpPr/>
          <p:nvPr/>
        </p:nvSpPr>
        <p:spPr>
          <a:xfrm>
            <a:off x="2490871" y="2838389"/>
            <a:ext cx="199139" cy="8001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 28"/>
          <p:cNvSpPr/>
          <p:nvPr/>
        </p:nvSpPr>
        <p:spPr>
          <a:xfrm>
            <a:off x="1862980" y="1826144"/>
            <a:ext cx="1524720" cy="28602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 7"/>
          <p:cNvSpPr/>
          <p:nvPr/>
        </p:nvSpPr>
        <p:spPr>
          <a:xfrm>
            <a:off x="6680025" y="3793613"/>
            <a:ext cx="501063" cy="60693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 30"/>
          <p:cNvSpPr/>
          <p:nvPr/>
        </p:nvSpPr>
        <p:spPr>
          <a:xfrm>
            <a:off x="6414333" y="3590911"/>
            <a:ext cx="1025319" cy="10244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 31"/>
          <p:cNvSpPr/>
          <p:nvPr/>
        </p:nvSpPr>
        <p:spPr>
          <a:xfrm>
            <a:off x="6169289" y="3346336"/>
            <a:ext cx="1521897" cy="14946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 32"/>
          <p:cNvSpPr/>
          <p:nvPr/>
        </p:nvSpPr>
        <p:spPr>
          <a:xfrm>
            <a:off x="5989408" y="3111442"/>
            <a:ext cx="1893775" cy="19643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209800" y="4324350"/>
            <a:ext cx="279482" cy="883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27" idx="3"/>
          </p:cNvCxnSpPr>
          <p:nvPr/>
        </p:nvCxnSpPr>
        <p:spPr>
          <a:xfrm flipH="1" flipV="1">
            <a:off x="2202897" y="4075631"/>
            <a:ext cx="222721" cy="2722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253459" y="4093639"/>
            <a:ext cx="215860" cy="294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26" idx="3"/>
          </p:cNvCxnSpPr>
          <p:nvPr/>
        </p:nvCxnSpPr>
        <p:spPr>
          <a:xfrm flipH="1" flipV="1">
            <a:off x="2381094" y="3921803"/>
            <a:ext cx="106062" cy="1665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2402965" y="3909737"/>
            <a:ext cx="200781" cy="536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 flipV="1">
            <a:off x="2434125" y="3750693"/>
            <a:ext cx="143579" cy="1627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2494605" y="3727734"/>
            <a:ext cx="206894" cy="45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28" idx="3"/>
          </p:cNvCxnSpPr>
          <p:nvPr/>
        </p:nvCxnSpPr>
        <p:spPr>
          <a:xfrm flipH="1" flipV="1">
            <a:off x="2520034" y="3521317"/>
            <a:ext cx="137419" cy="1994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05200" y="283838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slow</a:t>
            </a:r>
            <a:endParaRPr lang="it-IT" dirty="0">
              <a:solidFill>
                <a:srgbClr val="FF0000"/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6169839" y="4640476"/>
            <a:ext cx="279482" cy="883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endCxn id="31" idx="3"/>
          </p:cNvCxnSpPr>
          <p:nvPr/>
        </p:nvCxnSpPr>
        <p:spPr>
          <a:xfrm flipV="1">
            <a:off x="6414333" y="4465338"/>
            <a:ext cx="150154" cy="1606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endCxn id="8" idx="3"/>
          </p:cNvCxnSpPr>
          <p:nvPr/>
        </p:nvCxnSpPr>
        <p:spPr>
          <a:xfrm flipV="1">
            <a:off x="6526073" y="4311666"/>
            <a:ext cx="227331" cy="162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6726205" y="4177369"/>
            <a:ext cx="227331" cy="162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088630" y="377315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fast</a:t>
            </a:r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71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26" grpId="0" animBg="1"/>
      <p:bldP spid="27" grpId="0" animBg="1"/>
      <p:bldP spid="28" grpId="0" animBg="1"/>
      <p:bldP spid="29" grpId="0" animBg="1"/>
      <p:bldP spid="8" grpId="0" animBg="1"/>
      <p:bldP spid="31" grpId="0" animBg="1"/>
      <p:bldP spid="32" grpId="0" animBg="1"/>
      <p:bldP spid="33" grpId="0" animBg="1"/>
      <p:bldP spid="24" grpId="0"/>
      <p:bldP spid="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473" y="557129"/>
            <a:ext cx="79633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2000" dirty="0"/>
              <a:t>Replace      with                to make features have approximately zero mean (Do not apply to              ).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4042" y="133350"/>
            <a:ext cx="84189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Mean normalization</a:t>
            </a:r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948" y="714254"/>
            <a:ext cx="201930" cy="1524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054" y="711627"/>
            <a:ext cx="748665" cy="16764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922" y="979066"/>
            <a:ext cx="697230" cy="211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473" y="1357015"/>
            <a:ext cx="4648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000" dirty="0"/>
              <a:t>E.g. </a:t>
            </a:r>
            <a:endParaRPr lang="en-US" sz="2400" dirty="0"/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401538"/>
            <a:ext cx="1860804" cy="37261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023699"/>
            <a:ext cx="2295144" cy="39547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520" y="1671336"/>
            <a:ext cx="3632835" cy="219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398226" y="2748483"/>
                <a:ext cx="1650324" cy="6949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226" y="2748483"/>
                <a:ext cx="1650324" cy="694934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7573" y="2263739"/>
                <a:ext cx="17780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573" y="2263739"/>
                <a:ext cx="177800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34483" r="-31034" b="-65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28695" y="3640946"/>
                <a:ext cx="414124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average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695" y="3640946"/>
                <a:ext cx="4141242" cy="307777"/>
              </a:xfrm>
              <a:prstGeom prst="rect">
                <a:avLst/>
              </a:prstGeom>
              <a:blipFill rotWithShape="0">
                <a:blip r:embed="rId17"/>
                <a:stretch>
                  <a:fillRect b="-235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667000" y="4176062"/>
                <a:ext cx="433612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>
                          <a:latin typeface="Cambria Math" panose="02040503050406030204" pitchFamily="18" charset="0"/>
                        </a:rPr>
                        <m:t>average</m:t>
                      </m:r>
                      <m:r>
                        <m:rPr>
                          <m:nor/>
                        </m:rPr>
                        <a:rPr lang="en-GB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range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st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dev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nor/>
                        </m:rPr>
                        <a:rPr lang="en-GB" sz="200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sz="200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176062"/>
                <a:ext cx="4336123" cy="400110"/>
              </a:xfrm>
              <a:prstGeom prst="rect">
                <a:avLst/>
              </a:prstGeom>
              <a:blipFill rotWithShape="0">
                <a:blip r:embed="rId18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7B4CD17-B0A8-4079-9E93-9C527823860C}"/>
              </a:ext>
            </a:extLst>
          </p:cNvPr>
          <p:cNvSpPr txBox="1"/>
          <p:nvPr/>
        </p:nvSpPr>
        <p:spPr>
          <a:xfrm>
            <a:off x="5791200" y="2845396"/>
            <a:ext cx="1632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standardization</a:t>
            </a:r>
          </a:p>
        </p:txBody>
      </p:sp>
    </p:spTree>
    <p:extLst>
      <p:ext uri="{BB962C8B-B14F-4D97-AF65-F5344CB8AC3E}">
        <p14:creationId xmlns:p14="http://schemas.microsoft.com/office/powerpoint/2010/main" val="2611989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multiple variables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343400" y="2266950"/>
            <a:ext cx="4800600" cy="19812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Gradient descent in practice II: Learning rate</a:t>
            </a:r>
          </a:p>
        </p:txBody>
      </p:sp>
    </p:spTree>
    <p:extLst>
      <p:ext uri="{BB962C8B-B14F-4D97-AF65-F5344CB8AC3E}">
        <p14:creationId xmlns:p14="http://schemas.microsoft.com/office/powerpoint/2010/main" val="427643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0999" y="361950"/>
            <a:ext cx="7314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Gradient descent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23950"/>
            <a:ext cx="3450336" cy="5821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1926418"/>
            <a:ext cx="7314247" cy="950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3360"/>
              </a:lnSpc>
              <a:buFontTx/>
              <a:buChar char="-"/>
            </a:pPr>
            <a:r>
              <a:rPr lang="en-US" sz="2800" dirty="0"/>
              <a:t>“Debugging”: How to make sure gradient descent is working correctly.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632097"/>
            <a:ext cx="6477000" cy="96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36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ts val="3360"/>
              </a:lnSpc>
              <a:buFontTx/>
              <a:buChar char="-"/>
            </a:pPr>
            <a:r>
              <a:rPr lang="en-US" sz="2800" dirty="0"/>
              <a:t>How to choose learning rate     .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3243511"/>
            <a:ext cx="22860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69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029200" y="1454192"/>
            <a:ext cx="3521853" cy="964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dirty="0"/>
              <a:t>Example automatic convergence test:</a:t>
            </a:r>
          </a:p>
        </p:txBody>
      </p:sp>
      <p:sp>
        <p:nvSpPr>
          <p:cNvPr id="2" name="Rectangle 1"/>
          <p:cNvSpPr/>
          <p:nvPr/>
        </p:nvSpPr>
        <p:spPr>
          <a:xfrm>
            <a:off x="5030056" y="2771567"/>
            <a:ext cx="3048000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dirty="0"/>
              <a:t>Declare convergence if       decreases by less than       in one iteration.</a:t>
            </a: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4935702"/>
              </p:ext>
            </p:extLst>
          </p:nvPr>
        </p:nvGraphicFramePr>
        <p:xfrm>
          <a:off x="685800" y="1494076"/>
          <a:ext cx="3866557" cy="2867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63" y="1009563"/>
            <a:ext cx="1104138" cy="4320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908952"/>
            <a:ext cx="534924" cy="30632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981" y="3318596"/>
            <a:ext cx="576072" cy="260604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4724400" y="1123950"/>
            <a:ext cx="0" cy="3662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8200" y="4248513"/>
            <a:ext cx="3521853" cy="500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000" dirty="0"/>
              <a:t>No. of iterations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752" y="209550"/>
            <a:ext cx="7847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Making sure gradient descent is working correctly.</a:t>
            </a:r>
          </a:p>
        </p:txBody>
      </p:sp>
      <p:sp>
        <p:nvSpPr>
          <p:cNvPr id="4" name="Freeform 3"/>
          <p:cNvSpPr/>
          <p:nvPr/>
        </p:nvSpPr>
        <p:spPr>
          <a:xfrm>
            <a:off x="1063869" y="1740877"/>
            <a:ext cx="2787162" cy="1960685"/>
          </a:xfrm>
          <a:custGeom>
            <a:avLst/>
            <a:gdLst>
              <a:gd name="connsiteX0" fmla="*/ 0 w 2787162"/>
              <a:gd name="connsiteY0" fmla="*/ 0 h 1960685"/>
              <a:gd name="connsiteX1" fmla="*/ 70339 w 2787162"/>
              <a:gd name="connsiteY1" fmla="*/ 624254 h 1960685"/>
              <a:gd name="connsiteX2" fmla="*/ 298939 w 2787162"/>
              <a:gd name="connsiteY2" fmla="*/ 1055077 h 1960685"/>
              <a:gd name="connsiteX3" fmla="*/ 1055077 w 2787162"/>
              <a:gd name="connsiteY3" fmla="*/ 1617785 h 1960685"/>
              <a:gd name="connsiteX4" fmla="*/ 1907931 w 2787162"/>
              <a:gd name="connsiteY4" fmla="*/ 1890346 h 1960685"/>
              <a:gd name="connsiteX5" fmla="*/ 2787162 w 2787162"/>
              <a:gd name="connsiteY5" fmla="*/ 1960685 h 1960685"/>
              <a:gd name="connsiteX6" fmla="*/ 2787162 w 2787162"/>
              <a:gd name="connsiteY6" fmla="*/ 1960685 h 196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7162" h="1960685">
                <a:moveTo>
                  <a:pt x="0" y="0"/>
                </a:moveTo>
                <a:cubicBezTo>
                  <a:pt x="10258" y="224204"/>
                  <a:pt x="20516" y="448408"/>
                  <a:pt x="70339" y="624254"/>
                </a:cubicBezTo>
                <a:cubicBezTo>
                  <a:pt x="120162" y="800100"/>
                  <a:pt x="134816" y="889489"/>
                  <a:pt x="298939" y="1055077"/>
                </a:cubicBezTo>
                <a:cubicBezTo>
                  <a:pt x="463062" y="1220665"/>
                  <a:pt x="786912" y="1478574"/>
                  <a:pt x="1055077" y="1617785"/>
                </a:cubicBezTo>
                <a:cubicBezTo>
                  <a:pt x="1323242" y="1756997"/>
                  <a:pt x="1619250" y="1833196"/>
                  <a:pt x="1907931" y="1890346"/>
                </a:cubicBezTo>
                <a:cubicBezTo>
                  <a:pt x="2196612" y="1947496"/>
                  <a:pt x="2787162" y="1960685"/>
                  <a:pt x="2787162" y="1960685"/>
                </a:cubicBezTo>
                <a:lnTo>
                  <a:pt x="2787162" y="1960685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2057399" y="1494076"/>
            <a:ext cx="2494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J(</a:t>
            </a:r>
            <a:r>
              <a:rPr lang="en-GB" i="1" dirty="0"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dirty="0"/>
              <a:t> should decrease after each iteration!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203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5752" y="209550"/>
            <a:ext cx="7847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Making sure gradient descent is working correctly.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3496" y="692983"/>
            <a:ext cx="4572000" cy="923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60"/>
              </a:lnSpc>
            </a:pPr>
            <a:r>
              <a:rPr lang="en-US" sz="2000" dirty="0"/>
              <a:t>Gradient descent not working. </a:t>
            </a:r>
          </a:p>
          <a:p>
            <a:pPr>
              <a:lnSpc>
                <a:spcPts val="3360"/>
              </a:lnSpc>
            </a:pPr>
            <a:r>
              <a:rPr lang="en-US" sz="2000" dirty="0"/>
              <a:t>Use smaller    .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01343"/>
            <a:ext cx="356616" cy="2042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7799" y="1854485"/>
            <a:ext cx="1943100" cy="48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1600" dirty="0"/>
              <a:t>No. of iterations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1018032" y="722751"/>
            <a:ext cx="0" cy="1435743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89432" y="1930685"/>
            <a:ext cx="2271411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792" y="1354664"/>
            <a:ext cx="171450" cy="13716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11" y="2509948"/>
            <a:ext cx="356616" cy="2042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2010" y="3463090"/>
            <a:ext cx="1943100" cy="48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1600" dirty="0"/>
              <a:t>No. of iterations</a:t>
            </a: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992243" y="2331356"/>
            <a:ext cx="0" cy="1435743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63643" y="3539290"/>
            <a:ext cx="3655957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782" y="2509948"/>
            <a:ext cx="356616" cy="2042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41629" y="3391046"/>
            <a:ext cx="1943100" cy="463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1600" i="1" dirty="0"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5580614" y="1616056"/>
            <a:ext cx="0" cy="2151045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352014" y="3539290"/>
            <a:ext cx="2801386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2010" y="4149864"/>
            <a:ext cx="74924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/>
              <a:t>For sufficiently small     ,             should decrease on every iteration.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But if      is too small, gradient descent can be slow to converge.</a:t>
            </a:r>
          </a:p>
        </p:txBody>
      </p:sp>
      <p:pic>
        <p:nvPicPr>
          <p:cNvPr id="33" name="Picture 3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852" y="4293528"/>
            <a:ext cx="171450" cy="13716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844" y="4186506"/>
            <a:ext cx="534924" cy="30632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926" y="4606659"/>
            <a:ext cx="171450" cy="13716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1016789" y="849946"/>
            <a:ext cx="1446920" cy="924018"/>
          </a:xfrm>
          <a:custGeom>
            <a:avLst/>
            <a:gdLst>
              <a:gd name="connsiteX0" fmla="*/ 0 w 1446920"/>
              <a:gd name="connsiteY0" fmla="*/ 924018 h 924018"/>
              <a:gd name="connsiteX1" fmla="*/ 219807 w 1446920"/>
              <a:gd name="connsiteY1" fmla="*/ 880056 h 924018"/>
              <a:gd name="connsiteX2" fmla="*/ 589084 w 1446920"/>
              <a:gd name="connsiteY2" fmla="*/ 774548 h 924018"/>
              <a:gd name="connsiteX3" fmla="*/ 1002323 w 1446920"/>
              <a:gd name="connsiteY3" fmla="*/ 563533 h 924018"/>
              <a:gd name="connsiteX4" fmla="*/ 1222130 w 1446920"/>
              <a:gd name="connsiteY4" fmla="*/ 343725 h 924018"/>
              <a:gd name="connsiteX5" fmla="*/ 1424354 w 1446920"/>
              <a:gd name="connsiteY5" fmla="*/ 35994 h 924018"/>
              <a:gd name="connsiteX6" fmla="*/ 1433146 w 1446920"/>
              <a:gd name="connsiteY6" fmla="*/ 18410 h 924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6920" h="924018">
                <a:moveTo>
                  <a:pt x="0" y="924018"/>
                </a:moveTo>
                <a:cubicBezTo>
                  <a:pt x="60813" y="914493"/>
                  <a:pt x="121626" y="904968"/>
                  <a:pt x="219807" y="880056"/>
                </a:cubicBezTo>
                <a:cubicBezTo>
                  <a:pt x="317988" y="855144"/>
                  <a:pt x="458665" y="827302"/>
                  <a:pt x="589084" y="774548"/>
                </a:cubicBezTo>
                <a:cubicBezTo>
                  <a:pt x="719503" y="721794"/>
                  <a:pt x="896815" y="635337"/>
                  <a:pt x="1002323" y="563533"/>
                </a:cubicBezTo>
                <a:cubicBezTo>
                  <a:pt x="1107831" y="491729"/>
                  <a:pt x="1151792" y="431648"/>
                  <a:pt x="1222130" y="343725"/>
                </a:cubicBezTo>
                <a:cubicBezTo>
                  <a:pt x="1292469" y="255802"/>
                  <a:pt x="1389185" y="90213"/>
                  <a:pt x="1424354" y="35994"/>
                </a:cubicBezTo>
                <a:cubicBezTo>
                  <a:pt x="1459523" y="-18225"/>
                  <a:pt x="1446334" y="92"/>
                  <a:pt x="1433146" y="1841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Freeform 4"/>
          <p:cNvSpPr/>
          <p:nvPr/>
        </p:nvSpPr>
        <p:spPr>
          <a:xfrm>
            <a:off x="1195754" y="2708031"/>
            <a:ext cx="2725615" cy="619093"/>
          </a:xfrm>
          <a:custGeom>
            <a:avLst/>
            <a:gdLst>
              <a:gd name="connsiteX0" fmla="*/ 0 w 2725615"/>
              <a:gd name="connsiteY0" fmla="*/ 8792 h 619093"/>
              <a:gd name="connsiteX1" fmla="*/ 114300 w 2725615"/>
              <a:gd name="connsiteY1" fmla="*/ 351692 h 619093"/>
              <a:gd name="connsiteX2" fmla="*/ 413238 w 2725615"/>
              <a:gd name="connsiteY2" fmla="*/ 580292 h 619093"/>
              <a:gd name="connsiteX3" fmla="*/ 703384 w 2725615"/>
              <a:gd name="connsiteY3" fmla="*/ 439615 h 619093"/>
              <a:gd name="connsiteX4" fmla="*/ 835269 w 2725615"/>
              <a:gd name="connsiteY4" fmla="*/ 131884 h 619093"/>
              <a:gd name="connsiteX5" fmla="*/ 852854 w 2725615"/>
              <a:gd name="connsiteY5" fmla="*/ 26377 h 619093"/>
              <a:gd name="connsiteX6" fmla="*/ 914400 w 2725615"/>
              <a:gd name="connsiteY6" fmla="*/ 228600 h 619093"/>
              <a:gd name="connsiteX7" fmla="*/ 993531 w 2725615"/>
              <a:gd name="connsiteY7" fmla="*/ 422031 h 619093"/>
              <a:gd name="connsiteX8" fmla="*/ 1257300 w 2725615"/>
              <a:gd name="connsiteY8" fmla="*/ 580292 h 619093"/>
              <a:gd name="connsiteX9" fmla="*/ 1573823 w 2725615"/>
              <a:gd name="connsiteY9" fmla="*/ 518746 h 619093"/>
              <a:gd name="connsiteX10" fmla="*/ 1696915 w 2725615"/>
              <a:gd name="connsiteY10" fmla="*/ 246184 h 619093"/>
              <a:gd name="connsiteX11" fmla="*/ 1767254 w 2725615"/>
              <a:gd name="connsiteY11" fmla="*/ 35169 h 619093"/>
              <a:gd name="connsiteX12" fmla="*/ 1758461 w 2725615"/>
              <a:gd name="connsiteY12" fmla="*/ 43961 h 619093"/>
              <a:gd name="connsiteX13" fmla="*/ 1846384 w 2725615"/>
              <a:gd name="connsiteY13" fmla="*/ 369277 h 619093"/>
              <a:gd name="connsiteX14" fmla="*/ 2092569 w 2725615"/>
              <a:gd name="connsiteY14" fmla="*/ 580292 h 619093"/>
              <a:gd name="connsiteX15" fmla="*/ 2444261 w 2725615"/>
              <a:gd name="connsiteY15" fmla="*/ 606669 h 619093"/>
              <a:gd name="connsiteX16" fmla="*/ 2593731 w 2725615"/>
              <a:gd name="connsiteY16" fmla="*/ 439615 h 619093"/>
              <a:gd name="connsiteX17" fmla="*/ 2690446 w 2725615"/>
              <a:gd name="connsiteY17" fmla="*/ 131884 h 619093"/>
              <a:gd name="connsiteX18" fmla="*/ 2725615 w 2725615"/>
              <a:gd name="connsiteY18" fmla="*/ 0 h 619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725615" h="619093">
                <a:moveTo>
                  <a:pt x="0" y="8792"/>
                </a:moveTo>
                <a:cubicBezTo>
                  <a:pt x="22713" y="132617"/>
                  <a:pt x="45427" y="256442"/>
                  <a:pt x="114300" y="351692"/>
                </a:cubicBezTo>
                <a:cubicBezTo>
                  <a:pt x="183173" y="446942"/>
                  <a:pt x="315057" y="565638"/>
                  <a:pt x="413238" y="580292"/>
                </a:cubicBezTo>
                <a:cubicBezTo>
                  <a:pt x="511419" y="594946"/>
                  <a:pt x="633046" y="514350"/>
                  <a:pt x="703384" y="439615"/>
                </a:cubicBezTo>
                <a:cubicBezTo>
                  <a:pt x="773723" y="364880"/>
                  <a:pt x="810357" y="200757"/>
                  <a:pt x="835269" y="131884"/>
                </a:cubicBezTo>
                <a:cubicBezTo>
                  <a:pt x="860181" y="63011"/>
                  <a:pt x="839666" y="10258"/>
                  <a:pt x="852854" y="26377"/>
                </a:cubicBezTo>
                <a:cubicBezTo>
                  <a:pt x="866043" y="42496"/>
                  <a:pt x="890954" y="162658"/>
                  <a:pt x="914400" y="228600"/>
                </a:cubicBezTo>
                <a:cubicBezTo>
                  <a:pt x="937846" y="294542"/>
                  <a:pt x="936381" y="363416"/>
                  <a:pt x="993531" y="422031"/>
                </a:cubicBezTo>
                <a:cubicBezTo>
                  <a:pt x="1050681" y="480646"/>
                  <a:pt x="1160585" y="564173"/>
                  <a:pt x="1257300" y="580292"/>
                </a:cubicBezTo>
                <a:cubicBezTo>
                  <a:pt x="1354015" y="596411"/>
                  <a:pt x="1500554" y="574431"/>
                  <a:pt x="1573823" y="518746"/>
                </a:cubicBezTo>
                <a:cubicBezTo>
                  <a:pt x="1647092" y="463061"/>
                  <a:pt x="1664677" y="326780"/>
                  <a:pt x="1696915" y="246184"/>
                </a:cubicBezTo>
                <a:cubicBezTo>
                  <a:pt x="1729153" y="165588"/>
                  <a:pt x="1756996" y="68873"/>
                  <a:pt x="1767254" y="35169"/>
                </a:cubicBezTo>
                <a:cubicBezTo>
                  <a:pt x="1777512" y="1465"/>
                  <a:pt x="1745273" y="-11724"/>
                  <a:pt x="1758461" y="43961"/>
                </a:cubicBezTo>
                <a:cubicBezTo>
                  <a:pt x="1771649" y="99646"/>
                  <a:pt x="1790699" y="279889"/>
                  <a:pt x="1846384" y="369277"/>
                </a:cubicBezTo>
                <a:cubicBezTo>
                  <a:pt x="1902069" y="458666"/>
                  <a:pt x="1992923" y="540727"/>
                  <a:pt x="2092569" y="580292"/>
                </a:cubicBezTo>
                <a:cubicBezTo>
                  <a:pt x="2192215" y="619857"/>
                  <a:pt x="2360734" y="630115"/>
                  <a:pt x="2444261" y="606669"/>
                </a:cubicBezTo>
                <a:cubicBezTo>
                  <a:pt x="2527788" y="583223"/>
                  <a:pt x="2552700" y="518746"/>
                  <a:pt x="2593731" y="439615"/>
                </a:cubicBezTo>
                <a:cubicBezTo>
                  <a:pt x="2634762" y="360484"/>
                  <a:pt x="2668465" y="205153"/>
                  <a:pt x="2690446" y="131884"/>
                </a:cubicBezTo>
                <a:cubicBezTo>
                  <a:pt x="2712427" y="58615"/>
                  <a:pt x="2719021" y="29307"/>
                  <a:pt x="272561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Arc 31"/>
          <p:cNvSpPr/>
          <p:nvPr/>
        </p:nvSpPr>
        <p:spPr>
          <a:xfrm rot="5400000">
            <a:off x="5226805" y="591491"/>
            <a:ext cx="3429001" cy="2364946"/>
          </a:xfrm>
          <a:prstGeom prst="arc">
            <a:avLst>
              <a:gd name="adj1" fmla="val 16200000"/>
              <a:gd name="adj2" fmla="val 5416882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4" name="Straight Arrow Connector 33"/>
          <p:cNvCxnSpPr/>
          <p:nvPr/>
        </p:nvCxnSpPr>
        <p:spPr>
          <a:xfrm rot="10800000">
            <a:off x="5763586" y="2065950"/>
            <a:ext cx="2244519" cy="40387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10800000" flipH="1">
            <a:off x="5991528" y="2469895"/>
            <a:ext cx="2016577" cy="28635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10800000">
            <a:off x="6007828" y="2765083"/>
            <a:ext cx="1771677" cy="30299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10800000" flipH="1">
            <a:off x="6368810" y="3058093"/>
            <a:ext cx="1350137" cy="26651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6411338" y="3324612"/>
            <a:ext cx="903862" cy="853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622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0999" y="361950"/>
            <a:ext cx="7314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Summary: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40" y="890321"/>
            <a:ext cx="7314247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3360"/>
              </a:lnSpc>
              <a:buFontTx/>
              <a:buChar char="-"/>
            </a:pPr>
            <a:r>
              <a:rPr lang="en-US" sz="2800" dirty="0"/>
              <a:t>If     is too small: slow convergence.</a:t>
            </a:r>
          </a:p>
          <a:p>
            <a:pPr marL="457200" indent="-457200">
              <a:lnSpc>
                <a:spcPts val="3360"/>
              </a:lnSpc>
              <a:buFontTx/>
              <a:buChar char="-"/>
            </a:pPr>
            <a:r>
              <a:rPr lang="en-US" sz="2800" dirty="0"/>
              <a:t>If     is too large:         may not decrease on every iteration; may not converge.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526" y="1103402"/>
            <a:ext cx="200025" cy="1600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252" y="1533200"/>
            <a:ext cx="200025" cy="1600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474" y="1462610"/>
            <a:ext cx="534924" cy="3063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0998" y="3138160"/>
            <a:ext cx="7314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choose    , try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664" y="3350582"/>
            <a:ext cx="200025" cy="16002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352" y="3793711"/>
            <a:ext cx="6576822" cy="30670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875052" y="3661381"/>
            <a:ext cx="838200" cy="439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622037" y="3645633"/>
            <a:ext cx="838200" cy="439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197030" y="3645633"/>
            <a:ext cx="838200" cy="439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852" y="3719416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…X</a:t>
            </a:r>
            <a:r>
              <a:rPr lang="en-GB" dirty="0"/>
              <a:t> 10</a:t>
            </a:r>
            <a:r>
              <a:rPr lang="en-GB" dirty="0">
                <a:latin typeface=".Times New Roman"/>
                <a:cs typeface="Times New Roman" panose="02020603050405020304" pitchFamily="18" charset="0"/>
              </a:rPr>
              <a:t>…</a:t>
            </a:r>
            <a:endParaRPr lang="it-IT" dirty="0">
              <a:latin typeface=".Times New Roman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3405" y="3707316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…X</a:t>
            </a:r>
            <a:r>
              <a:rPr lang="en-GB" dirty="0"/>
              <a:t> 10</a:t>
            </a:r>
            <a:r>
              <a:rPr lang="en-GB" dirty="0">
                <a:latin typeface=".Times New Roman"/>
                <a:cs typeface="Times New Roman" panose="02020603050405020304" pitchFamily="18" charset="0"/>
              </a:rPr>
              <a:t>…</a:t>
            </a:r>
            <a:endParaRPr lang="it-IT" dirty="0">
              <a:latin typeface=".Times New Roman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0830" y="3719416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…X</a:t>
            </a:r>
            <a:r>
              <a:rPr lang="en-GB" dirty="0"/>
              <a:t> 10</a:t>
            </a:r>
            <a:r>
              <a:rPr lang="en-GB" dirty="0">
                <a:latin typeface=".Times New Roman"/>
                <a:cs typeface="Times New Roman" panose="02020603050405020304" pitchFamily="18" charset="0"/>
              </a:rPr>
              <a:t>…</a:t>
            </a:r>
            <a:endParaRPr lang="it-IT" dirty="0">
              <a:latin typeface=".Times New Roman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6525" y="4324350"/>
            <a:ext cx="6715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general choose an increase rate (even smaller than 10) and check a set of values for </a:t>
            </a:r>
            <a:r>
              <a:rPr lang="en-GB" i="1" dirty="0">
                <a:latin typeface="Symbol" panose="05050102010706020507" pitchFamily="18" charset="2"/>
              </a:rPr>
              <a:t>a</a:t>
            </a:r>
            <a:endParaRPr lang="it-IT" i="1" dirty="0"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32321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multiple variables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648200" y="2266950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Features and polynomial regression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8294040" y="4793400"/>
              <a:ext cx="36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84680" y="47840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6622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3" b="6064"/>
          <a:stretch/>
        </p:blipFill>
        <p:spPr>
          <a:xfrm>
            <a:off x="5991225" y="299983"/>
            <a:ext cx="3005046" cy="2433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4800" y="438150"/>
            <a:ext cx="7314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Housing prices prediction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143000"/>
            <a:ext cx="5385816" cy="3063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rot="1800000">
            <a:off x="6236447" y="2120737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frontage</a:t>
            </a:r>
            <a:endParaRPr lang="it-IT" dirty="0"/>
          </a:p>
        </p:txBody>
      </p:sp>
      <p:sp>
        <p:nvSpPr>
          <p:cNvPr id="5" name="TextBox 4"/>
          <p:cNvSpPr txBox="1"/>
          <p:nvPr/>
        </p:nvSpPr>
        <p:spPr>
          <a:xfrm rot="18900000">
            <a:off x="7433321" y="148794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depth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59254" y="2625731"/>
                <a:ext cx="30507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𝑓𝑟𝑜𝑛𝑡𝑎𝑔𝑒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𝑑𝑒𝑝𝑡h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54" y="2625731"/>
                <a:ext cx="3050772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1600" r="-2400" b="-34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7921" y="3021352"/>
                <a:ext cx="32288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it-I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𝐴𝑟𝑒𝑎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21" y="3021352"/>
                <a:ext cx="3228833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890" r="-1701" b="-1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37457" y="1953111"/>
            <a:ext cx="396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To reduce to 1 feature:</a:t>
            </a:r>
            <a:endParaRPr lang="it-IT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2438400" y="4248150"/>
            <a:ext cx="5489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You can choose or invent new features!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302063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5752" y="209550"/>
            <a:ext cx="7847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Polynomial regression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304800" y="1428750"/>
            <a:ext cx="1575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Price</a:t>
            </a:r>
          </a:p>
          <a:p>
            <a:pPr algn="ctr"/>
            <a:r>
              <a:rPr lang="en-US" dirty="0"/>
              <a:t>(y)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62200" y="2800350"/>
            <a:ext cx="838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Size (x)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841" y="998725"/>
            <a:ext cx="2023110" cy="3040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676601"/>
            <a:ext cx="2985516" cy="3040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257550"/>
            <a:ext cx="3537585" cy="25527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51" y="3581400"/>
            <a:ext cx="4265295" cy="27432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06" y="4028977"/>
            <a:ext cx="1215390" cy="25527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68" y="4326658"/>
            <a:ext cx="1329690" cy="27432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16" y="4662623"/>
            <a:ext cx="1331595" cy="274320"/>
          </a:xfrm>
          <a:prstGeom prst="rect">
            <a:avLst/>
          </a:prstGeom>
        </p:spPr>
      </p:pic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0003934"/>
              </p:ext>
            </p:extLst>
          </p:nvPr>
        </p:nvGraphicFramePr>
        <p:xfrm>
          <a:off x="821251" y="671215"/>
          <a:ext cx="4265295" cy="2294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3385185"/>
            <a:ext cx="342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Warning: feature scaling almost always necessary in this case (range values of 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dirty="0"/>
              <a:t> may greatly differ)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01199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5752" y="209550"/>
            <a:ext cx="7847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Choice of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7800" y="1745218"/>
            <a:ext cx="1575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Price</a:t>
            </a:r>
          </a:p>
          <a:p>
            <a:pPr algn="ctr"/>
            <a:r>
              <a:rPr lang="en-US" dirty="0"/>
              <a:t>(y)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294" y="3116818"/>
            <a:ext cx="838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Size (x)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915" y="3767658"/>
            <a:ext cx="3630930" cy="2743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285582"/>
            <a:ext cx="3794760" cy="304800"/>
          </a:xfrm>
          <a:prstGeom prst="rect">
            <a:avLst/>
          </a:prstGeom>
        </p:spPr>
      </p:pic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5160604"/>
              </p:ext>
            </p:extLst>
          </p:nvPr>
        </p:nvGraphicFramePr>
        <p:xfrm>
          <a:off x="2514600" y="671215"/>
          <a:ext cx="4265295" cy="2544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Freeform 4"/>
          <p:cNvSpPr/>
          <p:nvPr/>
        </p:nvSpPr>
        <p:spPr>
          <a:xfrm>
            <a:off x="3069771" y="1121229"/>
            <a:ext cx="3712029" cy="1469571"/>
          </a:xfrm>
          <a:custGeom>
            <a:avLst/>
            <a:gdLst>
              <a:gd name="connsiteX0" fmla="*/ 0 w 3712029"/>
              <a:gd name="connsiteY0" fmla="*/ 1469571 h 1469571"/>
              <a:gd name="connsiteX1" fmla="*/ 250372 w 3712029"/>
              <a:gd name="connsiteY1" fmla="*/ 881742 h 1469571"/>
              <a:gd name="connsiteX2" fmla="*/ 468086 w 3712029"/>
              <a:gd name="connsiteY2" fmla="*/ 631371 h 1469571"/>
              <a:gd name="connsiteX3" fmla="*/ 816429 w 3712029"/>
              <a:gd name="connsiteY3" fmla="*/ 413657 h 1469571"/>
              <a:gd name="connsiteX4" fmla="*/ 1709058 w 3712029"/>
              <a:gd name="connsiteY4" fmla="*/ 119742 h 1469571"/>
              <a:gd name="connsiteX5" fmla="*/ 2296886 w 3712029"/>
              <a:gd name="connsiteY5" fmla="*/ 54428 h 1469571"/>
              <a:gd name="connsiteX6" fmla="*/ 3712029 w 3712029"/>
              <a:gd name="connsiteY6" fmla="*/ 0 h 146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12029" h="1469571">
                <a:moveTo>
                  <a:pt x="0" y="1469571"/>
                </a:moveTo>
                <a:cubicBezTo>
                  <a:pt x="86179" y="1245506"/>
                  <a:pt x="172358" y="1021442"/>
                  <a:pt x="250372" y="881742"/>
                </a:cubicBezTo>
                <a:cubicBezTo>
                  <a:pt x="328386" y="742042"/>
                  <a:pt x="373743" y="709385"/>
                  <a:pt x="468086" y="631371"/>
                </a:cubicBezTo>
                <a:cubicBezTo>
                  <a:pt x="562429" y="553357"/>
                  <a:pt x="609600" y="498928"/>
                  <a:pt x="816429" y="413657"/>
                </a:cubicBezTo>
                <a:cubicBezTo>
                  <a:pt x="1023258" y="328386"/>
                  <a:pt x="1462315" y="179613"/>
                  <a:pt x="1709058" y="119742"/>
                </a:cubicBezTo>
                <a:cubicBezTo>
                  <a:pt x="1955801" y="59871"/>
                  <a:pt x="1963058" y="74385"/>
                  <a:pt x="2296886" y="54428"/>
                </a:cubicBezTo>
                <a:cubicBezTo>
                  <a:pt x="2630714" y="34471"/>
                  <a:pt x="3171371" y="17235"/>
                  <a:pt x="3712029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ounded Rectangle 5"/>
          <p:cNvSpPr/>
          <p:nvPr/>
        </p:nvSpPr>
        <p:spPr>
          <a:xfrm>
            <a:off x="2514600" y="4228098"/>
            <a:ext cx="4038600" cy="4197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Freeform 6"/>
          <p:cNvSpPr/>
          <p:nvPr/>
        </p:nvSpPr>
        <p:spPr>
          <a:xfrm>
            <a:off x="3124200" y="772886"/>
            <a:ext cx="2786743" cy="1785257"/>
          </a:xfrm>
          <a:custGeom>
            <a:avLst/>
            <a:gdLst>
              <a:gd name="connsiteX0" fmla="*/ 0 w 2786743"/>
              <a:gd name="connsiteY0" fmla="*/ 1785257 h 1785257"/>
              <a:gd name="connsiteX1" fmla="*/ 315686 w 2786743"/>
              <a:gd name="connsiteY1" fmla="*/ 838200 h 1785257"/>
              <a:gd name="connsiteX2" fmla="*/ 1012371 w 2786743"/>
              <a:gd name="connsiteY2" fmla="*/ 228600 h 1785257"/>
              <a:gd name="connsiteX3" fmla="*/ 2024743 w 2786743"/>
              <a:gd name="connsiteY3" fmla="*/ 54428 h 1785257"/>
              <a:gd name="connsiteX4" fmla="*/ 2786743 w 2786743"/>
              <a:gd name="connsiteY4" fmla="*/ 0 h 1785257"/>
              <a:gd name="connsiteX5" fmla="*/ 2786743 w 2786743"/>
              <a:gd name="connsiteY5" fmla="*/ 0 h 1785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86743" h="1785257">
                <a:moveTo>
                  <a:pt x="0" y="1785257"/>
                </a:moveTo>
                <a:cubicBezTo>
                  <a:pt x="73479" y="1441450"/>
                  <a:pt x="146958" y="1097643"/>
                  <a:pt x="315686" y="838200"/>
                </a:cubicBezTo>
                <a:cubicBezTo>
                  <a:pt x="484415" y="578757"/>
                  <a:pt x="727528" y="359229"/>
                  <a:pt x="1012371" y="228600"/>
                </a:cubicBezTo>
                <a:cubicBezTo>
                  <a:pt x="1297214" y="97971"/>
                  <a:pt x="1729014" y="92528"/>
                  <a:pt x="2024743" y="54428"/>
                </a:cubicBezTo>
                <a:cubicBezTo>
                  <a:pt x="2320472" y="16328"/>
                  <a:pt x="2786743" y="0"/>
                  <a:pt x="2786743" y="0"/>
                </a:cubicBezTo>
                <a:lnTo>
                  <a:pt x="2786743" y="0"/>
                </a:lnTo>
              </a:path>
            </a:pathLst>
          </a:cu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ounded Rectangle 9"/>
          <p:cNvSpPr/>
          <p:nvPr/>
        </p:nvSpPr>
        <p:spPr>
          <a:xfrm>
            <a:off x="2667000" y="3672270"/>
            <a:ext cx="3794760" cy="427192"/>
          </a:xfrm>
          <a:prstGeom prst="roundRect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eform 10"/>
          <p:cNvSpPr/>
          <p:nvPr/>
        </p:nvSpPr>
        <p:spPr>
          <a:xfrm>
            <a:off x="5845629" y="752133"/>
            <a:ext cx="2460171" cy="532381"/>
          </a:xfrm>
          <a:custGeom>
            <a:avLst/>
            <a:gdLst>
              <a:gd name="connsiteX0" fmla="*/ 0 w 2460171"/>
              <a:gd name="connsiteY0" fmla="*/ 9867 h 532381"/>
              <a:gd name="connsiteX1" fmla="*/ 653142 w 2460171"/>
              <a:gd name="connsiteY1" fmla="*/ 20753 h 532381"/>
              <a:gd name="connsiteX2" fmla="*/ 1556657 w 2460171"/>
              <a:gd name="connsiteY2" fmla="*/ 194924 h 532381"/>
              <a:gd name="connsiteX3" fmla="*/ 2460171 w 2460171"/>
              <a:gd name="connsiteY3" fmla="*/ 532381 h 53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0171" h="532381">
                <a:moveTo>
                  <a:pt x="0" y="9867"/>
                </a:moveTo>
                <a:cubicBezTo>
                  <a:pt x="196849" y="-112"/>
                  <a:pt x="393699" y="-10090"/>
                  <a:pt x="653142" y="20753"/>
                </a:cubicBezTo>
                <a:cubicBezTo>
                  <a:pt x="912585" y="51596"/>
                  <a:pt x="1255486" y="109653"/>
                  <a:pt x="1556657" y="194924"/>
                </a:cubicBezTo>
                <a:cubicBezTo>
                  <a:pt x="1857828" y="280195"/>
                  <a:pt x="2158999" y="406288"/>
                  <a:pt x="2460171" y="532381"/>
                </a:cubicBezTo>
              </a:path>
            </a:pathLst>
          </a:custGeom>
          <a:noFill/>
          <a:ln>
            <a:solidFill>
              <a:srgbClr val="00CC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059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01F27-367E-420D-A4E6-CF347F410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LR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A412A8-A89A-495E-A2D6-AE2F371C9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Correlation</a:t>
                </a:r>
                <a:r>
                  <a:rPr lang="en-US" sz="2400" dirty="0"/>
                  <a:t> (</a:t>
                </a:r>
                <a:r>
                  <a:rPr lang="en-US" sz="2400" b="1" dirty="0"/>
                  <a:t>Determination</a:t>
                </a:r>
                <a:r>
                  <a:rPr lang="en-US" sz="2400" dirty="0"/>
                  <a:t>) </a:t>
                </a:r>
                <a:r>
                  <a:rPr lang="en-US" sz="2400" b="1" dirty="0"/>
                  <a:t>coefficient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is the proportion of the total data variance accounted by the model.</a:t>
                </a:r>
              </a:p>
              <a:p>
                <a:pPr marL="0" indent="0">
                  <a:buNone/>
                </a:pPr>
                <a:r>
                  <a:rPr lang="en-US" sz="2400" i="1" dirty="0"/>
                  <a:t>Total sum of squares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dirty="0"/>
                  <a:t> (proportional to total data variance)</a:t>
                </a:r>
              </a:p>
              <a:p>
                <a:pPr marL="0" indent="0">
                  <a:buNone/>
                </a:pPr>
                <a:r>
                  <a:rPr lang="en-US" sz="2400" i="1" dirty="0"/>
                  <a:t>Explained sum of squares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dirty="0"/>
                  <a:t> (proportional to variance of predicted values)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400" dirty="0"/>
                  <a:t> and is a goodness-of-fit of the model (values close to 1 indicates a good model)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A412A8-A89A-495E-A2D6-AE2F371C9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3052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1554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B1718-C4A4-4F95-8D01-9187FE5FC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285750"/>
                <a:ext cx="8229600" cy="339447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It is called </a:t>
                </a:r>
                <a:r>
                  <a:rPr lang="en-US" sz="2400" i="1" dirty="0"/>
                  <a:t>correlation coefficient </a:t>
                </a:r>
                <a:r>
                  <a:rPr lang="en-US" sz="2400" dirty="0"/>
                  <a:t>since it is the square of the (sample) </a:t>
                </a:r>
                <a:r>
                  <a:rPr lang="en-US" sz="2400" i="1" dirty="0"/>
                  <a:t>Pearson correlation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 between observed data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400" dirty="0"/>
                  <a:t> and predicted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Remember: (population) Pearson correlation coefficient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B1718-C4A4-4F95-8D01-9187FE5FC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285750"/>
                <a:ext cx="8229600" cy="3394472"/>
              </a:xfrm>
              <a:blipFill>
                <a:blip r:embed="rId2"/>
                <a:stretch>
                  <a:fillRect l="-963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1173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35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&#10;$&#10;&#10;\end{document}"/>
  <p:tag name="IGUANATEXSIZE" val="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y&#10;$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h_\theta (x) = \theta_0 + \theta_1 x$&#10;&#10;\end{document}"/>
  <p:tag name="IGUANATEXSIZE" val="3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n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^{(i)}$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^{(i)}_j$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i^{th}$&#10;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i^{th}$&#10;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j$&#10;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h_\theta (x) = \theta_0 + \theta_1 x$&#10;&#10;\end{document}"/>
  <p:tag name="IGUANATEXSIZE" val="2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h_\theta (x) = \theta_0 + \theta_1 x_1 + \theta_2 x_2 + \dots + \theta_n x_n$&#10;&#10;\end{document}"/>
  <p:tag name="IGUANATEXSIZE" val="2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 &#10;&#10;$x_0 = 1$&#10;&#10;\end{document}"/>
  <p:tag name="IGUANATEXSIZE" val="2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h_\theta (x) = \theta^T x =  \theta_0 x_0 + \theta_1 x_1 + \theta_2 x_2 + \dots + \theta_n x_n$&#10;&#10;\end{document}"/>
  <p:tag name="IGUANATEXSIZE" val="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0, \theta_1, \dots, \theta_n$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  J(\theta_0, \theta_1, \dots, \theta_n) = \frac{1}{2m} \sum^{m}_{i=1} (h_\theta (x^{(i)}) - y^{(i)})^2$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j = 0, \dots, n$&#10;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theta_j := \theta_j - \alpha &#10;\frac{\partial}{\partial \theta_j} J(\theta_0, \dots, \theta_n)&#10;$&#10;&#10;\end{document}"/>
  <p:tag name="IGUANATEXSIZE" val="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  \theta_0 := \theta_0 - \alpha \frac{1}{m} \sum^{m}_{i=1} (h_\theta (x^{(i)}) - y^{(i)})$&#10;&#10;\end{document}"/>
  <p:tag name="IGUANATEXSIZE" val="1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0, \theta_1$&#10;&#10;\end{document}"/>
  <p:tag name="IGUANATEXSIZE" val="1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  \theta_1 := \theta_1 - \alpha \frac{1}{m} \sum^{m}_{i=1} (h_\theta (x^{(i)}) - y^{(i)})x^{(i)}$&#10;&#10;\end{document}"/>
  <p:tag name="IGUANATEXSIZE" val="1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frac{\partial}{\partial \theta_0} J(\theta)&#10;$&#10;&#10;\end{document}"/>
  <p:tag name="IGUANATEXSIZE" val="1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(n \geq 1)&#10;$&#10;&#10;\end{document}"/>
  <p:tag name="IGUANATEXSIZE" val="1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{$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}$&#10;&#10;\end{document}"/>
  <p:tag name="IGUANATEXSIZE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displaystyle  \theta_j := \theta_j - &#10;\alpha \frac{1}{m} \sum^{m}_{i=1} (h_\theta (x^{(i)}) - y^{(i)})x^{(i)}_j$&#10;&#10;\end{document}"/>
  <p:tag name="IGUANATEXSIZE" val="1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j$&#10;&#10;\end{document}"/>
  <p:tag name="IGUANATEXSIZE" val="1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j = 0, \dots, n$&#10;&#10;\end{document}"/>
  <p:tag name="IGUANATEXSIZE" val="1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0 := \theta_0 - &#10;\alpha \frac{1}{m} \displaystyle\sum^{m}_{i=1} (h_\theta (x^{(i)}) - y^{(i)})x^{(i)}_0$&#10;&#10;\end{document}"/>
  <p:tag name="IGUANATEXSIZE" val="1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1 := \theta_1 - &#10;\alpha \frac{1}{m} \displaystyle\sum^{m}_{i=1} (h_\theta (x^{(i)}) - y^{(i)})x^{(i)}_1$&#10;&#10;\end{document}"/>
  <p:tag name="IGUANATEXSIZE" val="1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2 := \theta_2 - &#10;\alpha \frac{1}{m} \displaystyle\sum^{m}_{i=1} (h_\theta (x^{(i)}) - y^{(i)})x^{(i)}_2$&#10;&#10;\end{document}"/>
  <p:tag name="IGUANATEXSIZE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 \dots $&#10;&#10;&#10;\end{document}"/>
  <p:tag name="IGUANATEXSIZE" val="1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$&#10;&#10;\end{document}"/>
  <p:tag name="IGUANATEXSIZE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2$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2$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1$&#10;&#10;\end{document}"/>
  <p:tag name="IGUANATEXSIZE" val="2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1$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theta_2$&#10;&#10;\end{document}"/>
  <p:tag name="IGUANATEXSIZE" val="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 = \frac{size (feet^2)}{2000}$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2 = \frac{numbersdf    of bedrooms}{5}$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J(\theta)$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J(\theta)$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i$&#10;&#10;&#10;\end{document}"/>
  <p:tag name="IGUANATEXSIZE" val="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i - \mu_i$&#10;&#10;&#10;\end{document}"/>
  <p:tag name="IGUANATEXSIZE" val="2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0 = 1$&#10;&#10;&#10;\end{document}"/>
  <p:tag name="IGUANATEXSIZE" val="2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 = \frac{size - 1000}{2000}$&#10;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2 = \frac{\#bedrooms - 2}{5}$&#10;&#10;&#10;\end{document}"/>
  <p:tag name="IGUANATEXSIZE" val="2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-0.5 \leq x_1 \leq 0.5, -0.5 \leq x_2 \leq 0.5$&#10;&#10;&#10;\end{document}"/>
  <p:tag name="IGUANATEXSIZE" val="2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theta_j := \theta_j - \alpha \frac{\partial}{\partial \theta_j} J(\theta)&#10;$&#10;&#10;\end{document}"/>
  <p:tag name="IGUANATEXSIZE" val="3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alpha&#10;$&#10;&#10;\end{document}"/>
  <p:tag name="IGUANATEXSIZE" val="3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displaystyle&#10;\min_\theta J(\theta)&#10;$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10^{-3}&#10;$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1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alpha&#10;$&#10;&#10;\end{document}"/>
  <p:tag name="IGUANATEXSIZE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1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1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alpha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alpha&#10;$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alpha&#10;$&#10;&#10;\end{document}"/>
  <p:tag name="IGUANATEXSIZE" val="2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alpha&#10;$&#10;&#10;\end{document}"/>
  <p:tag name="IGUANATEXSIZE" val="2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alpha&#10;$&#10;&#10;\end{document}"/>
  <p:tag name="IGUANATEXSIZE" val="2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dots, 0.001, 0.000, 0.01, 0.000, 0.1, 0.000, 1, \dots&#10;$&#10;&#10;\end{document}"/>
  <p:tag name="IGUANATEXSIZE" val="2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 (x) = \theta_0 + \theta_1 \times frontage + \theta_2 \times depth&#10;$&#10;&#10;\end{document}"/>
  <p:tag name="IGUANATEXSIZE" val="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theta_0 + \theta_1 x + \theta_2 x^2&#10;$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theta_0 + \theta_1 x + \theta_2 x^2 + \theta_3 x^3&#10;$&#10;&#10;\end{document}"/>
  <p:tag name="IGUANATEXSIZE" val="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(x) = \theta_0 + \theta_1 x_1 + \theta_2 x_2 + \theta_3 x_3&#10;$&#10;&#10;\end{document}"/>
  <p:tag name="IGUANATEXSIZE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= \theta_0 + \theta_1 (size) + \theta_2 (size)^2 + \theta_3 (size)^3&#10;$&#10;&#10;\end{document}"/>
  <p:tag name="IGUANATEXSIZE" val="2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 = (size)&#10;$&#10;&#10;\end{document}"/>
  <p:tag name="IGUANATEXSIZE" val="2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 = (size)^2&#10;$&#10;&#10;\end{document}"/>
  <p:tag name="IGUANATEXSIZE" val="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3 = (size)^3&#10;$&#10;&#10;\end{document}"/>
  <p:tag name="IGUANATEXSIZE" val="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 (x) = \theta_0 + \theta_1 (size) + \theta_2 (size)^2&#10;$&#10;&#10;\end{document}"/>
  <p:tag name="IGUANATEXSIZE" val="2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 (x) = \theta_0 + \theta_1 (size) + \theta_2 \sqrt{(size)}&#10;$&#10;&#10;\end{document}"/>
  <p:tag name="IGUANATEXSIZE" val="20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2878</TotalTime>
  <Words>782</Words>
  <Application>Microsoft Office PowerPoint</Application>
  <PresentationFormat>On-screen Show (16:9)</PresentationFormat>
  <Paragraphs>213</Paragraphs>
  <Slides>22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.Times New Roman</vt:lpstr>
      <vt:lpstr>Arial</vt:lpstr>
      <vt:lpstr>Calibri</vt:lpstr>
      <vt:lpstr>Cambria Math</vt:lpstr>
      <vt:lpstr>Symbol</vt:lpstr>
      <vt:lpstr>Times New Roman</vt:lpstr>
      <vt:lpstr>1_Lecture</vt:lpstr>
      <vt:lpstr>2_Office Theme</vt:lpstr>
      <vt:lpstr>3_Office Theme</vt:lpstr>
      <vt:lpstr>2_Lecture</vt:lpstr>
      <vt:lpstr>Multiple features</vt:lpstr>
      <vt:lpstr>PowerPoint Presentation</vt:lpstr>
      <vt:lpstr>PowerPoint Presentation</vt:lpstr>
      <vt:lpstr>PowerPoint Presentation</vt:lpstr>
      <vt:lpstr>PowerPoint Presentation</vt:lpstr>
      <vt:lpstr>Gradient descent for multiple variables</vt:lpstr>
      <vt:lpstr>PowerPoint Presentation</vt:lpstr>
      <vt:lpstr>PowerPoint Presentation</vt:lpstr>
      <vt:lpstr>Gradient descent in practice I: Feature Scaling</vt:lpstr>
      <vt:lpstr>PowerPoint Presentation</vt:lpstr>
      <vt:lpstr>PowerPoint Presentation</vt:lpstr>
      <vt:lpstr>Gradient descent in practice II: Learning rate</vt:lpstr>
      <vt:lpstr>PowerPoint Presentation</vt:lpstr>
      <vt:lpstr>PowerPoint Presentation</vt:lpstr>
      <vt:lpstr>PowerPoint Presentation</vt:lpstr>
      <vt:lpstr>PowerPoint Presentation</vt:lpstr>
      <vt:lpstr>Features and polynomial regression</vt:lpstr>
      <vt:lpstr>PowerPoint Presentation</vt:lpstr>
      <vt:lpstr>PowerPoint Presentation</vt:lpstr>
      <vt:lpstr>PowerPoint Presentation</vt:lpstr>
      <vt:lpstr>Evaluation of LR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Luigi Portinale</cp:lastModifiedBy>
  <cp:revision>256</cp:revision>
  <dcterms:created xsi:type="dcterms:W3CDTF">2010-07-08T21:59:02Z</dcterms:created>
  <dcterms:modified xsi:type="dcterms:W3CDTF">2021-12-07T14:18:25Z</dcterms:modified>
</cp:coreProperties>
</file>